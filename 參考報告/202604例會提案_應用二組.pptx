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9"/>
  </p:notesMasterIdLst>
  <p:handoutMasterIdLst>
    <p:handoutMasterId r:id="rId10"/>
  </p:handoutMasterIdLst>
  <p:sldIdLst>
    <p:sldId id="1449" r:id="rId2"/>
    <p:sldId id="1446" r:id="rId3"/>
    <p:sldId id="1447" r:id="rId4"/>
    <p:sldId id="1451" r:id="rId5"/>
    <p:sldId id="1450" r:id="rId6"/>
    <p:sldId id="1399" r:id="rId7"/>
    <p:sldId id="1452" r:id="rId8"/>
  </p:sldIdLst>
  <p:sldSz cx="9144000" cy="6858000" type="screen4x3"/>
  <p:notesSz cx="6797675" cy="9926638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7">
          <p15:clr>
            <a:srgbClr val="A4A3A4"/>
          </p15:clr>
        </p15:guide>
        <p15:guide id="2" pos="2880">
          <p15:clr>
            <a:srgbClr val="A4A3A4"/>
          </p15:clr>
        </p15:guide>
        <p15:guide id="3" pos="215">
          <p15:clr>
            <a:srgbClr val="A4A3A4"/>
          </p15:clr>
        </p15:guide>
        <p15:guide id="4" pos="5545">
          <p15:clr>
            <a:srgbClr val="A4A3A4"/>
          </p15:clr>
        </p15:guide>
        <p15:guide id="5" orient="horz" pos="8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0070C0"/>
    <a:srgbClr val="B1D3EC"/>
    <a:srgbClr val="0A68B6"/>
    <a:srgbClr val="FFFFFF"/>
    <a:srgbClr val="0888C8"/>
    <a:srgbClr val="00B0F0"/>
    <a:srgbClr val="163DAA"/>
    <a:srgbClr val="31539F"/>
    <a:srgbClr val="2340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7CE84F3-28C3-443E-9E96-99CF82512B78}" styleName="深色樣式 1 - 輔色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深色樣式 1 - 輔色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樣式 1 - 輔色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22" autoAdjust="0"/>
    <p:restoredTop sz="95394" autoAdjust="0"/>
  </p:normalViewPr>
  <p:slideViewPr>
    <p:cSldViewPr snapToObjects="1">
      <p:cViewPr varScale="1">
        <p:scale>
          <a:sx n="85" d="100"/>
          <a:sy n="85" d="100"/>
        </p:scale>
        <p:origin x="1382" y="48"/>
      </p:cViewPr>
      <p:guideLst>
        <p:guide orient="horz" pos="2217"/>
        <p:guide pos="2880"/>
        <p:guide pos="215"/>
        <p:guide pos="5545"/>
        <p:guide orient="horz" pos="884"/>
      </p:guideLst>
    </p:cSldViewPr>
  </p:slideViewPr>
  <p:outlineViewPr>
    <p:cViewPr>
      <p:scale>
        <a:sx n="33" d="100"/>
        <a:sy n="33" d="100"/>
      </p:scale>
      <p:origin x="0" y="-594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-13445"/>
    </p:cViewPr>
  </p:sorterViewPr>
  <p:notesViewPr>
    <p:cSldViewPr snapToObjects="1">
      <p:cViewPr varScale="1">
        <p:scale>
          <a:sx n="62" d="100"/>
          <a:sy n="62" d="100"/>
        </p:scale>
        <p:origin x="3240" y="67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29148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00" tIns="46351" rIns="92700" bIns="46351" numCol="1" anchor="t" anchorCtr="0" compatLnSpc="1">
            <a:prstTxWarp prst="textNoShape">
              <a:avLst/>
            </a:prstTxWarp>
          </a:bodyPr>
          <a:lstStyle>
            <a:lvl1pPr defTabSz="926759" eaLnBrk="1" hangingPunct="1">
              <a:defRPr sz="12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147" name="Rectangle 3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8100" y="0"/>
            <a:ext cx="294957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00" tIns="46351" rIns="92700" bIns="46351" numCol="1" anchor="t" anchorCtr="0" compatLnSpc="1">
            <a:prstTxWarp prst="textNoShape">
              <a:avLst/>
            </a:prstTxWarp>
          </a:bodyPr>
          <a:lstStyle>
            <a:lvl1pPr algn="r" defTabSz="926759" eaLnBrk="1" hangingPunct="1">
              <a:defRPr sz="12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2950"/>
            <a:ext cx="496570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3288"/>
            <a:ext cx="4984750" cy="447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00" tIns="46351" rIns="92700" bIns="463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按一下以編輯母片</a:t>
            </a:r>
          </a:p>
          <a:p>
            <a:pPr lvl="1"/>
            <a:r>
              <a:rPr lang="en-US" noProof="0"/>
              <a:t>第二層</a:t>
            </a:r>
          </a:p>
          <a:p>
            <a:pPr lvl="2"/>
            <a:r>
              <a:rPr lang="en-US" noProof="0"/>
              <a:t>第三層</a:t>
            </a:r>
          </a:p>
          <a:p>
            <a:pPr lvl="3"/>
            <a:r>
              <a:rPr lang="en-US" noProof="0"/>
              <a:t>第四層</a:t>
            </a:r>
          </a:p>
          <a:p>
            <a:pPr lvl="4"/>
            <a:r>
              <a:rPr lang="en-US" noProof="0"/>
              <a:t>第五層</a:t>
            </a:r>
          </a:p>
        </p:txBody>
      </p:sp>
      <p:sp>
        <p:nvSpPr>
          <p:cNvPr id="6150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957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00" tIns="46351" rIns="92700" bIns="46351" numCol="1" anchor="b" anchorCtr="0" compatLnSpc="1">
            <a:prstTxWarp prst="textNoShape">
              <a:avLst/>
            </a:prstTxWarp>
          </a:bodyPr>
          <a:lstStyle>
            <a:lvl1pPr defTabSz="926759" eaLnBrk="1" hangingPunct="1">
              <a:defRPr sz="12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151" name="Rectangle 7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8100" y="9428163"/>
            <a:ext cx="294957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00" tIns="46351" rIns="92700" bIns="46351" numCol="1" anchor="b" anchorCtr="0" compatLnSpc="1">
            <a:prstTxWarp prst="textNoShape">
              <a:avLst/>
            </a:prstTxWarp>
          </a:bodyPr>
          <a:lstStyle>
            <a:lvl1pPr algn="r" defTabSz="925323" eaLnBrk="1" hangingPunct="1">
              <a:defRPr sz="12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919E7BF-BC8E-4528-A43A-1A80D537EB0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842234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39337012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25766367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3822392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35229064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673203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97438610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55775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3338896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55436777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0478214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5613" y="446088"/>
            <a:ext cx="2159000" cy="568007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27025" y="446088"/>
            <a:ext cx="6326188" cy="5680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6324377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66"/>
            </a:gs>
            <a:gs pos="50000">
              <a:schemeClr val="accent2"/>
            </a:gs>
            <a:gs pos="100000">
              <a:srgbClr val="00006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7025" y="446088"/>
            <a:ext cx="8637588" cy="61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AutoShape 4">
            <a:extLst>
              <a:ext uri="{FF2B5EF4-FFF2-40B4-BE49-F238E27FC236}"/>
            </a:extLst>
          </p:cNvPr>
          <p:cNvSpPr>
            <a:spLocks noChangeArrowheads="1"/>
          </p:cNvSpPr>
          <p:nvPr userDrawn="1"/>
        </p:nvSpPr>
        <p:spPr bwMode="auto">
          <a:xfrm>
            <a:off x="231775" y="381000"/>
            <a:ext cx="8912225" cy="609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3366"/>
              </a:gs>
              <a:gs pos="100000">
                <a:srgbClr val="3B6289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028" name="Rectangle 5">
            <a:extLst>
              <a:ext uri="{FF2B5EF4-FFF2-40B4-BE49-F238E27FC236}"/>
            </a:extLst>
          </p:cNvPr>
          <p:cNvSpPr>
            <a:spLocks noChangeArrowheads="1"/>
          </p:cNvSpPr>
          <p:nvPr userDrawn="1"/>
        </p:nvSpPr>
        <p:spPr bwMode="auto">
          <a:xfrm>
            <a:off x="3175" y="990600"/>
            <a:ext cx="4572000" cy="762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029" name="Line 6"/>
          <p:cNvSpPr>
            <a:spLocks noChangeShapeType="1"/>
          </p:cNvSpPr>
          <p:nvPr userDrawn="1"/>
        </p:nvSpPr>
        <p:spPr bwMode="auto">
          <a:xfrm>
            <a:off x="476250" y="990600"/>
            <a:ext cx="8670925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0" name="Line 8"/>
          <p:cNvSpPr>
            <a:spLocks noChangeShapeType="1"/>
          </p:cNvSpPr>
          <p:nvPr userDrawn="1"/>
        </p:nvSpPr>
        <p:spPr bwMode="auto">
          <a:xfrm>
            <a:off x="3175" y="1066800"/>
            <a:ext cx="6689725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1" name="Rectangle 10">
            <a:extLst>
              <a:ext uri="{FF2B5EF4-FFF2-40B4-BE49-F238E27FC236}"/>
            </a:extLst>
          </p:cNvPr>
          <p:cNvSpPr>
            <a:spLocks noChangeArrowheads="1"/>
          </p:cNvSpPr>
          <p:nvPr userDrawn="1"/>
        </p:nvSpPr>
        <p:spPr bwMode="auto">
          <a:xfrm>
            <a:off x="5413375" y="6781800"/>
            <a:ext cx="3730625" cy="762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032" name="Line 11"/>
          <p:cNvSpPr>
            <a:spLocks noChangeShapeType="1"/>
          </p:cNvSpPr>
          <p:nvPr userDrawn="1"/>
        </p:nvSpPr>
        <p:spPr bwMode="auto">
          <a:xfrm>
            <a:off x="9070975" y="4724400"/>
            <a:ext cx="0" cy="2133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3" name="Line 12"/>
          <p:cNvSpPr>
            <a:spLocks noChangeShapeType="1"/>
          </p:cNvSpPr>
          <p:nvPr userDrawn="1"/>
        </p:nvSpPr>
        <p:spPr bwMode="auto">
          <a:xfrm>
            <a:off x="384175" y="6781800"/>
            <a:ext cx="6689725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4" name="Line 13"/>
          <p:cNvSpPr>
            <a:spLocks noChangeShapeType="1"/>
          </p:cNvSpPr>
          <p:nvPr userDrawn="1"/>
        </p:nvSpPr>
        <p:spPr bwMode="auto">
          <a:xfrm>
            <a:off x="3175" y="6858000"/>
            <a:ext cx="5470525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5" name="Oval 15">
            <a:extLst>
              <a:ext uri="{FF2B5EF4-FFF2-40B4-BE49-F238E27FC236}"/>
            </a:extLst>
          </p:cNvPr>
          <p:cNvSpPr>
            <a:spLocks noChangeArrowheads="1"/>
          </p:cNvSpPr>
          <p:nvPr userDrawn="1"/>
        </p:nvSpPr>
        <p:spPr bwMode="auto">
          <a:xfrm>
            <a:off x="-1139825" y="0"/>
            <a:ext cx="1600200" cy="1600200"/>
          </a:xfrm>
          <a:prstGeom prst="ellipse">
            <a:avLst/>
          </a:prstGeom>
          <a:noFill/>
          <a:ln w="9525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defRPr/>
            </a:pPr>
            <a:endParaRPr lang="en-US" altLang="zh-TW">
              <a:ea typeface="新細明體" panose="02020500000000000000" pitchFamily="18" charset="-120"/>
            </a:endParaRPr>
          </a:p>
        </p:txBody>
      </p:sp>
      <p:sp>
        <p:nvSpPr>
          <p:cNvPr id="1036" name="Line 16"/>
          <p:cNvSpPr>
            <a:spLocks noChangeShapeType="1"/>
          </p:cNvSpPr>
          <p:nvPr userDrawn="1"/>
        </p:nvSpPr>
        <p:spPr bwMode="auto">
          <a:xfrm>
            <a:off x="231775" y="685800"/>
            <a:ext cx="0" cy="61722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pic>
        <p:nvPicPr>
          <p:cNvPr id="1037" name="Picture 13" descr="白台塑關係企業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150" y="173038"/>
            <a:ext cx="1244600" cy="70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600" b="1" i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600" b="1" i="1">
          <a:solidFill>
            <a:schemeClr val="bg1"/>
          </a:solidFill>
          <a:latin typeface="Times New Roman" pitchFamily="18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600" b="1" i="1">
          <a:solidFill>
            <a:schemeClr val="bg1"/>
          </a:solidFill>
          <a:latin typeface="Times New Roman" pitchFamily="18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600" b="1" i="1">
          <a:solidFill>
            <a:schemeClr val="bg1"/>
          </a:solidFill>
          <a:latin typeface="Times New Roman" pitchFamily="18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600" b="1" i="1">
          <a:solidFill>
            <a:schemeClr val="bg1"/>
          </a:solidFill>
          <a:latin typeface="Times New Roman" pitchFamily="18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600" b="1" i="1">
          <a:solidFill>
            <a:schemeClr val="bg1"/>
          </a:solidFill>
          <a:latin typeface="Times New Roman" pitchFamily="18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600" b="1" i="1">
          <a:solidFill>
            <a:schemeClr val="bg1"/>
          </a:solidFill>
          <a:latin typeface="Times New Roman" pitchFamily="18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600" b="1" i="1">
          <a:solidFill>
            <a:schemeClr val="bg1"/>
          </a:solidFill>
          <a:latin typeface="Times New Roman" pitchFamily="18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600" b="1" i="1">
          <a:solidFill>
            <a:schemeClr val="bg1"/>
          </a:solidFill>
          <a:latin typeface="Times New Roman" pitchFamily="18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AIP&#21839;&#31572;&#21161;&#29702;&#25552;&#22577;.xlsx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25463" y="385762"/>
            <a:ext cx="8412022" cy="612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/>
            <a:r>
              <a:rPr lang="zh-TW" altLang="en-US" sz="3200" dirty="0" smtClean="0">
                <a:solidFill>
                  <a:schemeClr val="bg1"/>
                </a:solidFill>
              </a:rPr>
              <a:t>一</a:t>
            </a:r>
            <a:r>
              <a:rPr lang="en-US" altLang="zh-TW" sz="3200" dirty="0" smtClean="0">
                <a:solidFill>
                  <a:schemeClr val="bg1"/>
                </a:solidFill>
              </a:rPr>
              <a:t>.</a:t>
            </a:r>
            <a:r>
              <a:rPr lang="zh-TW" altLang="en-US" sz="3200" dirty="0" smtClean="0">
                <a:solidFill>
                  <a:schemeClr val="bg1"/>
                </a:solidFill>
              </a:rPr>
              <a:t>台塑</a:t>
            </a:r>
            <a:r>
              <a:rPr lang="zh-TW" altLang="en-US" sz="3200" dirty="0">
                <a:solidFill>
                  <a:schemeClr val="bg1"/>
                </a:solidFill>
              </a:rPr>
              <a:t>企業</a:t>
            </a:r>
            <a:r>
              <a:rPr lang="en-US" altLang="zh-TW" sz="3200" dirty="0">
                <a:solidFill>
                  <a:schemeClr val="bg1"/>
                </a:solidFill>
              </a:rPr>
              <a:t>AI</a:t>
            </a:r>
            <a:r>
              <a:rPr lang="zh-TW" altLang="en-US" sz="3200" dirty="0" smtClean="0">
                <a:solidFill>
                  <a:schemeClr val="bg1"/>
                </a:solidFill>
              </a:rPr>
              <a:t>平台助理開發進度</a:t>
            </a:r>
            <a:r>
              <a:rPr lang="en-US" altLang="zh-TW" sz="3200" dirty="0" smtClean="0">
                <a:solidFill>
                  <a:schemeClr val="bg1"/>
                </a:solidFill>
              </a:rPr>
              <a:t>(1/4)</a:t>
            </a:r>
            <a:endParaRPr lang="zh-TW" altLang="en-US" sz="3200" dirty="0">
              <a:latin typeface="標楷體" panose="03000509000000000000" pitchFamily="65" charset="-12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00038" y="1074738"/>
            <a:ext cx="8727458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/>
            <a:r>
              <a:rPr lang="zh-TW" altLang="en-US" sz="2400" dirty="0">
                <a:latin typeface="標楷體" panose="03000509000000000000" pitchFamily="65" charset="-120"/>
              </a:rPr>
              <a:t>目的：</a:t>
            </a:r>
            <a:endParaRPr lang="en-US" altLang="zh-TW" sz="2400" dirty="0">
              <a:latin typeface="標楷體" panose="03000509000000000000" pitchFamily="65" charset="-120"/>
            </a:endParaRPr>
          </a:p>
          <a:p>
            <a:pPr marL="623888" defTabSz="896938"/>
            <a:r>
              <a:rPr lang="zh-TW" altLang="en-US" sz="2400" dirty="0" smtClean="0">
                <a:latin typeface="標楷體" panose="03000509000000000000" pitchFamily="65" charset="-120"/>
              </a:rPr>
              <a:t>為掌握 </a:t>
            </a:r>
            <a:r>
              <a:rPr lang="en-US" altLang="zh-TW" sz="2400" dirty="0">
                <a:latin typeface="標楷體" panose="03000509000000000000" pitchFamily="65" charset="-120"/>
              </a:rPr>
              <a:t>AIP </a:t>
            </a:r>
            <a:r>
              <a:rPr lang="zh-TW" altLang="en-US" sz="2400" dirty="0">
                <a:latin typeface="標楷體" panose="03000509000000000000" pitchFamily="65" charset="-120"/>
              </a:rPr>
              <a:t>問答助理提報作業推動進度，確保各組依計畫完成交付，並即時處理進度落後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情形。</a:t>
            </a:r>
            <a:endParaRPr lang="en-US" altLang="zh-TW" sz="2400" dirty="0">
              <a:latin typeface="標楷體" panose="03000509000000000000" pitchFamily="65" charset="-120"/>
            </a:endParaRPr>
          </a:p>
          <a:p>
            <a:pPr eaLnBrk="1" hangingPunct="1"/>
            <a:r>
              <a:rPr lang="zh-TW" altLang="en-US" sz="2400" dirty="0" smtClean="0">
                <a:latin typeface="標楷體" panose="03000509000000000000" pitchFamily="65" charset="-120"/>
              </a:rPr>
              <a:t>作法：</a:t>
            </a:r>
            <a:endParaRPr lang="en-US" altLang="zh-TW" sz="2400" dirty="0">
              <a:latin typeface="標楷體" panose="03000509000000000000" pitchFamily="65" charset="-120"/>
            </a:endParaRPr>
          </a:p>
          <a:p>
            <a:pPr marL="879475" lvl="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以</a:t>
            </a:r>
            <a:r>
              <a:rPr lang="zh-TW" altLang="en-US" sz="2400" dirty="0" smtClean="0"/>
              <a:t>「應</a:t>
            </a:r>
            <a:r>
              <a:rPr lang="zh-TW" altLang="en-US" sz="2400" dirty="0"/>
              <a:t>用</a:t>
            </a:r>
            <a:r>
              <a:rPr lang="zh-TW" altLang="en-US" sz="2400" dirty="0" smtClean="0"/>
              <a:t>組別」</a:t>
            </a:r>
            <a:r>
              <a:rPr lang="zh-TW" altLang="en-US" sz="2400" dirty="0"/>
              <a:t>為責任單位進行進度</a:t>
            </a:r>
            <a:r>
              <a:rPr lang="zh-TW" altLang="en-US" sz="2400" dirty="0" smtClean="0"/>
              <a:t>管理，</a:t>
            </a:r>
            <a:r>
              <a:rPr lang="zh-TW" altLang="en-US" sz="2400" dirty="0">
                <a:latin typeface="標楷體" panose="03000509000000000000" pitchFamily="65" charset="-120"/>
              </a:rPr>
              <a:t>挑選共通性、多人使用</a:t>
            </a:r>
            <a:r>
              <a:rPr lang="en-US" altLang="zh-TW" sz="2400" dirty="0" smtClean="0"/>
              <a:t>ERP</a:t>
            </a:r>
            <a:r>
              <a:rPr lang="zh-TW" altLang="en-US" sz="2400" dirty="0" smtClean="0"/>
              <a:t>、</a:t>
            </a:r>
            <a:r>
              <a:rPr lang="en-US" altLang="zh-TW" sz="2400" dirty="0"/>
              <a:t>OA </a:t>
            </a:r>
            <a:r>
              <a:rPr lang="zh-TW" altLang="en-US" sz="2400" dirty="0">
                <a:latin typeface="標楷體" panose="03000509000000000000" pitchFamily="65" charset="-120"/>
              </a:rPr>
              <a:t>作業進行試點，提供即時問答</a:t>
            </a:r>
            <a:endParaRPr lang="en-US" altLang="zh-TW" sz="2400" dirty="0">
              <a:latin typeface="標楷體" panose="03000509000000000000" pitchFamily="65" charset="-120"/>
            </a:endParaRPr>
          </a:p>
          <a:p>
            <a:pPr marL="536575" lvl="0"/>
            <a:r>
              <a:rPr lang="zh-TW" altLang="en-US" sz="2400" dirty="0" smtClean="0">
                <a:latin typeface="標楷體" panose="03000509000000000000" pitchFamily="65" charset="-120"/>
              </a:rPr>
              <a:t>（</a:t>
            </a:r>
            <a:r>
              <a:rPr lang="en-US" altLang="zh-TW" sz="2400" dirty="0" smtClean="0"/>
              <a:t>FAQ</a:t>
            </a:r>
            <a:r>
              <a:rPr lang="zh-TW" altLang="en-US" sz="2400" dirty="0">
                <a:latin typeface="標楷體" panose="03000509000000000000" pitchFamily="65" charset="-120"/>
              </a:rPr>
              <a:t>、操作步驟、異常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排除、</a:t>
            </a:r>
            <a:r>
              <a:rPr lang="en-US" altLang="zh-TW" sz="2400" dirty="0"/>
              <a:t> </a:t>
            </a:r>
            <a:r>
              <a:rPr lang="en-US" altLang="zh-TW" sz="2400" dirty="0" smtClean="0"/>
              <a:t>ERP</a:t>
            </a:r>
            <a:r>
              <a:rPr lang="zh-TW" altLang="en-US" sz="2400" dirty="0" smtClean="0"/>
              <a:t>資料查詢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等）</a:t>
            </a:r>
            <a:r>
              <a:rPr lang="zh-TW" altLang="en-US" sz="2400" dirty="0" smtClean="0"/>
              <a:t>。</a:t>
            </a:r>
            <a:endParaRPr lang="en-US" altLang="zh-TW" sz="2400" dirty="0" smtClean="0"/>
          </a:p>
          <a:p>
            <a:pPr marL="877888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彙整各組提報資料，</a:t>
            </a:r>
            <a:r>
              <a:rPr lang="zh-TW" altLang="en-US" sz="2400" dirty="0" smtClean="0"/>
              <a:t>統計提報</a:t>
            </a:r>
            <a:r>
              <a:rPr lang="zh-TW" altLang="en-US" sz="2400" dirty="0"/>
              <a:t>件數、已完成件數（以實際完成日為準）、完成率。</a:t>
            </a:r>
          </a:p>
          <a:p>
            <a:pPr eaLnBrk="1" hangingPunct="1"/>
            <a:r>
              <a:rPr lang="zh-TW" altLang="en-US" sz="2400" dirty="0" smtClean="0">
                <a:latin typeface="標楷體" panose="03000509000000000000" pitchFamily="65" charset="-120"/>
              </a:rPr>
              <a:t>進度</a:t>
            </a:r>
            <a:r>
              <a:rPr lang="zh-TW" altLang="en-US" sz="2400" dirty="0">
                <a:latin typeface="標楷體" panose="03000509000000000000" pitchFamily="65" charset="-120"/>
              </a:rPr>
              <a:t>：</a:t>
            </a:r>
            <a:endParaRPr lang="en-US" altLang="zh-TW" sz="2400" dirty="0">
              <a:latin typeface="標楷體" panose="03000509000000000000" pitchFamily="65" charset="-120"/>
            </a:endParaRPr>
          </a:p>
          <a:p>
            <a:pPr marL="538163"/>
            <a:r>
              <a:rPr lang="zh-TW" altLang="en-US" sz="2400" dirty="0"/>
              <a:t>目前各組作業均已展開</a:t>
            </a:r>
            <a:r>
              <a:rPr lang="zh-TW" altLang="en-US" sz="2400" dirty="0" smtClean="0"/>
              <a:t>，惟</a:t>
            </a:r>
            <a:r>
              <a:rPr lang="zh-TW" altLang="en-US" sz="2400" dirty="0"/>
              <a:t>整體仍以進行中案件為主，需持續加強進度控管</a:t>
            </a:r>
            <a:r>
              <a:rPr lang="zh-TW" altLang="en-US" sz="2400" dirty="0" smtClean="0"/>
              <a:t>。</a:t>
            </a:r>
            <a:endParaRPr lang="zh-TW" altLang="en-US" sz="2400" dirty="0"/>
          </a:p>
          <a:p>
            <a:pPr indent="538163"/>
            <a:r>
              <a:rPr lang="zh-TW" altLang="en-US" sz="2400" dirty="0" smtClean="0"/>
              <a:t>總</a:t>
            </a:r>
            <a:r>
              <a:rPr lang="zh-TW" altLang="en-US" sz="2400" dirty="0"/>
              <a:t>提報數</a:t>
            </a:r>
            <a:r>
              <a:rPr lang="zh-TW" altLang="en-US" sz="2400" dirty="0" smtClean="0"/>
              <a:t>：</a:t>
            </a:r>
            <a:r>
              <a:rPr lang="en-US" altLang="zh-TW" sz="2400" dirty="0" smtClean="0"/>
              <a:t>142</a:t>
            </a:r>
            <a:r>
              <a:rPr lang="zh-TW" altLang="en-US" sz="2400" dirty="0" smtClean="0"/>
              <a:t> </a:t>
            </a:r>
            <a:r>
              <a:rPr lang="zh-TW" altLang="en-US" sz="2400" dirty="0"/>
              <a:t>件</a:t>
            </a:r>
          </a:p>
          <a:p>
            <a:pPr indent="538163"/>
            <a:r>
              <a:rPr lang="zh-TW" altLang="en-US" sz="2400" dirty="0"/>
              <a:t>已完成數</a:t>
            </a:r>
            <a:r>
              <a:rPr lang="zh-TW" altLang="en-US" sz="2400" dirty="0" smtClean="0"/>
              <a:t>：</a:t>
            </a:r>
            <a:r>
              <a:rPr lang="en-US" altLang="zh-TW" sz="2400" dirty="0" smtClean="0"/>
              <a:t>142</a:t>
            </a:r>
            <a:r>
              <a:rPr lang="zh-TW" altLang="en-US" sz="2400" dirty="0" smtClean="0"/>
              <a:t> </a:t>
            </a:r>
            <a:r>
              <a:rPr lang="zh-TW" altLang="en-US" sz="2400" dirty="0"/>
              <a:t>件</a:t>
            </a:r>
          </a:p>
          <a:p>
            <a:pPr indent="538163"/>
            <a:r>
              <a:rPr lang="zh-TW" altLang="en-US" sz="2400" dirty="0"/>
              <a:t>整體完成率</a:t>
            </a:r>
            <a:r>
              <a:rPr lang="zh-TW" altLang="en-US" sz="2400" dirty="0" smtClean="0"/>
              <a:t>：</a:t>
            </a:r>
            <a:r>
              <a:rPr lang="en-US" altLang="zh-TW" sz="2400" dirty="0" smtClean="0"/>
              <a:t>100</a:t>
            </a:r>
            <a:r>
              <a:rPr lang="zh-TW" altLang="en-US" sz="2400" dirty="0" smtClean="0"/>
              <a:t> </a:t>
            </a:r>
            <a:r>
              <a:rPr lang="en-US" altLang="zh-TW" sz="2400" dirty="0"/>
              <a:t>%</a:t>
            </a:r>
            <a:r>
              <a:rPr lang="zh-TW" altLang="en-US" sz="2400" dirty="0" smtClean="0"/>
              <a:t>。</a:t>
            </a:r>
            <a:endParaRPr lang="en-US" altLang="zh-TW" sz="2400" dirty="0"/>
          </a:p>
          <a:p>
            <a:pPr indent="623888"/>
            <a:endParaRPr lang="zh-TW" altLang="en-US" sz="2400" dirty="0">
              <a:latin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11988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25463" y="385762"/>
            <a:ext cx="8412022" cy="612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/>
            <a:r>
              <a:rPr lang="zh-TW" altLang="en-US" sz="3200" dirty="0" smtClean="0">
                <a:solidFill>
                  <a:schemeClr val="bg1"/>
                </a:solidFill>
              </a:rPr>
              <a:t>一</a:t>
            </a:r>
            <a:r>
              <a:rPr lang="en-US" altLang="zh-TW" sz="3200" dirty="0" smtClean="0">
                <a:solidFill>
                  <a:schemeClr val="bg1"/>
                </a:solidFill>
              </a:rPr>
              <a:t>.</a:t>
            </a:r>
            <a:r>
              <a:rPr lang="zh-TW" altLang="en-US" sz="3200" dirty="0" smtClean="0">
                <a:solidFill>
                  <a:schemeClr val="bg1"/>
                </a:solidFill>
              </a:rPr>
              <a:t>台塑</a:t>
            </a:r>
            <a:r>
              <a:rPr lang="zh-TW" altLang="en-US" sz="3200" dirty="0">
                <a:solidFill>
                  <a:schemeClr val="bg1"/>
                </a:solidFill>
              </a:rPr>
              <a:t>企業</a:t>
            </a:r>
            <a:r>
              <a:rPr lang="en-US" altLang="zh-TW" sz="3200" dirty="0">
                <a:solidFill>
                  <a:schemeClr val="bg1"/>
                </a:solidFill>
              </a:rPr>
              <a:t>AI</a:t>
            </a:r>
            <a:r>
              <a:rPr lang="zh-TW" altLang="en-US" sz="3200" dirty="0">
                <a:solidFill>
                  <a:schemeClr val="bg1"/>
                </a:solidFill>
              </a:rPr>
              <a:t>平台助理開發進度</a:t>
            </a:r>
            <a:r>
              <a:rPr lang="en-US" altLang="zh-TW" sz="3200" dirty="0" smtClean="0">
                <a:solidFill>
                  <a:schemeClr val="bg1"/>
                </a:solidFill>
              </a:rPr>
              <a:t>(2/4)</a:t>
            </a:r>
            <a:endParaRPr lang="zh-TW" altLang="en-US" sz="3200" dirty="0">
              <a:latin typeface="標楷體" panose="03000509000000000000" pitchFamily="65" charset="-12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196824"/>
              </p:ext>
            </p:extLst>
          </p:nvPr>
        </p:nvGraphicFramePr>
        <p:xfrm>
          <a:off x="1601670" y="2078850"/>
          <a:ext cx="609860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90"/>
                <a:gridCol w="1305145"/>
                <a:gridCol w="1260140"/>
                <a:gridCol w="1350150"/>
                <a:gridCol w="137308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組別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提報件數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完成件數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完成率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未完成件數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一組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21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21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100%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二組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29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29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100%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四組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24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24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100%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五組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23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23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100%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六組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20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20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100%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七組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A68B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25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A68B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25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A68B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100%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0</a:t>
                      </a:r>
                      <a:endParaRPr lang="zh-TW" altLang="en-US" sz="18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合計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142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142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100%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39944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25463" y="385762"/>
            <a:ext cx="8412022" cy="612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/>
            <a:r>
              <a:rPr lang="zh-TW" altLang="en-US" sz="3200" dirty="0" smtClean="0">
                <a:solidFill>
                  <a:schemeClr val="bg1"/>
                </a:solidFill>
              </a:rPr>
              <a:t>一</a:t>
            </a:r>
            <a:r>
              <a:rPr lang="en-US" altLang="zh-TW" sz="3200" dirty="0" smtClean="0">
                <a:solidFill>
                  <a:schemeClr val="bg1"/>
                </a:solidFill>
              </a:rPr>
              <a:t>.</a:t>
            </a:r>
            <a:r>
              <a:rPr lang="zh-TW" altLang="en-US" sz="3200" dirty="0" smtClean="0">
                <a:solidFill>
                  <a:schemeClr val="bg1"/>
                </a:solidFill>
              </a:rPr>
              <a:t>台塑</a:t>
            </a:r>
            <a:r>
              <a:rPr lang="zh-TW" altLang="en-US" sz="3200" dirty="0">
                <a:solidFill>
                  <a:schemeClr val="bg1"/>
                </a:solidFill>
              </a:rPr>
              <a:t>企業</a:t>
            </a:r>
            <a:r>
              <a:rPr lang="en-US" altLang="zh-TW" sz="3200" dirty="0">
                <a:solidFill>
                  <a:schemeClr val="bg1"/>
                </a:solidFill>
              </a:rPr>
              <a:t>AI</a:t>
            </a:r>
            <a:r>
              <a:rPr lang="zh-TW" altLang="en-US" sz="3200" dirty="0">
                <a:solidFill>
                  <a:schemeClr val="bg1"/>
                </a:solidFill>
              </a:rPr>
              <a:t>平台助理開發進度</a:t>
            </a:r>
            <a:r>
              <a:rPr lang="en-US" altLang="zh-TW" sz="3200" dirty="0" smtClean="0">
                <a:solidFill>
                  <a:schemeClr val="bg1"/>
                </a:solidFill>
              </a:rPr>
              <a:t>(3/4)</a:t>
            </a:r>
            <a:endParaRPr lang="zh-TW" altLang="en-US" sz="3200" dirty="0">
              <a:latin typeface="標楷體" panose="03000509000000000000" pitchFamily="65" charset="-12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546274"/>
              </p:ext>
            </p:extLst>
          </p:nvPr>
        </p:nvGraphicFramePr>
        <p:xfrm>
          <a:off x="1061610" y="1178750"/>
          <a:ext cx="6998706" cy="556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90"/>
                <a:gridCol w="855095"/>
                <a:gridCol w="1305145"/>
                <a:gridCol w="1260140"/>
                <a:gridCol w="1350150"/>
                <a:gridCol w="141808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組別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種類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提報件數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完成件數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完成率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未完成件數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一組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流程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8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8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100%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專業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13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13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100%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二組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流程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9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9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100%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專業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20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20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100%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四組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流程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2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2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100%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專業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22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22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100%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五組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流程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100%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專業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13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13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100%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六組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流程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4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4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100%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A68B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專業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A68B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16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A68B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16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A68B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100%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0</a:t>
                      </a:r>
                      <a:endParaRPr lang="zh-TW" altLang="en-US" sz="18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七組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A68B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流程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A68B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18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A68B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18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A68B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100%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0</a:t>
                      </a:r>
                      <a:endParaRPr lang="zh-TW" altLang="en-US" sz="18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A68B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專業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A68B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7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A68B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7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A68B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100%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0</a:t>
                      </a:r>
                      <a:endParaRPr lang="zh-TW" altLang="en-US" sz="18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合計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流程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50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50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100%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1800" dirty="0" smtClean="0">
                          <a:latin typeface="+mj-ea"/>
                          <a:ea typeface="+mj-ea"/>
                        </a:rPr>
                        <a:t>專業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92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92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100%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>
                          <a:latin typeface="+mj-ea"/>
                          <a:ea typeface="+mj-ea"/>
                        </a:rPr>
                        <a:t>0</a:t>
                      </a:r>
                      <a:endParaRPr lang="zh-TW" altLang="en-US" sz="18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 bwMode="auto">
          <a:xfrm>
            <a:off x="8217405" y="6354325"/>
            <a:ext cx="58506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algn="l" eaLnBrk="1" hangingPunct="1"/>
            <a:r>
              <a:rPr lang="en-US" altLang="zh-TW" sz="1400" dirty="0" smtClean="0">
                <a:hlinkClick r:id="rId2" action="ppaction://hlinkfile"/>
              </a:rPr>
              <a:t>XLS</a:t>
            </a:r>
            <a:endParaRPr lang="en-US" altLang="zh-TW" sz="1400" dirty="0" smtClean="0"/>
          </a:p>
        </p:txBody>
      </p:sp>
    </p:spTree>
    <p:extLst>
      <p:ext uri="{BB962C8B-B14F-4D97-AF65-F5344CB8AC3E}">
        <p14:creationId xmlns:p14="http://schemas.microsoft.com/office/powerpoint/2010/main" val="2331172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25463" y="385762"/>
            <a:ext cx="8412022" cy="612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/>
            <a:r>
              <a:rPr lang="zh-TW" altLang="en-US" sz="3200" dirty="0">
                <a:solidFill>
                  <a:schemeClr val="bg1"/>
                </a:solidFill>
              </a:rPr>
              <a:t>一</a:t>
            </a:r>
            <a:r>
              <a:rPr lang="en-US" altLang="zh-TW" sz="3200" dirty="0">
                <a:solidFill>
                  <a:schemeClr val="bg1"/>
                </a:solidFill>
              </a:rPr>
              <a:t>.</a:t>
            </a:r>
            <a:r>
              <a:rPr lang="zh-TW" altLang="en-US" sz="3200" dirty="0">
                <a:solidFill>
                  <a:schemeClr val="bg1"/>
                </a:solidFill>
              </a:rPr>
              <a:t>台塑企業</a:t>
            </a:r>
            <a:r>
              <a:rPr lang="en-US" altLang="zh-TW" sz="3200" dirty="0">
                <a:solidFill>
                  <a:schemeClr val="bg1"/>
                </a:solidFill>
              </a:rPr>
              <a:t>AI</a:t>
            </a:r>
            <a:r>
              <a:rPr lang="zh-TW" altLang="en-US" sz="3200" dirty="0">
                <a:solidFill>
                  <a:schemeClr val="bg1"/>
                </a:solidFill>
              </a:rPr>
              <a:t>平台助理開發進度</a:t>
            </a:r>
            <a:r>
              <a:rPr lang="en-US" altLang="zh-TW" sz="3200" dirty="0" smtClean="0">
                <a:solidFill>
                  <a:schemeClr val="bg1"/>
                </a:solidFill>
              </a:rPr>
              <a:t>(4/4</a:t>
            </a:r>
            <a:r>
              <a:rPr lang="en-US" altLang="zh-TW" sz="3200" dirty="0">
                <a:solidFill>
                  <a:schemeClr val="bg1"/>
                </a:solidFill>
              </a:rPr>
              <a:t>)</a:t>
            </a:r>
            <a:endParaRPr lang="zh-TW" altLang="en-US" sz="3200" dirty="0">
              <a:latin typeface="標楷體" panose="03000509000000000000" pitchFamily="65" charset="-120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00038" y="1074738"/>
            <a:ext cx="87274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/>
            <a:r>
              <a:rPr lang="zh-TW" altLang="en-US" sz="2400" dirty="0" smtClean="0">
                <a:latin typeface="標楷體" panose="03000509000000000000" pitchFamily="65" charset="-120"/>
              </a:rPr>
              <a:t>總管理處</a:t>
            </a:r>
            <a:r>
              <a:rPr lang="en-US" altLang="zh-TW" sz="2400" dirty="0" smtClean="0">
                <a:latin typeface="+mn-lt"/>
              </a:rPr>
              <a:t>AI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項目與本部進行中專案：</a:t>
            </a:r>
            <a:endParaRPr lang="en-US" altLang="zh-TW" sz="2400" dirty="0">
              <a:latin typeface="標楷體" panose="03000509000000000000" pitchFamily="65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150539"/>
              </p:ext>
            </p:extLst>
          </p:nvPr>
        </p:nvGraphicFramePr>
        <p:xfrm>
          <a:off x="341530" y="1642230"/>
          <a:ext cx="8640960" cy="4577080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540060"/>
                <a:gridCol w="1260140"/>
                <a:gridCol w="585065"/>
                <a:gridCol w="3735415"/>
                <a:gridCol w="2520280"/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latin typeface="+mj-ea"/>
                          <a:ea typeface="+mj-ea"/>
                        </a:rPr>
                        <a:t>編號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latin typeface="+mj-ea"/>
                          <a:ea typeface="+mj-ea"/>
                        </a:rPr>
                        <a:t>專案名稱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 smtClean="0">
                          <a:latin typeface="+mj-ea"/>
                          <a:ea typeface="+mj-ea"/>
                        </a:rPr>
                        <a:t>單位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latin typeface="+mj-ea"/>
                          <a:ea typeface="+mj-ea"/>
                        </a:rPr>
                        <a:t>專案內容 </a:t>
                      </a:r>
                      <a:r>
                        <a:rPr lang="en-US" altLang="zh-TW" sz="1400" kern="1200" dirty="0">
                          <a:latin typeface="+mj-ea"/>
                          <a:ea typeface="+mj-ea"/>
                        </a:rPr>
                        <a:t>/ </a:t>
                      </a:r>
                      <a:r>
                        <a:rPr lang="zh-TW" altLang="en-US" sz="1400" kern="1200" dirty="0">
                          <a:latin typeface="+mj-ea"/>
                          <a:ea typeface="+mj-ea"/>
                        </a:rPr>
                        <a:t>功能說明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latin typeface="+mj-ea"/>
                          <a:ea typeface="+mj-ea"/>
                        </a:rPr>
                        <a:t>目前進度說明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latin typeface="+mj-ea"/>
                          <a:ea typeface="+mj-ea"/>
                        </a:rPr>
                        <a:t>1</a:t>
                      </a:r>
                      <a:endParaRPr lang="en-US" altLang="zh-TW" sz="1200" b="1" kern="1200" dirty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銷售數據智能問答系統</a:t>
                      </a:r>
                      <a:endParaRPr lang="zh-TW" altLang="en-US" sz="1200" b="1" kern="1200" dirty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資訊</a:t>
                      </a:r>
                      <a:endParaRPr lang="zh-TW" altLang="en-US" sz="1200" b="1" kern="1200" dirty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200" kern="1200" dirty="0" smtClean="0">
                          <a:latin typeface="+mj-ea"/>
                          <a:ea typeface="+mj-ea"/>
                        </a:rPr>
                        <a:t>‧</a:t>
                      </a:r>
                      <a:r>
                        <a:rPr lang="zh-TW" altLang="en-US" sz="1200" kern="1200" dirty="0" smtClean="0">
                          <a:latin typeface="+mj-ea"/>
                          <a:ea typeface="+mj-ea"/>
                        </a:rPr>
                        <a:t>建立</a:t>
                      </a:r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四大公司銷售統計數據問答系統，提供即時查詢與分析</a:t>
                      </a:r>
                      <a:br>
                        <a:rPr lang="zh-TW" altLang="en-US" sz="1200" kern="1200" dirty="0">
                          <a:latin typeface="+mj-ea"/>
                          <a:ea typeface="+mj-ea"/>
                        </a:rPr>
                      </a:br>
                      <a:r>
                        <a:rPr lang="en-US" altLang="zh-TW" sz="1200" kern="1200" dirty="0" smtClean="0">
                          <a:latin typeface="+mj-ea"/>
                          <a:ea typeface="+mj-ea"/>
                        </a:rPr>
                        <a:t>‧</a:t>
                      </a:r>
                      <a:r>
                        <a:rPr lang="zh-TW" altLang="en-US" sz="1200" kern="1200" dirty="0" smtClean="0">
                          <a:latin typeface="+mj-ea"/>
                          <a:ea typeface="+mj-ea"/>
                        </a:rPr>
                        <a:t>以</a:t>
                      </a:r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自然語言輸入問題，快速獲得數據</a:t>
                      </a:r>
                      <a:r>
                        <a:rPr lang="zh-TW" altLang="en-US" sz="1200" kern="1200" dirty="0" smtClean="0">
                          <a:latin typeface="+mj-ea"/>
                          <a:ea typeface="+mj-ea"/>
                        </a:rPr>
                        <a:t>統計回覆</a:t>
                      </a:r>
                      <a:endParaRPr lang="zh-TW" altLang="en-US" sz="1200" b="1" kern="1200" dirty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kern="1200" dirty="0" smtClean="0">
                          <a:latin typeface="+mj-ea"/>
                          <a:ea typeface="+mj-ea"/>
                        </a:rPr>
                        <a:t>待微軟身分識別增強功能完成，調試後公布上線</a:t>
                      </a:r>
                      <a:endParaRPr lang="en-US" altLang="zh-TW" sz="1200" kern="1200" dirty="0" smtClean="0">
                        <a:latin typeface="+mj-ea"/>
                        <a:ea typeface="+mj-ea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kern="1200" dirty="0" smtClean="0">
                          <a:latin typeface="+mj-ea"/>
                          <a:ea typeface="+mj-ea"/>
                        </a:rPr>
                        <a:t>目前依公司別拆成不同助理</a:t>
                      </a:r>
                      <a:endParaRPr lang="zh-TW" altLang="en-US" sz="1200" b="1" kern="1200" dirty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>
                          <a:latin typeface="+mj-ea"/>
                          <a:ea typeface="+mj-ea"/>
                        </a:rPr>
                        <a:t>2</a:t>
                      </a:r>
                      <a:endParaRPr lang="en-US" altLang="zh-TW" sz="1200" b="1" kern="120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設備保養 </a:t>
                      </a:r>
                      <a:r>
                        <a:rPr lang="en-US" altLang="zh-TW" sz="1200" kern="1200" dirty="0">
                          <a:latin typeface="+mn-lt"/>
                          <a:ea typeface="+mj-ea"/>
                        </a:rPr>
                        <a:t>AI</a:t>
                      </a:r>
                      <a:r>
                        <a:rPr lang="en-US" altLang="zh-TW" sz="1200" kern="12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應用</a:t>
                      </a:r>
                      <a:endParaRPr lang="zh-TW" altLang="en-US" sz="1200" b="1" kern="1200" dirty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保養</a:t>
                      </a:r>
                      <a:endParaRPr lang="zh-TW" altLang="en-US" sz="1200" b="1" kern="1200" dirty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1200" kern="1200" dirty="0" smtClean="0">
                          <a:latin typeface="+mj-ea"/>
                          <a:ea typeface="+mj-ea"/>
                        </a:rPr>
                        <a:t>彙</a:t>
                      </a:r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整並智能查詢以下設備資訊：</a:t>
                      </a:r>
                      <a:br>
                        <a:rPr lang="zh-TW" altLang="en-US" sz="1200" kern="1200" dirty="0">
                          <a:latin typeface="+mj-ea"/>
                          <a:ea typeface="+mj-ea"/>
                        </a:rPr>
                      </a:br>
                      <a:r>
                        <a:rPr lang="en-US" altLang="zh-TW" sz="1200" kern="1200" dirty="0">
                          <a:latin typeface="+mj-ea"/>
                          <a:ea typeface="+mj-ea"/>
                        </a:rPr>
                        <a:t>(1) </a:t>
                      </a:r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重要規格資料</a:t>
                      </a:r>
                      <a:br>
                        <a:rPr lang="zh-TW" altLang="en-US" sz="1200" kern="1200" dirty="0">
                          <a:latin typeface="+mj-ea"/>
                          <a:ea typeface="+mj-ea"/>
                        </a:rPr>
                      </a:br>
                      <a:r>
                        <a:rPr lang="en-US" altLang="zh-TW" sz="1200" kern="1200" dirty="0">
                          <a:latin typeface="+mj-ea"/>
                          <a:ea typeface="+mj-ea"/>
                        </a:rPr>
                        <a:t>(2) </a:t>
                      </a:r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異常停機可能影響程度</a:t>
                      </a:r>
                      <a:br>
                        <a:rPr lang="zh-TW" altLang="en-US" sz="1200" kern="1200" dirty="0">
                          <a:latin typeface="+mj-ea"/>
                          <a:ea typeface="+mj-ea"/>
                        </a:rPr>
                      </a:br>
                      <a:r>
                        <a:rPr lang="en-US" altLang="zh-TW" sz="1200" kern="1200" dirty="0">
                          <a:latin typeface="+mj-ea"/>
                          <a:ea typeface="+mj-ea"/>
                        </a:rPr>
                        <a:t>(3) </a:t>
                      </a:r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異常發生所需備品項目及數量</a:t>
                      </a:r>
                      <a:br>
                        <a:rPr lang="zh-TW" altLang="en-US" sz="1200" kern="1200" dirty="0">
                          <a:latin typeface="+mj-ea"/>
                          <a:ea typeface="+mj-ea"/>
                        </a:rPr>
                      </a:br>
                      <a:r>
                        <a:rPr lang="en-US" altLang="zh-TW" sz="1200" kern="1200" dirty="0">
                          <a:latin typeface="+mj-ea"/>
                          <a:ea typeface="+mj-ea"/>
                        </a:rPr>
                        <a:t>(4) </a:t>
                      </a:r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維護合約廠商聯絡資料</a:t>
                      </a:r>
                      <a:br>
                        <a:rPr lang="zh-TW" altLang="en-US" sz="1200" kern="1200" dirty="0">
                          <a:latin typeface="+mj-ea"/>
                          <a:ea typeface="+mj-ea"/>
                        </a:rPr>
                      </a:br>
                      <a:r>
                        <a:rPr lang="en-US" altLang="zh-TW" sz="1200" kern="1200" dirty="0">
                          <a:latin typeface="+mj-ea"/>
                          <a:ea typeface="+mj-ea"/>
                        </a:rPr>
                        <a:t>(5) </a:t>
                      </a:r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過去五年異常與保養紀錄</a:t>
                      </a:r>
                      <a:br>
                        <a:rPr lang="zh-TW" altLang="en-US" sz="1200" kern="1200" dirty="0">
                          <a:latin typeface="+mj-ea"/>
                          <a:ea typeface="+mj-ea"/>
                        </a:rPr>
                      </a:br>
                      <a:r>
                        <a:rPr lang="en-US" altLang="zh-TW" sz="1200" kern="1200" dirty="0">
                          <a:latin typeface="+mj-ea"/>
                          <a:ea typeface="+mj-ea"/>
                        </a:rPr>
                        <a:t>(6) </a:t>
                      </a:r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可能異常原因與對應維修方式</a:t>
                      </a:r>
                      <a:br>
                        <a:rPr lang="zh-TW" altLang="en-US" sz="1200" kern="1200" dirty="0">
                          <a:latin typeface="+mj-ea"/>
                          <a:ea typeface="+mj-ea"/>
                        </a:rPr>
                      </a:br>
                      <a:r>
                        <a:rPr lang="en-US" altLang="zh-TW" sz="1200" kern="1200" dirty="0">
                          <a:latin typeface="+mj-ea"/>
                          <a:ea typeface="+mj-ea"/>
                        </a:rPr>
                        <a:t>(7) </a:t>
                      </a:r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維修注意事項及施工程序</a:t>
                      </a:r>
                      <a:br>
                        <a:rPr lang="zh-TW" altLang="en-US" sz="1200" kern="1200" dirty="0">
                          <a:latin typeface="+mj-ea"/>
                          <a:ea typeface="+mj-ea"/>
                        </a:rPr>
                      </a:br>
                      <a:r>
                        <a:rPr lang="en-US" altLang="zh-TW" sz="1200" kern="1200" dirty="0">
                          <a:latin typeface="+mj-ea"/>
                          <a:ea typeface="+mj-ea"/>
                        </a:rPr>
                        <a:t>(8) </a:t>
                      </a:r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同型設備異常改善與根因分析</a:t>
                      </a:r>
                      <a:endParaRPr lang="zh-TW" altLang="en-US" sz="1200" b="1" kern="1200" dirty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kern="1200" dirty="0" smtClean="0">
                          <a:solidFill>
                            <a:schemeClr val="lt1"/>
                          </a:solidFill>
                          <a:latin typeface="+mj-ea"/>
                          <a:ea typeface="+mj-ea"/>
                          <a:cs typeface="+mn-cs"/>
                        </a:rPr>
                        <a:t>待微軟身分識別增強功能完成，調試後公布上線</a:t>
                      </a:r>
                      <a:endParaRPr lang="en-US" altLang="zh-TW" sz="1200" kern="1200" dirty="0" smtClean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kern="1200" dirty="0" smtClean="0">
                          <a:latin typeface="+mj-ea"/>
                          <a:ea typeface="+mj-ea"/>
                        </a:rPr>
                        <a:t>目前依公司別拆分成不同助理</a:t>
                      </a:r>
                      <a:endParaRPr lang="en-US" altLang="zh-TW" sz="1200" kern="1200" dirty="0" smtClean="0">
                        <a:latin typeface="+mj-ea"/>
                        <a:ea typeface="+mj-ea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kern="1200" dirty="0" smtClean="0">
                          <a:latin typeface="+mj-ea"/>
                          <a:ea typeface="+mj-ea"/>
                        </a:rPr>
                        <a:t>保養管理組</a:t>
                      </a:r>
                      <a:r>
                        <a:rPr lang="zh-TW" altLang="en-US" sz="1200" kern="1200" dirty="0" smtClean="0">
                          <a:solidFill>
                            <a:schemeClr val="lt1"/>
                          </a:solidFill>
                          <a:latin typeface="+mj-ea"/>
                          <a:ea typeface="+mj-ea"/>
                          <a:cs typeface="+mn-cs"/>
                        </a:rPr>
                        <a:t>在測試區已</a:t>
                      </a:r>
                      <a:r>
                        <a:rPr lang="zh-TW" altLang="en-US" sz="1200" kern="1200" dirty="0" smtClean="0">
                          <a:latin typeface="+mj-ea"/>
                          <a:ea typeface="+mj-ea"/>
                        </a:rPr>
                        <a:t>測試完成，待部署到正式區後公布上線</a:t>
                      </a:r>
                      <a:endParaRPr lang="zh-TW" altLang="en-US" sz="1200" b="1" kern="1200" dirty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en-US" altLang="zh-TW" sz="1200" dirty="0"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1200" kern="1200" dirty="0" smtClean="0">
                          <a:solidFill>
                            <a:schemeClr val="lt1"/>
                          </a:solidFill>
                          <a:latin typeface="+mj-ea"/>
                          <a:ea typeface="+mj-ea"/>
                          <a:cs typeface="+mn-cs"/>
                        </a:rPr>
                        <a:t>對抗品開發作業導入</a:t>
                      </a:r>
                      <a:r>
                        <a:rPr lang="en-US" altLang="zh-TW" sz="1200" kern="1200" dirty="0" smtClean="0">
                          <a:solidFill>
                            <a:schemeClr val="lt1"/>
                          </a:solidFill>
                          <a:latin typeface="+mn-lt"/>
                          <a:ea typeface="+mj-ea"/>
                          <a:cs typeface="+mn-cs"/>
                        </a:rPr>
                        <a:t>AI</a:t>
                      </a:r>
                      <a:r>
                        <a:rPr lang="zh-TW" altLang="en-US" sz="1200" kern="1200" dirty="0" smtClean="0">
                          <a:solidFill>
                            <a:schemeClr val="lt1"/>
                          </a:solidFill>
                          <a:latin typeface="+mj-ea"/>
                          <a:ea typeface="+mj-ea"/>
                          <a:cs typeface="+mn-cs"/>
                        </a:rPr>
                        <a:t>平台搜尋對抗廠商</a:t>
                      </a:r>
                      <a:endParaRPr lang="zh-TW" altLang="en-US" sz="1200" kern="1200" dirty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effectLst/>
                          <a:latin typeface="+mj-ea"/>
                          <a:ea typeface="+mj-ea"/>
                        </a:rPr>
                        <a:t>資材</a:t>
                      </a:r>
                      <a:endParaRPr lang="zh-TW" altLang="en-US" sz="1200" dirty="0"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effectLst/>
                          <a:latin typeface="+mj-ea"/>
                          <a:ea typeface="+mj-ea"/>
                        </a:rPr>
                        <a:t>‧</a:t>
                      </a:r>
                      <a:r>
                        <a:rPr lang="zh-TW" altLang="en-US" sz="1200" dirty="0" smtClean="0">
                          <a:effectLst/>
                          <a:latin typeface="+mj-ea"/>
                          <a:ea typeface="+mj-ea"/>
                        </a:rPr>
                        <a:t>針對</a:t>
                      </a:r>
                      <a:r>
                        <a:rPr lang="zh-TW" altLang="en-US" sz="1200" dirty="0">
                          <a:effectLst/>
                          <a:latin typeface="+mj-ea"/>
                          <a:ea typeface="+mj-ea"/>
                        </a:rPr>
                        <a:t>關鍵品項，開發及評估對抗品（替代品）廠商</a:t>
                      </a:r>
                      <a:br>
                        <a:rPr lang="zh-TW" altLang="en-US" sz="1200" dirty="0"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altLang="zh-TW" sz="1200" dirty="0" smtClean="0">
                          <a:effectLst/>
                          <a:latin typeface="+mj-ea"/>
                          <a:ea typeface="+mj-ea"/>
                        </a:rPr>
                        <a:t>‧</a:t>
                      </a:r>
                      <a:r>
                        <a:rPr lang="zh-TW" altLang="en-US" sz="1200" dirty="0" smtClean="0">
                          <a:effectLst/>
                          <a:latin typeface="+mj-ea"/>
                          <a:ea typeface="+mj-ea"/>
                        </a:rPr>
                        <a:t>建立</a:t>
                      </a:r>
                      <a:r>
                        <a:rPr lang="zh-TW" altLang="en-US" sz="1200" dirty="0">
                          <a:effectLst/>
                          <a:latin typeface="+mj-ea"/>
                          <a:ea typeface="+mj-ea"/>
                        </a:rPr>
                        <a:t>對抗品規格、品質與價格比較資料庫</a:t>
                      </a:r>
                      <a:br>
                        <a:rPr lang="zh-TW" altLang="en-US" sz="1200" dirty="0"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altLang="zh-TW" sz="1200" dirty="0" smtClean="0">
                          <a:effectLst/>
                          <a:latin typeface="+mj-ea"/>
                          <a:ea typeface="+mj-ea"/>
                        </a:rPr>
                        <a:t>‧</a:t>
                      </a:r>
                      <a:r>
                        <a:rPr lang="zh-TW" altLang="en-US" sz="1200" dirty="0" smtClean="0">
                          <a:effectLst/>
                          <a:latin typeface="+mj-ea"/>
                          <a:ea typeface="+mj-ea"/>
                        </a:rPr>
                        <a:t>提升</a:t>
                      </a:r>
                      <a:r>
                        <a:rPr lang="zh-TW" altLang="en-US" sz="1200" dirty="0">
                          <a:effectLst/>
                          <a:latin typeface="+mj-ea"/>
                          <a:ea typeface="+mj-ea"/>
                        </a:rPr>
                        <a:t>採購議價空間，降低採購風險與成本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effectLst/>
                          <a:latin typeface="+mj-ea"/>
                          <a:ea typeface="+mj-ea"/>
                        </a:rPr>
                        <a:t>文件上傳轉換成</a:t>
                      </a:r>
                      <a:r>
                        <a:rPr lang="en-US" altLang="zh-TW" sz="1200" dirty="0" smtClean="0">
                          <a:effectLst/>
                          <a:latin typeface="+mj-ea"/>
                          <a:ea typeface="+mj-ea"/>
                        </a:rPr>
                        <a:t>URL</a:t>
                      </a:r>
                      <a:r>
                        <a:rPr lang="zh-TW" altLang="en-US" sz="1200" dirty="0" smtClean="0">
                          <a:effectLst/>
                          <a:latin typeface="+mj-ea"/>
                          <a:ea typeface="+mj-ea"/>
                        </a:rPr>
                        <a:t>功能已</a:t>
                      </a:r>
                      <a:r>
                        <a:rPr lang="zh-TW" altLang="en-US" sz="1200" smtClean="0">
                          <a:effectLst/>
                          <a:latin typeface="+mj-ea"/>
                          <a:ea typeface="+mj-ea"/>
                        </a:rPr>
                        <a:t>完成，排程作業</a:t>
                      </a:r>
                      <a:r>
                        <a:rPr lang="zh-TW" altLang="en-US" sz="1200" dirty="0" smtClean="0">
                          <a:effectLst/>
                          <a:latin typeface="+mj-ea"/>
                          <a:ea typeface="+mj-ea"/>
                        </a:rPr>
                        <a:t>測試中。</a:t>
                      </a:r>
                      <a:endParaRPr lang="en-US" altLang="zh-TW" sz="1200" dirty="0" smtClean="0">
                        <a:effectLst/>
                        <a:latin typeface="+mj-ea"/>
                        <a:ea typeface="+mj-ea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effectLst/>
                          <a:latin typeface="+mj-ea"/>
                          <a:ea typeface="+mj-ea"/>
                        </a:rPr>
                        <a:t>初步</a:t>
                      </a:r>
                      <a:r>
                        <a:rPr lang="zh-TW" altLang="en-US" sz="1200" dirty="0">
                          <a:effectLst/>
                          <a:latin typeface="+mj-ea"/>
                          <a:ea typeface="+mj-ea"/>
                        </a:rPr>
                        <a:t>鎖定優先開發之關鍵品項</a:t>
                      </a:r>
                      <a:r>
                        <a:rPr lang="zh-TW" altLang="en-US" sz="1200" dirty="0" smtClean="0">
                          <a:effectLst/>
                          <a:latin typeface="+mj-ea"/>
                          <a:ea typeface="+mj-ea"/>
                        </a:rPr>
                        <a:t>清單</a:t>
                      </a:r>
                      <a:endParaRPr lang="en-US" altLang="zh-TW" sz="1200" dirty="0" smtClean="0">
                        <a:effectLst/>
                        <a:latin typeface="+mj-ea"/>
                        <a:ea typeface="+mj-ea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effectLst/>
                          <a:latin typeface="+mj-ea"/>
                          <a:ea typeface="+mj-ea"/>
                        </a:rPr>
                        <a:t>正在</a:t>
                      </a:r>
                      <a:r>
                        <a:rPr lang="zh-TW" altLang="en-US" sz="1200" dirty="0">
                          <a:effectLst/>
                          <a:latin typeface="+mj-ea"/>
                          <a:ea typeface="+mj-ea"/>
                        </a:rPr>
                        <a:t>蒐集現有供應商與潛在對抗品廠商</a:t>
                      </a:r>
                      <a:r>
                        <a:rPr lang="zh-TW" altLang="en-US" sz="1200" dirty="0" smtClean="0">
                          <a:effectLst/>
                          <a:latin typeface="+mj-ea"/>
                          <a:ea typeface="+mj-ea"/>
                        </a:rPr>
                        <a:t>資料</a:t>
                      </a:r>
                      <a:endParaRPr lang="zh-TW" altLang="en-US" sz="1200" dirty="0"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>
                          <a:latin typeface="+mj-ea"/>
                          <a:ea typeface="+mj-ea"/>
                        </a:rPr>
                        <a:t>4</a:t>
                      </a:r>
                      <a:endParaRPr lang="en-US" altLang="zh-TW" sz="1200" b="1" kern="120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200" kern="1200" dirty="0">
                          <a:latin typeface="+mn-lt"/>
                          <a:ea typeface="+mj-ea"/>
                        </a:rPr>
                        <a:t>AIP</a:t>
                      </a:r>
                      <a:r>
                        <a:rPr lang="en-US" altLang="zh-TW" sz="1200" kern="12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使用者反饋意見</a:t>
                      </a:r>
                      <a:endParaRPr lang="zh-TW" altLang="en-US" sz="1200" b="1" kern="1200" dirty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工程</a:t>
                      </a:r>
                      <a:endParaRPr lang="zh-TW" altLang="en-US" sz="1200" b="1" kern="1200" dirty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200" kern="1200" dirty="0" smtClean="0">
                          <a:latin typeface="+mj-ea"/>
                          <a:ea typeface="+mj-ea"/>
                        </a:rPr>
                        <a:t>‧</a:t>
                      </a:r>
                      <a:r>
                        <a:rPr lang="zh-TW" altLang="en-US" sz="1200" kern="1200" dirty="0" smtClean="0">
                          <a:latin typeface="+mj-ea"/>
                          <a:ea typeface="+mj-ea"/>
                        </a:rPr>
                        <a:t>蒐集使用單位</a:t>
                      </a:r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對 </a:t>
                      </a:r>
                      <a:r>
                        <a:rPr lang="en-US" altLang="zh-TW" sz="1200" kern="1200" dirty="0" smtClean="0">
                          <a:latin typeface="+mn-lt"/>
                          <a:ea typeface="+mj-ea"/>
                        </a:rPr>
                        <a:t>AIP</a:t>
                      </a:r>
                      <a:r>
                        <a:rPr lang="zh-TW" altLang="en-US" sz="1200" kern="1200" dirty="0" smtClean="0">
                          <a:latin typeface="+mj-ea"/>
                          <a:ea typeface="+mj-ea"/>
                        </a:rPr>
                        <a:t> 的使用</a:t>
                      </a:r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回饋</a:t>
                      </a:r>
                      <a:br>
                        <a:rPr lang="zh-TW" altLang="en-US" sz="1200" kern="1200" dirty="0">
                          <a:latin typeface="+mj-ea"/>
                          <a:ea typeface="+mj-ea"/>
                        </a:rPr>
                      </a:br>
                      <a:r>
                        <a:rPr lang="en-US" altLang="zh-TW" sz="1200" kern="1200" dirty="0" smtClean="0">
                          <a:latin typeface="+mj-ea"/>
                          <a:ea typeface="+mj-ea"/>
                        </a:rPr>
                        <a:t>‧</a:t>
                      </a:r>
                      <a:r>
                        <a:rPr lang="zh-TW" altLang="en-US" sz="1200" kern="1200" dirty="0" smtClean="0">
                          <a:latin typeface="+mj-ea"/>
                          <a:ea typeface="+mj-ea"/>
                        </a:rPr>
                        <a:t>分析</a:t>
                      </a:r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常見問題與功能需求</a:t>
                      </a:r>
                      <a:br>
                        <a:rPr lang="zh-TW" altLang="en-US" sz="1200" kern="1200" dirty="0">
                          <a:latin typeface="+mj-ea"/>
                          <a:ea typeface="+mj-ea"/>
                        </a:rPr>
                      </a:br>
                      <a:r>
                        <a:rPr lang="en-US" altLang="zh-TW" sz="1200" kern="1200" dirty="0" smtClean="0">
                          <a:latin typeface="+mj-ea"/>
                          <a:ea typeface="+mj-ea"/>
                        </a:rPr>
                        <a:t>‧</a:t>
                      </a:r>
                      <a:r>
                        <a:rPr lang="zh-TW" altLang="en-US" sz="1200" kern="1200" dirty="0" smtClean="0">
                          <a:latin typeface="+mj-ea"/>
                          <a:ea typeface="+mj-ea"/>
                        </a:rPr>
                        <a:t>做為</a:t>
                      </a:r>
                      <a:r>
                        <a:rPr lang="zh-TW" altLang="en-US" sz="1200" kern="1200" dirty="0">
                          <a:latin typeface="+mj-ea"/>
                          <a:ea typeface="+mj-ea"/>
                        </a:rPr>
                        <a:t>後續系統優化與功能開發依據</a:t>
                      </a:r>
                      <a:endParaRPr lang="zh-TW" altLang="en-US" sz="1200" b="1" kern="1200" dirty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kern="1200" dirty="0" smtClean="0">
                          <a:solidFill>
                            <a:schemeClr val="lt1"/>
                          </a:solidFill>
                          <a:latin typeface="+mj-ea"/>
                          <a:ea typeface="+mj-ea"/>
                          <a:cs typeface="+mn-cs"/>
                        </a:rPr>
                        <a:t>已完成</a:t>
                      </a:r>
                      <a:r>
                        <a:rPr lang="en-US" altLang="zh-TW" sz="1200" kern="1200" dirty="0" smtClean="0">
                          <a:solidFill>
                            <a:schemeClr val="lt1"/>
                          </a:solidFill>
                          <a:latin typeface="+mj-ea"/>
                          <a:ea typeface="+mj-ea"/>
                          <a:cs typeface="+mn-cs"/>
                        </a:rPr>
                        <a:t>(2026.01.31)</a:t>
                      </a:r>
                      <a:r>
                        <a:rPr lang="zh-TW" altLang="en-US" sz="1200" kern="1200" dirty="0" smtClean="0">
                          <a:solidFill>
                            <a:schemeClr val="lt1"/>
                          </a:solidFill>
                          <a:latin typeface="+mj-ea"/>
                          <a:ea typeface="+mj-ea"/>
                          <a:cs typeface="+mn-cs"/>
                        </a:rPr>
                        <a:t>，工程管理組已在正式區測試完成，管理組</a:t>
                      </a:r>
                      <a:r>
                        <a:rPr lang="en-US" altLang="zh-TW" sz="1200" kern="1200" dirty="0" smtClean="0">
                          <a:solidFill>
                            <a:schemeClr val="lt1"/>
                          </a:solidFill>
                          <a:latin typeface="+mj-ea"/>
                          <a:ea typeface="+mj-ea"/>
                          <a:cs typeface="+mn-cs"/>
                        </a:rPr>
                        <a:t>(2026.03.26)</a:t>
                      </a:r>
                      <a:r>
                        <a:rPr lang="zh-TW" altLang="en-US" sz="1200" kern="1200" dirty="0" smtClean="0">
                          <a:solidFill>
                            <a:schemeClr val="lt1"/>
                          </a:solidFill>
                          <a:latin typeface="+mj-ea"/>
                          <a:ea typeface="+mj-ea"/>
                          <a:cs typeface="+mn-cs"/>
                        </a:rPr>
                        <a:t>公布上線</a:t>
                      </a:r>
                      <a:endParaRPr lang="en-US" altLang="zh-TW" sz="1200" kern="1200" dirty="0" smtClean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 bwMode="auto">
          <a:xfrm>
            <a:off x="300038" y="6255023"/>
            <a:ext cx="83792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algn="l" eaLnBrk="1" hangingPunct="1"/>
            <a:r>
              <a:rPr lang="zh-TW" altLang="en-US" sz="1800" dirty="0" smtClean="0">
                <a:solidFill>
                  <a:srgbClr val="FFFF00"/>
                </a:solidFill>
                <a:latin typeface="+mj-ea"/>
                <a:ea typeface="+mj-ea"/>
              </a:rPr>
              <a:t>身分識別增強功能開發，微軟預訂於</a:t>
            </a:r>
            <a:r>
              <a:rPr lang="en-US" altLang="zh-TW" sz="1800" dirty="0" smtClean="0">
                <a:solidFill>
                  <a:srgbClr val="FFFF00"/>
                </a:solidFill>
                <a:latin typeface="+mj-ea"/>
                <a:ea typeface="+mj-ea"/>
              </a:rPr>
              <a:t>5/8</a:t>
            </a:r>
            <a:r>
              <a:rPr lang="zh-TW" altLang="en-US" sz="1800" dirty="0" smtClean="0">
                <a:solidFill>
                  <a:srgbClr val="FFFF00"/>
                </a:solidFill>
                <a:latin typeface="+mj-ea"/>
                <a:ea typeface="+mj-ea"/>
              </a:rPr>
              <a:t>前提供測試版本，預完日為</a:t>
            </a:r>
            <a:r>
              <a:rPr lang="en-US" altLang="zh-TW" sz="1800" dirty="0" smtClean="0">
                <a:solidFill>
                  <a:srgbClr val="FFFF00"/>
                </a:solidFill>
                <a:latin typeface="+mj-ea"/>
                <a:ea typeface="+mj-ea"/>
              </a:rPr>
              <a:t>2026.05.31</a:t>
            </a:r>
            <a:r>
              <a:rPr lang="zh-TW" altLang="en-US" sz="1800" dirty="0" smtClean="0">
                <a:solidFill>
                  <a:srgbClr val="FFFF00"/>
                </a:solidFill>
                <a:latin typeface="+mj-ea"/>
                <a:ea typeface="+mj-ea"/>
              </a:rPr>
              <a:t>。</a:t>
            </a:r>
            <a:endParaRPr lang="zh-TW" altLang="en-US" sz="18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726362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25463" y="385762"/>
            <a:ext cx="8412022" cy="612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/>
            <a:r>
              <a:rPr lang="zh-TW" altLang="en-US" sz="3200" dirty="0">
                <a:solidFill>
                  <a:schemeClr val="bg1"/>
                </a:solidFill>
              </a:rPr>
              <a:t>二</a:t>
            </a:r>
            <a:r>
              <a:rPr lang="en-US" altLang="zh-TW" sz="3200" dirty="0">
                <a:solidFill>
                  <a:schemeClr val="bg1"/>
                </a:solidFill>
              </a:rPr>
              <a:t>.</a:t>
            </a:r>
            <a:r>
              <a:rPr lang="zh-TW" altLang="en-US" sz="3200" dirty="0">
                <a:solidFill>
                  <a:schemeClr val="bg1"/>
                </a:solidFill>
              </a:rPr>
              <a:t>台塑企業</a:t>
            </a:r>
            <a:r>
              <a:rPr lang="en-US" altLang="zh-TW" sz="3200" dirty="0">
                <a:solidFill>
                  <a:schemeClr val="bg1"/>
                </a:solidFill>
              </a:rPr>
              <a:t>AI</a:t>
            </a:r>
            <a:r>
              <a:rPr lang="zh-TW" altLang="en-US" sz="3200" dirty="0">
                <a:solidFill>
                  <a:schemeClr val="bg1"/>
                </a:solidFill>
              </a:rPr>
              <a:t>平台功能增強</a:t>
            </a:r>
            <a:r>
              <a:rPr lang="en-US" altLang="zh-TW" sz="3200" dirty="0" smtClean="0">
                <a:solidFill>
                  <a:schemeClr val="bg1"/>
                </a:solidFill>
              </a:rPr>
              <a:t>(1/3)</a:t>
            </a:r>
            <a:endParaRPr lang="zh-TW" altLang="en-US" sz="3200" dirty="0">
              <a:latin typeface="標楷體" panose="03000509000000000000" pitchFamily="65" charset="-120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00038" y="1074738"/>
            <a:ext cx="8727458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/>
            <a:r>
              <a:rPr lang="zh-TW" altLang="en-US" sz="2400" dirty="0" smtClean="0">
                <a:latin typeface="標楷體" panose="03000509000000000000" pitchFamily="65" charset="-120"/>
              </a:rPr>
              <a:t>需</a:t>
            </a:r>
            <a:r>
              <a:rPr lang="zh-TW" altLang="en-US" sz="2400" dirty="0">
                <a:latin typeface="標楷體" panose="03000509000000000000" pitchFamily="65" charset="-120"/>
              </a:rPr>
              <a:t>求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：</a:t>
            </a:r>
            <a:endParaRPr lang="en-US" altLang="zh-TW" sz="2400" dirty="0" smtClean="0">
              <a:latin typeface="標楷體" panose="03000509000000000000" pitchFamily="65" charset="-120"/>
            </a:endParaRPr>
          </a:p>
          <a:p>
            <a:pPr marL="808038" indent="-273050" eaLnBrk="1" hangingPunct="1"/>
            <a:r>
              <a:rPr lang="en-US" altLang="zh-TW" sz="2400" dirty="0" smtClean="0">
                <a:latin typeface="標楷體" panose="03000509000000000000" pitchFamily="65" charset="-120"/>
              </a:rPr>
              <a:t>1.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機能組需上傳檔案至 </a:t>
            </a:r>
            <a:r>
              <a:rPr lang="en-US" altLang="zh-TW" sz="2400" dirty="0" smtClean="0">
                <a:latin typeface="+mn-lt"/>
              </a:rPr>
              <a:t>AIP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，進行</a:t>
            </a:r>
            <a:r>
              <a:rPr lang="zh-TW" altLang="en-US" sz="2400" dirty="0">
                <a:latin typeface="標楷體" panose="03000509000000000000" pitchFamily="65" charset="-120"/>
              </a:rPr>
              <a:t>語音轉文字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、文件</a:t>
            </a:r>
            <a:r>
              <a:rPr lang="zh-TW" altLang="en-US" sz="2400" dirty="0">
                <a:latin typeface="標楷體" panose="03000509000000000000" pitchFamily="65" charset="-120"/>
              </a:rPr>
              <a:t>內容辨識、文件比較等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應用，建立</a:t>
            </a:r>
            <a:r>
              <a:rPr lang="zh-TW" altLang="en-US" sz="2400" dirty="0">
                <a:latin typeface="標楷體" panose="03000509000000000000" pitchFamily="65" charset="-120"/>
              </a:rPr>
              <a:t>「批次、自動化」處理機制。  </a:t>
            </a:r>
          </a:p>
          <a:p>
            <a:pPr marL="808038" indent="-273050" eaLnBrk="1" hangingPunct="1"/>
            <a:r>
              <a:rPr lang="en-US" altLang="zh-TW" sz="2400" dirty="0" smtClean="0">
                <a:latin typeface="標楷體" panose="03000509000000000000" pitchFamily="65" charset="-120"/>
              </a:rPr>
              <a:t>2.</a:t>
            </a:r>
            <a:r>
              <a:rPr lang="en-US" altLang="zh-TW" sz="2400" dirty="0" smtClean="0">
                <a:latin typeface="+mn-lt"/>
              </a:rPr>
              <a:t>AIP</a:t>
            </a:r>
            <a:r>
              <a:rPr lang="en-US" altLang="zh-TW" sz="2400" dirty="0" smtClean="0">
                <a:latin typeface="標楷體" panose="03000509000000000000" pitchFamily="65" charset="-120"/>
              </a:rPr>
              <a:t> </a:t>
            </a:r>
            <a:r>
              <a:rPr lang="zh-TW" altLang="en-US" sz="2400" dirty="0">
                <a:latin typeface="標楷體" panose="03000509000000000000" pitchFamily="65" charset="-120"/>
              </a:rPr>
              <a:t>處理結果（文字與結構化內容）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回存 </a:t>
            </a:r>
            <a:r>
              <a:rPr lang="en-US" altLang="zh-TW" sz="2400" dirty="0" smtClean="0">
                <a:latin typeface="+mn-lt"/>
              </a:rPr>
              <a:t>ERP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，</a:t>
            </a:r>
            <a:r>
              <a:rPr lang="zh-TW" altLang="en-US" sz="2400" dirty="0">
                <a:latin typeface="標楷體" panose="03000509000000000000" pitchFamily="65" charset="-120"/>
              </a:rPr>
              <a:t>提供後續查詢、分析與系統應用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。</a:t>
            </a:r>
            <a:endParaRPr lang="en-US" altLang="zh-TW" sz="2400" dirty="0" smtClean="0">
              <a:latin typeface="標楷體" panose="03000509000000000000" pitchFamily="65" charset="-120"/>
            </a:endParaRPr>
          </a:p>
          <a:p>
            <a:pPr marL="808038" indent="-273050" eaLnBrk="1" hangingPunct="1"/>
            <a:endParaRPr lang="en-US" altLang="zh-TW" sz="2400" dirty="0">
              <a:latin typeface="標楷體" panose="03000509000000000000" pitchFamily="65" charset="-120"/>
            </a:endParaRPr>
          </a:p>
          <a:p>
            <a:pPr eaLnBrk="1" hangingPunct="1"/>
            <a:r>
              <a:rPr lang="zh-TW" altLang="en-US" sz="2400" dirty="0" smtClean="0">
                <a:latin typeface="標楷體" panose="03000509000000000000" pitchFamily="65" charset="-120"/>
              </a:rPr>
              <a:t>作法</a:t>
            </a:r>
            <a:r>
              <a:rPr lang="en-US" altLang="zh-TW" sz="2400" dirty="0" smtClean="0">
                <a:latin typeface="標楷體" panose="03000509000000000000" pitchFamily="65" charset="-120"/>
              </a:rPr>
              <a:t>:</a:t>
            </a:r>
          </a:p>
          <a:p>
            <a:pPr marL="808038" indent="-273050" eaLnBrk="1" hangingPunct="1"/>
            <a:r>
              <a:rPr lang="en-US" altLang="zh-TW" sz="2400" dirty="0" smtClean="0">
                <a:latin typeface="標楷體" panose="03000509000000000000" pitchFamily="65" charset="-120"/>
              </a:rPr>
              <a:t>1.</a:t>
            </a:r>
            <a:r>
              <a:rPr lang="zh-TW" altLang="en-US" sz="2400" dirty="0"/>
              <a:t>使用 </a:t>
            </a:r>
            <a:r>
              <a:rPr lang="en-US" altLang="zh-TW" sz="2400" dirty="0"/>
              <a:t>Azure Blob Storage </a:t>
            </a:r>
            <a:r>
              <a:rPr lang="zh-TW" altLang="en-US" sz="2400" dirty="0"/>
              <a:t>的 </a:t>
            </a:r>
            <a:r>
              <a:rPr lang="en-US" altLang="zh-TW" sz="2400" dirty="0"/>
              <a:t>SAS</a:t>
            </a:r>
            <a:r>
              <a:rPr lang="zh-TW" altLang="en-US" sz="2400" dirty="0"/>
              <a:t>（</a:t>
            </a:r>
            <a:r>
              <a:rPr lang="en-US" altLang="zh-TW" sz="2400" dirty="0"/>
              <a:t>Shared Access Signature</a:t>
            </a:r>
            <a:r>
              <a:rPr lang="zh-TW" altLang="en-US" sz="2400" dirty="0"/>
              <a:t>）機制，做為檔案存取的核心技術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，</a:t>
            </a:r>
            <a:r>
              <a:rPr lang="en-US" altLang="zh-TW" sz="2400" dirty="0"/>
              <a:t> SAS </a:t>
            </a:r>
            <a:r>
              <a:rPr lang="zh-TW" altLang="en-US" sz="2400" dirty="0"/>
              <a:t>為「一次性 </a:t>
            </a:r>
            <a:r>
              <a:rPr lang="en-US" altLang="zh-TW" sz="2400" dirty="0"/>
              <a:t>URL </a:t>
            </a:r>
            <a:r>
              <a:rPr lang="zh-TW" altLang="en-US" sz="2400" dirty="0"/>
              <a:t>存取」</a:t>
            </a:r>
            <a:r>
              <a:rPr lang="zh-TW" altLang="en-US" sz="2400" dirty="0" smtClean="0"/>
              <a:t>概念，允許</a:t>
            </a:r>
            <a:r>
              <a:rPr lang="zh-TW" altLang="en-US" sz="2400" dirty="0"/>
              <a:t>以「</a:t>
            </a:r>
            <a:r>
              <a:rPr lang="zh-TW" altLang="en-US" sz="2400" b="1" dirty="0"/>
              <a:t>最小權限</a:t>
            </a:r>
            <a:r>
              <a:rPr lang="zh-TW" altLang="en-US" sz="2400" dirty="0"/>
              <a:t>」方式</a:t>
            </a:r>
            <a:r>
              <a:rPr lang="zh-TW" altLang="en-US" sz="2400" dirty="0" smtClean="0"/>
              <a:t>授權檔案存取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。</a:t>
            </a:r>
            <a:endParaRPr lang="en-US" altLang="zh-TW" sz="2400" dirty="0" smtClean="0">
              <a:latin typeface="標楷體" panose="03000509000000000000" pitchFamily="65" charset="-120"/>
            </a:endParaRPr>
          </a:p>
          <a:p>
            <a:pPr marL="808038" indent="-273050" eaLnBrk="1" hangingPunct="1"/>
            <a:r>
              <a:rPr lang="en-US" altLang="zh-TW" sz="2400" dirty="0" smtClean="0">
                <a:latin typeface="標楷體" panose="03000509000000000000" pitchFamily="65" charset="-120"/>
              </a:rPr>
              <a:t>2.</a:t>
            </a:r>
            <a:r>
              <a:rPr lang="en-US" altLang="zh-TW" sz="2400" dirty="0" smtClean="0">
                <a:latin typeface="+mn-lt"/>
              </a:rPr>
              <a:t>ERP 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上傳檔案 </a:t>
            </a:r>
            <a:r>
              <a:rPr lang="en-US" altLang="zh-TW" sz="2400" dirty="0" smtClean="0">
                <a:latin typeface="標楷體" panose="03000509000000000000" pitchFamily="65" charset="-120"/>
              </a:rPr>
              <a:t>-&gt;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 </a:t>
            </a:r>
            <a:r>
              <a:rPr lang="en-US" altLang="zh-TW" sz="2400" dirty="0" smtClean="0">
                <a:latin typeface="+mn-lt"/>
              </a:rPr>
              <a:t>NT</a:t>
            </a:r>
            <a:r>
              <a:rPr lang="zh-TW" altLang="en-US" sz="2400" dirty="0" smtClean="0">
                <a:latin typeface="+mn-lt"/>
              </a:rPr>
              <a:t>伺服器</a:t>
            </a:r>
            <a:r>
              <a:rPr lang="en-US" altLang="zh-TW" sz="2400" dirty="0" smtClean="0">
                <a:latin typeface="標楷體" panose="03000509000000000000" pitchFamily="65" charset="-120"/>
              </a:rPr>
              <a:t>(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 </a:t>
            </a:r>
            <a:r>
              <a:rPr lang="en-US" altLang="zh-TW" sz="2400" dirty="0" smtClean="0">
                <a:latin typeface="+mn-lt"/>
              </a:rPr>
              <a:t>CA</a:t>
            </a:r>
            <a:r>
              <a:rPr lang="zh-TW" altLang="en-US" sz="2400" dirty="0" smtClean="0">
                <a:latin typeface="+mn-lt"/>
              </a:rPr>
              <a:t> 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排程，取得</a:t>
            </a:r>
            <a:r>
              <a:rPr lang="en-US" altLang="zh-TW" sz="2400" dirty="0" smtClean="0">
                <a:latin typeface="+mn-lt"/>
              </a:rPr>
              <a:t>SAS URL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，呼叫</a:t>
            </a:r>
            <a:r>
              <a:rPr lang="en-US" altLang="zh-TW" sz="2400" dirty="0" smtClean="0">
                <a:latin typeface="+mn-lt"/>
              </a:rPr>
              <a:t>AIP</a:t>
            </a:r>
            <a:r>
              <a:rPr lang="zh-TW" altLang="en-US" sz="2400" dirty="0" smtClean="0">
                <a:latin typeface="+mn-lt"/>
              </a:rPr>
              <a:t> 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場景流程 </a:t>
            </a:r>
            <a:r>
              <a:rPr lang="en-US" altLang="zh-TW" sz="2400" dirty="0" smtClean="0">
                <a:latin typeface="+mn-lt"/>
              </a:rPr>
              <a:t>API</a:t>
            </a:r>
            <a:r>
              <a:rPr lang="zh-TW" altLang="en-US" sz="2400" dirty="0" smtClean="0">
                <a:latin typeface="+mn-lt"/>
              </a:rPr>
              <a:t> 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取得報告</a:t>
            </a:r>
            <a:r>
              <a:rPr lang="en-US" altLang="zh-TW" sz="2400" dirty="0" smtClean="0">
                <a:latin typeface="標楷體" panose="03000509000000000000" pitchFamily="65" charset="-120"/>
              </a:rPr>
              <a:t>)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。</a:t>
            </a:r>
            <a:endParaRPr lang="zh-TW" altLang="en-US" sz="2400" dirty="0">
              <a:latin typeface="標楷體" panose="03000509000000000000" pitchFamily="65" charset="-120"/>
            </a:endParaRPr>
          </a:p>
          <a:p>
            <a:pPr marL="808038" indent="-273050" eaLnBrk="1" hangingPunct="1"/>
            <a:endParaRPr lang="en-US" altLang="zh-TW" sz="2400" dirty="0">
              <a:latin typeface="標楷體" panose="03000509000000000000" pitchFamily="65" charset="-120"/>
            </a:endParaRPr>
          </a:p>
          <a:p>
            <a:pPr marL="808038" indent="-273050" eaLnBrk="1" hangingPunct="1"/>
            <a:endParaRPr lang="en-US" altLang="zh-TW" sz="2400" dirty="0">
              <a:latin typeface="標楷體" panose="03000509000000000000" pitchFamily="65" charset="-120"/>
            </a:endParaRPr>
          </a:p>
          <a:p>
            <a:pPr eaLnBrk="1" hangingPunct="1"/>
            <a:endParaRPr lang="zh-TW" altLang="en-US" sz="2400" dirty="0">
              <a:latin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250457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25463" y="385762"/>
            <a:ext cx="8412022" cy="612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/>
            <a:r>
              <a:rPr lang="zh-TW" altLang="en-US" sz="3200" dirty="0" smtClean="0">
                <a:solidFill>
                  <a:schemeClr val="bg1"/>
                </a:solidFill>
              </a:rPr>
              <a:t>二</a:t>
            </a:r>
            <a:r>
              <a:rPr lang="en-US" altLang="zh-TW" sz="3200" dirty="0" smtClean="0">
                <a:solidFill>
                  <a:schemeClr val="bg1"/>
                </a:solidFill>
              </a:rPr>
              <a:t>.</a:t>
            </a:r>
            <a:r>
              <a:rPr lang="zh-TW" altLang="en-US" sz="3200" dirty="0" smtClean="0">
                <a:solidFill>
                  <a:schemeClr val="bg1"/>
                </a:solidFill>
              </a:rPr>
              <a:t>台塑</a:t>
            </a:r>
            <a:r>
              <a:rPr lang="zh-TW" altLang="en-US" sz="3200" dirty="0">
                <a:solidFill>
                  <a:schemeClr val="bg1"/>
                </a:solidFill>
              </a:rPr>
              <a:t>企業</a:t>
            </a:r>
            <a:r>
              <a:rPr lang="en-US" altLang="zh-TW" sz="3200" dirty="0">
                <a:solidFill>
                  <a:schemeClr val="bg1"/>
                </a:solidFill>
              </a:rPr>
              <a:t>AI</a:t>
            </a:r>
            <a:r>
              <a:rPr lang="zh-TW" altLang="en-US" sz="3200" dirty="0" smtClean="0">
                <a:solidFill>
                  <a:schemeClr val="bg1"/>
                </a:solidFill>
              </a:rPr>
              <a:t>平台功能增強</a:t>
            </a:r>
            <a:r>
              <a:rPr lang="en-US" altLang="zh-TW" sz="3200" dirty="0" smtClean="0">
                <a:solidFill>
                  <a:schemeClr val="bg1"/>
                </a:solidFill>
              </a:rPr>
              <a:t>(</a:t>
            </a:r>
            <a:r>
              <a:rPr lang="en-US" altLang="zh-TW" sz="3200" dirty="0" smtClean="0">
                <a:solidFill>
                  <a:schemeClr val="bg1"/>
                </a:solidFill>
                <a:latin typeface="+mn-lt"/>
              </a:rPr>
              <a:t>2</a:t>
            </a:r>
            <a:r>
              <a:rPr lang="en-US" altLang="zh-TW" sz="3200" dirty="0" smtClean="0">
                <a:solidFill>
                  <a:schemeClr val="bg1"/>
                </a:solidFill>
              </a:rPr>
              <a:t>/3)</a:t>
            </a:r>
            <a:endParaRPr lang="zh-TW" altLang="en-US" sz="3200" dirty="0">
              <a:latin typeface="標楷體" panose="03000509000000000000" pitchFamily="65" charset="-12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00038" y="1074738"/>
            <a:ext cx="8843962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/>
            <a:r>
              <a:rPr lang="zh-TW" altLang="en-US" sz="2400" dirty="0">
                <a:latin typeface="標楷體" panose="03000509000000000000" pitchFamily="65" charset="-120"/>
              </a:rPr>
              <a:t>目的：</a:t>
            </a:r>
            <a:endParaRPr lang="en-US" altLang="zh-TW" sz="2400" dirty="0">
              <a:latin typeface="標楷體" panose="03000509000000000000" pitchFamily="65" charset="-120"/>
            </a:endParaRPr>
          </a:p>
          <a:p>
            <a:pPr marL="1081088" indent="-457200" defTabSz="896938">
              <a:buFont typeface="+mj-lt"/>
              <a:buAutoNum type="arabicPeriod"/>
            </a:pPr>
            <a:r>
              <a:rPr lang="zh-TW" altLang="en-US" sz="2400" dirty="0" smtClean="0">
                <a:latin typeface="標楷體" panose="03000509000000000000" pitchFamily="65" charset="-120"/>
              </a:rPr>
              <a:t>強化 </a:t>
            </a:r>
            <a:r>
              <a:rPr lang="en-US" altLang="zh-TW" sz="2400" dirty="0" smtClean="0"/>
              <a:t>AI</a:t>
            </a:r>
            <a:r>
              <a:rPr lang="zh-TW" altLang="en-US" sz="2400" dirty="0" smtClean="0"/>
              <a:t> 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平台在整合 </a:t>
            </a:r>
            <a:r>
              <a:rPr lang="en-US" altLang="zh-TW" sz="2400" dirty="0"/>
              <a:t>ERP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 時</a:t>
            </a:r>
            <a:r>
              <a:rPr lang="zh-TW" altLang="en-US" sz="2400" dirty="0">
                <a:latin typeface="標楷體" panose="03000509000000000000" pitchFamily="65" charset="-120"/>
              </a:rPr>
              <a:t>的身分識別與授權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能力。</a:t>
            </a:r>
            <a:endParaRPr lang="zh-TW" altLang="en-US" sz="2400" dirty="0">
              <a:latin typeface="標楷體" panose="03000509000000000000" pitchFamily="65" charset="-120"/>
            </a:endParaRPr>
          </a:p>
          <a:p>
            <a:pPr marL="1081088" indent="-457200" defTabSz="896938">
              <a:buFont typeface="+mj-lt"/>
              <a:buAutoNum type="arabicPeriod"/>
            </a:pPr>
            <a:r>
              <a:rPr lang="zh-TW" altLang="en-US" sz="2400" dirty="0">
                <a:latin typeface="標楷體" panose="03000509000000000000" pitchFamily="65" charset="-120"/>
              </a:rPr>
              <a:t>提供助理在互動過程中，能正確識別登入人員之公司、事業部、部門、人員編號與姓名，以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提升服務</a:t>
            </a:r>
            <a:r>
              <a:rPr lang="zh-TW" altLang="en-US" sz="2400" dirty="0">
                <a:latin typeface="標楷體" panose="03000509000000000000" pitchFamily="65" charset="-120"/>
              </a:rPr>
              <a:t>與安全性</a:t>
            </a:r>
            <a:r>
              <a:rPr lang="zh-TW" altLang="en-US" sz="2400" dirty="0" smtClean="0">
                <a:latin typeface="標楷體" panose="03000509000000000000" pitchFamily="65" charset="-120"/>
              </a:rPr>
              <a:t>。</a:t>
            </a:r>
            <a:endParaRPr lang="en-US" altLang="zh-TW" sz="2400" dirty="0">
              <a:latin typeface="標楷體" panose="03000509000000000000" pitchFamily="65" charset="-120"/>
            </a:endParaRPr>
          </a:p>
          <a:p>
            <a:pPr eaLnBrk="1" hangingPunct="1"/>
            <a:r>
              <a:rPr lang="zh-TW" altLang="en-US" sz="2400" dirty="0" smtClean="0">
                <a:latin typeface="標楷體" panose="03000509000000000000" pitchFamily="65" charset="-120"/>
              </a:rPr>
              <a:t>作法：</a:t>
            </a:r>
            <a:endParaRPr lang="en-US" altLang="zh-TW" sz="2400" dirty="0">
              <a:latin typeface="標楷體" panose="03000509000000000000" pitchFamily="65" charset="-120"/>
            </a:endParaRPr>
          </a:p>
          <a:p>
            <a:pPr marL="1081088" indent="-457200">
              <a:buFont typeface="+mj-lt"/>
              <a:buAutoNum type="arabicPeriod"/>
            </a:pPr>
            <a:r>
              <a:rPr lang="zh-TW" altLang="en-US" sz="2400" dirty="0" smtClean="0"/>
              <a:t>於 </a:t>
            </a:r>
            <a:r>
              <a:rPr lang="en-US" altLang="zh-TW" sz="2400" dirty="0" smtClean="0"/>
              <a:t>AI </a:t>
            </a:r>
            <a:r>
              <a:rPr lang="zh-TW" altLang="en-US" sz="2400" dirty="0"/>
              <a:t>平台增設一個流程元件，負責取得並封裝登入人員的公司、事業部、部門、人員編號與姓名等身分</a:t>
            </a:r>
            <a:r>
              <a:rPr lang="zh-TW" altLang="en-US" sz="2400" dirty="0" smtClean="0"/>
              <a:t>資訊，並使用應用程式授權方式提供 </a:t>
            </a:r>
            <a:r>
              <a:rPr lang="en-US" altLang="zh-TW" sz="2400" dirty="0" smtClean="0"/>
              <a:t>ERP</a:t>
            </a:r>
            <a:r>
              <a:rPr lang="zh-TW" altLang="en-US" sz="2400" dirty="0" smtClean="0"/>
              <a:t> 啟動助理。</a:t>
            </a:r>
            <a:endParaRPr lang="en-US" altLang="zh-TW" sz="2400" dirty="0" smtClean="0"/>
          </a:p>
          <a:p>
            <a:pPr marL="1081088" indent="-457200">
              <a:buFont typeface="+mj-lt"/>
              <a:buAutoNum type="arabicPeriod"/>
            </a:pPr>
            <a:r>
              <a:rPr lang="zh-TW" altLang="en-US" sz="2400" dirty="0" smtClean="0"/>
              <a:t>微軟提供</a:t>
            </a:r>
            <a:r>
              <a:rPr lang="en-US" altLang="zh-TW" sz="2400" dirty="0" smtClean="0"/>
              <a:t>User </a:t>
            </a:r>
            <a:r>
              <a:rPr lang="en-US" altLang="zh-TW" sz="2400" dirty="0"/>
              <a:t>JWT Token </a:t>
            </a:r>
            <a:r>
              <a:rPr lang="zh-TW" altLang="en-US" sz="2400" dirty="0"/>
              <a:t>的</a:t>
            </a:r>
            <a:r>
              <a:rPr lang="en-US" altLang="zh-TW" sz="2400" dirty="0" err="1"/>
              <a:t>DelegateLogin</a:t>
            </a:r>
            <a:r>
              <a:rPr lang="en-US" altLang="zh-TW" sz="2400" dirty="0"/>
              <a:t> </a:t>
            </a:r>
            <a:r>
              <a:rPr lang="en-US" altLang="zh-TW" sz="2400" dirty="0" smtClean="0"/>
              <a:t>API</a:t>
            </a:r>
            <a:r>
              <a:rPr lang="zh-TW" altLang="en-US" sz="2400" dirty="0" smtClean="0"/>
              <a:t>，作為</a:t>
            </a:r>
            <a:r>
              <a:rPr lang="en-US" altLang="zh-TW" sz="2400" dirty="0" smtClean="0"/>
              <a:t>ERP</a:t>
            </a:r>
            <a:r>
              <a:rPr lang="zh-TW" altLang="en-US" sz="2400" dirty="0" smtClean="0"/>
              <a:t>代理使用者取得「登入請求憑證」，避免</a:t>
            </a:r>
            <a:r>
              <a:rPr lang="en-US" altLang="zh-TW" sz="2400" dirty="0" smtClean="0"/>
              <a:t>AIP</a:t>
            </a:r>
            <a:r>
              <a:rPr lang="zh-TW" altLang="en-US" sz="2400" dirty="0" smtClean="0"/>
              <a:t>要求二次登入。</a:t>
            </a:r>
            <a:endParaRPr lang="en-US" altLang="zh-TW" sz="2400" dirty="0" smtClean="0"/>
          </a:p>
          <a:p>
            <a:pPr marL="1081088" indent="-457200">
              <a:buFont typeface="+mj-lt"/>
              <a:buAutoNum type="arabicPeriod"/>
            </a:pPr>
            <a:r>
              <a:rPr lang="en-US" altLang="zh-TW" sz="2400" dirty="0" smtClean="0"/>
              <a:t>ERP</a:t>
            </a:r>
            <a:r>
              <a:rPr lang="zh-TW" altLang="en-US" sz="2400" dirty="0" smtClean="0"/>
              <a:t>啟動助理需透過中介</a:t>
            </a:r>
            <a:r>
              <a:rPr lang="en-US" altLang="zh-TW" sz="2400" dirty="0" smtClean="0"/>
              <a:t>JSP</a:t>
            </a:r>
            <a:r>
              <a:rPr lang="zh-TW" altLang="en-US" sz="2400" dirty="0" smtClean="0"/>
              <a:t>網頁</a:t>
            </a:r>
            <a:r>
              <a:rPr lang="en-US" altLang="zh-TW" sz="2400" dirty="0" smtClean="0"/>
              <a:t>(</a:t>
            </a:r>
            <a:r>
              <a:rPr lang="zh-TW" altLang="en-US" sz="2400" dirty="0" smtClean="0"/>
              <a:t>程式需部署到</a:t>
            </a:r>
            <a:r>
              <a:rPr lang="en-US" altLang="zh-TW" sz="2400" dirty="0" smtClean="0"/>
              <a:t>AS)</a:t>
            </a:r>
            <a:r>
              <a:rPr lang="zh-TW" altLang="en-US" sz="2400" dirty="0" smtClean="0"/>
              <a:t>，內崁助理</a:t>
            </a:r>
            <a:r>
              <a:rPr lang="en-US" altLang="zh-TW" sz="2400" dirty="0" smtClean="0"/>
              <a:t>URL</a:t>
            </a:r>
            <a:r>
              <a:rPr lang="zh-TW" altLang="en-US" sz="2400" dirty="0" smtClean="0"/>
              <a:t>開新</a:t>
            </a:r>
            <a:r>
              <a:rPr lang="zh-TW" altLang="zh-TW" sz="2400" dirty="0" smtClean="0"/>
              <a:t>視窗</a:t>
            </a:r>
            <a:r>
              <a:rPr lang="en-US" altLang="zh-TW" sz="2400" dirty="0" smtClean="0"/>
              <a:t>(User JWT Token </a:t>
            </a:r>
            <a:r>
              <a:rPr lang="zh-TW" altLang="zh-TW" sz="2400" dirty="0" smtClean="0"/>
              <a:t>以</a:t>
            </a:r>
            <a:r>
              <a:rPr lang="en-US" altLang="zh-TW" sz="2400" dirty="0" smtClean="0"/>
              <a:t> Cookie </a:t>
            </a:r>
            <a:r>
              <a:rPr lang="zh-TW" altLang="zh-TW" sz="2400" dirty="0" smtClean="0"/>
              <a:t>方式帶入</a:t>
            </a:r>
            <a:r>
              <a:rPr lang="en-US" altLang="zh-TW" sz="2400" dirty="0" smtClean="0"/>
              <a:t>)</a:t>
            </a:r>
            <a:r>
              <a:rPr lang="zh-TW" altLang="en-US" sz="2400" dirty="0" smtClean="0"/>
              <a:t>。</a:t>
            </a:r>
            <a:endParaRPr lang="en-US" altLang="zh-TW" sz="2400" dirty="0" smtClean="0"/>
          </a:p>
          <a:p>
            <a:pPr eaLnBrk="1" hangingPunct="1"/>
            <a:r>
              <a:rPr lang="zh-TW" altLang="en-US" sz="2400" dirty="0" smtClean="0">
                <a:latin typeface="標楷體" panose="03000509000000000000" pitchFamily="65" charset="-120"/>
              </a:rPr>
              <a:t>進度</a:t>
            </a:r>
            <a:r>
              <a:rPr lang="zh-TW" altLang="en-US" sz="2400" dirty="0">
                <a:latin typeface="標楷體" panose="03000509000000000000" pitchFamily="65" charset="-120"/>
              </a:rPr>
              <a:t>：</a:t>
            </a:r>
            <a:endParaRPr lang="en-US" altLang="zh-TW" sz="2400" dirty="0">
              <a:latin typeface="標楷體" panose="03000509000000000000" pitchFamily="65" charset="-120"/>
            </a:endParaRPr>
          </a:p>
          <a:p>
            <a:pPr marL="538163"/>
            <a:r>
              <a:rPr lang="zh-TW" altLang="zh-TW" sz="2400" dirty="0"/>
              <a:t>安排</a:t>
            </a:r>
            <a:r>
              <a:rPr lang="en-US" altLang="zh-TW" sz="2400" dirty="0"/>
              <a:t>5</a:t>
            </a:r>
            <a:r>
              <a:rPr lang="zh-TW" altLang="zh-TW" sz="2400" dirty="0" smtClean="0"/>
              <a:t>月</a:t>
            </a:r>
            <a:r>
              <a:rPr lang="zh-TW" altLang="en-US" sz="2400" smtClean="0"/>
              <a:t>第二週提供</a:t>
            </a:r>
            <a:r>
              <a:rPr lang="zh-TW" altLang="zh-TW" sz="2400" smtClean="0"/>
              <a:t>上線</a:t>
            </a:r>
            <a:r>
              <a:rPr lang="zh-TW" altLang="zh-TW" sz="2400" dirty="0"/>
              <a:t>項目</a:t>
            </a:r>
            <a:r>
              <a:rPr lang="zh-TW" altLang="zh-TW" sz="2400" dirty="0" smtClean="0"/>
              <a:t>的版</a:t>
            </a:r>
            <a:r>
              <a:rPr lang="zh-TW" altLang="en-US" sz="2400" dirty="0" smtClean="0"/>
              <a:t>本</a:t>
            </a:r>
            <a:r>
              <a:rPr lang="zh-TW" altLang="zh-TW" sz="2400" dirty="0" smtClean="0"/>
              <a:t>與</a:t>
            </a:r>
            <a:r>
              <a:rPr lang="zh-TW" altLang="zh-TW" sz="2400" dirty="0"/>
              <a:t>測試時程</a:t>
            </a:r>
            <a:r>
              <a:rPr lang="zh-TW" altLang="en-US" sz="2400" dirty="0" smtClean="0"/>
              <a:t>。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070637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接點 2"/>
          <p:cNvCxnSpPr/>
          <p:nvPr/>
        </p:nvCxnSpPr>
        <p:spPr>
          <a:xfrm>
            <a:off x="4887035" y="2561035"/>
            <a:ext cx="0" cy="1768065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2"/>
          <p:cNvSpPr/>
          <p:nvPr/>
        </p:nvSpPr>
        <p:spPr>
          <a:xfrm>
            <a:off x="1016605" y="1220034"/>
            <a:ext cx="3577065" cy="1025966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latin typeface="+mj-ea"/>
                <a:ea typeface="+mj-ea"/>
              </a:rPr>
              <a:t>【ERP </a:t>
            </a:r>
            <a:r>
              <a:rPr dirty="0" err="1">
                <a:latin typeface="+mj-ea"/>
                <a:ea typeface="+mj-ea"/>
              </a:rPr>
              <a:t>選單畫面</a:t>
            </a:r>
            <a:r>
              <a:rPr dirty="0">
                <a:latin typeface="+mj-ea"/>
                <a:ea typeface="+mj-ea"/>
              </a:rPr>
              <a:t>】</a:t>
            </a:r>
          </a:p>
          <a:p>
            <a:r>
              <a:rPr dirty="0" smtClean="0">
                <a:latin typeface="+mj-ea"/>
                <a:ea typeface="+mj-ea"/>
              </a:rPr>
              <a:t>1</a:t>
            </a:r>
            <a:r>
              <a:rPr lang="en-US" altLang="zh-TW" dirty="0" smtClean="0">
                <a:latin typeface="+mj-ea"/>
                <a:ea typeface="+mj-ea"/>
              </a:rPr>
              <a:t>.</a:t>
            </a:r>
            <a:r>
              <a:rPr dirty="0" smtClean="0">
                <a:latin typeface="+mj-ea"/>
                <a:ea typeface="+mj-ea"/>
              </a:rPr>
              <a:t> </a:t>
            </a:r>
            <a:r>
              <a:rPr dirty="0" err="1" smtClean="0">
                <a:latin typeface="+mj-ea"/>
                <a:ea typeface="+mj-ea"/>
              </a:rPr>
              <a:t>使用者點擊</a:t>
            </a:r>
            <a:r>
              <a:rPr lang="zh-TW" altLang="en-US" dirty="0" smtClean="0">
                <a:latin typeface="+mj-ea"/>
                <a:ea typeface="+mj-ea"/>
              </a:rPr>
              <a:t>菜單</a:t>
            </a:r>
            <a:r>
              <a:rPr dirty="0" err="1" smtClean="0">
                <a:latin typeface="+mj-ea"/>
                <a:ea typeface="+mj-ea"/>
              </a:rPr>
              <a:t>按鈕</a:t>
            </a:r>
            <a:r>
              <a:rPr lang="en-US" dirty="0" smtClean="0">
                <a:latin typeface="+mj-ea"/>
                <a:ea typeface="+mj-ea"/>
              </a:rPr>
              <a:t/>
            </a:r>
            <a:br>
              <a:rPr lang="en-US" dirty="0" smtClean="0">
                <a:latin typeface="+mj-ea"/>
                <a:ea typeface="+mj-ea"/>
              </a:rPr>
            </a:br>
            <a:r>
              <a:rPr lang="en-US" dirty="0" smtClean="0">
                <a:latin typeface="+mj-ea"/>
                <a:ea typeface="+mj-ea"/>
              </a:rPr>
              <a:t>   </a:t>
            </a:r>
            <a:r>
              <a:rPr lang="en-US" altLang="zh-TW" dirty="0" err="1" smtClean="0"/>
              <a:t>web.show_document</a:t>
            </a:r>
            <a:r>
              <a:rPr lang="en-US" altLang="zh-TW" dirty="0" smtClean="0"/>
              <a:t>()</a:t>
            </a:r>
            <a:endParaRPr lang="en-US" altLang="zh-TW" dirty="0"/>
          </a:p>
        </p:txBody>
      </p:sp>
      <p:sp>
        <p:nvSpPr>
          <p:cNvPr id="6" name="Rounded Rectangle 3"/>
          <p:cNvSpPr/>
          <p:nvPr/>
        </p:nvSpPr>
        <p:spPr>
          <a:xfrm>
            <a:off x="1016605" y="2516030"/>
            <a:ext cx="3577065" cy="182880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latin typeface="+mj-ea"/>
                <a:ea typeface="+mj-ea"/>
              </a:rPr>
              <a:t>【</a:t>
            </a:r>
            <a:r>
              <a:rPr dirty="0" err="1">
                <a:latin typeface="+mj-ea"/>
                <a:ea typeface="+mj-ea"/>
              </a:rPr>
              <a:t>中介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ea typeface="+mj-ea"/>
              </a:rPr>
              <a:t>JSP</a:t>
            </a:r>
            <a:r>
              <a:rPr dirty="0" err="1">
                <a:latin typeface="+mj-ea"/>
                <a:ea typeface="+mj-ea"/>
              </a:rPr>
              <a:t>（容器頁</a:t>
            </a:r>
            <a:r>
              <a:rPr dirty="0">
                <a:latin typeface="+mj-ea"/>
                <a:ea typeface="+mj-ea"/>
              </a:rPr>
              <a:t>）】</a:t>
            </a:r>
          </a:p>
          <a:p>
            <a:r>
              <a:rPr dirty="0" smtClean="0">
                <a:latin typeface="+mj-ea"/>
                <a:ea typeface="+mj-ea"/>
              </a:rPr>
              <a:t>2</a:t>
            </a:r>
            <a:r>
              <a:rPr lang="en-US" altLang="zh-TW" dirty="0" smtClean="0">
                <a:latin typeface="+mj-ea"/>
                <a:ea typeface="+mj-ea"/>
              </a:rPr>
              <a:t>.</a:t>
            </a:r>
            <a:r>
              <a:rPr dirty="0" smtClean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產生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ea typeface="+mj-ea"/>
              </a:rPr>
              <a:t>ERP-JWT</a:t>
            </a:r>
            <a:r>
              <a:rPr dirty="0" err="1">
                <a:latin typeface="+mj-ea"/>
                <a:ea typeface="+mj-ea"/>
              </a:rPr>
              <a:t>（短效</a:t>
            </a:r>
            <a:r>
              <a:rPr dirty="0">
                <a:latin typeface="+mj-ea"/>
                <a:ea typeface="+mj-ea"/>
              </a:rPr>
              <a:t>）</a:t>
            </a:r>
          </a:p>
          <a:p>
            <a:r>
              <a:rPr dirty="0" smtClean="0">
                <a:latin typeface="+mj-ea"/>
                <a:ea typeface="+mj-ea"/>
              </a:rPr>
              <a:t>3</a:t>
            </a:r>
            <a:r>
              <a:rPr lang="en-US" altLang="zh-TW" dirty="0" smtClean="0">
                <a:latin typeface="+mj-ea"/>
                <a:ea typeface="+mj-ea"/>
              </a:rPr>
              <a:t>.</a:t>
            </a:r>
            <a:r>
              <a:rPr dirty="0" smtClean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呼叫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>
                <a:ea typeface="+mj-ea"/>
              </a:rPr>
              <a:t>Delegate API</a:t>
            </a:r>
          </a:p>
          <a:p>
            <a:r>
              <a:rPr dirty="0" smtClean="0">
                <a:latin typeface="+mj-ea"/>
                <a:ea typeface="+mj-ea"/>
              </a:rPr>
              <a:t>4</a:t>
            </a:r>
            <a:r>
              <a:rPr lang="en-US" altLang="zh-TW" dirty="0" smtClean="0">
                <a:latin typeface="+mj-ea"/>
                <a:ea typeface="+mj-ea"/>
              </a:rPr>
              <a:t>.</a:t>
            </a:r>
            <a:r>
              <a:rPr dirty="0" smtClean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取得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 smtClean="0">
                <a:ea typeface="+mj-ea"/>
              </a:rPr>
              <a:t>user</a:t>
            </a:r>
            <a:r>
              <a:rPr lang="en-US" altLang="zh-TW" dirty="0" err="1" smtClean="0">
                <a:ea typeface="+mj-ea"/>
              </a:rPr>
              <a:t>J</a:t>
            </a:r>
            <a:r>
              <a:rPr dirty="0" err="1" smtClean="0">
                <a:ea typeface="+mj-ea"/>
              </a:rPr>
              <a:t>wt</a:t>
            </a:r>
            <a:endParaRPr dirty="0">
              <a:ea typeface="+mj-ea"/>
            </a:endParaRPr>
          </a:p>
          <a:p>
            <a:r>
              <a:rPr dirty="0" smtClean="0">
                <a:latin typeface="+mj-ea"/>
                <a:ea typeface="+mj-ea"/>
              </a:rPr>
              <a:t>5</a:t>
            </a:r>
            <a:r>
              <a:rPr lang="en-US" altLang="zh-TW" dirty="0" smtClean="0">
                <a:latin typeface="+mj-ea"/>
                <a:ea typeface="+mj-ea"/>
              </a:rPr>
              <a:t>.</a:t>
            </a:r>
            <a:r>
              <a:rPr dirty="0" smtClean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設定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ea typeface="+mj-ea"/>
              </a:rPr>
              <a:t>HttpOnly</a:t>
            </a:r>
            <a:r>
              <a:rPr dirty="0">
                <a:ea typeface="+mj-ea"/>
              </a:rPr>
              <a:t> Cookie</a:t>
            </a:r>
          </a:p>
        </p:txBody>
      </p:sp>
      <p:sp>
        <p:nvSpPr>
          <p:cNvPr id="7" name="Rounded Rectangle 4"/>
          <p:cNvSpPr/>
          <p:nvPr/>
        </p:nvSpPr>
        <p:spPr>
          <a:xfrm>
            <a:off x="5151486" y="2516030"/>
            <a:ext cx="3425959" cy="182880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latin typeface="+mj-ea"/>
                <a:ea typeface="+mj-ea"/>
              </a:rPr>
              <a:t>【</a:t>
            </a:r>
            <a:r>
              <a:rPr dirty="0">
                <a:ea typeface="+mj-ea"/>
              </a:rPr>
              <a:t>AIP Delegate API</a:t>
            </a:r>
            <a:r>
              <a:rPr dirty="0">
                <a:latin typeface="+mj-ea"/>
                <a:ea typeface="+mj-ea"/>
              </a:rPr>
              <a:t>】</a:t>
            </a:r>
          </a:p>
          <a:p>
            <a:r>
              <a:rPr dirty="0" err="1">
                <a:latin typeface="+mj-ea"/>
                <a:ea typeface="+mj-ea"/>
              </a:rPr>
              <a:t>驗證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>
                <a:ea typeface="+mj-ea"/>
              </a:rPr>
              <a:t>ERP-JWT + </a:t>
            </a:r>
            <a:r>
              <a:rPr dirty="0" err="1">
                <a:ea typeface="+mj-ea"/>
              </a:rPr>
              <a:t>APIKey</a:t>
            </a:r>
            <a:endParaRPr dirty="0">
              <a:ea typeface="+mj-ea"/>
            </a:endParaRPr>
          </a:p>
          <a:p>
            <a:r>
              <a:rPr dirty="0" err="1">
                <a:latin typeface="+mj-ea"/>
                <a:ea typeface="+mj-ea"/>
              </a:rPr>
              <a:t>產生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 smtClean="0">
                <a:ea typeface="+mj-ea"/>
              </a:rPr>
              <a:t>user</a:t>
            </a:r>
            <a:r>
              <a:rPr lang="en-US" altLang="zh-TW" dirty="0" err="1" smtClean="0">
                <a:ea typeface="+mj-ea"/>
              </a:rPr>
              <a:t>J</a:t>
            </a:r>
            <a:r>
              <a:rPr dirty="0" err="1" smtClean="0">
                <a:ea typeface="+mj-ea"/>
              </a:rPr>
              <a:t>wt</a:t>
            </a:r>
            <a:endParaRPr dirty="0">
              <a:ea typeface="+mj-ea"/>
            </a:endParaRPr>
          </a:p>
        </p:txBody>
      </p:sp>
      <p:sp>
        <p:nvSpPr>
          <p:cNvPr id="8" name="Rounded Rectangle 5"/>
          <p:cNvSpPr/>
          <p:nvPr/>
        </p:nvSpPr>
        <p:spPr>
          <a:xfrm>
            <a:off x="1016605" y="4631265"/>
            <a:ext cx="3577065" cy="82010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latin typeface="+mj-ea"/>
                <a:ea typeface="+mj-ea"/>
              </a:rPr>
              <a:t>【</a:t>
            </a:r>
            <a:r>
              <a:rPr dirty="0">
                <a:ea typeface="+mj-ea"/>
              </a:rPr>
              <a:t>JSP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頁面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>
                <a:ea typeface="+mj-ea"/>
              </a:rPr>
              <a:t>iframe</a:t>
            </a:r>
            <a:r>
              <a:rPr dirty="0">
                <a:latin typeface="+mj-ea"/>
                <a:ea typeface="+mj-ea"/>
              </a:rPr>
              <a:t>】</a:t>
            </a:r>
          </a:p>
          <a:p>
            <a:r>
              <a:rPr dirty="0" smtClean="0">
                <a:latin typeface="+mj-ea"/>
                <a:ea typeface="+mj-ea"/>
              </a:rPr>
              <a:t>6</a:t>
            </a:r>
            <a:r>
              <a:rPr lang="en-US" altLang="zh-TW" dirty="0" smtClean="0">
                <a:latin typeface="+mj-ea"/>
                <a:ea typeface="+mj-ea"/>
              </a:rPr>
              <a:t>.</a:t>
            </a:r>
            <a:r>
              <a:rPr dirty="0" smtClean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載入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>
                <a:ea typeface="+mj-ea"/>
              </a:rPr>
              <a:t>AIP</a:t>
            </a:r>
            <a:r>
              <a:rPr dirty="0">
                <a:latin typeface="+mj-ea"/>
                <a:ea typeface="+mj-ea"/>
              </a:rPr>
              <a:t> </a:t>
            </a:r>
            <a:r>
              <a:rPr lang="zh-TW" altLang="en-US" dirty="0" smtClean="0">
                <a:latin typeface="+mj-ea"/>
                <a:ea typeface="+mj-ea"/>
              </a:rPr>
              <a:t>流程助理 </a:t>
            </a:r>
            <a:r>
              <a:rPr lang="en-US" altLang="zh-TW" dirty="0" smtClean="0">
                <a:ea typeface="+mj-ea"/>
              </a:rPr>
              <a:t>URL</a:t>
            </a:r>
            <a:endParaRPr dirty="0">
              <a:ea typeface="+mj-ea"/>
            </a:endParaRPr>
          </a:p>
        </p:txBody>
      </p:sp>
      <p:sp>
        <p:nvSpPr>
          <p:cNvPr id="9" name="Rounded Rectangle 6"/>
          <p:cNvSpPr/>
          <p:nvPr/>
        </p:nvSpPr>
        <p:spPr>
          <a:xfrm>
            <a:off x="1016605" y="5754245"/>
            <a:ext cx="3577065" cy="87011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latin typeface="+mj-ea"/>
                <a:ea typeface="+mj-ea"/>
              </a:rPr>
              <a:t>【</a:t>
            </a:r>
            <a:r>
              <a:rPr dirty="0">
                <a:ea typeface="+mj-ea"/>
              </a:rPr>
              <a:t>AIP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助理聊天室</a:t>
            </a:r>
            <a:r>
              <a:rPr dirty="0">
                <a:latin typeface="+mj-ea"/>
                <a:ea typeface="+mj-ea"/>
              </a:rPr>
              <a:t>】</a:t>
            </a:r>
          </a:p>
          <a:p>
            <a:r>
              <a:rPr dirty="0" smtClean="0">
                <a:latin typeface="+mj-ea"/>
                <a:ea typeface="+mj-ea"/>
              </a:rPr>
              <a:t>7</a:t>
            </a:r>
            <a:r>
              <a:rPr lang="en-US" altLang="zh-TW" dirty="0" smtClean="0">
                <a:latin typeface="+mj-ea"/>
                <a:ea typeface="+mj-ea"/>
              </a:rPr>
              <a:t>.</a:t>
            </a:r>
            <a:r>
              <a:rPr dirty="0" smtClean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驗證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 smtClean="0">
                <a:ea typeface="+mj-ea"/>
              </a:rPr>
              <a:t>Cookie</a:t>
            </a:r>
            <a:r>
              <a:rPr dirty="0" err="1" smtClean="0">
                <a:latin typeface="+mj-ea"/>
                <a:ea typeface="+mj-ea"/>
              </a:rPr>
              <a:t>直接進入對話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4" name="TextBox 11"/>
          <p:cNvSpPr txBox="1"/>
          <p:nvPr/>
        </p:nvSpPr>
        <p:spPr>
          <a:xfrm>
            <a:off x="4887035" y="5679250"/>
            <a:ext cx="41404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✅ </a:t>
            </a:r>
            <a:r>
              <a:rPr dirty="0" err="1" smtClean="0"/>
              <a:t>不顯示</a:t>
            </a:r>
            <a:r>
              <a:rPr lang="en-US" dirty="0" err="1" smtClean="0"/>
              <a:t>AIP</a:t>
            </a:r>
            <a:r>
              <a:rPr dirty="0" err="1" smtClean="0"/>
              <a:t>登入頁</a:t>
            </a:r>
            <a:endParaRPr dirty="0"/>
          </a:p>
          <a:p>
            <a:r>
              <a:rPr dirty="0"/>
              <a:t>✅ ERP </a:t>
            </a:r>
            <a:r>
              <a:rPr dirty="0" err="1"/>
              <a:t>身分直接授權</a:t>
            </a:r>
            <a:endParaRPr dirty="0"/>
          </a:p>
          <a:p>
            <a:r>
              <a:rPr dirty="0"/>
              <a:t>✅ JWT </a:t>
            </a:r>
            <a:r>
              <a:rPr dirty="0" err="1"/>
              <a:t>僅在後端與</a:t>
            </a:r>
            <a:r>
              <a:rPr dirty="0"/>
              <a:t> Cookie </a:t>
            </a:r>
            <a:r>
              <a:rPr dirty="0" err="1"/>
              <a:t>中流動</a:t>
            </a:r>
            <a:endParaRPr dirty="0"/>
          </a:p>
        </p:txBody>
      </p:sp>
      <p:cxnSp>
        <p:nvCxnSpPr>
          <p:cNvPr id="15" name="直線單箭頭接點 14"/>
          <p:cNvCxnSpPr>
            <a:stCxn id="5" idx="2"/>
            <a:endCxn id="6" idx="0"/>
          </p:cNvCxnSpPr>
          <p:nvPr/>
        </p:nvCxnSpPr>
        <p:spPr>
          <a:xfrm>
            <a:off x="2805138" y="2246000"/>
            <a:ext cx="0" cy="27003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6" idx="2"/>
            <a:endCxn id="8" idx="0"/>
          </p:cNvCxnSpPr>
          <p:nvPr/>
        </p:nvCxnSpPr>
        <p:spPr>
          <a:xfrm>
            <a:off x="2805138" y="4344830"/>
            <a:ext cx="0" cy="28643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8" idx="2"/>
            <a:endCxn id="9" idx="0"/>
          </p:cNvCxnSpPr>
          <p:nvPr/>
        </p:nvCxnSpPr>
        <p:spPr>
          <a:xfrm>
            <a:off x="2805138" y="5451365"/>
            <a:ext cx="0" cy="30288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6" idx="3"/>
            <a:endCxn id="7" idx="1"/>
          </p:cNvCxnSpPr>
          <p:nvPr/>
        </p:nvCxnSpPr>
        <p:spPr>
          <a:xfrm>
            <a:off x="4593670" y="3430430"/>
            <a:ext cx="557816" cy="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字方塊 3"/>
          <p:cNvSpPr txBox="1"/>
          <p:nvPr/>
        </p:nvSpPr>
        <p:spPr bwMode="auto">
          <a:xfrm>
            <a:off x="116505" y="1257594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algn="l" eaLnBrk="1" hangingPunct="1"/>
            <a:r>
              <a:rPr lang="zh-TW" altLang="en-US" sz="2400" dirty="0" smtClean="0"/>
              <a:t>架構：</a:t>
            </a:r>
            <a:endParaRPr lang="zh-TW" altLang="en-US" sz="2400" dirty="0"/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525463" y="385762"/>
            <a:ext cx="8412022" cy="612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/>
            <a:r>
              <a:rPr lang="zh-TW" altLang="en-US" sz="3200" dirty="0" smtClean="0">
                <a:solidFill>
                  <a:schemeClr val="bg1"/>
                </a:solidFill>
              </a:rPr>
              <a:t>二</a:t>
            </a:r>
            <a:r>
              <a:rPr lang="en-US" altLang="zh-TW" sz="3200" dirty="0" smtClean="0">
                <a:solidFill>
                  <a:schemeClr val="bg1"/>
                </a:solidFill>
              </a:rPr>
              <a:t>.</a:t>
            </a:r>
            <a:r>
              <a:rPr lang="zh-TW" altLang="en-US" sz="3200" dirty="0" smtClean="0">
                <a:solidFill>
                  <a:schemeClr val="bg1"/>
                </a:solidFill>
              </a:rPr>
              <a:t>台塑</a:t>
            </a:r>
            <a:r>
              <a:rPr lang="zh-TW" altLang="en-US" sz="3200" dirty="0">
                <a:solidFill>
                  <a:schemeClr val="bg1"/>
                </a:solidFill>
              </a:rPr>
              <a:t>企業</a:t>
            </a:r>
            <a:r>
              <a:rPr lang="en-US" altLang="zh-TW" sz="3200" dirty="0">
                <a:solidFill>
                  <a:schemeClr val="bg1"/>
                </a:solidFill>
              </a:rPr>
              <a:t>AI</a:t>
            </a:r>
            <a:r>
              <a:rPr lang="zh-TW" altLang="en-US" sz="3200" dirty="0" smtClean="0">
                <a:solidFill>
                  <a:schemeClr val="bg1"/>
                </a:solidFill>
              </a:rPr>
              <a:t>平台功能增強</a:t>
            </a:r>
            <a:r>
              <a:rPr lang="en-US" altLang="zh-TW" sz="3200" smtClean="0">
                <a:solidFill>
                  <a:schemeClr val="bg1"/>
                </a:solidFill>
              </a:rPr>
              <a:t>(3/3</a:t>
            </a:r>
            <a:r>
              <a:rPr lang="en-US" altLang="zh-TW" sz="3200" dirty="0" smtClean="0">
                <a:solidFill>
                  <a:schemeClr val="bg1"/>
                </a:solidFill>
              </a:rPr>
              <a:t>)</a:t>
            </a:r>
            <a:endParaRPr lang="zh-TW" altLang="en-US" sz="3200" dirty="0">
              <a:latin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896144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簡報母片.new">
  <a:themeElements>
    <a:clrScheme name="自訂 3">
      <a:dk1>
        <a:srgbClr val="FFFFFF"/>
      </a:dk1>
      <a:lt1>
        <a:srgbClr val="FFFFFF"/>
      </a:lt1>
      <a:dk2>
        <a:srgbClr val="FF9933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DADADA"/>
      </a:accent4>
      <a:accent5>
        <a:srgbClr val="AAE2CA"/>
      </a:accent5>
      <a:accent6>
        <a:srgbClr val="2D2DB9"/>
      </a:accent6>
      <a:hlink>
        <a:srgbClr val="FFFF00"/>
      </a:hlink>
      <a:folHlink>
        <a:srgbClr val="FFFF00"/>
      </a:folHlink>
    </a:clrScheme>
    <a:fontScheme name="簡報母片.new">
      <a:majorFont>
        <a:latin typeface="Times New Roman"/>
        <a:ea typeface="標楷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none">
        <a:spAutoFit/>
      </a:bodyPr>
      <a:lstStyle>
        <a:defPPr algn="l" eaLnBrk="1" hangingPunct="1">
          <a:defRPr sz="1400"/>
        </a:defPPr>
      </a:lstStyle>
    </a:txDef>
  </a:objectDefaults>
  <a:extraClrSchemeLst>
    <a:extraClrScheme>
      <a:clrScheme name="簡報母片.new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母片.new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母片.new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母片.new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母片.new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母片.new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母片.new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母片.new 8">
        <a:dk1>
          <a:srgbClr val="000000"/>
        </a:dk1>
        <a:lt1>
          <a:srgbClr val="FFFFFF"/>
        </a:lt1>
        <a:dk2>
          <a:srgbClr val="FF9933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母片.new 9">
        <a:dk1>
          <a:srgbClr val="FFFFFF"/>
        </a:dk1>
        <a:lt1>
          <a:srgbClr val="FFFFFF"/>
        </a:lt1>
        <a:dk2>
          <a:srgbClr val="FF9933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DADADA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母片.new 10">
        <a:dk1>
          <a:srgbClr val="FFFFFF"/>
        </a:dk1>
        <a:lt1>
          <a:srgbClr val="FFFFFF"/>
        </a:lt1>
        <a:dk2>
          <a:srgbClr val="FF9933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DADADA"/>
        </a:accent4>
        <a:accent5>
          <a:srgbClr val="AAE2CA"/>
        </a:accent5>
        <a:accent6>
          <a:srgbClr val="2D2DB9"/>
        </a:accent6>
        <a:hlink>
          <a:srgbClr val="FFFF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C:\WINDOWS\Application Data\Microsoft\Templates\簡報母片.new.pot</Template>
  <TotalTime>36040</TotalTime>
  <Words>960</Words>
  <Application>Microsoft Office PowerPoint</Application>
  <PresentationFormat>如螢幕大小 (4:3)</PresentationFormat>
  <Paragraphs>209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新細明體</vt:lpstr>
      <vt:lpstr>標楷體</vt:lpstr>
      <vt:lpstr>Arial</vt:lpstr>
      <vt:lpstr>Times New Roman</vt:lpstr>
      <vt:lpstr>簡報母片.new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N000022085</dc:creator>
  <cp:lastModifiedBy>00RK20/蔡尚祐</cp:lastModifiedBy>
  <cp:revision>9933</cp:revision>
  <cp:lastPrinted>2022-01-14T06:43:37Z</cp:lastPrinted>
  <dcterms:created xsi:type="dcterms:W3CDTF">2001-04-02T07:17:42Z</dcterms:created>
  <dcterms:modified xsi:type="dcterms:W3CDTF">2026-04-24T05:53:08Z</dcterms:modified>
</cp:coreProperties>
</file>