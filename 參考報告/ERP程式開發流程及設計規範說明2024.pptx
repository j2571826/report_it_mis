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954" r:id="rId2"/>
    <p:sldId id="2955" r:id="rId3"/>
    <p:sldId id="2964" r:id="rId4"/>
    <p:sldId id="2983" r:id="rId5"/>
    <p:sldId id="2920" r:id="rId6"/>
    <p:sldId id="2951" r:id="rId7"/>
    <p:sldId id="2957" r:id="rId8"/>
    <p:sldId id="2990" r:id="rId9"/>
    <p:sldId id="2958" r:id="rId10"/>
    <p:sldId id="2994" r:id="rId11"/>
    <p:sldId id="2959" r:id="rId12"/>
    <p:sldId id="2960" r:id="rId13"/>
    <p:sldId id="3017" r:id="rId14"/>
    <p:sldId id="3006" r:id="rId15"/>
    <p:sldId id="3007" r:id="rId16"/>
    <p:sldId id="3008" r:id="rId17"/>
    <p:sldId id="3011" r:id="rId18"/>
    <p:sldId id="3009" r:id="rId19"/>
    <p:sldId id="3050" r:id="rId20"/>
    <p:sldId id="3010" r:id="rId21"/>
    <p:sldId id="3013" r:id="rId22"/>
    <p:sldId id="3018" r:id="rId23"/>
    <p:sldId id="2986" r:id="rId24"/>
    <p:sldId id="3015" r:id="rId25"/>
    <p:sldId id="3020" r:id="rId26"/>
    <p:sldId id="3021" r:id="rId27"/>
    <p:sldId id="3022" r:id="rId28"/>
    <p:sldId id="3039" r:id="rId29"/>
    <p:sldId id="3024" r:id="rId30"/>
    <p:sldId id="3051" r:id="rId31"/>
    <p:sldId id="3019" r:id="rId32"/>
    <p:sldId id="3026" r:id="rId33"/>
    <p:sldId id="3027" r:id="rId34"/>
    <p:sldId id="2987" r:id="rId35"/>
    <p:sldId id="3040" r:id="rId36"/>
    <p:sldId id="3041" r:id="rId37"/>
    <p:sldId id="3043" r:id="rId38"/>
    <p:sldId id="3052" r:id="rId39"/>
    <p:sldId id="3053" r:id="rId40"/>
    <p:sldId id="3044" r:id="rId41"/>
    <p:sldId id="2963" r:id="rId42"/>
    <p:sldId id="3028" r:id="rId43"/>
    <p:sldId id="2961" r:id="rId44"/>
    <p:sldId id="3005" r:id="rId45"/>
    <p:sldId id="2993" r:id="rId46"/>
    <p:sldId id="2992" r:id="rId47"/>
    <p:sldId id="3045" r:id="rId48"/>
    <p:sldId id="2962" r:id="rId49"/>
    <p:sldId id="3047" r:id="rId50"/>
    <p:sldId id="3046" r:id="rId51"/>
    <p:sldId id="3048" r:id="rId52"/>
    <p:sldId id="3049" r:id="rId53"/>
    <p:sldId id="2970" r:id="rId54"/>
    <p:sldId id="2978" r:id="rId55"/>
  </p:sldIdLst>
  <p:sldSz cx="9144000" cy="6858000" type="screen4x3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3200" u="sng" kern="1200">
        <a:solidFill>
          <a:schemeClr val="hlink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C659D93-DDE5-4A2A-8F72-4AF57D5935BF}">
          <p14:sldIdLst>
            <p14:sldId id="2954"/>
            <p14:sldId id="2955"/>
            <p14:sldId id="2964"/>
            <p14:sldId id="2983"/>
            <p14:sldId id="2920"/>
            <p14:sldId id="2951"/>
            <p14:sldId id="2957"/>
            <p14:sldId id="2990"/>
            <p14:sldId id="2958"/>
            <p14:sldId id="2994"/>
            <p14:sldId id="2959"/>
            <p14:sldId id="2960"/>
            <p14:sldId id="3017"/>
            <p14:sldId id="3006"/>
            <p14:sldId id="3007"/>
            <p14:sldId id="3008"/>
            <p14:sldId id="3011"/>
            <p14:sldId id="3009"/>
            <p14:sldId id="3050"/>
            <p14:sldId id="3010"/>
            <p14:sldId id="3013"/>
            <p14:sldId id="3018"/>
            <p14:sldId id="2986"/>
            <p14:sldId id="3015"/>
            <p14:sldId id="3020"/>
            <p14:sldId id="3021"/>
            <p14:sldId id="3022"/>
            <p14:sldId id="3039"/>
            <p14:sldId id="3024"/>
            <p14:sldId id="3051"/>
            <p14:sldId id="3019"/>
            <p14:sldId id="3026"/>
            <p14:sldId id="3027"/>
            <p14:sldId id="2987"/>
            <p14:sldId id="3040"/>
            <p14:sldId id="3041"/>
            <p14:sldId id="3043"/>
            <p14:sldId id="3052"/>
            <p14:sldId id="3053"/>
            <p14:sldId id="3044"/>
            <p14:sldId id="2963"/>
            <p14:sldId id="3028"/>
            <p14:sldId id="2961"/>
            <p14:sldId id="3005"/>
            <p14:sldId id="2993"/>
            <p14:sldId id="2992"/>
            <p14:sldId id="3045"/>
            <p14:sldId id="2962"/>
            <p14:sldId id="3047"/>
            <p14:sldId id="3046"/>
            <p14:sldId id="3048"/>
            <p14:sldId id="3049"/>
            <p14:sldId id="2970"/>
            <p14:sldId id="29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6">
          <p15:clr>
            <a:srgbClr val="A4A3A4"/>
          </p15:clr>
        </p15:guide>
        <p15:guide id="2" pos="53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CC"/>
    <a:srgbClr val="FF66FF"/>
    <a:srgbClr val="0000F6"/>
    <a:srgbClr val="149E2E"/>
    <a:srgbClr val="86001A"/>
    <a:srgbClr val="777777"/>
    <a:srgbClr val="0E7021"/>
    <a:srgbClr val="0A52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791" autoAdjust="0"/>
  </p:normalViewPr>
  <p:slideViewPr>
    <p:cSldViewPr snapToGrid="0">
      <p:cViewPr varScale="1">
        <p:scale>
          <a:sx n="81" d="100"/>
          <a:sy n="81" d="100"/>
        </p:scale>
        <p:origin x="1452" y="84"/>
      </p:cViewPr>
      <p:guideLst>
        <p:guide orient="horz" pos="2216"/>
        <p:guide pos="53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8" d="100"/>
          <a:sy n="38" d="100"/>
        </p:scale>
        <p:origin x="1704" y="72"/>
      </p:cViewPr>
      <p:guideLst>
        <p:guide orient="horz" pos="3223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163" y="0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163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fld id="{A9773513-9576-441C-9CE2-3875F06D9F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264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163" y="0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9938"/>
            <a:ext cx="5111750" cy="38338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685" y="4861155"/>
            <a:ext cx="5205932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163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75" tIns="47689" rIns="95375" bIns="476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300000000000000" pitchFamily="18" charset="-120"/>
              </a:defRPr>
            </a:lvl1pPr>
          </a:lstStyle>
          <a:p>
            <a:pPr>
              <a:defRPr/>
            </a:pPr>
            <a:fld id="{9B8B624F-E230-4024-A47E-62D3985E3A2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02887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3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3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3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3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3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283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6111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2454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4164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1537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68349" indent="-294507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82960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56803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130645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604487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3078329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552171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4026013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fld id="{B733B843-91B3-4C7D-9648-DB5455268E65}" type="slidenum">
              <a:rPr lang="en-US" altLang="zh-TW"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/>
              <a:t>6</a:t>
            </a:fld>
            <a:endParaRPr lang="en-US" altLang="zh-TW" sz="1200" u="none" dirty="0">
              <a:solidFill>
                <a:schemeClr val="tx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291" name="Rectangle 7"/>
          <p:cNvSpPr txBox="1">
            <a:spLocks noGrp="1" noChangeArrowheads="1"/>
          </p:cNvSpPr>
          <p:nvPr/>
        </p:nvSpPr>
        <p:spPr bwMode="auto">
          <a:xfrm>
            <a:off x="4022163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68" tIns="47686" rIns="95368" bIns="47686" anchor="b"/>
          <a:lstStyle>
            <a:lvl1pPr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17550" indent="-276225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03313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44638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984375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4415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987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3559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131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2B18846-5B61-4AB6-BC2F-270140F7135D}" type="slidenum">
              <a:rPr lang="en-US" altLang="zh-TW" u="none"/>
              <a:pPr algn="r" eaLnBrk="1" hangingPunct="1">
                <a:spcBef>
                  <a:spcPct val="0"/>
                </a:spcBef>
              </a:pPr>
              <a:t>6</a:t>
            </a:fld>
            <a:endParaRPr lang="en-US" altLang="zh-TW" u="none" dirty="0"/>
          </a:p>
        </p:txBody>
      </p:sp>
      <p:sp>
        <p:nvSpPr>
          <p:cNvPr id="12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5368" tIns="47686" rIns="95368" bIns="47686"/>
          <a:lstStyle/>
          <a:p>
            <a:pPr eaLnBrk="1" hangingPunct="1"/>
            <a:endParaRPr lang="zh-TW" altLang="zh-TW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1487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68349" indent="-294507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82960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56803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130645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604487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3078329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552171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4026013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fld id="{B733B843-91B3-4C7D-9648-DB5455268E65}" type="slidenum">
              <a:rPr lang="en-US" altLang="zh-TW"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/>
              <a:t>7</a:t>
            </a:fld>
            <a:endParaRPr lang="en-US" altLang="zh-TW" sz="1200" u="none" dirty="0">
              <a:solidFill>
                <a:schemeClr val="tx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291" name="Rectangle 7"/>
          <p:cNvSpPr txBox="1">
            <a:spLocks noGrp="1" noChangeArrowheads="1"/>
          </p:cNvSpPr>
          <p:nvPr/>
        </p:nvSpPr>
        <p:spPr bwMode="auto">
          <a:xfrm>
            <a:off x="4022163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68" tIns="47686" rIns="95368" bIns="47686" anchor="b"/>
          <a:lstStyle>
            <a:lvl1pPr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17550" indent="-276225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03313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44638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984375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4415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987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3559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131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2B18846-5B61-4AB6-BC2F-270140F7135D}" type="slidenum">
              <a:rPr lang="en-US" altLang="zh-TW" u="none"/>
              <a:pPr algn="r" eaLnBrk="1" hangingPunct="1">
                <a:spcBef>
                  <a:spcPct val="0"/>
                </a:spcBef>
              </a:pPr>
              <a:t>7</a:t>
            </a:fld>
            <a:endParaRPr lang="en-US" altLang="zh-TW" u="none" dirty="0"/>
          </a:p>
        </p:txBody>
      </p:sp>
      <p:sp>
        <p:nvSpPr>
          <p:cNvPr id="12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5368" tIns="47686" rIns="95368" bIns="47686"/>
          <a:lstStyle/>
          <a:p>
            <a:pPr eaLnBrk="1" hangingPunct="1"/>
            <a:endParaRPr lang="zh-TW" altLang="zh-TW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1487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68349" indent="-294507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82960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56803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130645" indent="-235276"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604487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3078329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552171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4026013" indent="-235276" eaLnBrk="0" fontAlgn="base" hangingPunct="0">
              <a:spcBef>
                <a:spcPct val="0"/>
              </a:spcBef>
              <a:spcAft>
                <a:spcPct val="0"/>
              </a:spcAft>
              <a:defRPr kumimoji="1" sz="33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fld id="{B733B843-91B3-4C7D-9648-DB5455268E65}" type="slidenum">
              <a:rPr lang="en-US" altLang="zh-TW" sz="1200" u="none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pPr/>
              <a:t>9</a:t>
            </a:fld>
            <a:endParaRPr lang="en-US" altLang="zh-TW" sz="1200" u="none" dirty="0">
              <a:solidFill>
                <a:schemeClr val="tx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291" name="Rectangle 7"/>
          <p:cNvSpPr txBox="1">
            <a:spLocks noGrp="1" noChangeArrowheads="1"/>
          </p:cNvSpPr>
          <p:nvPr/>
        </p:nvSpPr>
        <p:spPr bwMode="auto">
          <a:xfrm>
            <a:off x="4022163" y="9722309"/>
            <a:ext cx="3077137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368" tIns="47686" rIns="95368" bIns="47686" anchor="b"/>
          <a:lstStyle>
            <a:lvl1pPr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17550" indent="-276225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03313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544638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1984375" indent="-220663" defTabSz="8826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4415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8987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3559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13175" indent="-220663" defTabSz="8826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2B18846-5B61-4AB6-BC2F-270140F7135D}" type="slidenum">
              <a:rPr lang="en-US" altLang="zh-TW" u="none"/>
              <a:pPr algn="r" eaLnBrk="1" hangingPunct="1">
                <a:spcBef>
                  <a:spcPct val="0"/>
                </a:spcBef>
              </a:pPr>
              <a:t>9</a:t>
            </a:fld>
            <a:endParaRPr lang="en-US" altLang="zh-TW" u="none" dirty="0"/>
          </a:p>
        </p:txBody>
      </p:sp>
      <p:sp>
        <p:nvSpPr>
          <p:cNvPr id="12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5368" tIns="47686" rIns="95368" bIns="47686"/>
          <a:lstStyle/>
          <a:p>
            <a:pPr eaLnBrk="1" hangingPunct="1"/>
            <a:endParaRPr lang="zh-TW" altLang="zh-TW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1487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033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B624F-E230-4024-A47E-62D3985E3A2B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816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058"/>
          <p:cNvSpPr>
            <a:spLocks noChangeArrowheads="1"/>
          </p:cNvSpPr>
          <p:nvPr/>
        </p:nvSpPr>
        <p:spPr bwMode="auto">
          <a:xfrm>
            <a:off x="231775" y="404813"/>
            <a:ext cx="8912225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3" name="Rectangle 2059"/>
          <p:cNvSpPr>
            <a:spLocks noChangeArrowheads="1"/>
          </p:cNvSpPr>
          <p:nvPr/>
        </p:nvSpPr>
        <p:spPr bwMode="auto">
          <a:xfrm>
            <a:off x="3175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4" name="Line 2060"/>
          <p:cNvSpPr>
            <a:spLocks noChangeShapeType="1"/>
          </p:cNvSpPr>
          <p:nvPr/>
        </p:nvSpPr>
        <p:spPr bwMode="auto">
          <a:xfrm>
            <a:off x="476250" y="990600"/>
            <a:ext cx="86709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" name="Line 2061"/>
          <p:cNvSpPr>
            <a:spLocks noChangeShapeType="1"/>
          </p:cNvSpPr>
          <p:nvPr/>
        </p:nvSpPr>
        <p:spPr bwMode="auto">
          <a:xfrm>
            <a:off x="3175" y="1066800"/>
            <a:ext cx="6689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2062"/>
          <p:cNvSpPr>
            <a:spLocks noChangeArrowheads="1"/>
          </p:cNvSpPr>
          <p:nvPr/>
        </p:nvSpPr>
        <p:spPr bwMode="auto">
          <a:xfrm>
            <a:off x="5413375" y="6781800"/>
            <a:ext cx="3730625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7" name="Line 2063"/>
          <p:cNvSpPr>
            <a:spLocks noChangeShapeType="1"/>
          </p:cNvSpPr>
          <p:nvPr/>
        </p:nvSpPr>
        <p:spPr bwMode="auto">
          <a:xfrm>
            <a:off x="9070975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" name="Line 2064"/>
          <p:cNvSpPr>
            <a:spLocks noChangeShapeType="1"/>
          </p:cNvSpPr>
          <p:nvPr/>
        </p:nvSpPr>
        <p:spPr bwMode="auto">
          <a:xfrm>
            <a:off x="384175" y="6781800"/>
            <a:ext cx="6689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" name="Line 2065"/>
          <p:cNvSpPr>
            <a:spLocks noChangeShapeType="1"/>
          </p:cNvSpPr>
          <p:nvPr/>
        </p:nvSpPr>
        <p:spPr bwMode="auto">
          <a:xfrm>
            <a:off x="3175" y="6858000"/>
            <a:ext cx="54705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" name="Oval 2066"/>
          <p:cNvSpPr>
            <a:spLocks noChangeArrowheads="1"/>
          </p:cNvSpPr>
          <p:nvPr/>
        </p:nvSpPr>
        <p:spPr bwMode="auto">
          <a:xfrm>
            <a:off x="-1139825" y="0"/>
            <a:ext cx="1600200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endParaRPr lang="en-US" altLang="zh-TW" sz="2400" u="none" smtClean="0">
              <a:solidFill>
                <a:schemeClr val="tx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1" name="Line 2067"/>
          <p:cNvSpPr>
            <a:spLocks noChangeShapeType="1"/>
          </p:cNvSpPr>
          <p:nvPr/>
        </p:nvSpPr>
        <p:spPr bwMode="auto">
          <a:xfrm>
            <a:off x="231775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197" y="208311"/>
            <a:ext cx="1174934" cy="670505"/>
          </a:xfrm>
          <a:prstGeom prst="rect">
            <a:avLst/>
          </a:prstGeom>
        </p:spPr>
      </p:pic>
      <p:sp>
        <p:nvSpPr>
          <p:cNvPr id="15" name="投影片編號版面配置區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001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455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7751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211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151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3084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192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107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758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021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4289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76"/>
            </a:gs>
            <a:gs pos="50000">
              <a:schemeClr val="bg1"/>
            </a:gs>
            <a:gs pos="100000">
              <a:srgbClr val="00007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10"/>
          <p:cNvSpPr>
            <a:spLocks noChangeArrowheads="1"/>
          </p:cNvSpPr>
          <p:nvPr/>
        </p:nvSpPr>
        <p:spPr bwMode="auto">
          <a:xfrm>
            <a:off x="231775" y="404813"/>
            <a:ext cx="8912225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7" name="Rectangle 11"/>
          <p:cNvSpPr>
            <a:spLocks noChangeArrowheads="1"/>
          </p:cNvSpPr>
          <p:nvPr/>
        </p:nvSpPr>
        <p:spPr bwMode="auto">
          <a:xfrm>
            <a:off x="3175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8" name="Line 12"/>
          <p:cNvSpPr>
            <a:spLocks noChangeShapeType="1"/>
          </p:cNvSpPr>
          <p:nvPr/>
        </p:nvSpPr>
        <p:spPr bwMode="auto">
          <a:xfrm>
            <a:off x="476250" y="990600"/>
            <a:ext cx="86709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13"/>
          <p:cNvSpPr>
            <a:spLocks noChangeShapeType="1"/>
          </p:cNvSpPr>
          <p:nvPr/>
        </p:nvSpPr>
        <p:spPr bwMode="auto">
          <a:xfrm>
            <a:off x="3175" y="1066800"/>
            <a:ext cx="6689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0" name="Rectangle 14"/>
          <p:cNvSpPr>
            <a:spLocks noChangeArrowheads="1"/>
          </p:cNvSpPr>
          <p:nvPr/>
        </p:nvSpPr>
        <p:spPr bwMode="auto">
          <a:xfrm>
            <a:off x="5413375" y="6781800"/>
            <a:ext cx="3730625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31" name="Line 15"/>
          <p:cNvSpPr>
            <a:spLocks noChangeShapeType="1"/>
          </p:cNvSpPr>
          <p:nvPr/>
        </p:nvSpPr>
        <p:spPr bwMode="auto">
          <a:xfrm>
            <a:off x="9070975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2" name="Line 16"/>
          <p:cNvSpPr>
            <a:spLocks noChangeShapeType="1"/>
          </p:cNvSpPr>
          <p:nvPr/>
        </p:nvSpPr>
        <p:spPr bwMode="auto">
          <a:xfrm>
            <a:off x="384175" y="6781800"/>
            <a:ext cx="66897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3" name="Line 17"/>
          <p:cNvSpPr>
            <a:spLocks noChangeShapeType="1"/>
          </p:cNvSpPr>
          <p:nvPr/>
        </p:nvSpPr>
        <p:spPr bwMode="auto">
          <a:xfrm>
            <a:off x="3175" y="6858000"/>
            <a:ext cx="54705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4" name="Oval 18"/>
          <p:cNvSpPr>
            <a:spLocks noChangeArrowheads="1"/>
          </p:cNvSpPr>
          <p:nvPr/>
        </p:nvSpPr>
        <p:spPr bwMode="auto">
          <a:xfrm>
            <a:off x="-1139825" y="0"/>
            <a:ext cx="1600200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r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endParaRPr lang="en-US" altLang="zh-TW" sz="2400" u="none" smtClean="0">
              <a:solidFill>
                <a:schemeClr val="tx1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35" name="Line 19"/>
          <p:cNvSpPr>
            <a:spLocks noChangeShapeType="1"/>
          </p:cNvSpPr>
          <p:nvPr/>
        </p:nvSpPr>
        <p:spPr bwMode="auto">
          <a:xfrm>
            <a:off x="231775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057" y="289169"/>
            <a:ext cx="1114918" cy="636262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6742759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01EB1-5D0F-41E4-8197-B608D12AE9C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23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w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687281" y="1939925"/>
            <a:ext cx="7886700" cy="2852738"/>
          </a:xfrm>
          <a:prstGeom prst="rect">
            <a:avLst/>
          </a:prstGeom>
        </p:spPr>
        <p:txBody>
          <a:bodyPr/>
          <a:lstStyle/>
          <a:p>
            <a:r>
              <a:rPr lang="en-US" altLang="zh-TW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程式開發流程</a:t>
            </a:r>
            <a:r>
              <a:rPr lang="zh-TW" altLang="en-US" sz="4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sz="4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4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zh-TW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規範說明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60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綱要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程式開發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流程簡介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kumimoji="0" lang="zh-TW" altLang="en-US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</a:t>
            </a:r>
            <a:r>
              <a:rPr kumimoji="0"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螢幕程式設計</a:t>
            </a:r>
            <a:endParaRPr kumimoji="0" lang="en-US" altLang="zh-TW" dirty="0" smtClean="0">
              <a:solidFill>
                <a:srgbClr val="FFFF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 marL="0" indent="0">
              <a:buNone/>
            </a:pPr>
            <a:r>
              <a:rPr kumimoji="0"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報表程式設計</a:t>
            </a:r>
            <a:endParaRPr kumimoji="0" lang="en-US" altLang="zh-TW" dirty="0" smtClean="0">
              <a:solidFill>
                <a:srgbClr val="FFFF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 marL="0" indent="0">
              <a:buNone/>
            </a:pPr>
            <a:r>
              <a:rPr kumimoji="0"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處理程式設計</a:t>
            </a:r>
            <a:endParaRPr kumimoji="0" lang="en-US" altLang="zh-TW" dirty="0">
              <a:solidFill>
                <a:srgbClr val="FFFF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 marL="0" indent="0">
              <a:buNone/>
            </a:pPr>
            <a:endParaRPr lang="en-US" altLang="zh-TW" dirty="0" smtClean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設計規範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2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程式開發流程簡介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99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電腦作業規劃設計流程圖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pic>
        <p:nvPicPr>
          <p:cNvPr id="102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43" y="1134874"/>
            <a:ext cx="7836789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112109" y="6240274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u="none" dirty="0" smtClean="0"/>
              <a:t>資料來源</a:t>
            </a:r>
            <a:r>
              <a:rPr lang="en-US" altLang="zh-TW" u="none" dirty="0" smtClean="0"/>
              <a:t>:</a:t>
            </a:r>
            <a:r>
              <a:rPr lang="zh-TW" altLang="en-US" u="none" dirty="0" smtClean="0"/>
              <a:t>電腦</a:t>
            </a:r>
            <a:r>
              <a:rPr lang="zh-TW" altLang="en-US" u="none" dirty="0"/>
              <a:t>作業規劃設計辦事細則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7026876" y="1795849"/>
            <a:ext cx="1688756" cy="444442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6879" y="1795849"/>
            <a:ext cx="3110242" cy="821266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282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" dur="indefinite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en-US" altLang="zh-TW" u="none" dirty="0">
                <a:solidFill>
                  <a:schemeClr val="tx1"/>
                </a:solidFill>
              </a:rPr>
              <a:t>ERP</a:t>
            </a:r>
            <a:r>
              <a:rPr lang="zh-TW" altLang="en-US" u="none" dirty="0">
                <a:solidFill>
                  <a:schemeClr val="tx1"/>
                </a:solidFill>
              </a:rPr>
              <a:t>程式開發流程</a:t>
            </a:r>
          </a:p>
        </p:txBody>
      </p:sp>
      <p:pic>
        <p:nvPicPr>
          <p:cNvPr id="8199" name="Picture 41" descr="BD0496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31" y="4539549"/>
            <a:ext cx="1237119" cy="114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Text Box 32"/>
          <p:cNvSpPr txBox="1">
            <a:spLocks noChangeArrowheads="1"/>
          </p:cNvSpPr>
          <p:nvPr/>
        </p:nvSpPr>
        <p:spPr bwMode="auto">
          <a:xfrm>
            <a:off x="1867990" y="2673339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lang="en-US" altLang="zh-TW" sz="2400" u="none" dirty="0">
                <a:solidFill>
                  <a:schemeClr val="tx1"/>
                </a:solidFill>
              </a:rPr>
              <a:t>ERP</a:t>
            </a:r>
            <a:r>
              <a:rPr kumimoji="0" lang="zh-TW" altLang="en-US" sz="2400" u="none" dirty="0" smtClean="0">
                <a:solidFill>
                  <a:schemeClr val="tx1"/>
                </a:solidFill>
              </a:rPr>
              <a:t>立案、交辦</a:t>
            </a:r>
            <a:endParaRPr kumimoji="0" lang="zh-TW" altLang="en-US" sz="2400" u="none" dirty="0">
              <a:solidFill>
                <a:schemeClr val="tx1"/>
              </a:solidFill>
            </a:endParaRPr>
          </a:p>
        </p:txBody>
      </p:sp>
      <p:sp>
        <p:nvSpPr>
          <p:cNvPr id="8202" name="Text Box 32"/>
          <p:cNvSpPr txBox="1">
            <a:spLocks noChangeArrowheads="1"/>
          </p:cNvSpPr>
          <p:nvPr/>
        </p:nvSpPr>
        <p:spPr bwMode="auto">
          <a:xfrm>
            <a:off x="4754267" y="5673058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lang="zh-TW" altLang="en-US" sz="2400" u="none" dirty="0" smtClean="0">
                <a:solidFill>
                  <a:srgbClr val="FFFF00"/>
                </a:solidFill>
              </a:rPr>
              <a:t>測試及驗收</a:t>
            </a:r>
            <a:endParaRPr lang="zh-TW" altLang="en-US" sz="2400" u="none" dirty="0">
              <a:solidFill>
                <a:srgbClr val="FFFF00"/>
              </a:solidFill>
            </a:endParaRPr>
          </a:p>
        </p:txBody>
      </p:sp>
      <p:sp>
        <p:nvSpPr>
          <p:cNvPr id="8204" name="Text Box 32"/>
          <p:cNvSpPr txBox="1">
            <a:spLocks noChangeArrowheads="1"/>
          </p:cNvSpPr>
          <p:nvPr/>
        </p:nvSpPr>
        <p:spPr bwMode="auto">
          <a:xfrm>
            <a:off x="664327" y="2681006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lang="zh-TW" altLang="en-US" sz="2400" u="none" dirty="0" smtClean="0">
                <a:solidFill>
                  <a:srgbClr val="FFFF00"/>
                </a:solidFill>
              </a:rPr>
              <a:t>接件</a:t>
            </a:r>
            <a:endParaRPr lang="en-US" altLang="zh-TW" sz="2400" u="none" dirty="0">
              <a:solidFill>
                <a:srgbClr val="FFFF00"/>
              </a:solidFill>
            </a:endParaRPr>
          </a:p>
        </p:txBody>
      </p:sp>
      <p:sp>
        <p:nvSpPr>
          <p:cNvPr id="8207" name="Line 12"/>
          <p:cNvSpPr>
            <a:spLocks noChangeShapeType="1"/>
          </p:cNvSpPr>
          <p:nvPr/>
        </p:nvSpPr>
        <p:spPr bwMode="auto">
          <a:xfrm flipV="1">
            <a:off x="1809254" y="1828557"/>
            <a:ext cx="635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08" name="Line 12"/>
          <p:cNvSpPr>
            <a:spLocks noChangeShapeType="1"/>
          </p:cNvSpPr>
          <p:nvPr/>
        </p:nvSpPr>
        <p:spPr bwMode="auto">
          <a:xfrm flipV="1">
            <a:off x="3734376" y="1828557"/>
            <a:ext cx="635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" name="Documents"/>
          <p:cNvSpPr>
            <a:spLocks noEditPoints="1" noChangeArrowheads="1"/>
          </p:cNvSpPr>
          <p:nvPr/>
        </p:nvSpPr>
        <p:spPr bwMode="auto">
          <a:xfrm>
            <a:off x="331076" y="1238092"/>
            <a:ext cx="1327014" cy="1180929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TW" altLang="en-US" sz="1400" u="none" dirty="0">
                <a:solidFill>
                  <a:srgbClr val="FF0000"/>
                </a:solidFill>
              </a:rPr>
              <a:t>管理制度改善意見反應</a:t>
            </a:r>
            <a:r>
              <a:rPr lang="zh-TW" altLang="en-US" sz="1400" u="none" dirty="0" smtClean="0">
                <a:solidFill>
                  <a:srgbClr val="FF0000"/>
                </a:solidFill>
              </a:rPr>
              <a:t>單</a:t>
            </a:r>
            <a:endParaRPr lang="zh-TW" altLang="en-US" sz="1400" u="none" dirty="0">
              <a:solidFill>
                <a:srgbClr val="FF0000"/>
              </a:solidFill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 flipV="1">
            <a:off x="5751506" y="1810626"/>
            <a:ext cx="635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" name="Text Box 32"/>
          <p:cNvSpPr txBox="1">
            <a:spLocks noChangeArrowheads="1"/>
          </p:cNvSpPr>
          <p:nvPr/>
        </p:nvSpPr>
        <p:spPr bwMode="auto">
          <a:xfrm>
            <a:off x="6042788" y="2523046"/>
            <a:ext cx="18774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TW"/>
            </a:defPPr>
            <a:lvl1pPr algn="ctr">
              <a:defRPr kumimoji="0" sz="2400" u="none">
                <a:solidFill>
                  <a:schemeClr val="tx1"/>
                </a:solidFill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TW" altLang="en-US" dirty="0"/>
              <a:t>電腦</a:t>
            </a:r>
            <a:r>
              <a:rPr lang="zh-TW" altLang="en-US" dirty="0" smtClean="0"/>
              <a:t>作業</a:t>
            </a:r>
            <a:endParaRPr lang="en-US" altLang="zh-TW" dirty="0" smtClean="0"/>
          </a:p>
          <a:p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關</a:t>
            </a:r>
            <a:r>
              <a:rPr lang="zh-TW" altLang="en-US" dirty="0"/>
              <a:t>聯</a:t>
            </a:r>
            <a:r>
              <a:rPr lang="zh-TW" altLang="en-US" dirty="0" smtClean="0"/>
              <a:t>作業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zh-TW" altLang="en-US" dirty="0"/>
              <a:t>流程</a:t>
            </a:r>
            <a:r>
              <a:rPr lang="zh-TW" altLang="en-US" dirty="0" smtClean="0"/>
              <a:t>規劃</a:t>
            </a:r>
            <a:endParaRPr lang="en-US" altLang="zh-TW" dirty="0"/>
          </a:p>
        </p:txBody>
      </p:sp>
      <p:sp>
        <p:nvSpPr>
          <p:cNvPr id="3" name="computr2"/>
          <p:cNvSpPr>
            <a:spLocks noEditPoints="1" noChangeArrowheads="1"/>
          </p:cNvSpPr>
          <p:nvPr/>
        </p:nvSpPr>
        <p:spPr bwMode="auto">
          <a:xfrm>
            <a:off x="7902380" y="2850046"/>
            <a:ext cx="947932" cy="883455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7575828" y="3708432"/>
            <a:ext cx="141577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lang="zh-TW" altLang="en-US" sz="2400" u="none" dirty="0" smtClean="0">
                <a:solidFill>
                  <a:srgbClr val="FFFF00"/>
                </a:solidFill>
              </a:rPr>
              <a:t>作業相關</a:t>
            </a:r>
            <a:endParaRPr lang="en-US" altLang="zh-TW" sz="2400" u="none" dirty="0" smtClean="0">
              <a:solidFill>
                <a:srgbClr val="FFFF00"/>
              </a:solidFill>
            </a:endParaRPr>
          </a:p>
          <a:p>
            <a:pPr algn="ctr"/>
            <a:r>
              <a:rPr lang="zh-TW" altLang="en-US" sz="2400" u="none" dirty="0" smtClean="0">
                <a:solidFill>
                  <a:srgbClr val="FFFF00"/>
                </a:solidFill>
              </a:rPr>
              <a:t>檔案建立</a:t>
            </a:r>
            <a:endParaRPr lang="en-US" altLang="zh-TW" sz="2400" u="none" dirty="0">
              <a:solidFill>
                <a:srgbClr val="FFFF00"/>
              </a:solidFill>
            </a:endParaRPr>
          </a:p>
        </p:txBody>
      </p:sp>
      <p:pic>
        <p:nvPicPr>
          <p:cNvPr id="8284" name="Picture 92" descr="C:\Users\n000074170\AppData\Local\Microsoft\Windows\INetCache\IE\FCHVSB2S\problem-repairmen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57" y="4649435"/>
            <a:ext cx="1280869" cy="107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6555674" y="5672566"/>
            <a:ext cx="14157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kumimoji="0" lang="zh-TW" altLang="en-US" sz="2400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sz="24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289" name="Picture 97" descr="C:\Users\n000074170\AppData\Local\Microsoft\Windows\INetCache\IE\41RCRJL2\hand-895592_960_720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83" y="4740977"/>
            <a:ext cx="1377484" cy="91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Box 32"/>
          <p:cNvSpPr txBox="1">
            <a:spLocks noChangeArrowheads="1"/>
          </p:cNvSpPr>
          <p:nvPr/>
        </p:nvSpPr>
        <p:spPr bwMode="auto">
          <a:xfrm>
            <a:off x="2737839" y="5753741"/>
            <a:ext cx="14157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kumimoji="0" lang="zh-TW" altLang="en-US" sz="2400" u="none" dirty="0">
                <a:solidFill>
                  <a:srgbClr val="FFFF00"/>
                </a:solidFill>
                <a:latin typeface="Times New Roman" panose="02020603050405020304" pitchFamily="18" charset="0"/>
              </a:rPr>
              <a:t>派送上線</a:t>
            </a:r>
            <a:endParaRPr kumimoji="0" lang="en-US" altLang="zh-TW" sz="2400" u="none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678" y="1338371"/>
            <a:ext cx="1200150" cy="1219200"/>
          </a:xfrm>
          <a:prstGeom prst="rect">
            <a:avLst/>
          </a:prstGeom>
        </p:spPr>
      </p:pic>
      <p:sp>
        <p:nvSpPr>
          <p:cNvPr id="49" name="Line 12"/>
          <p:cNvSpPr>
            <a:spLocks noChangeShapeType="1"/>
          </p:cNvSpPr>
          <p:nvPr/>
        </p:nvSpPr>
        <p:spPr bwMode="auto">
          <a:xfrm flipH="1">
            <a:off x="8060194" y="4582820"/>
            <a:ext cx="563106" cy="45443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>
            <a:off x="7833193" y="1976122"/>
            <a:ext cx="518464" cy="39617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8453" name="Picture 261" descr="C:\Users\n000074170\AppData\Local\Microsoft\Windows\INetCache\IE\41RCRJL2\沒有藍勾勾？Facebook-開放企業公司及組織申請「灰勾勾」驗證教學2016-09-11_1341[1]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834" y="1402074"/>
            <a:ext cx="1276600" cy="81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3821040" y="2518601"/>
            <a:ext cx="233910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TW"/>
            </a:defPPr>
            <a:lvl1pPr algn="ctr">
              <a:defRPr kumimoji="0" sz="2400" u="none">
                <a:solidFill>
                  <a:schemeClr val="tx1"/>
                </a:solidFill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TW" altLang="en-US" dirty="0">
                <a:solidFill>
                  <a:srgbClr val="FFFF00"/>
                </a:solidFill>
              </a:rPr>
              <a:t>電腦</a:t>
            </a:r>
            <a:r>
              <a:rPr lang="zh-TW" altLang="en-US" dirty="0" smtClean="0">
                <a:solidFill>
                  <a:srgbClr val="FFFF00"/>
                </a:solidFill>
              </a:rPr>
              <a:t>作業</a:t>
            </a:r>
            <a:endParaRPr lang="en-US" altLang="zh-TW" dirty="0" smtClean="0">
              <a:solidFill>
                <a:srgbClr val="FFFF00"/>
              </a:solidFill>
            </a:endParaRPr>
          </a:p>
          <a:p>
            <a:r>
              <a:rPr lang="zh-TW" altLang="en-US" dirty="0" smtClean="0">
                <a:solidFill>
                  <a:srgbClr val="FFFF00"/>
                </a:solidFill>
              </a:rPr>
              <a:t>帳號申請及</a:t>
            </a:r>
            <a:endParaRPr lang="en-US" altLang="zh-TW" dirty="0" smtClean="0">
              <a:solidFill>
                <a:srgbClr val="FFFF00"/>
              </a:solidFill>
            </a:endParaRPr>
          </a:p>
          <a:p>
            <a:r>
              <a:rPr lang="zh-TW" altLang="en-US" dirty="0" smtClean="0">
                <a:solidFill>
                  <a:srgbClr val="FFFF00"/>
                </a:solidFill>
              </a:rPr>
              <a:t>程式</a:t>
            </a:r>
            <a:r>
              <a:rPr lang="zh-TW" altLang="en-US" dirty="0">
                <a:solidFill>
                  <a:srgbClr val="FFFF00"/>
                </a:solidFill>
              </a:rPr>
              <a:t>資料存放區</a:t>
            </a:r>
            <a:endParaRPr lang="en-US" altLang="zh-TW" dirty="0" smtClean="0">
              <a:solidFill>
                <a:srgbClr val="FFFF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519" y="1305530"/>
            <a:ext cx="1334357" cy="125204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19" y="4746346"/>
            <a:ext cx="1301254" cy="1301254"/>
          </a:xfrm>
          <a:prstGeom prst="rect">
            <a:avLst/>
          </a:prstGeom>
        </p:spPr>
      </p:pic>
      <p:sp>
        <p:nvSpPr>
          <p:cNvPr id="36" name="Line 12"/>
          <p:cNvSpPr>
            <a:spLocks noChangeShapeType="1"/>
          </p:cNvSpPr>
          <p:nvPr/>
        </p:nvSpPr>
        <p:spPr bwMode="auto">
          <a:xfrm flipH="1" flipV="1">
            <a:off x="1998940" y="5133457"/>
            <a:ext cx="53456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" name="Text Box 32"/>
          <p:cNvSpPr txBox="1">
            <a:spLocks noChangeArrowheads="1"/>
          </p:cNvSpPr>
          <p:nvPr/>
        </p:nvSpPr>
        <p:spPr bwMode="auto">
          <a:xfrm>
            <a:off x="288765" y="5738827"/>
            <a:ext cx="20313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algn="ctr"/>
            <a:r>
              <a:rPr kumimoji="0" lang="zh-TW" altLang="en-US" sz="2400" u="none" dirty="0" smtClean="0">
                <a:solidFill>
                  <a:srgbClr val="FFFF00"/>
                </a:solidFill>
                <a:latin typeface="Times New Roman" panose="02020603050405020304" pitchFamily="18" charset="0"/>
              </a:rPr>
              <a:t>執行狀況確認</a:t>
            </a:r>
            <a:endParaRPr kumimoji="0" lang="en-US" altLang="zh-TW" sz="2400" u="none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8" name="Line 12"/>
          <p:cNvSpPr>
            <a:spLocks noChangeShapeType="1"/>
          </p:cNvSpPr>
          <p:nvPr/>
        </p:nvSpPr>
        <p:spPr bwMode="auto">
          <a:xfrm flipH="1" flipV="1">
            <a:off x="6042788" y="5164705"/>
            <a:ext cx="53456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" name="Line 12"/>
          <p:cNvSpPr>
            <a:spLocks noChangeShapeType="1"/>
          </p:cNvSpPr>
          <p:nvPr/>
        </p:nvSpPr>
        <p:spPr bwMode="auto">
          <a:xfrm flipH="1" flipV="1">
            <a:off x="4369376" y="5146669"/>
            <a:ext cx="53456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u="none" dirty="0">
                <a:solidFill>
                  <a:schemeClr val="tx1"/>
                </a:solidFill>
              </a:rPr>
              <a:t>一、接件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381515" y="1331355"/>
            <a:ext cx="7886700" cy="43513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u="none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u="none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36" y="912813"/>
            <a:ext cx="7616952" cy="5672709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115" y="1499172"/>
            <a:ext cx="618172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7320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27" y="1125254"/>
            <a:ext cx="7598156" cy="5380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u="none" dirty="0">
                <a:solidFill>
                  <a:schemeClr val="tx1"/>
                </a:solidFill>
              </a:rPr>
              <a:t>二</a:t>
            </a:r>
            <a:r>
              <a:rPr lang="zh-TW" altLang="en-US" u="none" dirty="0" smtClean="0">
                <a:solidFill>
                  <a:schemeClr val="tx1"/>
                </a:solidFill>
              </a:rPr>
              <a:t>、立案及交辦</a:t>
            </a:r>
            <a:endParaRPr lang="zh-TW" altLang="en-US" u="none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646354" y="3453633"/>
            <a:ext cx="2183524" cy="37049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151121" y="3857918"/>
            <a:ext cx="1300655" cy="28377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843694" y="4141697"/>
            <a:ext cx="2010103" cy="36260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4609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22" y="1077468"/>
            <a:ext cx="6105525" cy="3733800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rgbClr val="FFFF00"/>
                </a:solidFill>
              </a:rPr>
              <a:t>三、新作業申請</a:t>
            </a:r>
            <a:endParaRPr lang="en-US" altLang="zh-TW" u="none" dirty="0">
              <a:solidFill>
                <a:srgbClr val="FFFF00"/>
              </a:solidFill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311281" y="4145529"/>
            <a:ext cx="8381338" cy="2105025"/>
            <a:chOff x="366460" y="4019405"/>
            <a:chExt cx="8381338" cy="2105025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460" y="4019405"/>
              <a:ext cx="6124575" cy="2105025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10" name="文字方塊 9"/>
            <p:cNvSpPr txBox="1"/>
            <p:nvPr/>
          </p:nvSpPr>
          <p:spPr>
            <a:xfrm>
              <a:off x="2715377" y="5574654"/>
              <a:ext cx="6032421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400" u="none" dirty="0" smtClean="0">
                  <a:solidFill>
                    <a:srgbClr val="FF0000"/>
                  </a:solidFill>
                </a:rPr>
                <a:t>NT</a:t>
              </a:r>
              <a:r>
                <a:rPr lang="zh-TW" altLang="en-US" sz="2400" u="none" dirty="0" smtClean="0">
                  <a:solidFill>
                    <a:srgbClr val="FF0000"/>
                  </a:solidFill>
                </a:rPr>
                <a:t>申請單</a:t>
              </a:r>
              <a:r>
                <a:rPr lang="en-US" altLang="zh-TW" sz="2400" u="none" dirty="0">
                  <a:solidFill>
                    <a:srgbClr val="FF0000"/>
                  </a:solidFill>
                </a:rPr>
                <a:t>:</a:t>
              </a:r>
              <a:r>
                <a:rPr lang="zh-TW" altLang="en-US" sz="2400" u="none" dirty="0" smtClean="0">
                  <a:solidFill>
                    <a:srgbClr val="FF0000"/>
                  </a:solidFill>
                </a:rPr>
                <a:t>申請</a:t>
              </a:r>
              <a:r>
                <a:rPr lang="zh-TW" altLang="en-US" sz="2400" u="none" dirty="0">
                  <a:solidFill>
                    <a:srgbClr val="FF0000"/>
                  </a:solidFill>
                </a:rPr>
                <a:t>作業</a:t>
              </a:r>
              <a:r>
                <a:rPr lang="zh-TW" altLang="en-US" sz="2400" u="none" dirty="0" smtClean="0">
                  <a:solidFill>
                    <a:srgbClr val="FF0000"/>
                  </a:solidFill>
                </a:rPr>
                <a:t>登入位置、程式存放區</a:t>
              </a:r>
              <a:endParaRPr lang="zh-TW" altLang="en-US" sz="2400" u="none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366460" y="2552269"/>
            <a:ext cx="8413433" cy="1467136"/>
            <a:chOff x="429913" y="3285837"/>
            <a:chExt cx="8413433" cy="1467136"/>
          </a:xfrm>
        </p:grpSpPr>
        <p:grpSp>
          <p:nvGrpSpPr>
            <p:cNvPr id="6" name="群組 5"/>
            <p:cNvGrpSpPr/>
            <p:nvPr/>
          </p:nvGrpSpPr>
          <p:grpSpPr>
            <a:xfrm>
              <a:off x="429913" y="3285837"/>
              <a:ext cx="8413433" cy="1467136"/>
              <a:chOff x="429913" y="3285837"/>
              <a:chExt cx="8413433" cy="1467136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913" y="3285837"/>
                <a:ext cx="8413433" cy="1467136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</p:pic>
          <p:sp>
            <p:nvSpPr>
              <p:cNvPr id="2" name="文字方塊 1"/>
              <p:cNvSpPr txBox="1"/>
              <p:nvPr/>
            </p:nvSpPr>
            <p:spPr>
              <a:xfrm>
                <a:off x="4589955" y="3557740"/>
                <a:ext cx="4031873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400" u="none" dirty="0" smtClean="0">
                    <a:solidFill>
                      <a:srgbClr val="FF0000"/>
                    </a:solidFill>
                  </a:rPr>
                  <a:t>建立</a:t>
                </a:r>
                <a:r>
                  <a:rPr lang="en-US" altLang="zh-TW" sz="2400" u="none" dirty="0">
                    <a:solidFill>
                      <a:srgbClr val="FF0000"/>
                    </a:solidFill>
                  </a:rPr>
                  <a:t>ERP</a:t>
                </a:r>
                <a:r>
                  <a:rPr lang="zh-TW" altLang="en-US" sz="2400" u="none" dirty="0">
                    <a:solidFill>
                      <a:srgbClr val="FF0000"/>
                    </a:solidFill>
                  </a:rPr>
                  <a:t>制度與程式人員</a:t>
                </a:r>
                <a:r>
                  <a:rPr lang="zh-TW" altLang="en-US" sz="2400" u="none" dirty="0" smtClean="0">
                    <a:solidFill>
                      <a:srgbClr val="FF0000"/>
                    </a:solidFill>
                  </a:rPr>
                  <a:t>對照</a:t>
                </a:r>
                <a:endParaRPr lang="zh-TW" altLang="en-US" sz="2400" u="none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 bwMode="auto">
            <a:xfrm>
              <a:off x="3621894" y="4362915"/>
              <a:ext cx="459126" cy="2305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198927" y="1725247"/>
            <a:ext cx="6032421" cy="4038753"/>
            <a:chOff x="3198927" y="1725247"/>
            <a:chExt cx="6032421" cy="4038753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8441" y="1725247"/>
              <a:ext cx="5516015" cy="4038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文字方塊 12"/>
            <p:cNvSpPr txBox="1"/>
            <p:nvPr/>
          </p:nvSpPr>
          <p:spPr>
            <a:xfrm>
              <a:off x="3198927" y="4340040"/>
              <a:ext cx="6032421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400" u="none" dirty="0" smtClean="0">
                  <a:solidFill>
                    <a:srgbClr val="FF0000"/>
                  </a:solidFill>
                </a:rPr>
                <a:t>AIX</a:t>
              </a:r>
              <a:r>
                <a:rPr lang="zh-TW" altLang="en-US" sz="2400" u="none" dirty="0" smtClean="0">
                  <a:solidFill>
                    <a:srgbClr val="FF0000"/>
                  </a:solidFill>
                </a:rPr>
                <a:t>申請單</a:t>
              </a:r>
              <a:r>
                <a:rPr lang="en-US" altLang="zh-TW" sz="2400" u="none" dirty="0">
                  <a:solidFill>
                    <a:srgbClr val="FF0000"/>
                  </a:solidFill>
                </a:rPr>
                <a:t>:</a:t>
              </a:r>
              <a:r>
                <a:rPr lang="zh-TW" altLang="en-US" sz="2400" u="none" dirty="0" smtClean="0">
                  <a:solidFill>
                    <a:srgbClr val="FF0000"/>
                  </a:solidFill>
                </a:rPr>
                <a:t>申請資料庫帳號、批次作業帳號</a:t>
              </a:r>
              <a:endParaRPr lang="zh-TW" altLang="en-US" sz="2400" u="none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投影片編號版面配置區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50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17" y="1221633"/>
            <a:ext cx="8245990" cy="5121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u="none" dirty="0">
                <a:solidFill>
                  <a:schemeClr val="tx1"/>
                </a:solidFill>
              </a:rPr>
              <a:t>四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lang="zh-TW" altLang="en-US" u="none" dirty="0">
                <a:solidFill>
                  <a:schemeClr val="tx1"/>
                </a:solidFill>
              </a:rPr>
              <a:t>作業</a:t>
            </a:r>
            <a:r>
              <a:rPr lang="zh-TW" altLang="en-US" u="none" dirty="0" smtClean="0">
                <a:solidFill>
                  <a:schemeClr val="tx1"/>
                </a:solidFill>
              </a:rPr>
              <a:t>流程</a:t>
            </a:r>
            <a:r>
              <a:rPr lang="en-US" altLang="zh-TW" u="none" dirty="0" smtClean="0">
                <a:solidFill>
                  <a:schemeClr val="tx1"/>
                </a:solidFill>
              </a:rPr>
              <a:t>-1</a:t>
            </a:r>
            <a:endParaRPr lang="zh-TW" altLang="en-US" u="none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16273" y="2198668"/>
            <a:ext cx="2083074" cy="178779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1435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73" y="1235242"/>
            <a:ext cx="4888135" cy="5340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u="none" dirty="0">
                <a:solidFill>
                  <a:schemeClr val="tx1"/>
                </a:solidFill>
              </a:rPr>
              <a:t>四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lang="zh-TW" altLang="en-US" u="none" dirty="0">
                <a:solidFill>
                  <a:schemeClr val="tx1"/>
                </a:solidFill>
              </a:rPr>
              <a:t>作業</a:t>
            </a:r>
            <a:r>
              <a:rPr lang="zh-TW" altLang="en-US" u="none" dirty="0" smtClean="0">
                <a:solidFill>
                  <a:schemeClr val="tx1"/>
                </a:solidFill>
              </a:rPr>
              <a:t>流程</a:t>
            </a:r>
            <a:r>
              <a:rPr lang="en-US" altLang="zh-TW" u="none" dirty="0" smtClean="0">
                <a:solidFill>
                  <a:schemeClr val="tx1"/>
                </a:solidFill>
              </a:rPr>
              <a:t>-2</a:t>
            </a:r>
            <a:endParaRPr lang="zh-TW" altLang="en-US" u="none" dirty="0">
              <a:solidFill>
                <a:schemeClr val="tx1"/>
              </a:solidFill>
            </a:endParaRPr>
          </a:p>
        </p:txBody>
      </p:sp>
      <p:sp>
        <p:nvSpPr>
          <p:cNvPr id="3" name="向右箭號 2"/>
          <p:cNvSpPr/>
          <p:nvPr/>
        </p:nvSpPr>
        <p:spPr bwMode="auto">
          <a:xfrm>
            <a:off x="3842085" y="2037348"/>
            <a:ext cx="1155032" cy="33688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61284" y="1913402"/>
            <a:ext cx="2441694" cy="584775"/>
          </a:xfrm>
          <a:prstGeom prst="rect">
            <a:avLst/>
          </a:prstGeom>
          <a:solidFill>
            <a:srgbClr val="FFFF66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>
                <a:solidFill>
                  <a:schemeClr val="bg1"/>
                </a:solidFill>
              </a:rPr>
              <a:t>增</a:t>
            </a:r>
            <a:r>
              <a:rPr lang="zh-TW" altLang="en-US" u="none" dirty="0" smtClean="0">
                <a:solidFill>
                  <a:schemeClr val="bg1"/>
                </a:solidFill>
              </a:rPr>
              <a:t>設</a:t>
            </a:r>
            <a:r>
              <a:rPr lang="en-US" altLang="zh-TW" u="none" dirty="0" smtClean="0">
                <a:solidFill>
                  <a:schemeClr val="bg1"/>
                </a:solidFill>
              </a:rPr>
              <a:t>1</a:t>
            </a:r>
            <a:r>
              <a:rPr lang="zh-TW" altLang="en-US" u="none" dirty="0" smtClean="0">
                <a:solidFill>
                  <a:schemeClr val="bg1"/>
                </a:solidFill>
              </a:rPr>
              <a:t>個螢幕</a:t>
            </a:r>
            <a:endParaRPr lang="zh-TW" altLang="en-US" u="none" dirty="0">
              <a:solidFill>
                <a:schemeClr val="bg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449" y="2863516"/>
            <a:ext cx="4834551" cy="331056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4583112" y="2959768"/>
            <a:ext cx="4408488" cy="86627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583112" y="3826042"/>
            <a:ext cx="4408488" cy="2221832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648017" y="332051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none" dirty="0" smtClean="0"/>
              <a:t>Master</a:t>
            </a:r>
            <a:endParaRPr lang="zh-TW" altLang="en-US" u="none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648017" y="539796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none" dirty="0" smtClean="0"/>
              <a:t>Detail</a:t>
            </a:r>
            <a:endParaRPr lang="zh-TW" altLang="en-US" u="none" dirty="0"/>
          </a:p>
        </p:txBody>
      </p:sp>
      <p:sp>
        <p:nvSpPr>
          <p:cNvPr id="13" name="向右箭號 12"/>
          <p:cNvSpPr/>
          <p:nvPr/>
        </p:nvSpPr>
        <p:spPr bwMode="auto">
          <a:xfrm>
            <a:off x="4309448" y="3152073"/>
            <a:ext cx="503183" cy="33688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706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2" y="1029884"/>
            <a:ext cx="7610937" cy="4093762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zh-TW" altLang="en-US" u="none" dirty="0">
                <a:solidFill>
                  <a:schemeClr val="tx1"/>
                </a:solidFill>
              </a:rPr>
              <a:t>五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lang="zh-TW" altLang="en-US" u="none" dirty="0">
                <a:solidFill>
                  <a:schemeClr val="tx1"/>
                </a:solidFill>
              </a:rPr>
              <a:t>資料庫</a:t>
            </a:r>
            <a:r>
              <a:rPr lang="zh-TW" altLang="en-US" u="none" dirty="0" smtClean="0">
                <a:solidFill>
                  <a:schemeClr val="tx1"/>
                </a:solidFill>
              </a:rPr>
              <a:t>物件建立</a:t>
            </a:r>
            <a:endParaRPr lang="zh-TW" altLang="en-US" u="none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4053272" y="5701534"/>
            <a:ext cx="529839" cy="258108"/>
          </a:xfrm>
          <a:prstGeom prst="rect">
            <a:avLst/>
          </a:prstGeom>
          <a:noFill/>
          <a:ln w="28575" cap="flat" cmpd="sng" algn="ctr">
            <a:solidFill>
              <a:srgbClr val="0000F6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4488280"/>
            <a:ext cx="89344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67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593496"/>
              </p:ext>
            </p:extLst>
          </p:nvPr>
        </p:nvGraphicFramePr>
        <p:xfrm>
          <a:off x="608269" y="1310253"/>
          <a:ext cx="7876704" cy="490610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25568"/>
                <a:gridCol w="2625568"/>
                <a:gridCol w="2625568"/>
              </a:tblGrid>
              <a:tr h="24530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4530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>
                <a:solidFill>
                  <a:schemeClr val="tx1"/>
                </a:solidFill>
              </a:rPr>
              <a:t>六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062" y="1711575"/>
            <a:ext cx="1710624" cy="171062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874" y="1711575"/>
            <a:ext cx="1606379" cy="160637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296553" y="3905078"/>
            <a:ext cx="182614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chemeClr val="bg2"/>
                </a:solidFill>
              </a:rPr>
              <a:t>處理程式</a:t>
            </a:r>
            <a:endParaRPr lang="en-US" altLang="zh-TW" u="none" dirty="0" smtClean="0">
              <a:solidFill>
                <a:schemeClr val="bg2"/>
              </a:solidFill>
            </a:endParaRPr>
          </a:p>
          <a:p>
            <a:r>
              <a:rPr lang="zh-TW" altLang="en-US" u="none" dirty="0">
                <a:solidFill>
                  <a:srgbClr val="0000F6"/>
                </a:solidFill>
              </a:rPr>
              <a:t>參數</a:t>
            </a:r>
            <a:r>
              <a:rPr lang="zh-TW" altLang="en-US" u="none" dirty="0" smtClean="0">
                <a:solidFill>
                  <a:srgbClr val="0000F6"/>
                </a:solidFill>
              </a:rPr>
              <a:t>條件</a:t>
            </a:r>
            <a:endParaRPr lang="en-US" altLang="zh-TW" u="none" dirty="0" smtClean="0">
              <a:solidFill>
                <a:srgbClr val="0000F6"/>
              </a:solidFill>
            </a:endParaRPr>
          </a:p>
          <a:p>
            <a:r>
              <a:rPr lang="zh-TW" altLang="en-US" u="none" dirty="0">
                <a:solidFill>
                  <a:srgbClr val="0000F6"/>
                </a:solidFill>
              </a:rPr>
              <a:t>執行</a:t>
            </a:r>
            <a:r>
              <a:rPr lang="zh-TW" altLang="en-US" u="none" dirty="0" smtClean="0">
                <a:solidFill>
                  <a:srgbClr val="0000F6"/>
                </a:solidFill>
              </a:rPr>
              <a:t>方式</a:t>
            </a:r>
            <a:endParaRPr lang="en-US" altLang="zh-TW" u="none" dirty="0" smtClean="0">
              <a:solidFill>
                <a:srgbClr val="0000F6"/>
              </a:solidFill>
            </a:endParaRPr>
          </a:p>
          <a:p>
            <a:r>
              <a:rPr lang="zh-TW" altLang="en-US" u="none" dirty="0" smtClean="0">
                <a:solidFill>
                  <a:srgbClr val="0000F6"/>
                </a:solidFill>
              </a:rPr>
              <a:t>執行管制</a:t>
            </a:r>
            <a:endParaRPr lang="zh-TW" altLang="en-US" u="none" dirty="0">
              <a:solidFill>
                <a:srgbClr val="0000F6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38624" y="3905078"/>
            <a:ext cx="264687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u="none" dirty="0">
                <a:solidFill>
                  <a:schemeClr val="bg2"/>
                </a:solidFill>
              </a:rPr>
              <a:t>輸出入</a:t>
            </a:r>
            <a:r>
              <a:rPr lang="zh-TW" altLang="en-US" u="none" dirty="0" smtClean="0">
                <a:solidFill>
                  <a:schemeClr val="bg2"/>
                </a:solidFill>
              </a:rPr>
              <a:t>螢幕</a:t>
            </a:r>
            <a:endParaRPr lang="en-US" altLang="zh-TW" u="none" dirty="0" smtClean="0">
              <a:solidFill>
                <a:schemeClr val="bg2"/>
              </a:solidFill>
            </a:endParaRPr>
          </a:p>
          <a:p>
            <a:r>
              <a:rPr lang="zh-TW" altLang="en-US" u="none" dirty="0" smtClean="0">
                <a:solidFill>
                  <a:srgbClr val="0000F6"/>
                </a:solidFill>
              </a:rPr>
              <a:t>權限</a:t>
            </a:r>
            <a:r>
              <a:rPr lang="zh-TW" altLang="en-US" u="none" dirty="0">
                <a:solidFill>
                  <a:srgbClr val="0000F6"/>
                </a:solidFill>
              </a:rPr>
              <a:t>控</a:t>
            </a:r>
            <a:r>
              <a:rPr lang="zh-TW" altLang="en-US" u="none" dirty="0" smtClean="0">
                <a:solidFill>
                  <a:srgbClr val="0000F6"/>
                </a:solidFill>
              </a:rPr>
              <a:t>管</a:t>
            </a:r>
            <a:endParaRPr lang="en-US" altLang="zh-TW" u="none" dirty="0" smtClean="0">
              <a:solidFill>
                <a:srgbClr val="0000F6"/>
              </a:solidFill>
            </a:endParaRPr>
          </a:p>
          <a:p>
            <a:r>
              <a:rPr lang="zh-TW" altLang="en-US" u="none" dirty="0">
                <a:solidFill>
                  <a:srgbClr val="0000F6"/>
                </a:solidFill>
              </a:rPr>
              <a:t>欄位</a:t>
            </a:r>
            <a:r>
              <a:rPr lang="zh-TW" altLang="en-US" u="none" dirty="0" smtClean="0">
                <a:solidFill>
                  <a:srgbClr val="0000F6"/>
                </a:solidFill>
              </a:rPr>
              <a:t>資料查核</a:t>
            </a:r>
            <a:endParaRPr lang="en-US" altLang="zh-TW" u="none" dirty="0" smtClean="0">
              <a:solidFill>
                <a:srgbClr val="0000F6"/>
              </a:solidFill>
            </a:endParaRPr>
          </a:p>
          <a:p>
            <a:r>
              <a:rPr lang="zh-TW" altLang="en-US" u="none" dirty="0" smtClean="0">
                <a:solidFill>
                  <a:srgbClr val="0000F6"/>
                </a:solidFill>
              </a:rPr>
              <a:t>異動紀錄</a:t>
            </a:r>
            <a:endParaRPr lang="zh-TW" altLang="en-US" u="none" dirty="0">
              <a:solidFill>
                <a:srgbClr val="0000F6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10545" y="3905078"/>
            <a:ext cx="182614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chemeClr val="bg2"/>
                </a:solidFill>
              </a:rPr>
              <a:t>輸出報表</a:t>
            </a:r>
            <a:endParaRPr lang="en-US" altLang="zh-TW" u="none" dirty="0" smtClean="0">
              <a:solidFill>
                <a:schemeClr val="bg2"/>
              </a:solidFill>
            </a:endParaRPr>
          </a:p>
          <a:p>
            <a:r>
              <a:rPr lang="zh-TW" altLang="en-US" u="none" dirty="0" smtClean="0">
                <a:solidFill>
                  <a:srgbClr val="0000F6"/>
                </a:solidFill>
              </a:rPr>
              <a:t>版面設計</a:t>
            </a:r>
            <a:endParaRPr lang="en-US" altLang="zh-TW" u="none" dirty="0" smtClean="0">
              <a:solidFill>
                <a:srgbClr val="0000F6"/>
              </a:solidFill>
            </a:endParaRPr>
          </a:p>
          <a:p>
            <a:r>
              <a:rPr lang="zh-TW" altLang="en-US" u="none" dirty="0" smtClean="0">
                <a:solidFill>
                  <a:srgbClr val="0000F6"/>
                </a:solidFill>
              </a:rPr>
              <a:t>參數條件</a:t>
            </a:r>
            <a:endParaRPr lang="en-US" altLang="zh-TW" u="none" dirty="0" smtClean="0">
              <a:solidFill>
                <a:srgbClr val="0000F6"/>
              </a:solidFill>
            </a:endParaRPr>
          </a:p>
          <a:p>
            <a:r>
              <a:rPr lang="zh-TW" altLang="en-US" u="none" dirty="0">
                <a:solidFill>
                  <a:srgbClr val="0000F6"/>
                </a:solidFill>
              </a:rPr>
              <a:t>報表類型</a:t>
            </a:r>
          </a:p>
        </p:txBody>
      </p:sp>
      <p:pic>
        <p:nvPicPr>
          <p:cNvPr id="1332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649" y="1563927"/>
            <a:ext cx="21399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54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螢幕程式設計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91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67" y="1023351"/>
            <a:ext cx="5004478" cy="3427413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-1.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版面繪製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836" y="3165061"/>
            <a:ext cx="5174664" cy="2823411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5" name="群組 14"/>
          <p:cNvGrpSpPr/>
          <p:nvPr/>
        </p:nvGrpSpPr>
        <p:grpSpPr>
          <a:xfrm>
            <a:off x="1009689" y="2467907"/>
            <a:ext cx="4823890" cy="3000375"/>
            <a:chOff x="1295400" y="2988097"/>
            <a:chExt cx="4823890" cy="3000375"/>
          </a:xfrm>
        </p:grpSpPr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988097"/>
              <a:ext cx="3505200" cy="300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線單箭頭接點 9"/>
            <p:cNvCxnSpPr/>
            <p:nvPr/>
          </p:nvCxnSpPr>
          <p:spPr bwMode="auto">
            <a:xfrm flipH="1">
              <a:off x="3970422" y="3953201"/>
              <a:ext cx="2148868" cy="1100062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16" name="矩形 15"/>
          <p:cNvSpPr/>
          <p:nvPr/>
        </p:nvSpPr>
        <p:spPr bwMode="auto">
          <a:xfrm>
            <a:off x="2125579" y="1283368"/>
            <a:ext cx="1339516" cy="20052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690492" y="2153924"/>
            <a:ext cx="469872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各欄位依據制度格式撰寫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77650" y="5139394"/>
            <a:ext cx="7781612" cy="156966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600" u="none" dirty="0" smtClean="0">
                <a:solidFill>
                  <a:srgbClr val="C00000"/>
                </a:solidFill>
              </a:rPr>
              <a:t>版面繪製注意</a:t>
            </a:r>
            <a:endParaRPr lang="en-US" altLang="zh-TW" sz="1600" u="none" dirty="0" smtClean="0">
              <a:solidFill>
                <a:srgbClr val="C00000"/>
              </a:solidFill>
            </a:endParaRPr>
          </a:p>
          <a:p>
            <a:r>
              <a:rPr lang="en-US" altLang="zh-TW" sz="1600" u="none" dirty="0" smtClean="0">
                <a:solidFill>
                  <a:srgbClr val="C00000"/>
                </a:solidFill>
              </a:rPr>
              <a:t>1.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應依照</a:t>
            </a:r>
            <a:r>
              <a:rPr lang="en-US" altLang="zh-TW" sz="1600" u="none" dirty="0">
                <a:solidFill>
                  <a:srgbClr val="C00000"/>
                </a:solidFill>
              </a:rPr>
              <a:t>Oracle DS11g ERP</a:t>
            </a:r>
            <a:r>
              <a:rPr lang="zh-TW" altLang="en-US" sz="1600" u="none" dirty="0">
                <a:solidFill>
                  <a:srgbClr val="C00000"/>
                </a:solidFill>
              </a:rPr>
              <a:t>程式設計規範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。</a:t>
            </a:r>
            <a:endParaRPr lang="en-US" altLang="zh-TW" sz="1600" u="none" dirty="0" smtClean="0">
              <a:solidFill>
                <a:srgbClr val="C00000"/>
              </a:solidFill>
            </a:endParaRPr>
          </a:p>
          <a:p>
            <a:r>
              <a:rPr lang="en-US" altLang="zh-TW" sz="1600" u="none" dirty="0" smtClean="0">
                <a:solidFill>
                  <a:srgbClr val="C00000"/>
                </a:solidFill>
              </a:rPr>
              <a:t>2.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欄位注意垂直水平對齊</a:t>
            </a:r>
            <a:r>
              <a:rPr lang="zh-TW" altLang="en-US" sz="1600" u="none" dirty="0">
                <a:solidFill>
                  <a:srgbClr val="C00000"/>
                </a:solidFill>
              </a:rPr>
              <a:t>。</a:t>
            </a:r>
            <a:endParaRPr lang="en-US" altLang="zh-TW" sz="1600" u="none" dirty="0" smtClean="0">
              <a:solidFill>
                <a:srgbClr val="C00000"/>
              </a:solidFill>
            </a:endParaRPr>
          </a:p>
          <a:p>
            <a:r>
              <a:rPr lang="en-US" altLang="zh-TW" sz="1600" u="none" dirty="0">
                <a:solidFill>
                  <a:srgbClr val="C00000"/>
                </a:solidFill>
              </a:rPr>
              <a:t>3</a:t>
            </a:r>
            <a:r>
              <a:rPr lang="en-US" altLang="zh-TW" sz="1600" u="none" dirty="0" smtClean="0">
                <a:solidFill>
                  <a:srgbClr val="C00000"/>
                </a:solidFill>
              </a:rPr>
              <a:t>.</a:t>
            </a:r>
            <a:r>
              <a:rPr lang="zh-TW" altLang="en-US" sz="1600" u="none" dirty="0">
                <a:solidFill>
                  <a:srgbClr val="C00000"/>
                </a:solidFill>
              </a:rPr>
              <a:t>數字欄位原則上應右靠，文字欄位原則上應左靠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。</a:t>
            </a:r>
            <a:endParaRPr lang="en-US" altLang="zh-TW" sz="1600" u="none" dirty="0" smtClean="0">
              <a:solidFill>
                <a:srgbClr val="C00000"/>
              </a:solidFill>
            </a:endParaRPr>
          </a:p>
          <a:p>
            <a:r>
              <a:rPr lang="en-US" altLang="zh-TW" sz="1600" u="none" dirty="0">
                <a:solidFill>
                  <a:srgbClr val="C00000"/>
                </a:solidFill>
              </a:rPr>
              <a:t>4</a:t>
            </a:r>
            <a:r>
              <a:rPr lang="en-US" altLang="zh-TW" sz="1600" u="none" dirty="0" smtClean="0">
                <a:solidFill>
                  <a:srgbClr val="C00000"/>
                </a:solidFill>
              </a:rPr>
              <a:t>.</a:t>
            </a:r>
            <a:r>
              <a:rPr lang="zh-TW" altLang="en-US" sz="1600" u="none" dirty="0">
                <a:solidFill>
                  <a:srgbClr val="C00000"/>
                </a:solidFill>
              </a:rPr>
              <a:t>文字標籤與欄位間距需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一致</a:t>
            </a:r>
            <a:r>
              <a:rPr lang="zh-TW" altLang="en-US" sz="1600" u="none" dirty="0">
                <a:solidFill>
                  <a:srgbClr val="C00000"/>
                </a:solidFill>
              </a:rPr>
              <a:t>。</a:t>
            </a:r>
            <a:endParaRPr lang="en-US" altLang="zh-TW" sz="1600" u="none" dirty="0" smtClean="0">
              <a:solidFill>
                <a:srgbClr val="C00000"/>
              </a:solidFill>
            </a:endParaRPr>
          </a:p>
          <a:p>
            <a:r>
              <a:rPr lang="en-US" altLang="zh-TW" sz="1600" u="none" dirty="0" smtClean="0">
                <a:solidFill>
                  <a:srgbClr val="C00000"/>
                </a:solidFill>
              </a:rPr>
              <a:t>5.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若</a:t>
            </a:r>
            <a:r>
              <a:rPr lang="zh-TW" altLang="en-US" sz="1600" u="none" dirty="0">
                <a:solidFill>
                  <a:srgbClr val="C00000"/>
                </a:solidFill>
              </a:rPr>
              <a:t>為多筆式，應設定</a:t>
            </a:r>
            <a:r>
              <a:rPr lang="en-US" altLang="zh-TW" sz="1600" u="none" dirty="0">
                <a:solidFill>
                  <a:srgbClr val="C00000"/>
                </a:solidFill>
              </a:rPr>
              <a:t>Scrollbar</a:t>
            </a:r>
            <a:r>
              <a:rPr lang="zh-TW" altLang="en-US" sz="1600" u="none" dirty="0" smtClean="0">
                <a:solidFill>
                  <a:srgbClr val="C00000"/>
                </a:solidFill>
              </a:rPr>
              <a:t>。</a:t>
            </a:r>
            <a:endParaRPr lang="en-US" altLang="zh-TW" sz="1600" u="none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58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-2.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日期欄位查核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4" y="1679822"/>
            <a:ext cx="5605713" cy="499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496" y="3584265"/>
            <a:ext cx="4848225" cy="2247900"/>
          </a:xfrm>
          <a:prstGeom prst="rect">
            <a:avLst/>
          </a:prstGeom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8" y="1164056"/>
            <a:ext cx="8420100" cy="6286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673769" y="3834063"/>
            <a:ext cx="3810000" cy="152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02962" y="2924816"/>
            <a:ext cx="4903907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>
                <a:solidFill>
                  <a:srgbClr val="FF0000"/>
                </a:solidFill>
              </a:rPr>
              <a:t>首次</a:t>
            </a:r>
            <a:r>
              <a:rPr lang="zh-TW" altLang="en-US" u="none" dirty="0" smtClean="0">
                <a:solidFill>
                  <a:srgbClr val="FF0000"/>
                </a:solidFill>
              </a:rPr>
              <a:t>預</a:t>
            </a:r>
            <a:r>
              <a:rPr lang="zh-TW" altLang="en-US" u="none" dirty="0">
                <a:solidFill>
                  <a:srgbClr val="FF0000"/>
                </a:solidFill>
              </a:rPr>
              <a:t>完</a:t>
            </a:r>
            <a:r>
              <a:rPr lang="zh-TW" altLang="en-US" u="none" dirty="0" smtClean="0">
                <a:solidFill>
                  <a:srgbClr val="FF0000"/>
                </a:solidFill>
              </a:rPr>
              <a:t>日</a:t>
            </a:r>
            <a:r>
              <a:rPr lang="en-US" altLang="zh-TW" u="none" dirty="0" smtClean="0">
                <a:solidFill>
                  <a:srgbClr val="FF0000"/>
                </a:solidFill>
              </a:rPr>
              <a:t>:</a:t>
            </a:r>
            <a:r>
              <a:rPr lang="zh-TW" altLang="en-US" u="none" dirty="0" smtClean="0">
                <a:solidFill>
                  <a:srgbClr val="FF0000"/>
                </a:solidFill>
              </a:rPr>
              <a:t>依據制度管制</a:t>
            </a:r>
            <a:endParaRPr lang="zh-TW" altLang="en-US" u="none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842589" y="5691031"/>
            <a:ext cx="6135013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>
                <a:solidFill>
                  <a:srgbClr val="FF0000"/>
                </a:solidFill>
              </a:rPr>
              <a:t>修訂預完</a:t>
            </a:r>
            <a:r>
              <a:rPr lang="zh-TW" altLang="en-US" u="none" dirty="0" smtClean="0">
                <a:solidFill>
                  <a:srgbClr val="FF0000"/>
                </a:solidFill>
              </a:rPr>
              <a:t>日</a:t>
            </a:r>
            <a:r>
              <a:rPr lang="en-US" altLang="zh-TW" u="none" dirty="0" smtClean="0">
                <a:solidFill>
                  <a:srgbClr val="FF0000"/>
                </a:solidFill>
              </a:rPr>
              <a:t>:</a:t>
            </a:r>
            <a:r>
              <a:rPr lang="zh-TW" altLang="en-US" u="none" dirty="0" smtClean="0">
                <a:solidFill>
                  <a:srgbClr val="FF0000"/>
                </a:solidFill>
              </a:rPr>
              <a:t>查核日期輸入正確性</a:t>
            </a:r>
            <a:endParaRPr lang="zh-TW" altLang="en-US" u="none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4689558" y="3625516"/>
            <a:ext cx="3810000" cy="16122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11" name="向下箭號 10"/>
          <p:cNvSpPr/>
          <p:nvPr/>
        </p:nvSpPr>
        <p:spPr bwMode="auto">
          <a:xfrm>
            <a:off x="2578769" y="3489158"/>
            <a:ext cx="398711" cy="505325"/>
          </a:xfrm>
          <a:prstGeom prst="down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23" name="向下箭號 22"/>
          <p:cNvSpPr/>
          <p:nvPr/>
        </p:nvSpPr>
        <p:spPr bwMode="auto">
          <a:xfrm rot="10800000">
            <a:off x="6862252" y="5210402"/>
            <a:ext cx="398711" cy="505325"/>
          </a:xfrm>
          <a:prstGeom prst="down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390" y="1119424"/>
            <a:ext cx="8715125" cy="4929681"/>
          </a:xfrm>
          <a:prstGeom prst="rect">
            <a:avLst/>
          </a:prstGeom>
        </p:spPr>
      </p:pic>
      <p:grpSp>
        <p:nvGrpSpPr>
          <p:cNvPr id="18" name="群組 17"/>
          <p:cNvGrpSpPr/>
          <p:nvPr/>
        </p:nvGrpSpPr>
        <p:grpSpPr>
          <a:xfrm>
            <a:off x="302962" y="1980272"/>
            <a:ext cx="5822946" cy="4843629"/>
            <a:chOff x="302962" y="1965158"/>
            <a:chExt cx="5822946" cy="4843629"/>
          </a:xfrm>
        </p:grpSpPr>
        <p:sp>
          <p:nvSpPr>
            <p:cNvPr id="12" name="圓角矩形 11"/>
            <p:cNvSpPr/>
            <p:nvPr/>
          </p:nvSpPr>
          <p:spPr bwMode="auto">
            <a:xfrm>
              <a:off x="302962" y="6481010"/>
              <a:ext cx="1084680" cy="32777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2578769" y="1965158"/>
              <a:ext cx="1710739" cy="36094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469232" y="1965158"/>
              <a:ext cx="1710739" cy="332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36430" y="2632427"/>
              <a:ext cx="2441694" cy="58477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u="none" dirty="0" smtClean="0"/>
                <a:t>立案日</a:t>
              </a:r>
              <a:r>
                <a:rPr lang="en-US" altLang="zh-TW" u="none" dirty="0" smtClean="0"/>
                <a:t>+21</a:t>
              </a:r>
              <a:r>
                <a:rPr lang="zh-TW" altLang="en-US" u="none" dirty="0" smtClean="0"/>
                <a:t>天</a:t>
              </a:r>
              <a:endParaRPr lang="zh-TW" altLang="en-US" u="none" dirty="0"/>
            </a:p>
          </p:txBody>
        </p:sp>
        <p:sp>
          <p:nvSpPr>
            <p:cNvPr id="17" name="向下箭號 16"/>
            <p:cNvSpPr/>
            <p:nvPr/>
          </p:nvSpPr>
          <p:spPr bwMode="auto">
            <a:xfrm>
              <a:off x="1324601" y="2298031"/>
              <a:ext cx="472115" cy="49329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3068661" y="2641971"/>
              <a:ext cx="3057247" cy="58477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u="none" dirty="0" smtClean="0"/>
                <a:t>查核日期正確性</a:t>
              </a:r>
              <a:endParaRPr lang="zh-TW" altLang="en-US" u="none" dirty="0"/>
            </a:p>
          </p:txBody>
        </p:sp>
        <p:sp>
          <p:nvSpPr>
            <p:cNvPr id="32" name="向下箭號 31"/>
            <p:cNvSpPr/>
            <p:nvPr/>
          </p:nvSpPr>
          <p:spPr bwMode="auto">
            <a:xfrm>
              <a:off x="3482266" y="2305087"/>
              <a:ext cx="472115" cy="49329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85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606" y="1398169"/>
            <a:ext cx="5229475" cy="530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-3.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欄位資料顯示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" name="向下箭號 10"/>
          <p:cNvSpPr/>
          <p:nvPr/>
        </p:nvSpPr>
        <p:spPr bwMode="auto">
          <a:xfrm>
            <a:off x="2578769" y="3489158"/>
            <a:ext cx="398711" cy="505325"/>
          </a:xfrm>
          <a:prstGeom prst="down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15" y="1135160"/>
            <a:ext cx="8791994" cy="285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1973179" y="3994483"/>
            <a:ext cx="5422232" cy="2711117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464774" y="5771575"/>
            <a:ext cx="7160935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電腦自動擷取相關資料並帶入欄位顯示</a:t>
            </a:r>
            <a:endParaRPr lang="zh-TW" altLang="en-US" u="none" dirty="0">
              <a:solidFill>
                <a:srgbClr val="FF0000"/>
              </a:solidFill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4" y="3663615"/>
            <a:ext cx="84486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38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-4.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欄位查核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文字方塊 1"/>
          <p:cNvSpPr txBox="1"/>
          <p:nvPr/>
        </p:nvSpPr>
        <p:spPr>
          <a:xfrm>
            <a:off x="473240" y="1137390"/>
            <a:ext cx="8518360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u="none" dirty="0" smtClean="0"/>
              <a:t>欄位正確性查核</a:t>
            </a:r>
            <a:r>
              <a:rPr lang="en-US" altLang="zh-TW" u="none" dirty="0" smtClean="0"/>
              <a:t>:</a:t>
            </a:r>
          </a:p>
          <a:p>
            <a:r>
              <a:rPr lang="zh-TW" altLang="en-US" u="none" dirty="0" smtClean="0"/>
              <a:t>例如</a:t>
            </a:r>
            <a:r>
              <a:rPr lang="en-US" altLang="zh-TW" u="none" dirty="0" smtClean="0"/>
              <a:t>:</a:t>
            </a:r>
            <a:r>
              <a:rPr lang="zh-TW" altLang="en-US" u="none" dirty="0" smtClean="0"/>
              <a:t>日期查核</a:t>
            </a:r>
            <a:r>
              <a:rPr lang="zh-TW" altLang="en-US" u="none" dirty="0"/>
              <a:t>、</a:t>
            </a:r>
            <a:r>
              <a:rPr lang="zh-TW" altLang="en-US" u="none" dirty="0" smtClean="0"/>
              <a:t>部門編號查核</a:t>
            </a:r>
            <a:r>
              <a:rPr lang="zh-TW" altLang="en-US" u="none" dirty="0"/>
              <a:t>、</a:t>
            </a:r>
            <a:r>
              <a:rPr lang="zh-TW" altLang="en-US" u="none" dirty="0" smtClean="0"/>
              <a:t>人員編號查核</a:t>
            </a:r>
            <a:endParaRPr lang="en-US" altLang="zh-TW" u="none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u="none" dirty="0" smtClean="0"/>
              <a:t>增加選單，以利輸入之正確性</a:t>
            </a:r>
            <a:endParaRPr lang="en-US" altLang="zh-TW" u="none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374" y="2899732"/>
            <a:ext cx="5408922" cy="3551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50" y="2977443"/>
            <a:ext cx="3642136" cy="353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向右箭號 2"/>
          <p:cNvSpPr/>
          <p:nvPr/>
        </p:nvSpPr>
        <p:spPr bwMode="auto">
          <a:xfrm>
            <a:off x="4315326" y="4531895"/>
            <a:ext cx="1243263" cy="537410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52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64" y="1958400"/>
            <a:ext cx="67913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-5.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資料查核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" name="文字方塊 2"/>
          <p:cNvSpPr txBox="1"/>
          <p:nvPr/>
        </p:nvSpPr>
        <p:spPr>
          <a:xfrm>
            <a:off x="4145624" y="2303566"/>
            <a:ext cx="3467616" cy="58477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u="none" dirty="0">
                <a:solidFill>
                  <a:srgbClr val="FF0000"/>
                </a:solidFill>
              </a:rPr>
              <a:t>查核</a:t>
            </a:r>
            <a:r>
              <a:rPr lang="zh-TW" altLang="en-US" u="none" dirty="0" smtClean="0">
                <a:solidFill>
                  <a:srgbClr val="FF0000"/>
                </a:solidFill>
              </a:rPr>
              <a:t>資料是否重複</a:t>
            </a:r>
            <a:endParaRPr lang="zh-TW" altLang="en-US" u="none" dirty="0">
              <a:solidFill>
                <a:srgbClr val="FF000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1207429"/>
            <a:ext cx="7639302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3240505" y="1502704"/>
            <a:ext cx="3400927" cy="2952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544" y="3064804"/>
            <a:ext cx="4857741" cy="3382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04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2" y="1176137"/>
            <a:ext cx="8058150" cy="42291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1037344" y="3137007"/>
            <a:ext cx="4548948" cy="111994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-6.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異動紀錄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6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1230982"/>
            <a:ext cx="8919411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-7.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本單編號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95" y="1889962"/>
            <a:ext cx="7793956" cy="456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4" y="4662738"/>
            <a:ext cx="80295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329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六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螢幕程式設計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-8.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列印報表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 bwMode="auto">
          <a:xfrm flipH="1">
            <a:off x="4211053" y="3489158"/>
            <a:ext cx="1668379" cy="1371600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 flipH="1">
            <a:off x="5358063" y="3433011"/>
            <a:ext cx="681790" cy="561473"/>
          </a:xfrm>
          <a:prstGeom prst="straightConnector1">
            <a:avLst/>
          </a:prstGeom>
          <a:solidFill>
            <a:schemeClr val="accent1"/>
          </a:solidFill>
          <a:ln>
            <a:noFill/>
            <a:tailEnd type="arrow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70" y="1239754"/>
            <a:ext cx="6419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25" y="1768392"/>
            <a:ext cx="5643134" cy="2875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678" y="3619727"/>
            <a:ext cx="4353195" cy="29099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4154957" y="5303531"/>
            <a:ext cx="4042097" cy="7809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154957" y="5484634"/>
            <a:ext cx="2324099" cy="72183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6774" y="5035665"/>
            <a:ext cx="3125661" cy="107721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u="none" dirty="0" smtClean="0">
                <a:solidFill>
                  <a:srgbClr val="FF0000"/>
                </a:solidFill>
              </a:rPr>
              <a:t>1.</a:t>
            </a:r>
            <a:r>
              <a:rPr lang="zh-TW" altLang="en-US" u="none" dirty="0" smtClean="0">
                <a:solidFill>
                  <a:srgbClr val="FF0000"/>
                </a:solidFill>
              </a:rPr>
              <a:t>報表印表紀錄</a:t>
            </a:r>
            <a:endParaRPr lang="en-US" altLang="zh-TW" u="none" dirty="0" smtClean="0">
              <a:solidFill>
                <a:srgbClr val="FF0000"/>
              </a:solidFill>
            </a:endParaRPr>
          </a:p>
          <a:p>
            <a:r>
              <a:rPr lang="en-US" altLang="zh-TW" u="none" dirty="0" smtClean="0">
                <a:solidFill>
                  <a:srgbClr val="FF0000"/>
                </a:solidFill>
              </a:rPr>
              <a:t>2.</a:t>
            </a:r>
            <a:r>
              <a:rPr lang="zh-TW" altLang="en-US" u="none" dirty="0">
                <a:solidFill>
                  <a:srgbClr val="FF0000"/>
                </a:solidFill>
              </a:rPr>
              <a:t>呼叫報表程式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>
            <a:off x="3505454" y="5367712"/>
            <a:ext cx="649503" cy="139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" name="直線單箭頭接點 14"/>
          <p:cNvCxnSpPr/>
          <p:nvPr/>
        </p:nvCxnSpPr>
        <p:spPr bwMode="auto">
          <a:xfrm>
            <a:off x="3505454" y="5858856"/>
            <a:ext cx="649503" cy="7752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50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報表程式設計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36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89" y="1071567"/>
            <a:ext cx="7796463" cy="281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71" y="3216860"/>
            <a:ext cx="7891567" cy="329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-1.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版面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繪製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791199" y="1299411"/>
            <a:ext cx="2951747" cy="50532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376862" y="1159042"/>
            <a:ext cx="2237875" cy="29276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向下箭號 4"/>
          <p:cNvSpPr/>
          <p:nvPr/>
        </p:nvSpPr>
        <p:spPr bwMode="auto">
          <a:xfrm>
            <a:off x="3878212" y="3304674"/>
            <a:ext cx="922351" cy="117260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35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-2.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出表條件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48" y="1409700"/>
            <a:ext cx="767614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21" y="2397179"/>
            <a:ext cx="6853990" cy="424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207829" y="5615183"/>
            <a:ext cx="6750566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報表擷取資料條件依據制度說明撰寫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23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-3.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參數螢幕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11" y="1177090"/>
            <a:ext cx="5654258" cy="21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161" y="2654968"/>
            <a:ext cx="5903764" cy="381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002644" y="5801450"/>
            <a:ext cx="7160935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報表增加參數螢幕並依據制度內容撰寫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74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2131094"/>
            <a:ext cx="5534025" cy="2724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261" y="2504073"/>
            <a:ext cx="486727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38" y="4622035"/>
            <a:ext cx="7654547" cy="1926144"/>
          </a:xfrm>
          <a:prstGeom prst="rect">
            <a:avLst/>
          </a:prstGeom>
          <a:noFill/>
          <a:ln w="28575" cmpd="sng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-4.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欄位顯示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647700" y="1157038"/>
            <a:ext cx="3924300" cy="885825"/>
            <a:chOff x="647700" y="1157038"/>
            <a:chExt cx="3924300" cy="885825"/>
          </a:xfrm>
        </p:grpSpPr>
        <p:pic>
          <p:nvPicPr>
            <p:cNvPr id="1638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" y="1157038"/>
              <a:ext cx="3924300" cy="885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矩形 2"/>
            <p:cNvSpPr/>
            <p:nvPr/>
          </p:nvSpPr>
          <p:spPr bwMode="auto">
            <a:xfrm>
              <a:off x="2101516" y="1599950"/>
              <a:ext cx="2245895" cy="3732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200" b="0" i="0" u="sng" strike="noStrike" cap="none" normalizeH="0" baseline="0" smtClean="0">
                <a:ln>
                  <a:noFill/>
                </a:ln>
                <a:solidFill>
                  <a:schemeClr val="hlink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台塑體" panose="02010500000000000000" pitchFamily="2" charset="-120"/>
              </a:endParaRPr>
            </a:p>
          </p:txBody>
        </p:sp>
      </p:grpSp>
      <p:sp>
        <p:nvSpPr>
          <p:cNvPr id="8" name="向下箭號 7"/>
          <p:cNvSpPr/>
          <p:nvPr/>
        </p:nvSpPr>
        <p:spPr bwMode="auto">
          <a:xfrm>
            <a:off x="6970293" y="2173706"/>
            <a:ext cx="681790" cy="122972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9" name="向下箭號 8"/>
          <p:cNvSpPr/>
          <p:nvPr/>
        </p:nvSpPr>
        <p:spPr bwMode="auto">
          <a:xfrm>
            <a:off x="2277979" y="2042863"/>
            <a:ext cx="1034716" cy="1141495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438732" y="850733"/>
            <a:ext cx="4419600" cy="1577388"/>
            <a:chOff x="4615196" y="2302543"/>
            <a:chExt cx="4419600" cy="1577388"/>
          </a:xfrm>
        </p:grpSpPr>
        <p:grpSp>
          <p:nvGrpSpPr>
            <p:cNvPr id="6" name="群組 5"/>
            <p:cNvGrpSpPr/>
            <p:nvPr/>
          </p:nvGrpSpPr>
          <p:grpSpPr>
            <a:xfrm>
              <a:off x="6609347" y="2302543"/>
              <a:ext cx="1219200" cy="1266825"/>
              <a:chOff x="7218947" y="2458704"/>
              <a:chExt cx="1219200" cy="1266825"/>
            </a:xfrm>
          </p:grpSpPr>
          <p:pic>
            <p:nvPicPr>
              <p:cNvPr id="16390" name="Picture 6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8947" y="2458704"/>
                <a:ext cx="1219200" cy="12668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矩形 4"/>
              <p:cNvSpPr/>
              <p:nvPr/>
            </p:nvSpPr>
            <p:spPr bwMode="auto">
              <a:xfrm>
                <a:off x="7218947" y="3184358"/>
                <a:ext cx="1074821" cy="38501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3200" b="0" i="0" u="sng" strike="noStrike" cap="none" normalizeH="0" baseline="0" smtClean="0">
                  <a:ln>
                    <a:noFill/>
                  </a:ln>
                  <a:solidFill>
                    <a:schemeClr val="hlink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台塑體" panose="02010500000000000000" pitchFamily="2" charset="-120"/>
                </a:endParaRPr>
              </a:p>
            </p:txBody>
          </p:sp>
        </p:grpSp>
        <p:pic>
          <p:nvPicPr>
            <p:cNvPr id="16391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5196" y="3546556"/>
              <a:ext cx="4419600" cy="3333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  <p:sp>
        <p:nvSpPr>
          <p:cNvPr id="11" name="橢圓 10"/>
          <p:cNvSpPr/>
          <p:nvPr/>
        </p:nvSpPr>
        <p:spPr bwMode="auto">
          <a:xfrm>
            <a:off x="3958700" y="4965955"/>
            <a:ext cx="1379621" cy="39303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7325745" y="5356644"/>
            <a:ext cx="1098883" cy="123423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09425" y="4135549"/>
            <a:ext cx="7981672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報表各欄位顯示皆需轉換成制度規定之格式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65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13" y="1810822"/>
            <a:ext cx="7888455" cy="321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-5.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計算欄位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74" y="4748832"/>
            <a:ext cx="7624994" cy="1918708"/>
          </a:xfrm>
          <a:prstGeom prst="rect">
            <a:avLst/>
          </a:prstGeom>
          <a:noFill/>
          <a:ln w="28575" cmpd="sng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67" y="1322722"/>
            <a:ext cx="62198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6846277" y="5510900"/>
            <a:ext cx="386861" cy="1183607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19" y="4323756"/>
            <a:ext cx="8392041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需依據制度之計算公式撰寫該欄位之計算</a:t>
            </a:r>
            <a:r>
              <a:rPr lang="zh-TW" altLang="en-US" u="none" dirty="0">
                <a:solidFill>
                  <a:srgbClr val="FF0000"/>
                </a:solidFill>
              </a:rPr>
              <a:t>程式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738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-5.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小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計、合計欄位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1343747"/>
            <a:ext cx="8396788" cy="182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79" y="3315804"/>
            <a:ext cx="7807855" cy="965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08" y="4280909"/>
            <a:ext cx="5428191" cy="2136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11"/>
          <p:cNvSpPr txBox="1"/>
          <p:nvPr/>
        </p:nvSpPr>
        <p:spPr>
          <a:xfrm>
            <a:off x="260879" y="5771575"/>
            <a:ext cx="8392041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報表依據制度內容增加小計、合計等統計欄位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47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-6.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印表記錄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778042" y="1491916"/>
            <a:ext cx="5109091" cy="156966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u="none" dirty="0" smtClean="0">
                <a:solidFill>
                  <a:srgbClr val="FF0000"/>
                </a:solidFill>
              </a:rPr>
              <a:t>1.</a:t>
            </a:r>
            <a:r>
              <a:rPr lang="zh-TW" altLang="en-US" u="none" dirty="0" smtClean="0">
                <a:solidFill>
                  <a:srgbClr val="FF0000"/>
                </a:solidFill>
              </a:rPr>
              <a:t>管制不可重印之報表</a:t>
            </a:r>
            <a:endParaRPr lang="en-US" altLang="zh-TW" u="none" dirty="0" smtClean="0">
              <a:solidFill>
                <a:srgbClr val="FF0000"/>
              </a:solidFill>
            </a:endParaRPr>
          </a:p>
          <a:p>
            <a:r>
              <a:rPr lang="en-US" altLang="zh-TW" u="none" dirty="0" smtClean="0">
                <a:solidFill>
                  <a:srgbClr val="FF0000"/>
                </a:solidFill>
              </a:rPr>
              <a:t>2.</a:t>
            </a:r>
            <a:r>
              <a:rPr lang="zh-TW" altLang="en-US" u="none" dirty="0">
                <a:solidFill>
                  <a:srgbClr val="FF0000"/>
                </a:solidFill>
              </a:rPr>
              <a:t>清單</a:t>
            </a:r>
            <a:r>
              <a:rPr lang="zh-TW" altLang="en-US" u="none" dirty="0" smtClean="0">
                <a:solidFill>
                  <a:srgbClr val="FF0000"/>
                </a:solidFill>
              </a:rPr>
              <a:t>列印僅列印尚未出表</a:t>
            </a:r>
            <a:endParaRPr lang="en-US" altLang="zh-TW" u="none" dirty="0" smtClean="0">
              <a:solidFill>
                <a:srgbClr val="FF0000"/>
              </a:solidFill>
            </a:endParaRPr>
          </a:p>
          <a:p>
            <a:r>
              <a:rPr lang="en-US" altLang="zh-TW" u="none" dirty="0" smtClean="0">
                <a:solidFill>
                  <a:srgbClr val="FF0000"/>
                </a:solidFill>
              </a:rPr>
              <a:t>3.</a:t>
            </a:r>
            <a:r>
              <a:rPr lang="zh-TW" altLang="en-US" u="none" dirty="0">
                <a:solidFill>
                  <a:srgbClr val="FF0000"/>
                </a:solidFill>
              </a:rPr>
              <a:t>須審核印表日期時間</a:t>
            </a:r>
            <a:endParaRPr lang="en-US" altLang="zh-TW" u="none" dirty="0">
              <a:solidFill>
                <a:srgbClr val="FF0000"/>
              </a:solidFill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42" y="3061576"/>
            <a:ext cx="63817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60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5" y="1703111"/>
            <a:ext cx="7929923" cy="2490338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報表程式撰寫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-6.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程式設計規範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649916" y="1828800"/>
            <a:ext cx="1114185" cy="40725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70387" y="1828800"/>
            <a:ext cx="1944060" cy="46872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070387" y="2804672"/>
            <a:ext cx="499462" cy="14360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91885" y="4193449"/>
            <a:ext cx="4493538" cy="255454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u="none" dirty="0">
                <a:solidFill>
                  <a:srgbClr val="FF0000"/>
                </a:solidFill>
              </a:rPr>
              <a:t>1.</a:t>
            </a:r>
            <a:r>
              <a:rPr lang="zh-TW" altLang="en-US" u="none" dirty="0">
                <a:solidFill>
                  <a:srgbClr val="FF0000"/>
                </a:solidFill>
              </a:rPr>
              <a:t>表頭須有底線</a:t>
            </a:r>
          </a:p>
          <a:p>
            <a:r>
              <a:rPr lang="en-US" altLang="zh-TW" u="none" dirty="0">
                <a:solidFill>
                  <a:srgbClr val="FF0000"/>
                </a:solidFill>
              </a:rPr>
              <a:t>2.</a:t>
            </a:r>
            <a:r>
              <a:rPr lang="zh-TW" altLang="en-US" u="none" dirty="0">
                <a:solidFill>
                  <a:srgbClr val="FF0000"/>
                </a:solidFill>
              </a:rPr>
              <a:t>製表日期、頁次</a:t>
            </a:r>
          </a:p>
          <a:p>
            <a:r>
              <a:rPr lang="en-US" altLang="zh-TW" u="none" dirty="0">
                <a:solidFill>
                  <a:srgbClr val="FF0000"/>
                </a:solidFill>
              </a:rPr>
              <a:t>3.</a:t>
            </a:r>
            <a:r>
              <a:rPr lang="zh-TW" altLang="en-US" u="none" dirty="0">
                <a:solidFill>
                  <a:srgbClr val="FF0000"/>
                </a:solidFill>
              </a:rPr>
              <a:t>日期欄位需為西元年</a:t>
            </a:r>
          </a:p>
          <a:p>
            <a:r>
              <a:rPr lang="en-US" altLang="zh-TW" u="none" dirty="0">
                <a:solidFill>
                  <a:srgbClr val="FF0000"/>
                </a:solidFill>
              </a:rPr>
              <a:t>4.</a:t>
            </a:r>
            <a:r>
              <a:rPr lang="zh-TW" altLang="en-US" u="none" dirty="0">
                <a:solidFill>
                  <a:srgbClr val="FF0000"/>
                </a:solidFill>
              </a:rPr>
              <a:t>數字欄位須有千分位</a:t>
            </a:r>
          </a:p>
          <a:p>
            <a:r>
              <a:rPr lang="en-US" altLang="zh-TW" u="none" dirty="0">
                <a:solidFill>
                  <a:srgbClr val="FF0000"/>
                </a:solidFill>
              </a:rPr>
              <a:t>5.</a:t>
            </a:r>
            <a:r>
              <a:rPr lang="zh-TW" altLang="en-US" u="none" dirty="0">
                <a:solidFill>
                  <a:srgbClr val="FF0000"/>
                </a:solidFill>
              </a:rPr>
              <a:t>字體</a:t>
            </a:r>
            <a:r>
              <a:rPr lang="en-US" altLang="zh-TW" u="none" dirty="0">
                <a:solidFill>
                  <a:srgbClr val="FF0000"/>
                </a:solidFill>
              </a:rPr>
              <a:t>:</a:t>
            </a:r>
            <a:r>
              <a:rPr lang="zh-TW" altLang="en-US" u="none" dirty="0">
                <a:solidFill>
                  <a:srgbClr val="FF0000"/>
                </a:solidFill>
              </a:rPr>
              <a:t>台塑體，大小</a:t>
            </a:r>
            <a:r>
              <a:rPr lang="en-US" altLang="zh-TW" u="none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51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處理程式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56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處理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49178" y="1562871"/>
            <a:ext cx="8542421" cy="403187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一、適用時機</a:t>
            </a:r>
            <a:r>
              <a:rPr lang="en-US" altLang="zh-TW" u="none" dirty="0" smtClean="0">
                <a:solidFill>
                  <a:srgbClr val="FF0000"/>
                </a:solidFill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TW" altLang="en-US" u="none" dirty="0" smtClean="0">
                <a:solidFill>
                  <a:srgbClr val="0000F6"/>
                </a:solidFill>
              </a:rPr>
              <a:t>報表整檔</a:t>
            </a:r>
            <a:r>
              <a:rPr lang="en-US" altLang="zh-TW" u="none" dirty="0" smtClean="0">
                <a:solidFill>
                  <a:srgbClr val="0000F6"/>
                </a:solidFill>
              </a:rPr>
              <a:t>:</a:t>
            </a:r>
            <a:r>
              <a:rPr lang="zh-TW" altLang="en-US" u="none" dirty="0" smtClean="0">
                <a:solidFill>
                  <a:schemeClr val="bg2"/>
                </a:solidFill>
              </a:rPr>
              <a:t>線上印表</a:t>
            </a:r>
            <a:r>
              <a:rPr lang="zh-TW" altLang="en-US" u="none" dirty="0">
                <a:solidFill>
                  <a:schemeClr val="bg2"/>
                </a:solidFill>
              </a:rPr>
              <a:t>整檔、批次</a:t>
            </a:r>
            <a:r>
              <a:rPr lang="zh-TW" altLang="en-US" u="none" dirty="0" smtClean="0">
                <a:solidFill>
                  <a:schemeClr val="bg2"/>
                </a:solidFill>
              </a:rPr>
              <a:t>報表整檔</a:t>
            </a:r>
            <a:endParaRPr lang="en-US" altLang="zh-TW" u="none" dirty="0" smtClean="0">
              <a:solidFill>
                <a:schemeClr val="bg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TW" altLang="en-US" u="none" dirty="0" smtClean="0">
                <a:solidFill>
                  <a:srgbClr val="0000F6"/>
                </a:solidFill>
              </a:rPr>
              <a:t>關聯資料傳送</a:t>
            </a:r>
            <a:r>
              <a:rPr lang="en-US" altLang="zh-TW" u="none" dirty="0" smtClean="0">
                <a:solidFill>
                  <a:srgbClr val="0000F6"/>
                </a:solidFill>
              </a:rPr>
              <a:t>:</a:t>
            </a:r>
            <a:r>
              <a:rPr lang="zh-TW" altLang="en-US" u="none" dirty="0" smtClean="0">
                <a:solidFill>
                  <a:schemeClr val="bg2"/>
                </a:solidFill>
              </a:rPr>
              <a:t>即時資料傳送、批次處理</a:t>
            </a:r>
            <a:endParaRPr lang="en-US" altLang="zh-TW" u="none" dirty="0" smtClean="0">
              <a:solidFill>
                <a:schemeClr val="bg2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endParaRPr lang="en-US" altLang="zh-TW" u="none" dirty="0">
              <a:solidFill>
                <a:schemeClr val="bg2"/>
              </a:solidFill>
            </a:endParaRPr>
          </a:p>
          <a:p>
            <a:r>
              <a:rPr lang="zh-TW" altLang="en-US" u="none" dirty="0">
                <a:solidFill>
                  <a:srgbClr val="FF0000"/>
                </a:solidFill>
              </a:rPr>
              <a:t>二</a:t>
            </a:r>
            <a:r>
              <a:rPr lang="zh-TW" altLang="en-US" u="none" dirty="0" smtClean="0">
                <a:solidFill>
                  <a:srgbClr val="FF0000"/>
                </a:solidFill>
              </a:rPr>
              <a:t>、執行方式</a:t>
            </a:r>
            <a:r>
              <a:rPr lang="en-US" altLang="zh-TW" u="none" dirty="0" smtClean="0">
                <a:solidFill>
                  <a:srgbClr val="FF0000"/>
                </a:solidFill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TW" altLang="en-US" u="none" dirty="0">
                <a:solidFill>
                  <a:srgbClr val="0000F6"/>
                </a:solidFill>
              </a:rPr>
              <a:t>使用者</a:t>
            </a:r>
            <a:r>
              <a:rPr lang="zh-TW" altLang="en-US" u="none" dirty="0" smtClean="0">
                <a:solidFill>
                  <a:srgbClr val="0000F6"/>
                </a:solidFill>
              </a:rPr>
              <a:t>執行 </a:t>
            </a:r>
            <a:r>
              <a:rPr lang="en-US" altLang="zh-TW" u="none" dirty="0" smtClean="0">
                <a:solidFill>
                  <a:schemeClr val="bg2"/>
                </a:solidFill>
              </a:rPr>
              <a:t>(</a:t>
            </a:r>
            <a:r>
              <a:rPr lang="zh-TW" altLang="en-US" u="none" dirty="0" smtClean="0">
                <a:solidFill>
                  <a:schemeClr val="bg2"/>
                </a:solidFill>
              </a:rPr>
              <a:t>例如</a:t>
            </a:r>
            <a:r>
              <a:rPr lang="en-US" altLang="zh-TW" u="none" dirty="0" smtClean="0">
                <a:solidFill>
                  <a:schemeClr val="bg2"/>
                </a:solidFill>
              </a:rPr>
              <a:t>:</a:t>
            </a:r>
            <a:r>
              <a:rPr lang="zh-TW" altLang="en-US" u="none" dirty="0" smtClean="0">
                <a:solidFill>
                  <a:schemeClr val="bg2"/>
                </a:solidFill>
              </a:rPr>
              <a:t>螢幕按鈕</a:t>
            </a:r>
            <a:r>
              <a:rPr lang="en-US" altLang="zh-TW" u="none" dirty="0" smtClean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TW" u="none" dirty="0" smtClean="0">
                <a:solidFill>
                  <a:srgbClr val="0000F6"/>
                </a:solidFill>
              </a:rPr>
              <a:t>Trigger</a:t>
            </a:r>
            <a:r>
              <a:rPr lang="zh-TW" altLang="en-US" u="none" dirty="0" smtClean="0">
                <a:solidFill>
                  <a:srgbClr val="0000F6"/>
                </a:solidFill>
              </a:rPr>
              <a:t>即時</a:t>
            </a:r>
            <a:r>
              <a:rPr lang="en-US" altLang="zh-TW" u="none" dirty="0" smtClean="0">
                <a:solidFill>
                  <a:schemeClr val="bg2"/>
                </a:solidFill>
              </a:rPr>
              <a:t>(</a:t>
            </a:r>
            <a:r>
              <a:rPr lang="zh-TW" altLang="en-US" u="none" dirty="0">
                <a:solidFill>
                  <a:schemeClr val="bg2"/>
                </a:solidFill>
              </a:rPr>
              <a:t>例如</a:t>
            </a:r>
            <a:r>
              <a:rPr lang="en-US" altLang="zh-TW" u="none" dirty="0" smtClean="0">
                <a:solidFill>
                  <a:schemeClr val="bg2"/>
                </a:solidFill>
              </a:rPr>
              <a:t>:</a:t>
            </a:r>
            <a:r>
              <a:rPr lang="zh-TW" altLang="en-US" u="none" dirty="0" smtClean="0">
                <a:solidFill>
                  <a:schemeClr val="bg2"/>
                </a:solidFill>
              </a:rPr>
              <a:t>生產輸入後傳送財務</a:t>
            </a:r>
            <a:r>
              <a:rPr lang="en-US" altLang="zh-TW" u="none" dirty="0" smtClean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TW" altLang="en-US" u="none" dirty="0">
                <a:solidFill>
                  <a:srgbClr val="0000F6"/>
                </a:solidFill>
              </a:rPr>
              <a:t>批次排</a:t>
            </a:r>
            <a:r>
              <a:rPr lang="zh-TW" altLang="en-US" u="none" dirty="0" smtClean="0">
                <a:solidFill>
                  <a:srgbClr val="0000F6"/>
                </a:solidFill>
              </a:rPr>
              <a:t>程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54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26" y="1292177"/>
            <a:ext cx="7515726" cy="3529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1732548" y="2245895"/>
            <a:ext cx="6340197" cy="584775"/>
          </a:xfrm>
          <a:prstGeom prst="rect">
            <a:avLst/>
          </a:prstGeom>
          <a:solidFill>
            <a:srgbClr val="FFFF66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 smtClean="0"/>
              <a:t>即時發送</a:t>
            </a:r>
            <a:r>
              <a:rPr lang="zh-TW" altLang="zh-TW" u="none" dirty="0" smtClean="0"/>
              <a:t>『</a:t>
            </a:r>
            <a:r>
              <a:rPr lang="en-US" altLang="zh-TW" u="none" dirty="0" smtClean="0"/>
              <a:t>OA</a:t>
            </a:r>
            <a:r>
              <a:rPr lang="zh-TW" altLang="zh-TW" u="none" dirty="0" smtClean="0"/>
              <a:t>品質</a:t>
            </a:r>
            <a:r>
              <a:rPr lang="zh-TW" altLang="zh-TW" u="none" dirty="0"/>
              <a:t>確認書提示單』</a:t>
            </a:r>
            <a:endParaRPr lang="zh-TW" altLang="en-US" u="none" dirty="0"/>
          </a:p>
        </p:txBody>
      </p:sp>
      <p:sp>
        <p:nvSpPr>
          <p:cNvPr id="4" name="文字方塊 3"/>
          <p:cNvSpPr txBox="1"/>
          <p:nvPr/>
        </p:nvSpPr>
        <p:spPr>
          <a:xfrm>
            <a:off x="911810" y="4648977"/>
            <a:ext cx="7981672" cy="584775"/>
          </a:xfrm>
          <a:prstGeom prst="rect">
            <a:avLst/>
          </a:prstGeom>
          <a:solidFill>
            <a:srgbClr val="FFFF66"/>
          </a:solidFill>
        </p:spPr>
        <p:txBody>
          <a:bodyPr wrap="none" rtlCol="0">
            <a:spAutoFit/>
          </a:bodyPr>
          <a:lstStyle/>
          <a:p>
            <a:r>
              <a:rPr lang="zh-TW" altLang="en-US" u="none" dirty="0"/>
              <a:t>每日排程</a:t>
            </a:r>
            <a:r>
              <a:rPr lang="zh-TW" altLang="en-US" u="none" dirty="0" smtClean="0"/>
              <a:t>發送</a:t>
            </a:r>
            <a:r>
              <a:rPr lang="zh-TW" altLang="zh-TW" u="none" dirty="0" smtClean="0"/>
              <a:t>『</a:t>
            </a:r>
            <a:r>
              <a:rPr lang="en-US" altLang="zh-TW" u="none" dirty="0" smtClean="0"/>
              <a:t>OA</a:t>
            </a:r>
            <a:r>
              <a:rPr lang="zh-TW" altLang="en-US" u="none" dirty="0" smtClean="0"/>
              <a:t>品質確認書逾期提示單</a:t>
            </a:r>
            <a:r>
              <a:rPr lang="zh-TW" altLang="zh-TW" u="none" dirty="0" smtClean="0"/>
              <a:t>』</a:t>
            </a:r>
            <a:endParaRPr lang="zh-TW" altLang="en-US" u="none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處理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範例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34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處理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74" y="1682974"/>
            <a:ext cx="72009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54991" y="1204319"/>
            <a:ext cx="6866466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範例</a:t>
            </a:r>
            <a:r>
              <a:rPr lang="en-US" altLang="zh-TW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:OA</a:t>
            </a:r>
            <a:r>
              <a:rPr lang="zh-TW" altLang="en-US" u="none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品質確認書逾期提示單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19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處理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991" y="1204319"/>
            <a:ext cx="6866466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範例</a:t>
            </a:r>
            <a:r>
              <a:rPr lang="en-US" altLang="zh-TW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:OA</a:t>
            </a:r>
            <a:r>
              <a:rPr lang="zh-TW" altLang="en-US" u="none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品質確認書逾期提示單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61" y="2612206"/>
            <a:ext cx="839350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86361" y="2013125"/>
            <a:ext cx="5109091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u="none" dirty="0" smtClean="0">
                <a:solidFill>
                  <a:srgbClr val="FF0000"/>
                </a:solidFill>
              </a:rPr>
              <a:t>1.</a:t>
            </a:r>
            <a:r>
              <a:rPr lang="zh-TW" altLang="en-US" u="none" dirty="0" smtClean="0">
                <a:solidFill>
                  <a:srgbClr val="FF0000"/>
                </a:solidFill>
              </a:rPr>
              <a:t>擷取逾期資料未結案資料</a:t>
            </a:r>
            <a:endParaRPr lang="zh-TW" altLang="en-US" u="none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69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處理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991" y="1204319"/>
            <a:ext cx="6866466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範例</a:t>
            </a:r>
            <a:r>
              <a:rPr lang="en-US" altLang="zh-TW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:OA</a:t>
            </a:r>
            <a:r>
              <a:rPr lang="zh-TW" altLang="en-US" u="none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品質確認書逾期提示單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61" y="2794000"/>
            <a:ext cx="839350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86361" y="2013125"/>
            <a:ext cx="5929828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u="none" dirty="0">
                <a:solidFill>
                  <a:srgbClr val="FF0000"/>
                </a:solidFill>
              </a:rPr>
              <a:t>2</a:t>
            </a:r>
            <a:r>
              <a:rPr lang="en-US" altLang="zh-TW" u="none" dirty="0" smtClean="0">
                <a:solidFill>
                  <a:srgbClr val="FF0000"/>
                </a:solidFill>
              </a:rPr>
              <a:t>.</a:t>
            </a:r>
            <a:r>
              <a:rPr lang="zh-TW" altLang="en-US" u="none" dirty="0" smtClean="0">
                <a:solidFill>
                  <a:srgbClr val="FF0000"/>
                </a:solidFill>
              </a:rPr>
              <a:t>產生傳送</a:t>
            </a:r>
            <a:r>
              <a:rPr lang="zh-TW" altLang="en-US" u="none" dirty="0">
                <a:solidFill>
                  <a:srgbClr val="FF0000"/>
                </a:solidFill>
              </a:rPr>
              <a:t>案件通知作業之序號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28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處理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程式撰寫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991" y="1204319"/>
            <a:ext cx="6866466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範例</a:t>
            </a:r>
            <a:r>
              <a:rPr lang="en-US" altLang="zh-TW" u="none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:OA</a:t>
            </a:r>
            <a:r>
              <a:rPr lang="zh-TW" altLang="en-US" u="none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品質確認書逾期提示單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86361" y="2013125"/>
            <a:ext cx="4288353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u="none" dirty="0" smtClean="0">
                <a:solidFill>
                  <a:srgbClr val="FF0000"/>
                </a:solidFill>
              </a:rPr>
              <a:t>3.</a:t>
            </a:r>
            <a:r>
              <a:rPr lang="zh-TW" altLang="en-US" u="none" dirty="0">
                <a:solidFill>
                  <a:srgbClr val="FF0000"/>
                </a:solidFill>
              </a:rPr>
              <a:t>傳送</a:t>
            </a:r>
            <a:r>
              <a:rPr lang="en-US" altLang="zh-TW" u="none" dirty="0">
                <a:solidFill>
                  <a:srgbClr val="FF0000"/>
                </a:solidFill>
              </a:rPr>
              <a:t>OA</a:t>
            </a:r>
            <a:r>
              <a:rPr lang="zh-TW" altLang="en-US" u="none" dirty="0">
                <a:solidFill>
                  <a:srgbClr val="FF0000"/>
                </a:solidFill>
              </a:rPr>
              <a:t>案件通知作業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" y="2821931"/>
            <a:ext cx="88296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52" y="1316719"/>
            <a:ext cx="8062501" cy="4227504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>
                <a:solidFill>
                  <a:schemeClr val="tx1"/>
                </a:solidFill>
              </a:rPr>
              <a:t>案件通知申請資料</a:t>
            </a:r>
            <a:r>
              <a:rPr lang="zh-TW" altLang="en-US" u="none" dirty="0" smtClean="0">
                <a:solidFill>
                  <a:schemeClr val="tx1"/>
                </a:solidFill>
              </a:rPr>
              <a:t>輸</a:t>
            </a:r>
            <a:r>
              <a:rPr lang="zh-TW" altLang="en-US" u="none" dirty="0">
                <a:solidFill>
                  <a:schemeClr val="tx1"/>
                </a:solidFill>
              </a:rPr>
              <a:t>入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670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程式測試</a:t>
            </a:r>
            <a:endParaRPr lang="zh-TW" altLang="en-US" dirty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25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12783"/>
            <a:ext cx="7886700" cy="4964180"/>
          </a:xfrm>
        </p:spPr>
        <p:txBody>
          <a:bodyPr/>
          <a:lstStyle/>
          <a:p>
            <a:r>
              <a:rPr lang="zh-TW" altLang="en-US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測試區</a:t>
            </a:r>
            <a:r>
              <a:rPr lang="en-US" altLang="zh-TW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ERP</a:t>
            </a:r>
            <a:r>
              <a:rPr lang="zh-TW" altLang="en-US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zh-TW" altLang="en-US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登入</a:t>
            </a:r>
            <a:endParaRPr lang="en-US" altLang="zh-TW" dirty="0" smtClean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94" y="1906054"/>
            <a:ext cx="6709510" cy="446118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2954956" y="2377440"/>
            <a:ext cx="1001027" cy="3753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463509" y="1280161"/>
            <a:ext cx="2646878" cy="156966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台灣</a:t>
            </a:r>
            <a:r>
              <a:rPr lang="en-US" altLang="zh-TW" dirty="0" smtClean="0"/>
              <a:t>:TPRST1A</a:t>
            </a:r>
          </a:p>
          <a:p>
            <a:r>
              <a:rPr lang="zh-TW" altLang="en-US" dirty="0" smtClean="0"/>
              <a:t>大陸</a:t>
            </a:r>
            <a:r>
              <a:rPr lang="en-US" altLang="zh-TW" dirty="0"/>
              <a:t>:</a:t>
            </a:r>
            <a:r>
              <a:rPr lang="en-US" altLang="zh-TW" dirty="0" smtClean="0"/>
              <a:t>TPRST1B</a:t>
            </a:r>
          </a:p>
          <a:p>
            <a:r>
              <a:rPr lang="zh-TW" altLang="en-US" dirty="0" smtClean="0"/>
              <a:t>越南</a:t>
            </a:r>
            <a:r>
              <a:rPr lang="en-US" altLang="zh-TW" dirty="0"/>
              <a:t>:</a:t>
            </a:r>
            <a:r>
              <a:rPr lang="en-US" altLang="zh-TW" dirty="0" smtClean="0"/>
              <a:t>TPRST1C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74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693333" y="2438400"/>
            <a:ext cx="27238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u="none" dirty="0" smtClean="0">
                <a:solidFill>
                  <a:schemeClr val="tx1"/>
                </a:solidFill>
              </a:rPr>
              <a:t>程式測試</a:t>
            </a:r>
            <a:r>
              <a:rPr lang="en-US" altLang="zh-TW" sz="4400" u="none" dirty="0" smtClean="0">
                <a:solidFill>
                  <a:schemeClr val="tx1"/>
                </a:solidFill>
              </a:rPr>
              <a:t>.</a:t>
            </a:r>
            <a:endParaRPr lang="zh-TW" altLang="en-US" sz="4400" u="none" dirty="0">
              <a:solidFill>
                <a:schemeClr val="tx1"/>
              </a:solidFill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26819" y="1135667"/>
            <a:ext cx="8972550" cy="2605466"/>
            <a:chOff x="152400" y="1098132"/>
            <a:chExt cx="8972550" cy="2605466"/>
          </a:xfrm>
        </p:grpSpPr>
        <p:pic>
          <p:nvPicPr>
            <p:cNvPr id="2150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1098132"/>
              <a:ext cx="8972550" cy="21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字方塊 8"/>
            <p:cNvSpPr txBox="1"/>
            <p:nvPr/>
          </p:nvSpPr>
          <p:spPr>
            <a:xfrm>
              <a:off x="2992089" y="3118823"/>
              <a:ext cx="5929828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TW" altLang="en-US" u="none" dirty="0" smtClean="0">
                  <a:solidFill>
                    <a:srgbClr val="FF0000"/>
                  </a:solidFill>
                </a:rPr>
                <a:t>新增、異動、刪除存檔是否正常</a:t>
              </a:r>
              <a:endParaRPr lang="zh-TW" altLang="en-US" u="none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>
                <a:solidFill>
                  <a:schemeClr val="tx1"/>
                </a:solidFill>
              </a:rPr>
              <a:t>九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程式測試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26819" y="2738453"/>
            <a:ext cx="8505825" cy="1866900"/>
            <a:chOff x="85725" y="2750468"/>
            <a:chExt cx="8505825" cy="1866900"/>
          </a:xfrm>
        </p:grpSpPr>
        <p:pic>
          <p:nvPicPr>
            <p:cNvPr id="2150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25" y="2750468"/>
              <a:ext cx="8505825" cy="186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字方塊 10"/>
            <p:cNvSpPr txBox="1"/>
            <p:nvPr/>
          </p:nvSpPr>
          <p:spPr>
            <a:xfrm>
              <a:off x="4463716" y="3791267"/>
              <a:ext cx="3467616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TW" altLang="en-US" u="none" dirty="0" smtClean="0">
                  <a:solidFill>
                    <a:srgbClr val="FF0000"/>
                  </a:solidFill>
                </a:rPr>
                <a:t>查核管制是否完備</a:t>
              </a:r>
              <a:endParaRPr lang="zh-TW" altLang="en-US" u="none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74625" y="4098448"/>
            <a:ext cx="8001000" cy="2324100"/>
            <a:chOff x="85725" y="4232108"/>
            <a:chExt cx="8001000" cy="2324100"/>
          </a:xfrm>
        </p:grpSpPr>
        <p:grpSp>
          <p:nvGrpSpPr>
            <p:cNvPr id="8" name="群組 7"/>
            <p:cNvGrpSpPr/>
            <p:nvPr/>
          </p:nvGrpSpPr>
          <p:grpSpPr>
            <a:xfrm>
              <a:off x="85725" y="4232108"/>
              <a:ext cx="8001000" cy="2324100"/>
              <a:chOff x="85725" y="4232108"/>
              <a:chExt cx="8001000" cy="2324100"/>
            </a:xfrm>
          </p:grpSpPr>
          <p:pic>
            <p:nvPicPr>
              <p:cNvPr id="21511" name="Picture 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725" y="4232108"/>
                <a:ext cx="8001000" cy="2324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矩形 5"/>
              <p:cNvSpPr/>
              <p:nvPr/>
            </p:nvSpPr>
            <p:spPr bwMode="auto">
              <a:xfrm>
                <a:off x="3312695" y="4676274"/>
                <a:ext cx="2302042" cy="43313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3200" b="0" i="0" u="sng" strike="noStrike" cap="none" normalizeH="0" baseline="0" smtClean="0">
                  <a:ln>
                    <a:noFill/>
                  </a:ln>
                  <a:solidFill>
                    <a:schemeClr val="hlink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台塑體" panose="02010500000000000000" pitchFamily="2" charset="-120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 bwMode="auto">
              <a:xfrm>
                <a:off x="3312695" y="5839326"/>
                <a:ext cx="4050631" cy="65772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3200" b="0" i="0" u="sng" strike="noStrike" cap="none" normalizeH="0" baseline="0" smtClean="0">
                  <a:ln>
                    <a:noFill/>
                  </a:ln>
                  <a:solidFill>
                    <a:schemeClr val="hlink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  <a:cs typeface="台塑體" panose="02010500000000000000" pitchFamily="2" charset="-120"/>
                </a:endParaRPr>
              </a:p>
            </p:txBody>
          </p:sp>
        </p:grpSp>
        <p:sp>
          <p:nvSpPr>
            <p:cNvPr id="13" name="文字方塊 12"/>
            <p:cNvSpPr txBox="1"/>
            <p:nvPr/>
          </p:nvSpPr>
          <p:spPr>
            <a:xfrm>
              <a:off x="4338637" y="5246530"/>
              <a:ext cx="3467616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TW" altLang="en-US" u="none" dirty="0" smtClean="0">
                  <a:solidFill>
                    <a:srgbClr val="FF0000"/>
                  </a:solidFill>
                </a:rPr>
                <a:t>欄位選單是否正常</a:t>
              </a:r>
              <a:endParaRPr lang="zh-TW" altLang="en-US" u="none" dirty="0">
                <a:solidFill>
                  <a:srgbClr val="FF0000"/>
                </a:solidFill>
              </a:endParaRPr>
            </a:p>
          </p:txBody>
        </p:sp>
      </p:grp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74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>
                <a:solidFill>
                  <a:schemeClr val="tx1"/>
                </a:solidFill>
              </a:rPr>
              <a:t>九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程式測試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—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關聯測試</a:t>
            </a:r>
            <a:endParaRPr kumimoji="0" lang="en-US" altLang="zh-TW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42" y="1254995"/>
            <a:ext cx="8670758" cy="4575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705727" y="5596567"/>
            <a:ext cx="5314275" cy="584775"/>
          </a:xfrm>
          <a:prstGeom prst="rect">
            <a:avLst/>
          </a:prstGeom>
          <a:solidFill>
            <a:srgbClr val="FFFF66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u="none" dirty="0" smtClean="0">
                <a:solidFill>
                  <a:srgbClr val="FF0000"/>
                </a:solidFill>
              </a:rPr>
              <a:t>測試資料傳送後段是否正常</a:t>
            </a:r>
            <a:r>
              <a:rPr lang="en-US" altLang="zh-TW" u="none" dirty="0" smtClean="0">
                <a:solidFill>
                  <a:srgbClr val="FF0000"/>
                </a:solidFill>
              </a:rPr>
              <a:t>!</a:t>
            </a:r>
            <a:endParaRPr lang="zh-TW" altLang="en-US" u="none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84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>
                <a:solidFill>
                  <a:schemeClr val="tx1"/>
                </a:solidFill>
              </a:rPr>
              <a:t>十</a:t>
            </a:r>
            <a:r>
              <a:rPr lang="zh-TW" altLang="en-US" u="none" dirty="0" smtClean="0">
                <a:solidFill>
                  <a:schemeClr val="tx1"/>
                </a:solidFill>
              </a:rPr>
              <a:t>、作業驗收</a:t>
            </a:r>
            <a:r>
              <a:rPr lang="en-US" altLang="zh-TW" u="none" dirty="0" smtClean="0">
                <a:solidFill>
                  <a:schemeClr val="tx1"/>
                </a:solidFill>
              </a:rPr>
              <a:t>-</a:t>
            </a:r>
            <a:r>
              <a:rPr lang="zh-TW" altLang="en-US" u="none" dirty="0">
                <a:solidFill>
                  <a:srgbClr val="FFFFCC"/>
                </a:solidFill>
              </a:rPr>
              <a:t>程式設計辦事</a:t>
            </a:r>
            <a:r>
              <a:rPr lang="zh-TW" altLang="en-US" u="none" dirty="0" smtClean="0">
                <a:solidFill>
                  <a:srgbClr val="FFFFCC"/>
                </a:solidFill>
              </a:rPr>
              <a:t>細則</a:t>
            </a:r>
            <a:endParaRPr lang="en-US" altLang="zh-TW" u="none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16380" t="20192" r="19828" b="49464"/>
          <a:stretch/>
        </p:blipFill>
        <p:spPr>
          <a:xfrm>
            <a:off x="612967" y="2542102"/>
            <a:ext cx="8261131" cy="2210411"/>
          </a:xfrm>
          <a:prstGeom prst="rect">
            <a:avLst/>
          </a:prstGeom>
        </p:spPr>
      </p:pic>
      <p:sp>
        <p:nvSpPr>
          <p:cNvPr id="6" name="內容版面配置區 4"/>
          <p:cNvSpPr txBox="1">
            <a:spLocks/>
          </p:cNvSpPr>
          <p:nvPr/>
        </p:nvSpPr>
        <p:spPr>
          <a:xfrm>
            <a:off x="381514" y="1102755"/>
            <a:ext cx="8610085" cy="287869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u="none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u="none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u="none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68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162" y="1245686"/>
            <a:ext cx="6168440" cy="5400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十、作業驗收</a:t>
            </a:r>
            <a:r>
              <a:rPr lang="en-US" altLang="zh-TW" u="none" dirty="0" smtClean="0">
                <a:solidFill>
                  <a:schemeClr val="tx1"/>
                </a:solidFill>
              </a:rPr>
              <a:t>-</a:t>
            </a:r>
            <a:r>
              <a:rPr lang="zh-TW" altLang="en-US" u="none" dirty="0" smtClean="0">
                <a:solidFill>
                  <a:schemeClr val="tx1"/>
                </a:solidFill>
              </a:rPr>
              <a:t>驗收附件</a:t>
            </a:r>
            <a:r>
              <a:rPr lang="en-US" altLang="zh-TW" u="none" dirty="0" smtClean="0">
                <a:solidFill>
                  <a:schemeClr val="tx1"/>
                </a:solidFill>
              </a:rPr>
              <a:t>-1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2266950"/>
            <a:ext cx="1200150" cy="2000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3114675" y="2266950"/>
            <a:ext cx="1252538" cy="2000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041" y="5700022"/>
            <a:ext cx="1200150" cy="2000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5389041" y="5700022"/>
            <a:ext cx="1252538" cy="2000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20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十、作業驗收</a:t>
            </a:r>
            <a:r>
              <a:rPr lang="en-US" altLang="zh-TW" u="none" dirty="0" smtClean="0">
                <a:solidFill>
                  <a:schemeClr val="tx1"/>
                </a:solidFill>
              </a:rPr>
              <a:t>-</a:t>
            </a:r>
            <a:r>
              <a:rPr lang="zh-TW" altLang="en-US" u="none" dirty="0" smtClean="0">
                <a:solidFill>
                  <a:schemeClr val="tx1"/>
                </a:solidFill>
              </a:rPr>
              <a:t>驗收附件</a:t>
            </a:r>
            <a:r>
              <a:rPr lang="en-US" altLang="zh-TW" u="none" dirty="0" smtClean="0">
                <a:solidFill>
                  <a:schemeClr val="tx1"/>
                </a:solidFill>
              </a:rPr>
              <a:t>-2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內容版面配置區 4"/>
          <p:cNvSpPr txBox="1">
            <a:spLocks/>
          </p:cNvSpPr>
          <p:nvPr/>
        </p:nvSpPr>
        <p:spPr>
          <a:xfrm>
            <a:off x="381514" y="1102755"/>
            <a:ext cx="8610085" cy="287869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u="none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u="none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u="none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952" y="1102755"/>
            <a:ext cx="4025932" cy="5569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881" y="4201615"/>
            <a:ext cx="836092" cy="139349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9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十、作業驗收</a:t>
            </a:r>
            <a:r>
              <a:rPr lang="en-US" altLang="zh-TW" u="none" dirty="0" smtClean="0">
                <a:solidFill>
                  <a:schemeClr val="tx1"/>
                </a:solidFill>
              </a:rPr>
              <a:t>-</a:t>
            </a:r>
            <a:r>
              <a:rPr lang="zh-TW" altLang="en-US" u="none" dirty="0" smtClean="0">
                <a:solidFill>
                  <a:schemeClr val="tx1"/>
                </a:solidFill>
              </a:rPr>
              <a:t>驗收</a:t>
            </a:r>
            <a:r>
              <a:rPr lang="en-US" altLang="zh-TW" u="none" dirty="0" smtClean="0">
                <a:solidFill>
                  <a:schemeClr val="tx1"/>
                </a:solidFill>
              </a:rPr>
              <a:t>(</a:t>
            </a:r>
            <a:r>
              <a:rPr lang="zh-TW" altLang="en-US" u="none" dirty="0" smtClean="0">
                <a:solidFill>
                  <a:schemeClr val="tx1"/>
                </a:solidFill>
              </a:rPr>
              <a:t>確認</a:t>
            </a:r>
            <a:r>
              <a:rPr lang="en-US" altLang="zh-TW" u="none" dirty="0" smtClean="0">
                <a:solidFill>
                  <a:schemeClr val="tx1"/>
                </a:solidFill>
              </a:rPr>
              <a:t>)</a:t>
            </a:r>
            <a:r>
              <a:rPr lang="zh-TW" altLang="en-US" u="none" dirty="0" smtClean="0">
                <a:solidFill>
                  <a:schemeClr val="tx1"/>
                </a:solidFill>
              </a:rPr>
              <a:t>單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6" y="1295400"/>
            <a:ext cx="76295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75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19" y="1825625"/>
            <a:ext cx="7531161" cy="4351338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十、作業驗收</a:t>
            </a:r>
            <a:r>
              <a:rPr lang="en-US" altLang="zh-TW" u="none" dirty="0" smtClean="0">
                <a:solidFill>
                  <a:schemeClr val="tx1"/>
                </a:solidFill>
              </a:rPr>
              <a:t>-</a:t>
            </a:r>
            <a:r>
              <a:rPr lang="zh-TW" altLang="en-US" u="none" dirty="0" smtClean="0">
                <a:solidFill>
                  <a:schemeClr val="tx1"/>
                </a:solidFill>
              </a:rPr>
              <a:t>機能組回覆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416971" y="4306754"/>
            <a:ext cx="2024244" cy="2163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53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95" y="1080375"/>
            <a:ext cx="6609348" cy="571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</a:t>
            </a:r>
            <a:r>
              <a:rPr lang="zh-TW" altLang="en-US" u="none" dirty="0">
                <a:solidFill>
                  <a:schemeClr val="tx1"/>
                </a:solidFill>
              </a:rPr>
              <a:t>一</a:t>
            </a:r>
            <a:r>
              <a:rPr lang="zh-TW" altLang="en-US" u="none" dirty="0" smtClean="0">
                <a:solidFill>
                  <a:schemeClr val="tx1"/>
                </a:solidFill>
              </a:rPr>
              <a:t>、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派送上線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4164386" y="5687113"/>
            <a:ext cx="3446931" cy="584775"/>
          </a:xfrm>
          <a:prstGeom prst="rect">
            <a:avLst/>
          </a:prstGeom>
          <a:solidFill>
            <a:srgbClr val="FFFF00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u="none" dirty="0" smtClean="0">
                <a:solidFill>
                  <a:schemeClr val="bg2"/>
                </a:solidFill>
              </a:rPr>
              <a:t>填寫派送申請單</a:t>
            </a:r>
            <a:endParaRPr lang="zh-TW" altLang="en-US" u="none" dirty="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813032" y="2366211"/>
            <a:ext cx="580445" cy="76723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398295" y="2366210"/>
            <a:ext cx="2184817" cy="2069431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sng" strike="noStrike" cap="none" normalizeH="0" baseline="0" smtClean="0">
              <a:ln>
                <a:noFill/>
              </a:ln>
              <a:solidFill>
                <a:schemeClr val="hlink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台塑體" panose="02010500000000000000" pitchFamily="2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59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379" y="1690688"/>
            <a:ext cx="5094667" cy="435133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88" y="4015662"/>
            <a:ext cx="4917307" cy="2340688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十二、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派送上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線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安裝確認單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96379" y="1132440"/>
            <a:ext cx="1210588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73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十三、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執行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狀況追蹤及確認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10" y="2672663"/>
            <a:ext cx="6759590" cy="384818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55610" y="1260629"/>
            <a:ext cx="8340745" cy="1569660"/>
          </a:xfrm>
          <a:prstGeom prst="rect">
            <a:avLst/>
          </a:prstGeom>
          <a:solidFill>
            <a:srgbClr val="FFFF66"/>
          </a:solidFill>
        </p:spPr>
        <p:txBody>
          <a:bodyPr wrap="none" rtlCol="0">
            <a:spAutoFit/>
          </a:bodyPr>
          <a:lstStyle/>
          <a:p>
            <a:r>
              <a:rPr lang="en-US" altLang="zh-TW" sz="2400" u="none" dirty="0" smtClean="0"/>
              <a:t>1.</a:t>
            </a:r>
            <a:r>
              <a:rPr lang="zh-TW" altLang="en-US" sz="2400" u="none" dirty="0" smtClean="0"/>
              <a:t>出表時機</a:t>
            </a:r>
            <a:r>
              <a:rPr lang="en-US" altLang="zh-TW" sz="2400" u="none" dirty="0" smtClean="0"/>
              <a:t>:</a:t>
            </a:r>
            <a:r>
              <a:rPr lang="zh-TW" altLang="en-US" sz="2400" u="none" dirty="0" smtClean="0"/>
              <a:t>作業</a:t>
            </a:r>
            <a:r>
              <a:rPr lang="zh-TW" altLang="en-US" sz="2400" u="none" dirty="0"/>
              <a:t>上線後三個</a:t>
            </a:r>
            <a:r>
              <a:rPr lang="zh-TW" altLang="en-US" sz="2400" u="none" dirty="0" smtClean="0"/>
              <a:t>月</a:t>
            </a:r>
            <a:endParaRPr lang="en-US" altLang="zh-TW" sz="2400" u="none" dirty="0" smtClean="0"/>
          </a:p>
          <a:p>
            <a:r>
              <a:rPr lang="en-US" altLang="zh-TW" sz="2400" u="none" dirty="0" smtClean="0"/>
              <a:t>2.</a:t>
            </a:r>
            <a:r>
              <a:rPr lang="zh-TW" altLang="en-US" sz="2400" u="none" dirty="0" smtClean="0"/>
              <a:t>無資料時可展延</a:t>
            </a:r>
            <a:r>
              <a:rPr lang="zh-TW" altLang="en-US" sz="2400" u="none" dirty="0"/>
              <a:t>，</a:t>
            </a:r>
            <a:r>
              <a:rPr lang="zh-TW" altLang="en-US" sz="2400" u="none" dirty="0" smtClean="0"/>
              <a:t>每次</a:t>
            </a:r>
            <a:r>
              <a:rPr lang="zh-TW" altLang="en-US" sz="2400" u="none" dirty="0"/>
              <a:t>展延三個</a:t>
            </a:r>
            <a:r>
              <a:rPr lang="zh-TW" altLang="en-US" sz="2400" u="none" dirty="0" smtClean="0"/>
              <a:t>月</a:t>
            </a:r>
            <a:endParaRPr lang="en-US" altLang="zh-TW" sz="2400" u="none" dirty="0" smtClean="0"/>
          </a:p>
          <a:p>
            <a:r>
              <a:rPr lang="en-US" altLang="zh-TW" sz="2400" u="none" dirty="0" smtClean="0"/>
              <a:t>3.</a:t>
            </a:r>
            <a:r>
              <a:rPr lang="zh-TW" altLang="en-US" sz="2400" u="none" dirty="0" smtClean="0"/>
              <a:t>屬</a:t>
            </a:r>
            <a:r>
              <a:rPr lang="zh-TW" altLang="en-US" sz="2400" u="none" dirty="0"/>
              <a:t>異常</a:t>
            </a:r>
            <a:r>
              <a:rPr lang="zh-TW" altLang="en-US" sz="2400" u="none" dirty="0" smtClean="0"/>
              <a:t>單或不定時性質作業，展延</a:t>
            </a:r>
            <a:r>
              <a:rPr lang="en-US" altLang="zh-TW" sz="2400" u="none" dirty="0" smtClean="0"/>
              <a:t>1</a:t>
            </a:r>
            <a:r>
              <a:rPr lang="zh-TW" altLang="en-US" sz="2400" u="none" dirty="0" smtClean="0"/>
              <a:t>次</a:t>
            </a:r>
            <a:r>
              <a:rPr lang="zh-TW" altLang="en-US" sz="2400" u="none" dirty="0"/>
              <a:t>後仍無資料</a:t>
            </a:r>
            <a:r>
              <a:rPr lang="zh-TW" altLang="en-US" sz="2400" u="none" dirty="0" smtClean="0"/>
              <a:t>，可結案</a:t>
            </a:r>
            <a:endParaRPr lang="en-US" altLang="zh-TW" sz="2400" u="none" dirty="0" smtClean="0"/>
          </a:p>
          <a:p>
            <a:r>
              <a:rPr lang="en-US" altLang="zh-TW" sz="2400" u="none" dirty="0" smtClean="0"/>
              <a:t>4.</a:t>
            </a:r>
            <a:r>
              <a:rPr lang="zh-TW" altLang="en-US" sz="2400" u="none" dirty="0" smtClean="0"/>
              <a:t>其餘</a:t>
            </a:r>
            <a:r>
              <a:rPr lang="zh-TW" altLang="en-US" sz="2400" b="1" u="none" dirty="0"/>
              <a:t>應</a:t>
            </a:r>
            <a:r>
              <a:rPr lang="zh-TW" altLang="en-US" sz="2400" b="1" u="none" dirty="0" smtClean="0"/>
              <a:t>使用作業需追蹤至有資料方可結案</a:t>
            </a:r>
            <a:endParaRPr lang="zh-TW" altLang="en-US" sz="2400" u="none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12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495" y="2597132"/>
            <a:ext cx="6286500" cy="38671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47767" y="1820744"/>
            <a:ext cx="4224233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sz="1800" b="1" u="none" dirty="0"/>
              <a:t>「上線後應使用卻無使用紀錄」時</a:t>
            </a:r>
            <a:r>
              <a:rPr lang="zh-TW" altLang="en-US" sz="1800" b="1" u="none" dirty="0" smtClean="0"/>
              <a:t>，</a:t>
            </a:r>
            <a:endParaRPr lang="en-US" altLang="zh-TW" sz="1800" b="1" u="none" dirty="0" smtClean="0"/>
          </a:p>
          <a:p>
            <a:r>
              <a:rPr lang="zh-TW" altLang="en-US" sz="1800" b="1" u="none" dirty="0" smtClean="0"/>
              <a:t>應</a:t>
            </a:r>
            <a:r>
              <a:rPr lang="zh-TW" altLang="en-US" sz="1800" b="1" u="none" dirty="0"/>
              <a:t>通知機能組了解原因，作法如下說明</a:t>
            </a:r>
            <a:r>
              <a:rPr lang="en-US" altLang="zh-TW" sz="1800" b="1" u="none" dirty="0"/>
              <a:t>:</a:t>
            </a:r>
            <a:endParaRPr lang="zh-TW" altLang="en-US" sz="18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十三、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執行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狀況追蹤及確認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-2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539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24" y="3211503"/>
            <a:ext cx="4276268" cy="2194190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625" y="377825"/>
            <a:ext cx="88169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u="sng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r>
              <a:rPr lang="zh-TW" altLang="en-US" u="none" dirty="0" smtClean="0">
                <a:solidFill>
                  <a:schemeClr val="tx1"/>
                </a:solidFill>
              </a:rPr>
              <a:t>十三、</a:t>
            </a:r>
            <a:r>
              <a:rPr kumimoji="0" lang="zh-TW" altLang="en-US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執行</a:t>
            </a:r>
            <a:r>
              <a:rPr kumimoji="0" lang="zh-TW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狀況追蹤及確認</a:t>
            </a:r>
            <a:r>
              <a:rPr kumimoji="0" lang="en-US" altLang="zh-TW" u="none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-3</a:t>
            </a:r>
            <a:endParaRPr kumimoji="0" lang="zh-TW" altLang="en-US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92" y="2332769"/>
            <a:ext cx="4339791" cy="260115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069" y="4147968"/>
            <a:ext cx="4121740" cy="257350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96379" y="1132440"/>
            <a:ext cx="5349314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2400" u="none" dirty="0" smtClean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確認附件範例</a:t>
            </a:r>
            <a:r>
              <a:rPr lang="en-US" altLang="zh-TW" sz="2400" u="none" dirty="0" smtClean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</a:t>
            </a:r>
          </a:p>
          <a:p>
            <a:r>
              <a:rPr lang="en-US" altLang="zh-TW" sz="2400" u="none" dirty="0" smtClean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1.</a:t>
            </a:r>
            <a:r>
              <a:rPr lang="zh-TW" altLang="en-US" sz="2400" u="none" dirty="0" smtClean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程式</a:t>
            </a:r>
            <a:r>
              <a:rPr lang="zh-TW" altLang="en-US" sz="2400" u="none" dirty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實際</a:t>
            </a:r>
            <a:r>
              <a:rPr lang="zh-TW" altLang="en-US" sz="2400" u="none" dirty="0" smtClean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畫面</a:t>
            </a:r>
            <a:endParaRPr lang="zh-TW" altLang="en-US" sz="2400" u="none" dirty="0">
              <a:solidFill>
                <a:srgbClr val="FF00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r>
              <a:rPr lang="en-US" altLang="zh-TW" sz="2400" u="none" dirty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2.</a:t>
            </a:r>
            <a:r>
              <a:rPr lang="zh-TW" altLang="en-US" sz="2400" u="none" dirty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電腦作業執行狀況</a:t>
            </a:r>
            <a:r>
              <a:rPr lang="zh-TW" altLang="en-US" sz="2400" u="none" dirty="0" smtClean="0">
                <a:solidFill>
                  <a:srgbClr val="FF00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統計表</a:t>
            </a:r>
            <a:endParaRPr lang="en-US" altLang="zh-TW" sz="2400" u="none" dirty="0" smtClean="0">
              <a:solidFill>
                <a:srgbClr val="FF00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25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596" y="1377373"/>
            <a:ext cx="6057900" cy="4953000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87928" y="66501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Oracle DS11g ERP</a:t>
            </a:r>
            <a:r>
              <a:rPr kumimoji="0" lang="zh-TW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程式設計規範</a:t>
            </a:r>
            <a:r>
              <a:rPr kumimoji="0" lang="zh-TW" altLang="en-US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1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</a:t>
            </a:r>
            <a:r>
              <a:rPr lang="zh-TW" altLang="en-US" dirty="0" smtClean="0"/>
              <a:t>  </a:t>
            </a:r>
            <a:r>
              <a:rPr lang="en-US" altLang="zh-TW" dirty="0" smtClean="0"/>
              <a:t>END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3335867" y="456410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chemeClr val="tx1"/>
                </a:solidFill>
              </a:rPr>
              <a:t>謝謝各位指教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01EB1-5D0F-41E4-8197-B608D12AE9CD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14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aring">
  <a:themeElements>
    <a:clrScheme name="自訂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0000FF"/>
      </a:hlink>
      <a:folHlink>
        <a:srgbClr val="FFFF00"/>
      </a:folHlink>
    </a:clrScheme>
    <a:fontScheme name="Soaring">
      <a:majorFont>
        <a:latin typeface="Arial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3200" b="0" i="0" u="sng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標楷體" panose="03000509000000000000" pitchFamily="65" charset="-120"/>
            <a:ea typeface="標楷體" panose="03000509000000000000" pitchFamily="65" charset="-120"/>
            <a:cs typeface="台塑體" panose="02010500000000000000" pitchFamily="2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sng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標楷體" panose="03000509000000000000" pitchFamily="65" charset="-120"/>
            <a:ea typeface="標楷體" panose="03000509000000000000" pitchFamily="65" charset="-120"/>
            <a:cs typeface="台塑體" panose="02010500000000000000" pitchFamily="2" charset="-12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6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FF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65082</TotalTime>
  <Words>1069</Words>
  <Application>Microsoft Office PowerPoint</Application>
  <PresentationFormat>如螢幕大小 (4:3)</PresentationFormat>
  <Paragraphs>232</Paragraphs>
  <Slides>54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1" baseType="lpstr">
      <vt:lpstr>台塑體</vt:lpstr>
      <vt:lpstr>新細明體</vt:lpstr>
      <vt:lpstr>標楷體</vt:lpstr>
      <vt:lpstr>Arial</vt:lpstr>
      <vt:lpstr>Times New Roman</vt:lpstr>
      <vt:lpstr>Wingdings</vt:lpstr>
      <vt:lpstr>Soaring</vt:lpstr>
      <vt:lpstr>ERP程式開發流程及 設計規範說明</vt:lpstr>
      <vt:lpstr>綱要</vt:lpstr>
      <vt:lpstr>ERP程式開發流程簡介 </vt:lpstr>
      <vt:lpstr>電腦作業規劃設計流程圖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螢幕程式設計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報表程式設計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處理程式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程式測試</vt:lpstr>
      <vt:lpstr>測試區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 END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00RK10/張志傑</dc:creator>
  <cp:lastModifiedBy>00RK20/陳雅婷</cp:lastModifiedBy>
  <cp:revision>3728</cp:revision>
  <cp:lastPrinted>2018-01-04T04:28:36Z</cp:lastPrinted>
  <dcterms:created xsi:type="dcterms:W3CDTF">2001-08-15T01:53:23Z</dcterms:created>
  <dcterms:modified xsi:type="dcterms:W3CDTF">2024-05-02T05:55:07Z</dcterms:modified>
</cp:coreProperties>
</file>