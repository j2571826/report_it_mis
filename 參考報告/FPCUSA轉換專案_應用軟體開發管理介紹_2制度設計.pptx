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19"/>
  </p:notesMasterIdLst>
  <p:handoutMasterIdLst>
    <p:handoutMasterId r:id="rId20"/>
  </p:handoutMasterIdLst>
  <p:sldIdLst>
    <p:sldId id="537" r:id="rId2"/>
    <p:sldId id="601" r:id="rId3"/>
    <p:sldId id="488" r:id="rId4"/>
    <p:sldId id="501" r:id="rId5"/>
    <p:sldId id="502" r:id="rId6"/>
    <p:sldId id="538" r:id="rId7"/>
    <p:sldId id="600" r:id="rId8"/>
    <p:sldId id="513" r:id="rId9"/>
    <p:sldId id="539" r:id="rId10"/>
    <p:sldId id="540" r:id="rId11"/>
    <p:sldId id="541" r:id="rId12"/>
    <p:sldId id="603" r:id="rId13"/>
    <p:sldId id="604" r:id="rId14"/>
    <p:sldId id="605" r:id="rId15"/>
    <p:sldId id="606" r:id="rId16"/>
    <p:sldId id="607" r:id="rId17"/>
    <p:sldId id="602" r:id="rId18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E5E5"/>
    <a:srgbClr val="FFEFEF"/>
    <a:srgbClr val="FFEBEB"/>
    <a:srgbClr val="FF7D7D"/>
    <a:srgbClr val="ECA890"/>
    <a:srgbClr val="FFCCCC"/>
    <a:srgbClr val="CC0099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55" autoAdjust="0"/>
    <p:restoredTop sz="93834" autoAdjust="0"/>
  </p:normalViewPr>
  <p:slideViewPr>
    <p:cSldViewPr snapToGrid="0">
      <p:cViewPr varScale="1">
        <p:scale>
          <a:sx n="83" d="100"/>
          <a:sy n="83" d="100"/>
        </p:scale>
        <p:origin x="3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9FE17B-0309-43F4-A166-43322B09A8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63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=""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=""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=""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=""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="" xmlns:a16="http://schemas.microsoft.com/office/drawing/2014/main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="" xmlns:a16="http://schemas.microsoft.com/office/drawing/2014/main" id="{463D7850-C2A6-43CE-BBE4-8E81A0A59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="" xmlns:a16="http://schemas.microsoft.com/office/drawing/2014/main" id="{EBAD3E03-2E3B-440C-9105-6F9D33006D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="" xmlns:a16="http://schemas.microsoft.com/office/drawing/2014/main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="" xmlns:a16="http://schemas.microsoft.com/office/drawing/2014/main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="" xmlns:a16="http://schemas.microsoft.com/office/drawing/2014/main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="" xmlns:a16="http://schemas.microsoft.com/office/drawing/2014/main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="" xmlns:a16="http://schemas.microsoft.com/office/drawing/2014/main" id="{463D7850-C2A6-43CE-BBE4-8E81A0A59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="" xmlns:a16="http://schemas.microsoft.com/office/drawing/2014/main" id="{EBAD3E03-2E3B-440C-9105-6F9D33006D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="" xmlns:a16="http://schemas.microsoft.com/office/drawing/2014/main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="" xmlns:a16="http://schemas.microsoft.com/office/drawing/2014/main" id="{D600C692-560F-EE93-3168-FE5CBBFD5C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="" xmlns:a16="http://schemas.microsoft.com/office/drawing/2014/main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="" xmlns:a16="http://schemas.microsoft.com/office/drawing/2014/main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="" xmlns:a16="http://schemas.microsoft.com/office/drawing/2014/main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="" xmlns:a16="http://schemas.microsoft.com/office/drawing/2014/main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="" xmlns:a16="http://schemas.microsoft.com/office/drawing/2014/main" id="{D600C692-560F-EE93-3168-FE5CBBFD5C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="" xmlns:a16="http://schemas.microsoft.com/office/drawing/2014/main" id="{B38B0D13-BD5F-460B-B337-F4A9342026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="" xmlns:a16="http://schemas.microsoft.com/office/drawing/2014/main" id="{BE72876B-D3DA-4462-9E24-3354D8D02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="" xmlns:a16="http://schemas.microsoft.com/office/drawing/2014/main" id="{14A539B6-6E3F-41BA-ACE2-76E8BB6516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="" xmlns:a16="http://schemas.microsoft.com/office/drawing/2014/main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="" xmlns:a16="http://schemas.microsoft.com/office/drawing/2014/main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=""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="" xmlns:a16="http://schemas.microsoft.com/office/drawing/2014/main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="" xmlns:a16="http://schemas.microsoft.com/office/drawing/2014/main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="" xmlns:a16="http://schemas.microsoft.com/office/drawing/2014/main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="" xmlns:a16="http://schemas.microsoft.com/office/drawing/2014/main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="" xmlns:a16="http://schemas.microsoft.com/office/drawing/2014/main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22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=""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  <p:sldLayoutId id="2147484323" r:id="rId8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29640" y="2523744"/>
            <a:ext cx="10332720" cy="16543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TW" altLang="en-US" dirty="0"/>
              <a:t>資訊系統設計</a:t>
            </a:r>
            <a:r>
              <a:rPr lang="zh-TW" altLang="en-US" dirty="0" smtClean="0"/>
              <a:t>程序</a:t>
            </a:r>
            <a:r>
              <a:rPr lang="en-US" altLang="zh-TW" dirty="0" smtClean="0"/>
              <a:t>/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制度設計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dirty="0" smtClean="0"/>
              <a:t>電腦</a:t>
            </a:r>
            <a:r>
              <a:rPr lang="zh-TW" altLang="zh-TW" dirty="0"/>
              <a:t>作業編寫原則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CAB1B36F-E24D-4069-BCF5-2DCEE0D5CA81}"/>
              </a:ext>
            </a:extLst>
          </p:cNvPr>
          <p:cNvSpPr/>
          <p:nvPr/>
        </p:nvSpPr>
        <p:spPr>
          <a:xfrm>
            <a:off x="8307705" y="3750893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P00026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規章及表單管理辦法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13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資訊系統設計</a:t>
            </a:r>
            <a:r>
              <a:rPr lang="zh-TW" altLang="en-US" dirty="0" smtClean="0"/>
              <a:t>程序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329200" y="1600442"/>
            <a:ext cx="2880000" cy="2020582"/>
            <a:chOff x="1330011" y="2219559"/>
            <a:chExt cx="2880000" cy="1334296"/>
          </a:xfrm>
        </p:grpSpPr>
        <p:sp>
          <p:nvSpPr>
            <p:cNvPr id="41" name="圓角矩形 40"/>
            <p:cNvSpPr/>
            <p:nvPr/>
          </p:nvSpPr>
          <p:spPr>
            <a:xfrm>
              <a:off x="1330011" y="221955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手繪多邊形 41"/>
            <p:cNvSpPr/>
            <p:nvPr/>
          </p:nvSpPr>
          <p:spPr>
            <a:xfrm>
              <a:off x="1427307" y="2654477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編寫原則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493738" y="1577650"/>
            <a:ext cx="2880000" cy="4752000"/>
            <a:chOff x="4408551" y="1647100"/>
            <a:chExt cx="2880000" cy="4752000"/>
          </a:xfrm>
        </p:grpSpPr>
        <p:sp>
          <p:nvSpPr>
            <p:cNvPr id="44" name="圓角矩形 43"/>
            <p:cNvSpPr/>
            <p:nvPr/>
          </p:nvSpPr>
          <p:spPr>
            <a:xfrm>
              <a:off x="4408551" y="1647100"/>
              <a:ext cx="2880000" cy="4752000"/>
            </a:xfrm>
            <a:prstGeom prst="roundRect">
              <a:avLst>
                <a:gd name="adj" fmla="val 4276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8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endParaRPr lang="en-US" altLang="zh-TW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手繪多邊形 44"/>
            <p:cNvSpPr/>
            <p:nvPr/>
          </p:nvSpPr>
          <p:spPr>
            <a:xfrm>
              <a:off x="4494720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履歷建立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手繪多邊形 45"/>
            <p:cNvSpPr/>
            <p:nvPr/>
          </p:nvSpPr>
          <p:spPr>
            <a:xfrm>
              <a:off x="4494720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程式開發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手繪多邊形 46"/>
            <p:cNvSpPr/>
            <p:nvPr/>
          </p:nvSpPr>
          <p:spPr>
            <a:xfrm>
              <a:off x="5083157" y="2565978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手繪多邊形 47"/>
            <p:cNvSpPr/>
            <p:nvPr/>
          </p:nvSpPr>
          <p:spPr>
            <a:xfrm>
              <a:off x="5083157" y="304891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9" name="手繪多邊形 48"/>
            <p:cNvSpPr/>
            <p:nvPr/>
          </p:nvSpPr>
          <p:spPr>
            <a:xfrm>
              <a:off x="5079720" y="5692924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0" name="手繪多邊形 49"/>
            <p:cNvSpPr/>
            <p:nvPr/>
          </p:nvSpPr>
          <p:spPr>
            <a:xfrm>
              <a:off x="5082054" y="4723588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圓角矩形 50"/>
          <p:cNvSpPr/>
          <p:nvPr/>
        </p:nvSpPr>
        <p:spPr>
          <a:xfrm>
            <a:off x="7697884" y="1579445"/>
            <a:ext cx="2880000" cy="4750205"/>
          </a:xfrm>
          <a:prstGeom prst="roundRect">
            <a:avLst>
              <a:gd name="adj" fmla="val 4276"/>
            </a:avLst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0" rIns="137160" bIns="136800" numCol="1" spcCol="1270" rtlCol="0" anchor="t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實施維護</a:t>
            </a:r>
            <a:endParaRPr lang="en-US" altLang="zh-TW" sz="28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2" name="群組 51"/>
          <p:cNvGrpSpPr/>
          <p:nvPr/>
        </p:nvGrpSpPr>
        <p:grpSpPr>
          <a:xfrm>
            <a:off x="7787884" y="2070821"/>
            <a:ext cx="2700000" cy="2004992"/>
            <a:chOff x="7739739" y="2140271"/>
            <a:chExt cx="2700000" cy="2004992"/>
          </a:xfrm>
        </p:grpSpPr>
        <p:sp>
          <p:nvSpPr>
            <p:cNvPr id="53" name="手繪多邊形 52"/>
            <p:cNvSpPr/>
            <p:nvPr/>
          </p:nvSpPr>
          <p:spPr>
            <a:xfrm>
              <a:off x="7739739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作業實施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4" name="手繪多邊形 53"/>
            <p:cNvSpPr/>
            <p:nvPr/>
          </p:nvSpPr>
          <p:spPr>
            <a:xfrm>
              <a:off x="8369739" y="25700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程式派送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5" name="手繪多邊形 54"/>
            <p:cNvSpPr/>
            <p:nvPr/>
          </p:nvSpPr>
          <p:spPr>
            <a:xfrm>
              <a:off x="8369739" y="306736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排程申請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6" name="手繪多邊形 55"/>
            <p:cNvSpPr/>
            <p:nvPr/>
          </p:nvSpPr>
          <p:spPr>
            <a:xfrm>
              <a:off x="8369739" y="3553855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安裝確認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7787884" y="4137481"/>
            <a:ext cx="2700000" cy="2031823"/>
            <a:chOff x="7739739" y="4206931"/>
            <a:chExt cx="2700000" cy="2031823"/>
          </a:xfrm>
        </p:grpSpPr>
        <p:sp>
          <p:nvSpPr>
            <p:cNvPr id="58" name="手繪多邊形 57"/>
            <p:cNvSpPr/>
            <p:nvPr/>
          </p:nvSpPr>
          <p:spPr>
            <a:xfrm>
              <a:off x="7739739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作業維護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9" name="手繪多邊形 58"/>
            <p:cNvSpPr/>
            <p:nvPr/>
          </p:nvSpPr>
          <p:spPr>
            <a:xfrm>
              <a:off x="7809793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異常管理</a:t>
              </a:r>
              <a:endParaRPr lang="zh-TW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0" name="手繪多邊形 59"/>
            <p:cNvSpPr/>
            <p:nvPr/>
          </p:nvSpPr>
          <p:spPr>
            <a:xfrm>
              <a:off x="78084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欄位異動</a:t>
              </a:r>
              <a:endParaRPr lang="zh-TW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1" name="手繪多邊形 60"/>
            <p:cNvSpPr/>
            <p:nvPr/>
          </p:nvSpPr>
          <p:spPr>
            <a:xfrm>
              <a:off x="7808400" y="5667416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自主檢查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2" name="手繪多邊形 61"/>
            <p:cNvSpPr/>
            <p:nvPr/>
          </p:nvSpPr>
          <p:spPr>
            <a:xfrm>
              <a:off x="9108000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3" name="手繪多邊形 62"/>
            <p:cNvSpPr/>
            <p:nvPr/>
          </p:nvSpPr>
          <p:spPr>
            <a:xfrm>
              <a:off x="91080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磁碟</a:t>
              </a: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手繪多邊形 63"/>
            <p:cNvSpPr/>
            <p:nvPr/>
          </p:nvSpPr>
          <p:spPr>
            <a:xfrm>
              <a:off x="9108000" y="5670828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作業交接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1325974" y="3937084"/>
            <a:ext cx="2880000" cy="2392566"/>
            <a:chOff x="1326785" y="3643049"/>
            <a:chExt cx="2880000" cy="1334296"/>
          </a:xfrm>
        </p:grpSpPr>
        <p:sp>
          <p:nvSpPr>
            <p:cNvPr id="66" name="圓角矩形 65"/>
            <p:cNvSpPr/>
            <p:nvPr/>
          </p:nvSpPr>
          <p:spPr>
            <a:xfrm>
              <a:off x="1326785" y="364304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</a:t>
              </a:r>
              <a:r>
                <a:rPr lang="zh-TW" altLang="en-US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7" name="手繪多邊形 66"/>
            <p:cNvSpPr/>
            <p:nvPr/>
          </p:nvSpPr>
          <p:spPr>
            <a:xfrm>
              <a:off x="1424081" y="4034624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系統文件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向下箭號 67"/>
          <p:cNvSpPr/>
          <p:nvPr/>
        </p:nvSpPr>
        <p:spPr>
          <a:xfrm>
            <a:off x="2511331" y="3632840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9" name="向下箭號 68"/>
          <p:cNvSpPr/>
          <p:nvPr/>
        </p:nvSpPr>
        <p:spPr>
          <a:xfrm rot="-5400000">
            <a:off x="4105163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0" name="向下箭號 69"/>
          <p:cNvSpPr/>
          <p:nvPr/>
        </p:nvSpPr>
        <p:spPr>
          <a:xfrm rot="-5400000">
            <a:off x="7275191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手繪多邊形 34"/>
          <p:cNvSpPr/>
          <p:nvPr/>
        </p:nvSpPr>
        <p:spPr>
          <a:xfrm>
            <a:off x="5164907" y="5145287"/>
            <a:ext cx="1440000" cy="452679"/>
          </a:xfrm>
          <a:custGeom>
            <a:avLst/>
            <a:gdLst>
              <a:gd name="connsiteX0" fmla="*/ 0 w 2617576"/>
              <a:gd name="connsiteY0" fmla="*/ 146276 h 1462763"/>
              <a:gd name="connsiteX1" fmla="*/ 146276 w 2617576"/>
              <a:gd name="connsiteY1" fmla="*/ 0 h 1462763"/>
              <a:gd name="connsiteX2" fmla="*/ 2471300 w 2617576"/>
              <a:gd name="connsiteY2" fmla="*/ 0 h 1462763"/>
              <a:gd name="connsiteX3" fmla="*/ 2617576 w 2617576"/>
              <a:gd name="connsiteY3" fmla="*/ 146276 h 1462763"/>
              <a:gd name="connsiteX4" fmla="*/ 2617576 w 2617576"/>
              <a:gd name="connsiteY4" fmla="*/ 1316487 h 1462763"/>
              <a:gd name="connsiteX5" fmla="*/ 2471300 w 2617576"/>
              <a:gd name="connsiteY5" fmla="*/ 1462763 h 1462763"/>
              <a:gd name="connsiteX6" fmla="*/ 146276 w 2617576"/>
              <a:gd name="connsiteY6" fmla="*/ 1462763 h 1462763"/>
              <a:gd name="connsiteX7" fmla="*/ 0 w 2617576"/>
              <a:gd name="connsiteY7" fmla="*/ 1316487 h 1462763"/>
              <a:gd name="connsiteX8" fmla="*/ 0 w 2617576"/>
              <a:gd name="connsiteY8" fmla="*/ 146276 h 146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7576" h="1462763">
                <a:moveTo>
                  <a:pt x="0" y="146276"/>
                </a:moveTo>
                <a:cubicBezTo>
                  <a:pt x="0" y="65490"/>
                  <a:pt x="65490" y="0"/>
                  <a:pt x="146276" y="0"/>
                </a:cubicBezTo>
                <a:lnTo>
                  <a:pt x="2471300" y="0"/>
                </a:lnTo>
                <a:cubicBezTo>
                  <a:pt x="2552086" y="0"/>
                  <a:pt x="2617576" y="65490"/>
                  <a:pt x="2617576" y="146276"/>
                </a:cubicBezTo>
                <a:lnTo>
                  <a:pt x="2617576" y="1316487"/>
                </a:lnTo>
                <a:cubicBezTo>
                  <a:pt x="2617576" y="1397273"/>
                  <a:pt x="2552086" y="1462763"/>
                  <a:pt x="2471300" y="1462763"/>
                </a:cubicBezTo>
                <a:lnTo>
                  <a:pt x="146276" y="1462763"/>
                </a:lnTo>
                <a:cubicBezTo>
                  <a:pt x="65490" y="1462763"/>
                  <a:pt x="0" y="1397273"/>
                  <a:pt x="0" y="1316487"/>
                </a:cubicBezTo>
                <a:lnTo>
                  <a:pt x="0" y="146276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963" tIns="96183" rIns="113963" bIns="96183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授權申請</a:t>
            </a:r>
            <a:endParaRPr lang="zh-TW" altLang="en-US" sz="2000" kern="12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8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="" xmlns:a16="http://schemas.microsoft.com/office/drawing/2014/main" id="{7267C23E-B90C-D68A-F2B6-3E31184F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制度</a:t>
            </a:r>
            <a:r>
              <a:rPr lang="zh-TW" altLang="en-US" dirty="0" smtClean="0">
                <a:solidFill>
                  <a:schemeClr val="tx1"/>
                </a:solidFill>
              </a:rPr>
              <a:t>設計</a:t>
            </a:r>
            <a:r>
              <a:rPr lang="zh-TW" altLang="en-US" sz="32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="" xmlns:a16="http://schemas.microsoft.com/office/drawing/2014/main" id="{36A81306-2547-D5BC-6DE7-ED05BED86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9073" y="1648151"/>
            <a:ext cx="7574217" cy="409428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見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林後見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樹：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66700" lvl="1" indent="0">
              <a:spcBef>
                <a:spcPts val="600"/>
              </a:spcBef>
              <a:buNone/>
              <a:defRPr/>
            </a:pPr>
            <a:r>
              <a:rPr lang="zh-TW" altLang="en-US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先定義管理規則</a:t>
            </a:r>
            <a:r>
              <a:rPr lang="en-US" altLang="zh-TW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母法</a:t>
            </a:r>
            <a:r>
              <a:rPr lang="en-US" altLang="zh-TW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，再談細則、電腦作業說明。</a:t>
            </a:r>
          </a:p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追求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合理化流程，方能形成制度。</a:t>
            </a:r>
          </a:p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一次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輸入、多層次運用。</a:t>
            </a:r>
          </a:p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環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環相扣、相互勾稽。</a:t>
            </a:r>
          </a:p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經由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「異常管理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多次催辦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+OA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」的機制來落實制度。</a:t>
            </a:r>
          </a:p>
          <a:p>
            <a:pPr>
              <a:spcBef>
                <a:spcPts val="60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反覆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檢討制度之管理機能是否有發揮。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8749960" y="1803599"/>
            <a:ext cx="2288988" cy="4492412"/>
            <a:chOff x="8557936" y="1657295"/>
            <a:chExt cx="2288988" cy="4492412"/>
          </a:xfrm>
        </p:grpSpPr>
        <p:grpSp>
          <p:nvGrpSpPr>
            <p:cNvPr id="17" name="群組 16"/>
            <p:cNvGrpSpPr/>
            <p:nvPr/>
          </p:nvGrpSpPr>
          <p:grpSpPr>
            <a:xfrm>
              <a:off x="8557936" y="1657295"/>
              <a:ext cx="2288988" cy="4492412"/>
              <a:chOff x="4790608" y="719666"/>
              <a:chExt cx="2610783" cy="5418666"/>
            </a:xfrm>
          </p:grpSpPr>
          <p:sp>
            <p:nvSpPr>
              <p:cNvPr id="18" name="圓形箭號 17"/>
              <p:cNvSpPr/>
              <p:nvPr/>
            </p:nvSpPr>
            <p:spPr>
              <a:xfrm>
                <a:off x="5358220" y="719666"/>
                <a:ext cx="2043171" cy="2043379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手繪多邊形 19"/>
              <p:cNvSpPr/>
              <p:nvPr/>
            </p:nvSpPr>
            <p:spPr>
              <a:xfrm>
                <a:off x="5809319" y="1459314"/>
                <a:ext cx="1140205" cy="570043"/>
              </a:xfrm>
              <a:custGeom>
                <a:avLst/>
                <a:gdLst>
                  <a:gd name="connsiteX0" fmla="*/ 0 w 1140205"/>
                  <a:gd name="connsiteY0" fmla="*/ 0 h 570043"/>
                  <a:gd name="connsiteX1" fmla="*/ 1140205 w 1140205"/>
                  <a:gd name="connsiteY1" fmla="*/ 0 h 570043"/>
                  <a:gd name="connsiteX2" fmla="*/ 1140205 w 1140205"/>
                  <a:gd name="connsiteY2" fmla="*/ 570043 h 570043"/>
                  <a:gd name="connsiteX3" fmla="*/ 0 w 1140205"/>
                  <a:gd name="connsiteY3" fmla="*/ 570043 h 570043"/>
                  <a:gd name="connsiteX4" fmla="*/ 0 w 1140205"/>
                  <a:gd name="connsiteY4" fmla="*/ 0 h 57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0205" h="570043">
                    <a:moveTo>
                      <a:pt x="0" y="0"/>
                    </a:moveTo>
                    <a:lnTo>
                      <a:pt x="1140205" y="0"/>
                    </a:lnTo>
                    <a:lnTo>
                      <a:pt x="1140205" y="570043"/>
                    </a:lnTo>
                    <a:lnTo>
                      <a:pt x="0" y="57004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3495" tIns="23495" rIns="23495" bIns="23495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TW" altLang="en-US" sz="3700" kern="1200"/>
              </a:p>
            </p:txBody>
          </p:sp>
          <p:sp>
            <p:nvSpPr>
              <p:cNvPr id="21" name="圖案 20"/>
              <p:cNvSpPr/>
              <p:nvPr/>
            </p:nvSpPr>
            <p:spPr>
              <a:xfrm>
                <a:off x="4790608" y="1893891"/>
                <a:ext cx="2043171" cy="2043379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手繪多邊形 21"/>
              <p:cNvSpPr/>
              <p:nvPr/>
            </p:nvSpPr>
            <p:spPr>
              <a:xfrm>
                <a:off x="5239408" y="2635706"/>
                <a:ext cx="1140205" cy="570043"/>
              </a:xfrm>
              <a:custGeom>
                <a:avLst/>
                <a:gdLst>
                  <a:gd name="connsiteX0" fmla="*/ 0 w 1140205"/>
                  <a:gd name="connsiteY0" fmla="*/ 0 h 570043"/>
                  <a:gd name="connsiteX1" fmla="*/ 1140205 w 1140205"/>
                  <a:gd name="connsiteY1" fmla="*/ 0 h 570043"/>
                  <a:gd name="connsiteX2" fmla="*/ 1140205 w 1140205"/>
                  <a:gd name="connsiteY2" fmla="*/ 570043 h 570043"/>
                  <a:gd name="connsiteX3" fmla="*/ 0 w 1140205"/>
                  <a:gd name="connsiteY3" fmla="*/ 570043 h 570043"/>
                  <a:gd name="connsiteX4" fmla="*/ 0 w 1140205"/>
                  <a:gd name="connsiteY4" fmla="*/ 0 h 57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0205" h="570043">
                    <a:moveTo>
                      <a:pt x="0" y="0"/>
                    </a:moveTo>
                    <a:lnTo>
                      <a:pt x="1140205" y="0"/>
                    </a:lnTo>
                    <a:lnTo>
                      <a:pt x="1140205" y="570043"/>
                    </a:lnTo>
                    <a:lnTo>
                      <a:pt x="0" y="57004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3495" tIns="23495" rIns="23495" bIns="23495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TW" altLang="en-US" sz="3700" kern="1200"/>
              </a:p>
            </p:txBody>
          </p:sp>
          <p:sp>
            <p:nvSpPr>
              <p:cNvPr id="23" name="圓形箭號 22"/>
              <p:cNvSpPr/>
              <p:nvPr/>
            </p:nvSpPr>
            <p:spPr>
              <a:xfrm>
                <a:off x="5358220" y="3072451"/>
                <a:ext cx="2043171" cy="2043379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4" name="手繪多邊形 23"/>
              <p:cNvSpPr/>
              <p:nvPr/>
            </p:nvSpPr>
            <p:spPr>
              <a:xfrm>
                <a:off x="5809319" y="3812099"/>
                <a:ext cx="1140205" cy="570043"/>
              </a:xfrm>
              <a:custGeom>
                <a:avLst/>
                <a:gdLst>
                  <a:gd name="connsiteX0" fmla="*/ 0 w 1140205"/>
                  <a:gd name="connsiteY0" fmla="*/ 0 h 570043"/>
                  <a:gd name="connsiteX1" fmla="*/ 1140205 w 1140205"/>
                  <a:gd name="connsiteY1" fmla="*/ 0 h 570043"/>
                  <a:gd name="connsiteX2" fmla="*/ 1140205 w 1140205"/>
                  <a:gd name="connsiteY2" fmla="*/ 570043 h 570043"/>
                  <a:gd name="connsiteX3" fmla="*/ 0 w 1140205"/>
                  <a:gd name="connsiteY3" fmla="*/ 570043 h 570043"/>
                  <a:gd name="connsiteX4" fmla="*/ 0 w 1140205"/>
                  <a:gd name="connsiteY4" fmla="*/ 0 h 57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0205" h="570043">
                    <a:moveTo>
                      <a:pt x="0" y="0"/>
                    </a:moveTo>
                    <a:lnTo>
                      <a:pt x="1140205" y="0"/>
                    </a:lnTo>
                    <a:lnTo>
                      <a:pt x="1140205" y="570043"/>
                    </a:lnTo>
                    <a:lnTo>
                      <a:pt x="0" y="57004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4130" tIns="24130" rIns="24130" bIns="24130" numCol="1" spcCol="1270" anchor="ctr" anchorCtr="0">
                <a:noAutofit/>
              </a:bodyPr>
              <a:lstStyle/>
              <a:p>
                <a:pPr lvl="0" algn="ctr" defTabSz="1689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TW" altLang="en-US" sz="3800" kern="1200"/>
              </a:p>
            </p:txBody>
          </p:sp>
          <p:sp>
            <p:nvSpPr>
              <p:cNvPr id="25" name="拱形 24"/>
              <p:cNvSpPr/>
              <p:nvPr/>
            </p:nvSpPr>
            <p:spPr>
              <a:xfrm>
                <a:off x="4936248" y="4382143"/>
                <a:ext cx="1755341" cy="1756189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rgbClr val="FFE5E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手繪多邊形 25"/>
              <p:cNvSpPr/>
              <p:nvPr/>
            </p:nvSpPr>
            <p:spPr>
              <a:xfrm>
                <a:off x="5239408" y="4988491"/>
                <a:ext cx="1140205" cy="570043"/>
              </a:xfrm>
              <a:custGeom>
                <a:avLst/>
                <a:gdLst>
                  <a:gd name="connsiteX0" fmla="*/ 0 w 1140205"/>
                  <a:gd name="connsiteY0" fmla="*/ 0 h 570043"/>
                  <a:gd name="connsiteX1" fmla="*/ 1140205 w 1140205"/>
                  <a:gd name="connsiteY1" fmla="*/ 0 h 570043"/>
                  <a:gd name="connsiteX2" fmla="*/ 1140205 w 1140205"/>
                  <a:gd name="connsiteY2" fmla="*/ 570043 h 570043"/>
                  <a:gd name="connsiteX3" fmla="*/ 0 w 1140205"/>
                  <a:gd name="connsiteY3" fmla="*/ 570043 h 570043"/>
                  <a:gd name="connsiteX4" fmla="*/ 0 w 1140205"/>
                  <a:gd name="connsiteY4" fmla="*/ 0 h 57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0205" h="570043">
                    <a:moveTo>
                      <a:pt x="0" y="0"/>
                    </a:moveTo>
                    <a:lnTo>
                      <a:pt x="1140205" y="0"/>
                    </a:lnTo>
                    <a:lnTo>
                      <a:pt x="1140205" y="570043"/>
                    </a:lnTo>
                    <a:lnTo>
                      <a:pt x="0" y="57004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3495" tIns="23495" rIns="23495" bIns="23495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TW" altLang="en-US" sz="3700" kern="1200"/>
              </a:p>
            </p:txBody>
          </p:sp>
        </p:grpSp>
        <p:sp>
          <p:nvSpPr>
            <p:cNvPr id="27" name="手繪多邊形 26"/>
            <p:cNvSpPr/>
            <p:nvPr/>
          </p:nvSpPr>
          <p:spPr>
            <a:xfrm>
              <a:off x="9387156" y="2059108"/>
              <a:ext cx="1132149" cy="772032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管理</a:t>
              </a:r>
              <a:endParaRPr lang="en-US" altLang="zh-TW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制度化</a:t>
              </a:r>
              <a:endParaRPr lang="zh-TW" altLang="en-US" sz="24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</p:txBody>
        </p:sp>
        <p:sp>
          <p:nvSpPr>
            <p:cNvPr id="28" name="手繪多邊形 27"/>
            <p:cNvSpPr/>
            <p:nvPr/>
          </p:nvSpPr>
          <p:spPr>
            <a:xfrm>
              <a:off x="8799069" y="3067655"/>
              <a:ext cx="1239932" cy="746168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制度</a:t>
              </a:r>
              <a:endPara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表單化</a:t>
              </a:r>
            </a:p>
          </p:txBody>
        </p:sp>
        <p:sp>
          <p:nvSpPr>
            <p:cNvPr id="29" name="手繪多邊形 28"/>
            <p:cNvSpPr/>
            <p:nvPr/>
          </p:nvSpPr>
          <p:spPr>
            <a:xfrm>
              <a:off x="9344934" y="4024231"/>
              <a:ext cx="1239932" cy="776195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表單</a:t>
              </a:r>
              <a:endPara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電腦化</a:t>
              </a:r>
            </a:p>
          </p:txBody>
        </p:sp>
        <p:sp>
          <p:nvSpPr>
            <p:cNvPr id="30" name="手繪多邊形 29"/>
            <p:cNvSpPr/>
            <p:nvPr/>
          </p:nvSpPr>
          <p:spPr>
            <a:xfrm>
              <a:off x="8840263" y="5061046"/>
              <a:ext cx="1239932" cy="776195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異常</a:t>
              </a:r>
              <a:endPara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lvl="0" algn="ctr" defTabSz="844550">
                <a:lnSpc>
                  <a:spcPts val="2200"/>
                </a:lnSpc>
                <a:spcBef>
                  <a:spcPct val="0"/>
                </a:spcBef>
              </a:pPr>
              <a:r>
                <a:rPr lang="zh-TW" altLang="en-US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跟</a:t>
              </a:r>
              <a:r>
                <a:rPr lang="zh-TW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催</a:t>
              </a: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32" name="圓角矩形 3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圓角矩形 3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圓角矩形 3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圓角矩形 3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36" name="向右箭號 3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7" name="向右箭號 3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8" name="向右箭號 3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63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4F3E85C7-6942-2177-D558-1DE75F1B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電腦作業編寫原則說明</a:t>
            </a:r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="" xmlns:a16="http://schemas.microsoft.com/office/drawing/2014/main" id="{7209A18C-A37B-F833-C0F9-99C3B318473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8946432"/>
              </p:ext>
            </p:extLst>
          </p:nvPr>
        </p:nvGraphicFramePr>
        <p:xfrm>
          <a:off x="1121525" y="1542333"/>
          <a:ext cx="9599760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424">
                  <a:extLst>
                    <a:ext uri="{9D8B030D-6E8A-4147-A177-3AD203B41FA5}">
                      <a16:colId xmlns="" xmlns:a16="http://schemas.microsoft.com/office/drawing/2014/main" val="1517315314"/>
                    </a:ext>
                  </a:extLst>
                </a:gridCol>
                <a:gridCol w="7433336">
                  <a:extLst>
                    <a:ext uri="{9D8B030D-6E8A-4147-A177-3AD203B41FA5}">
                      <a16:colId xmlns="" xmlns:a16="http://schemas.microsoft.com/office/drawing/2014/main" val="207612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章節架構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規定內容</a:t>
                      </a:r>
                      <a:endParaRPr lang="en-US" altLang="zh-TW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6771675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封面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標示規章名稱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適用範圍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規章編號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制定部門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原訂</a:t>
                      </a:r>
                      <a:r>
                        <a:rPr lang="en-US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新訂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日期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標示警語「本著作非經著作權人同意，不得轉載、翻印或轉售」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著作權人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8386326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目錄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將各條文標題及頁次標示，若有分章節則將各章節標題及條文標題標示。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3194292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綱要</a:t>
                      </a:r>
                      <a:endParaRPr lang="en-US" altLang="zh-TW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第一章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編定電腦作業之主要作業關聯及表單、螢幕之簡要說明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4822328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流程圖</a:t>
                      </a:r>
                      <a:endParaRPr lang="en-US" altLang="zh-TW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第二章</a:t>
                      </a:r>
                      <a:r>
                        <a:rPr lang="en-US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繪製電腦作業流程圖以說明電腦作業流程及各項螢幕、表單之關聯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360067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表單、螢幕說明</a:t>
                      </a:r>
                      <a:endParaRPr lang="en-US" altLang="zh-TW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第三章起</a:t>
                      </a:r>
                      <a:r>
                        <a:rPr lang="en-US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依序將各表單（螢幕）各自編為不同章別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2014284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en-US" altLang="zh-TW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最後一章</a:t>
                      </a:r>
                      <a:r>
                        <a:rPr lang="en-US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列舉各作業所使用之代號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其他相關</a:t>
                      </a:r>
                      <a:r>
                        <a:rPr lang="zh-TW" altLang="zh-TW" sz="20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資料時</a:t>
                      </a:r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，另以附件補充</a:t>
                      </a:r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90137846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0DE63ABF-C52D-86A7-91C7-0564E5652C3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3" name="圓角矩形 12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646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9AF4F8-59F7-C669-0025-9961DD47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78DB2AB-7179-23A4-C413-71FA04E9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電腦作業表單、螢幕設計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說明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="" xmlns:a16="http://schemas.microsoft.com/office/drawing/2014/main" id="{29282512-BE7D-FF1E-26E9-3912E189CD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6041301"/>
              </p:ext>
            </p:extLst>
          </p:nvPr>
        </p:nvGraphicFramePr>
        <p:xfrm>
          <a:off x="1037081" y="1473617"/>
          <a:ext cx="9789415" cy="3642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078">
                  <a:extLst>
                    <a:ext uri="{9D8B030D-6E8A-4147-A177-3AD203B41FA5}">
                      <a16:colId xmlns="" xmlns:a16="http://schemas.microsoft.com/office/drawing/2014/main" val="1517315314"/>
                    </a:ext>
                  </a:extLst>
                </a:gridCol>
                <a:gridCol w="8463337">
                  <a:extLst>
                    <a:ext uri="{9D8B030D-6E8A-4147-A177-3AD203B41FA5}">
                      <a16:colId xmlns="" xmlns:a16="http://schemas.microsoft.com/office/drawing/2014/main" val="207612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規定類別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規定內容</a:t>
                      </a:r>
                      <a:endParaRPr lang="en-US" altLang="zh-TW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67716755"/>
                  </a:ext>
                </a:extLst>
              </a:tr>
              <a:tr h="4157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格式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依「規章及表單管理辦法」之規定電腦作業說明一律以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A4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紙張橫式橫寫之方式編印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項次（段落章節）標示方式統一規定為：一、﹝一﹞、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、﹝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﹞、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a.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78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設計說明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應繪製輸出入表單或螢幕之格式、欄位名稱及欄位長度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marR="0" indent="-182563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訂定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欄位位數表示方式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，例：文字長度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X(3)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、數字長度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9(15,2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。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前後關聯作業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欄位位數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應一致。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88742074"/>
                  </a:ext>
                </a:extLst>
              </a:tr>
              <a:tr h="11111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命名原則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表單名稱統一為：一單一品者為「單」，一單多品者為「表」。</a:t>
                      </a:r>
                    </a:p>
                    <a:p>
                      <a:pPr marL="182563" indent="-182563" algn="l" defTabSz="685783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螢幕名稱統一為：供基礎資料建檔者，稱為「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建檔」；供異動資料輸入者，名為「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輸入」；僅供查詢資料者，則為「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查詢」。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86151DEF-4D60-4412-C2D2-A8BEF24A57A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3" name="圓角矩形 12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8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9AF4F8-59F7-C669-0025-9961DD47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78DB2AB-7179-23A4-C413-71FA04E9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電腦作業表單、螢幕設計</a:t>
            </a:r>
            <a:r>
              <a:rPr lang="zh-TW" altLang="zh-TW" dirty="0" smtClean="0"/>
              <a:t>說明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="" xmlns:a16="http://schemas.microsoft.com/office/drawing/2014/main" id="{29282512-BE7D-FF1E-26E9-3912E189CD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9477642"/>
              </p:ext>
            </p:extLst>
          </p:nvPr>
        </p:nvGraphicFramePr>
        <p:xfrm>
          <a:off x="1055503" y="1432645"/>
          <a:ext cx="9807569" cy="534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078">
                  <a:extLst>
                    <a:ext uri="{9D8B030D-6E8A-4147-A177-3AD203B41FA5}">
                      <a16:colId xmlns="" xmlns:a16="http://schemas.microsoft.com/office/drawing/2014/main" val="1517315314"/>
                    </a:ext>
                  </a:extLst>
                </a:gridCol>
                <a:gridCol w="8481491">
                  <a:extLst>
                    <a:ext uri="{9D8B030D-6E8A-4147-A177-3AD203B41FA5}">
                      <a16:colId xmlns="" xmlns:a16="http://schemas.microsoft.com/office/drawing/2014/main" val="207612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規定類別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規定內容</a:t>
                      </a:r>
                      <a:endParaRPr lang="en-US" altLang="zh-TW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67716755"/>
                  </a:ext>
                </a:extLst>
              </a:tr>
              <a:tr h="30877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別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說明所屬種類，計區分為人工表單、輸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出入表單、輸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出入螢幕及查詢螢幕等項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83863262"/>
                  </a:ext>
                </a:extLst>
              </a:tr>
              <a:tr h="28499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能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說明表單或螢幕之主要用途。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31942923"/>
                  </a:ext>
                </a:extLst>
              </a:tr>
              <a:tr h="29537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使用部門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 indent="-174625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填載表單或螢幕之使用部門名稱，如採購部門、會計部門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48223280"/>
                  </a:ext>
                </a:extLst>
              </a:tr>
              <a:tr h="27708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使用時機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說明表單或螢幕於何種狀況下使用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3600675"/>
                  </a:ext>
                </a:extLst>
              </a:tr>
              <a:tr h="441788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使用方法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螢幕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應說明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由何職務別人員使用、執行何工作內容及發揮何種作業機能。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表單應依照表單各聯流程詳細說明各流經部門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由何職務別人員經辦、執行何工作內容及擬發揮何種作業機能。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20142841"/>
                  </a:ext>
                </a:extLst>
              </a:tr>
              <a:tr h="1136623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欄位說明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料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性質用途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、資料來源、計算方式及公式、資料代碼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及意義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、應行注意事項等。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marR="0" indent="-182563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輸出入螢幕應述明各欄位異常管制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要點。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輸出報表應述明依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哪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些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欄位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為「跳頁依據」、「列表順序」及「合計條件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」</a:t>
                      </a:r>
                      <a:r>
                        <a:rPr lang="zh-TW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電腦處理簡要說明及應注意事項。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90137846"/>
                  </a:ext>
                </a:extLst>
              </a:tr>
              <a:tr h="187938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保存期限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電腦檔案或表單之保存期限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18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若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因會計原則或其他需要需以光碟形式保存者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，須說明之。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14845712"/>
                  </a:ext>
                </a:extLst>
              </a:tr>
              <a:tr h="397531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出表方式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批次處理機房列表或連線</a:t>
                      </a: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(ON-LINE)</a:t>
                      </a: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及時列表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10705440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作業流程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各表單填寫聯數及各聯流程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43941201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86151DEF-4D60-4412-C2D2-A8BEF24A57A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3" name="圓角矩形 12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748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電腦作業流程圖說明表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6821"/>
          <a:stretch/>
        </p:blipFill>
        <p:spPr>
          <a:xfrm>
            <a:off x="1314228" y="1382943"/>
            <a:ext cx="8970343" cy="5249348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3" name="圓角矩形 12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092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電腦作業說明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(1/4)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pic>
        <p:nvPicPr>
          <p:cNvPr id="10" name="圖片 9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92" y="2333066"/>
            <a:ext cx="5207381" cy="36000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072" y="2333066"/>
            <a:ext cx="5207381" cy="3600000"/>
          </a:xfrm>
          <a:prstGeom prst="rect">
            <a:avLst/>
          </a:prstGeom>
        </p:spPr>
      </p:pic>
      <p:sp>
        <p:nvSpPr>
          <p:cNvPr id="12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92" y="1856946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封面</a:t>
            </a:r>
          </a:p>
        </p:txBody>
      </p:sp>
      <p:sp>
        <p:nvSpPr>
          <p:cNvPr id="19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071" y="1859579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目錄</a:t>
            </a:r>
          </a:p>
        </p:txBody>
      </p:sp>
      <p:sp>
        <p:nvSpPr>
          <p:cNvPr id="20" name="流程圖: 換頁接點 1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2" name="圓角矩形 2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向右箭號 2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66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電腦作業說明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(2/4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071" y="2395321"/>
            <a:ext cx="5243794" cy="347633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91" y="2395321"/>
            <a:ext cx="5207381" cy="3476333"/>
          </a:xfrm>
          <a:prstGeom prst="rect">
            <a:avLst/>
          </a:prstGeom>
        </p:spPr>
      </p:pic>
      <p:sp>
        <p:nvSpPr>
          <p:cNvPr id="18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92" y="1856946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綱要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071" y="1859579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電腦作業流程</a:t>
            </a:r>
          </a:p>
        </p:txBody>
      </p:sp>
      <p:sp>
        <p:nvSpPr>
          <p:cNvPr id="20" name="流程圖: 換頁接點 1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2" name="圓角矩形 2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向右箭號 2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35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電腦作業說明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(3/4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74" y="2364284"/>
            <a:ext cx="5227800" cy="345141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59" y="2364284"/>
            <a:ext cx="5008942" cy="3460913"/>
          </a:xfrm>
          <a:prstGeom prst="rect">
            <a:avLst/>
          </a:prstGeom>
        </p:spPr>
      </p:pic>
      <p:sp>
        <p:nvSpPr>
          <p:cNvPr id="9" name="直線圖說文字 1 8"/>
          <p:cNvSpPr/>
          <p:nvPr/>
        </p:nvSpPr>
        <p:spPr>
          <a:xfrm>
            <a:off x="8191050" y="1978509"/>
            <a:ext cx="2845758" cy="504729"/>
          </a:xfrm>
          <a:prstGeom prst="borderCallout1">
            <a:avLst>
              <a:gd name="adj1" fmla="val 53993"/>
              <a:gd name="adj2" fmla="val -431"/>
              <a:gd name="adj3" fmla="val 156108"/>
              <a:gd name="adj4" fmla="val -3378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>
                <a:solidFill>
                  <a:sysClr val="windowText" lastClr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電腦作業據</a:t>
            </a:r>
            <a:r>
              <a:rPr lang="zh-TW" altLang="en-US" sz="1600" dirty="0" smtClean="0">
                <a:solidFill>
                  <a:sysClr val="windowText" lastClr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以區分作業角色，管控權限</a:t>
            </a:r>
            <a:endParaRPr lang="en-US" altLang="zh-TW" sz="1600" dirty="0" smtClean="0">
              <a:solidFill>
                <a:sysClr val="windowText" lastClr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7538778" y="5084064"/>
            <a:ext cx="2256660" cy="342915"/>
          </a:xfrm>
          <a:prstGeom prst="borderCallout1">
            <a:avLst>
              <a:gd name="adj1" fmla="val 50370"/>
              <a:gd name="adj2" fmla="val -1716"/>
              <a:gd name="adj3" fmla="val -6942"/>
              <a:gd name="adj4" fmla="val -2157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依保存期限</a:t>
            </a:r>
            <a:r>
              <a:rPr lang="en-US" altLang="zh-TW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備援</a:t>
            </a:r>
            <a:r>
              <a:rPr lang="en-US" altLang="zh-TW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清</a:t>
            </a:r>
            <a:r>
              <a:rPr lang="zh-TW" altLang="en-US" sz="1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</a:t>
            </a:r>
          </a:p>
        </p:txBody>
      </p:sp>
      <p:sp>
        <p:nvSpPr>
          <p:cNvPr id="23" name="直線圖說文字 1 22"/>
          <p:cNvSpPr/>
          <p:nvPr/>
        </p:nvSpPr>
        <p:spPr>
          <a:xfrm>
            <a:off x="8964384" y="4234155"/>
            <a:ext cx="2758224" cy="548157"/>
          </a:xfrm>
          <a:prstGeom prst="borderCallout1">
            <a:avLst>
              <a:gd name="adj1" fmla="val 50370"/>
              <a:gd name="adj2" fmla="val -1716"/>
              <a:gd name="adj3" fmla="val -6942"/>
              <a:gd name="adj4" fmla="val -2157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程式依各欄位說明管制可輸入資料內容，或計算資料。</a:t>
            </a:r>
            <a:endParaRPr lang="zh-TW" altLang="en-US" sz="16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92" y="1856946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螢幕說明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流程圖: 換頁接點 17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0" name="圓角矩形 19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向右箭號 2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向右箭號 2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28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電腦作業說明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(4/4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5" y="2373427"/>
            <a:ext cx="5198358" cy="351481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83" y="2373427"/>
            <a:ext cx="5212369" cy="3514811"/>
          </a:xfrm>
          <a:prstGeom prst="rect">
            <a:avLst/>
          </a:prstGeom>
        </p:spPr>
      </p:pic>
      <p:sp>
        <p:nvSpPr>
          <p:cNvPr id="18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92" y="1856946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表單說明</a:t>
            </a:r>
          </a:p>
        </p:txBody>
      </p:sp>
      <p:sp>
        <p:nvSpPr>
          <p:cNvPr id="19" name="Rectangle 225">
            <a:extLst>
              <a:ext uri="{FF2B5EF4-FFF2-40B4-BE49-F238E27FC236}">
                <a16:creationId xmlns="" xmlns:a16="http://schemas.microsoft.com/office/drawing/2014/main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071" y="1859579"/>
            <a:ext cx="5207381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附錄</a:t>
            </a:r>
          </a:p>
        </p:txBody>
      </p:sp>
      <p:sp>
        <p:nvSpPr>
          <p:cNvPr id="20" name="流程圖: 換頁接點 1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1422523" y="978005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2" name="圓角矩形 2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向右箭號 2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118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ERP</a:t>
            </a:r>
            <a:r>
              <a:rPr lang="zh-TW" altLang="en-US" dirty="0" smtClean="0"/>
              <a:t>共同性操作手冊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788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操作手冊</a:t>
            </a:r>
            <a:r>
              <a:rPr lang="zh-TW" altLang="en-US" dirty="0" smtClean="0"/>
              <a:t>下載</a:t>
            </a:r>
            <a:r>
              <a:rPr lang="en-US" altLang="zh-TW" dirty="0" smtClean="0"/>
              <a:t>-</a:t>
            </a:r>
            <a:r>
              <a:rPr lang="zh-TW" altLang="en-US" dirty="0" smtClean="0"/>
              <a:t>共通性操作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3067" y="1807916"/>
            <a:ext cx="10309225" cy="479080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13</a:t>
            </a:fld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4828032" y="5815584"/>
            <a:ext cx="2643127" cy="475488"/>
            <a:chOff x="4828032" y="5815584"/>
            <a:chExt cx="2643127" cy="475488"/>
          </a:xfrm>
        </p:grpSpPr>
        <p:sp>
          <p:nvSpPr>
            <p:cNvPr id="6" name="矩形 5"/>
            <p:cNvSpPr/>
            <p:nvPr/>
          </p:nvSpPr>
          <p:spPr>
            <a:xfrm>
              <a:off x="4828032" y="5833872"/>
              <a:ext cx="1810512" cy="457200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向左箭號 6"/>
            <p:cNvSpPr/>
            <p:nvPr/>
          </p:nvSpPr>
          <p:spPr>
            <a:xfrm>
              <a:off x="6812791" y="5815584"/>
              <a:ext cx="658368" cy="475488"/>
            </a:xfrm>
            <a:prstGeom prst="lef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內容版面配置區 2"/>
          <p:cNvSpPr txBox="1">
            <a:spLocks/>
          </p:cNvSpPr>
          <p:nvPr/>
        </p:nvSpPr>
        <p:spPr>
          <a:xfrm>
            <a:off x="902195" y="1310793"/>
            <a:ext cx="10309144" cy="4851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於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電腦作業入口畫面提供操作手冊下載。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03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ERP</a:t>
            </a:r>
            <a:r>
              <a:rPr lang="zh-TW" altLang="en-US" dirty="0"/>
              <a:t>電腦作業</a:t>
            </a:r>
            <a:r>
              <a:rPr lang="zh-TW" altLang="en-US" dirty="0" smtClean="0"/>
              <a:t>登入</a:t>
            </a:r>
            <a:r>
              <a:rPr lang="en-US" altLang="zh-TW" dirty="0"/>
              <a:t>&amp;</a:t>
            </a:r>
            <a:r>
              <a:rPr lang="zh-TW" altLang="en-US" dirty="0" smtClean="0"/>
              <a:t>作業</a:t>
            </a:r>
            <a:r>
              <a:rPr lang="zh-TW" altLang="en-US" dirty="0"/>
              <a:t>權限申請操作說明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ERP</a:t>
            </a:r>
            <a:r>
              <a:rPr lang="zh-TW" altLang="en-US" sz="2400" dirty="0"/>
              <a:t>作業環境設定</a:t>
            </a:r>
            <a:r>
              <a:rPr lang="zh-TW" altLang="en-US" sz="2400" dirty="0" smtClean="0"/>
              <a:t>說明</a:t>
            </a:r>
            <a:endParaRPr lang="en-US" altLang="zh-TW" sz="2400" dirty="0" smtClean="0"/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ERP</a:t>
            </a:r>
            <a:r>
              <a:rPr lang="zh-TW" altLang="en-US" dirty="0"/>
              <a:t>作業</a:t>
            </a:r>
            <a:r>
              <a:rPr lang="en-US" altLang="zh-TW" dirty="0"/>
              <a:t>Edge</a:t>
            </a:r>
            <a:r>
              <a:rPr lang="zh-TW" altLang="en-US" dirty="0"/>
              <a:t>瀏覽器設定</a:t>
            </a:r>
            <a:r>
              <a:rPr lang="zh-TW" altLang="en-US" dirty="0" smtClean="0"/>
              <a:t>說明</a:t>
            </a:r>
            <a:endParaRPr lang="en-US" altLang="zh-TW" dirty="0" smtClean="0"/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ERP</a:t>
            </a:r>
            <a:r>
              <a:rPr lang="zh-TW" altLang="en-US" dirty="0"/>
              <a:t>作業</a:t>
            </a:r>
            <a:r>
              <a:rPr lang="en-US" altLang="zh-TW" dirty="0"/>
              <a:t>Java</a:t>
            </a:r>
            <a:r>
              <a:rPr lang="zh-TW" altLang="en-US" dirty="0"/>
              <a:t>設定</a:t>
            </a:r>
            <a:r>
              <a:rPr lang="zh-TW" altLang="en-US" dirty="0" smtClean="0"/>
              <a:t>說明</a:t>
            </a:r>
            <a:endParaRPr lang="en-US" altLang="zh-TW" dirty="0" smtClean="0"/>
          </a:p>
          <a:p>
            <a:r>
              <a:rPr lang="en-US" altLang="zh-TW" sz="2400" dirty="0"/>
              <a:t>ERP</a:t>
            </a:r>
            <a:r>
              <a:rPr lang="zh-TW" altLang="en-US" sz="2400" dirty="0"/>
              <a:t>作業登入操作</a:t>
            </a:r>
            <a:r>
              <a:rPr lang="zh-TW" altLang="en-US" sz="2400" dirty="0" smtClean="0"/>
              <a:t>說明</a:t>
            </a:r>
            <a:endParaRPr lang="en-US" altLang="zh-TW" sz="2400" dirty="0" smtClean="0"/>
          </a:p>
          <a:p>
            <a:r>
              <a:rPr lang="en-US" altLang="zh-TW" sz="2400" dirty="0"/>
              <a:t>ERP</a:t>
            </a:r>
            <a:r>
              <a:rPr lang="zh-TW" altLang="en-US" sz="2400" dirty="0"/>
              <a:t>電腦作業權限申請、變更與</a:t>
            </a:r>
            <a:r>
              <a:rPr lang="zh-TW" altLang="en-US" sz="2400" dirty="0" smtClean="0"/>
              <a:t>取消</a:t>
            </a:r>
            <a:endParaRPr lang="en-US" altLang="zh-TW" sz="2400" dirty="0" smtClean="0"/>
          </a:p>
          <a:p>
            <a:pPr lvl="1"/>
            <a:r>
              <a:rPr lang="zh-TW" altLang="en-US" dirty="0"/>
              <a:t>作業權限</a:t>
            </a:r>
            <a:r>
              <a:rPr lang="zh-TW" altLang="en-US" dirty="0" smtClean="0"/>
              <a:t>申請</a:t>
            </a:r>
            <a:endParaRPr lang="en-US" altLang="zh-TW" dirty="0" smtClean="0"/>
          </a:p>
          <a:p>
            <a:pPr lvl="1"/>
            <a:r>
              <a:rPr lang="zh-TW" altLang="en-US" dirty="0"/>
              <a:t>作業權限覆核、</a:t>
            </a:r>
            <a:r>
              <a:rPr lang="zh-TW" altLang="en-US" dirty="0" smtClean="0"/>
              <a:t>取消</a:t>
            </a:r>
            <a:endParaRPr lang="en-US" altLang="zh-TW" dirty="0" smtClean="0"/>
          </a:p>
          <a:p>
            <a:r>
              <a:rPr lang="en-US" altLang="zh-TW" sz="2400" dirty="0"/>
              <a:t>ERP</a:t>
            </a:r>
            <a:r>
              <a:rPr lang="zh-TW" altLang="en-US" sz="2400" dirty="0"/>
              <a:t>電腦作業螢幕工具列圖示及功能鍵</a:t>
            </a:r>
            <a:r>
              <a:rPr lang="zh-TW" altLang="en-US" sz="2400" dirty="0" smtClean="0"/>
              <a:t>說明</a:t>
            </a:r>
            <a:endParaRPr lang="en-US" altLang="zh-TW" sz="2400" dirty="0" smtClean="0"/>
          </a:p>
          <a:p>
            <a:pPr lvl="1"/>
            <a:r>
              <a:rPr lang="zh-TW" altLang="en-US" dirty="0"/>
              <a:t>工具列圖示</a:t>
            </a:r>
            <a:r>
              <a:rPr lang="zh-TW" altLang="en-US" dirty="0" smtClean="0"/>
              <a:t>說明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功能</a:t>
            </a:r>
            <a:r>
              <a:rPr lang="zh-TW" altLang="en-US" dirty="0"/>
              <a:t>鍵圖示說明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974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ERP</a:t>
            </a:r>
            <a:r>
              <a:rPr lang="zh-TW" altLang="en-US" dirty="0" smtClean="0"/>
              <a:t>作業選單登入操作方式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565" t="933" r="435" b="742"/>
          <a:stretch/>
        </p:blipFill>
        <p:spPr>
          <a:xfrm>
            <a:off x="987552" y="2606041"/>
            <a:ext cx="4992624" cy="352958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l="206" t="454" b="1088"/>
          <a:stretch/>
        </p:blipFill>
        <p:spPr>
          <a:xfrm>
            <a:off x="6163056" y="2587751"/>
            <a:ext cx="5048283" cy="3310129"/>
          </a:xfrm>
          <a:prstGeom prst="rect">
            <a:avLst/>
          </a:prstGeom>
        </p:spPr>
      </p:pic>
      <p:sp>
        <p:nvSpPr>
          <p:cNvPr id="8" name="內容版面配置區 2"/>
          <p:cNvSpPr txBox="1">
            <a:spLocks/>
          </p:cNvSpPr>
          <p:nvPr/>
        </p:nvSpPr>
        <p:spPr>
          <a:xfrm>
            <a:off x="902195" y="1310793"/>
            <a:ext cx="10309144" cy="4851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作業主選單操作方式等說明，統一於此操作手冊說明，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各電腦作業說明文件中免說明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1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ERP</a:t>
            </a:r>
            <a:r>
              <a:rPr lang="zh-TW" altLang="en-US" dirty="0" smtClean="0"/>
              <a:t>電腦作業螢幕工具列圖示與功能鍵說明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604" t="1866" r="4921" b="878"/>
          <a:stretch/>
        </p:blipFill>
        <p:spPr>
          <a:xfrm>
            <a:off x="1686364" y="2982115"/>
            <a:ext cx="4284668" cy="381187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l="1395" t="562" r="3044" b="1183"/>
          <a:stretch/>
        </p:blipFill>
        <p:spPr>
          <a:xfrm>
            <a:off x="6203823" y="2982114"/>
            <a:ext cx="4110609" cy="380080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/>
          <a:srcRect t="6546"/>
          <a:stretch/>
        </p:blipFill>
        <p:spPr>
          <a:xfrm>
            <a:off x="1829946" y="2407760"/>
            <a:ext cx="4013070" cy="432391"/>
          </a:xfrm>
          <a:prstGeom prst="rect">
            <a:avLst/>
          </a:prstGeom>
        </p:spPr>
      </p:pic>
      <p:sp>
        <p:nvSpPr>
          <p:cNvPr id="8" name="內容版面配置區 2"/>
          <p:cNvSpPr txBox="1">
            <a:spLocks/>
          </p:cNvSpPr>
          <p:nvPr/>
        </p:nvSpPr>
        <p:spPr>
          <a:xfrm>
            <a:off x="902195" y="1310793"/>
            <a:ext cx="10309144" cy="4851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作螢幕工具列說明與功能鍵說明，統一於此操作手冊說明，各電腦作業說明文件中免說明。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99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版面配置區 5">
            <a:extLst>
              <a:ext uri="{FF2B5EF4-FFF2-40B4-BE49-F238E27FC236}">
                <a16:creationId xmlns="" xmlns:a16="http://schemas.microsoft.com/office/drawing/2014/main" id="{BA3CF485-C6C6-E6C8-6545-51AADA8BC744}"/>
              </a:ext>
            </a:extLst>
          </p:cNvPr>
          <p:cNvSpPr txBox="1">
            <a:spLocks/>
          </p:cNvSpPr>
          <p:nvPr/>
        </p:nvSpPr>
        <p:spPr>
          <a:xfrm>
            <a:off x="9161228" y="4041328"/>
            <a:ext cx="2715087" cy="454472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solidFill>
                  <a:schemeClr val="accent2">
                    <a:lumMod val="90000"/>
                  </a:schemeClr>
                </a:solidFill>
                <a:latin typeface="Arial Black" panose="020B0A04020102020204" pitchFamily="34" charset="0"/>
                <a:ea typeface="標楷體" panose="03000509000000000000" pitchFamily="65" charset="-120"/>
              </a:rPr>
              <a:t>Thank You</a:t>
            </a:r>
            <a:endParaRPr lang="zh-TW" altLang="en-US" sz="2800" dirty="0">
              <a:solidFill>
                <a:schemeClr val="accent2">
                  <a:lumMod val="90000"/>
                </a:schemeClr>
              </a:solidFill>
              <a:latin typeface="Arial Black" panose="020B0A040201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1A6D12F-1428-79A2-8A5E-0BAC7C5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65" y="3021496"/>
            <a:ext cx="10087669" cy="69517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以上報告</a:t>
            </a:r>
          </a:p>
        </p:txBody>
      </p:sp>
    </p:spTree>
    <p:extLst>
      <p:ext uri="{BB962C8B-B14F-4D97-AF65-F5344CB8AC3E}">
        <p14:creationId xmlns:p14="http://schemas.microsoft.com/office/powerpoint/2010/main" val="365162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spcFirstLastPara="0" vert="horz" wrap="square" lIns="137160" tIns="137160" rIns="137160" bIns="136800" numCol="1" spcCol="1270" anchor="t" anchorCtr="0">
        <a:noAutofit/>
      </a:bodyPr>
      <a:lstStyle>
        <a:defPPr algn="ctr" defTabSz="1600200">
          <a:spcBef>
            <a:spcPct val="0"/>
          </a:spcBef>
          <a:defRPr sz="3600" kern="1200" dirty="0" smtClean="0"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1">
          <a:schemeClr val="accent2">
            <a:tint val="40000"/>
            <a:hueOff val="0"/>
            <a:satOff val="0"/>
            <a:lumOff val="0"/>
            <a:alphaOff val="0"/>
          </a:schemeClr>
        </a:fillRef>
        <a:effectRef idx="0">
          <a:schemeClr val="accent2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11740</TotalTime>
  <Words>1076</Words>
  <Application>Microsoft Office PowerPoint</Application>
  <PresentationFormat>寬螢幕</PresentationFormat>
  <Paragraphs>190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8" baseType="lpstr">
      <vt:lpstr>Microsoft JhengHei UI</vt:lpstr>
      <vt:lpstr>Tenorite</vt:lpstr>
      <vt:lpstr>新細明體</vt:lpstr>
      <vt:lpstr>標楷體</vt:lpstr>
      <vt:lpstr>Aharoni</vt:lpstr>
      <vt:lpstr>Arial</vt:lpstr>
      <vt:lpstr>Arial Black</vt:lpstr>
      <vt:lpstr>Calibri</vt:lpstr>
      <vt:lpstr>Times New Roman</vt:lpstr>
      <vt:lpstr>Wingdings</vt:lpstr>
      <vt:lpstr>單線</vt:lpstr>
      <vt:lpstr>資訊系統設計程序/制度設計 電腦作業編寫原則</vt:lpstr>
      <vt:lpstr>資訊系統設計程序</vt:lpstr>
      <vt:lpstr>制度設計原則</vt:lpstr>
      <vt:lpstr>電腦作業編寫原則說明</vt:lpstr>
      <vt:lpstr>電腦作業表單、螢幕設計說明(1/2)</vt:lpstr>
      <vt:lpstr>電腦作業表單、螢幕設計說明(1/2)</vt:lpstr>
      <vt:lpstr>電腦作業流程圖說明表</vt:lpstr>
      <vt:lpstr>電腦作業說明-案例(1/4)</vt:lpstr>
      <vt:lpstr>電腦作業說明-案例(2/4)</vt:lpstr>
      <vt:lpstr>電腦作業說明-案例(3/4)</vt:lpstr>
      <vt:lpstr>電腦作業說明-案例(4/4)</vt:lpstr>
      <vt:lpstr>ERP共同性操作手冊</vt:lpstr>
      <vt:lpstr>操作手冊下載-共通性操作</vt:lpstr>
      <vt:lpstr>ERP電腦作業登入&amp;作業權限申請操作說明</vt:lpstr>
      <vt:lpstr>ERP作業選單登入操作方式</vt:lpstr>
      <vt:lpstr>ERP電腦作業螢幕工具列圖示與功能鍵說明</vt:lpstr>
      <vt:lpstr>以上報告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00RKD0/李靜媚</cp:lastModifiedBy>
  <cp:revision>3411</cp:revision>
  <cp:lastPrinted>2025-03-15T02:52:48Z</cp:lastPrinted>
  <dcterms:created xsi:type="dcterms:W3CDTF">2025-01-10T07:02:16Z</dcterms:created>
  <dcterms:modified xsi:type="dcterms:W3CDTF">2025-04-25T04:49:06Z</dcterms:modified>
</cp:coreProperties>
</file>