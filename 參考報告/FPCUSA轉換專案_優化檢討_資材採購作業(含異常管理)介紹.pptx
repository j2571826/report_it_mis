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98" r:id="rId1"/>
  </p:sldMasterIdLst>
  <p:notesMasterIdLst>
    <p:notesMasterId r:id="rId69"/>
  </p:notesMasterIdLst>
  <p:handoutMasterIdLst>
    <p:handoutMasterId r:id="rId70"/>
  </p:handoutMasterIdLst>
  <p:sldIdLst>
    <p:sldId id="472" r:id="rId2"/>
    <p:sldId id="473" r:id="rId3"/>
    <p:sldId id="460" r:id="rId4"/>
    <p:sldId id="463" r:id="rId5"/>
    <p:sldId id="509" r:id="rId6"/>
    <p:sldId id="471" r:id="rId7"/>
    <p:sldId id="477" r:id="rId8"/>
    <p:sldId id="478" r:id="rId9"/>
    <p:sldId id="479" r:id="rId10"/>
    <p:sldId id="480" r:id="rId11"/>
    <p:sldId id="481" r:id="rId12"/>
    <p:sldId id="482" r:id="rId13"/>
    <p:sldId id="491" r:id="rId14"/>
    <p:sldId id="490" r:id="rId15"/>
    <p:sldId id="483" r:id="rId16"/>
    <p:sldId id="484" r:id="rId17"/>
    <p:sldId id="485" r:id="rId18"/>
    <p:sldId id="500" r:id="rId19"/>
    <p:sldId id="501" r:id="rId20"/>
    <p:sldId id="502" r:id="rId21"/>
    <p:sldId id="503" r:id="rId22"/>
    <p:sldId id="504" r:id="rId23"/>
    <p:sldId id="505" r:id="rId24"/>
    <p:sldId id="506" r:id="rId25"/>
    <p:sldId id="499" r:id="rId26"/>
    <p:sldId id="507" r:id="rId27"/>
    <p:sldId id="508" r:id="rId28"/>
    <p:sldId id="486" r:id="rId29"/>
    <p:sldId id="487" r:id="rId30"/>
    <p:sldId id="488" r:id="rId31"/>
    <p:sldId id="489" r:id="rId32"/>
    <p:sldId id="475" r:id="rId33"/>
    <p:sldId id="521" r:id="rId34"/>
    <p:sldId id="522" r:id="rId35"/>
    <p:sldId id="523" r:id="rId36"/>
    <p:sldId id="524" r:id="rId37"/>
    <p:sldId id="525" r:id="rId38"/>
    <p:sldId id="526" r:id="rId39"/>
    <p:sldId id="527" r:id="rId40"/>
    <p:sldId id="528" r:id="rId41"/>
    <p:sldId id="529" r:id="rId42"/>
    <p:sldId id="530" r:id="rId43"/>
    <p:sldId id="531" r:id="rId44"/>
    <p:sldId id="532" r:id="rId45"/>
    <p:sldId id="533" r:id="rId46"/>
    <p:sldId id="534" r:id="rId47"/>
    <p:sldId id="535" r:id="rId48"/>
    <p:sldId id="536" r:id="rId49"/>
    <p:sldId id="537" r:id="rId50"/>
    <p:sldId id="538" r:id="rId51"/>
    <p:sldId id="539" r:id="rId52"/>
    <p:sldId id="540" r:id="rId53"/>
    <p:sldId id="541" r:id="rId54"/>
    <p:sldId id="542" r:id="rId55"/>
    <p:sldId id="543" r:id="rId56"/>
    <p:sldId id="520" r:id="rId57"/>
    <p:sldId id="512" r:id="rId58"/>
    <p:sldId id="513" r:id="rId59"/>
    <p:sldId id="514" r:id="rId60"/>
    <p:sldId id="515" r:id="rId61"/>
    <p:sldId id="516" r:id="rId62"/>
    <p:sldId id="517" r:id="rId63"/>
    <p:sldId id="518" r:id="rId64"/>
    <p:sldId id="519" r:id="rId65"/>
    <p:sldId id="544" r:id="rId66"/>
    <p:sldId id="545" r:id="rId67"/>
    <p:sldId id="474" r:id="rId68"/>
  </p:sldIdLst>
  <p:sldSz cx="12192000" cy="6858000"/>
  <p:notesSz cx="7099300" cy="10234613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0000FF"/>
    <a:srgbClr val="CC0099"/>
    <a:srgbClr val="FFE5E5"/>
    <a:srgbClr val="FFEBEB"/>
    <a:srgbClr val="00FF00"/>
    <a:srgbClr val="FF00FF"/>
    <a:srgbClr val="FAFDF9"/>
    <a:srgbClr val="ECF5E7"/>
    <a:srgbClr val="FFFA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淺色樣式 1 - 輔色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7292A2E-F333-43FB-9621-5CBBE7FDCDCB}" styleName="淺色樣式 2 - 輔色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中等深淺樣式 1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淺色樣式 2 - 輔色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25E5076-3810-47DD-B79F-674D7AD40C01}" styleName="深色樣式 1 - 輔色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9" autoAdjust="0"/>
    <p:restoredTop sz="93834" autoAdjust="0"/>
  </p:normalViewPr>
  <p:slideViewPr>
    <p:cSldViewPr snapToGrid="0">
      <p:cViewPr varScale="1">
        <p:scale>
          <a:sx n="76" d="100"/>
          <a:sy n="76" d="100"/>
        </p:scale>
        <p:origin x="126" y="9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3235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4" Type="http://schemas.openxmlformats.org/officeDocument/2006/relationships/image" Target="../media/image26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image" Target="../media/image23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3507"/>
          </a:xfrm>
          <a:prstGeom prst="rect">
            <a:avLst/>
          </a:prstGeom>
        </p:spPr>
        <p:txBody>
          <a:bodyPr vert="horz" lIns="99035" tIns="49517" rIns="99035" bIns="49517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4021296" y="1"/>
            <a:ext cx="3076363" cy="513507"/>
          </a:xfrm>
          <a:prstGeom prst="rect">
            <a:avLst/>
          </a:prstGeom>
        </p:spPr>
        <p:txBody>
          <a:bodyPr vert="horz" lIns="99035" tIns="49517" rIns="99035" bIns="49517" rtlCol="0"/>
          <a:lstStyle>
            <a:lvl1pPr algn="r">
              <a:defRPr sz="1300"/>
            </a:lvl1pPr>
          </a:lstStyle>
          <a:p>
            <a:fld id="{CD7244E6-A45F-460D-B8BE-008BF35B8B56}" type="datetimeFigureOut">
              <a:rPr lang="zh-TW" altLang="en-US" smtClean="0"/>
              <a:t>2025/4/24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1" y="9721108"/>
            <a:ext cx="3076363" cy="513506"/>
          </a:xfrm>
          <a:prstGeom prst="rect">
            <a:avLst/>
          </a:prstGeom>
        </p:spPr>
        <p:txBody>
          <a:bodyPr vert="horz" lIns="99035" tIns="49517" rIns="99035" bIns="49517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4021296" y="9721108"/>
            <a:ext cx="3076363" cy="513506"/>
          </a:xfrm>
          <a:prstGeom prst="rect">
            <a:avLst/>
          </a:prstGeom>
        </p:spPr>
        <p:txBody>
          <a:bodyPr vert="horz" lIns="99035" tIns="49517" rIns="99035" bIns="49517" rtlCol="0" anchor="b"/>
          <a:lstStyle>
            <a:lvl1pPr algn="r">
              <a:defRPr sz="1300"/>
            </a:lvl1pPr>
          </a:lstStyle>
          <a:p>
            <a:fld id="{47D59402-F725-4F0C-997F-82DBBA4FFCA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9855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3507"/>
          </a:xfrm>
          <a:prstGeom prst="rect">
            <a:avLst/>
          </a:prstGeom>
        </p:spPr>
        <p:txBody>
          <a:bodyPr vert="horz" lIns="99035" tIns="49517" rIns="99035" bIns="49517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1296" y="1"/>
            <a:ext cx="3076363" cy="513507"/>
          </a:xfrm>
          <a:prstGeom prst="rect">
            <a:avLst/>
          </a:prstGeom>
        </p:spPr>
        <p:txBody>
          <a:bodyPr vert="horz" lIns="99035" tIns="49517" rIns="99035" bIns="49517" rtlCol="0"/>
          <a:lstStyle>
            <a:lvl1pPr algn="r">
              <a:defRPr sz="1300"/>
            </a:lvl1pPr>
          </a:lstStyle>
          <a:p>
            <a:fld id="{FFB4414E-9775-444A-BBDC-C9A7AB718EBA}" type="datetimeFigureOut">
              <a:rPr lang="zh-TW" altLang="en-US" smtClean="0"/>
              <a:t>2025/4/24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5" tIns="49517" rIns="99035" bIns="49517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09931" y="4925407"/>
            <a:ext cx="5679440" cy="4029879"/>
          </a:xfrm>
          <a:prstGeom prst="rect">
            <a:avLst/>
          </a:prstGeom>
        </p:spPr>
        <p:txBody>
          <a:bodyPr vert="horz" lIns="99035" tIns="49517" rIns="99035" bIns="49517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8"/>
            <a:ext cx="3076363" cy="513506"/>
          </a:xfrm>
          <a:prstGeom prst="rect">
            <a:avLst/>
          </a:prstGeom>
        </p:spPr>
        <p:txBody>
          <a:bodyPr vert="horz" lIns="99035" tIns="49517" rIns="99035" bIns="49517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1296" y="9721108"/>
            <a:ext cx="3076363" cy="513506"/>
          </a:xfrm>
          <a:prstGeom prst="rect">
            <a:avLst/>
          </a:prstGeom>
        </p:spPr>
        <p:txBody>
          <a:bodyPr vert="horz" lIns="99035" tIns="49517" rIns="99035" bIns="49517" rtlCol="0" anchor="b"/>
          <a:lstStyle>
            <a:lvl1pPr algn="r">
              <a:defRPr sz="1300"/>
            </a:lvl1pPr>
          </a:lstStyle>
          <a:p>
            <a:fld id="{9A9FE17B-0309-43F4-A166-43322B09A8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3024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8.sv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形 6">
            <a:extLst>
              <a:ext uri="{FF2B5EF4-FFF2-40B4-BE49-F238E27FC236}">
                <a16:creationId xmlns=""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0"/>
            <a:ext cx="5581651" cy="6858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=""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368" y="1999072"/>
            <a:ext cx="7213773" cy="2344128"/>
          </a:xfrm>
        </p:spPr>
        <p:txBody>
          <a:bodyPr rtlCol="0" anchor="t">
            <a:normAutofit/>
          </a:bodyPr>
          <a:lstStyle>
            <a:lvl1pPr>
              <a:defRPr lang="en-US" sz="33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cxnSp>
        <p:nvCxnSpPr>
          <p:cNvPr id="9" name="直線接點​​(S) 8">
            <a:extLst>
              <a:ext uri="{FF2B5EF4-FFF2-40B4-BE49-F238E27FC236}">
                <a16:creationId xmlns=""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版面配置區 15">
            <a:extLst>
              <a:ext uri="{FF2B5EF4-FFF2-40B4-BE49-F238E27FC236}">
                <a16:creationId xmlns=""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0595" y="4548557"/>
            <a:ext cx="5433204" cy="557949"/>
          </a:xfrm>
        </p:spPr>
        <p:txBody>
          <a:bodyPr rtlCol="0">
            <a:noAutofit/>
          </a:bodyPr>
          <a:lstStyle>
            <a:lvl1pPr marL="0" indent="0" algn="r">
              <a:buNone/>
              <a:defRPr lang="en-US" sz="24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12" name="文字版面配置區 18">
            <a:extLst>
              <a:ext uri="{FF2B5EF4-FFF2-40B4-BE49-F238E27FC236}">
                <a16:creationId xmlns=""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0169" y="5070800"/>
            <a:ext cx="5431971" cy="557950"/>
          </a:xfrm>
        </p:spPr>
        <p:txBody>
          <a:bodyPr rtlCol="0">
            <a:normAutofit/>
          </a:bodyPr>
          <a:lstStyle>
            <a:lvl1pPr marL="0" indent="0" algn="r">
              <a:lnSpc>
                <a:spcPct val="100000"/>
              </a:lnSpc>
              <a:buFont typeface="Arial" panose="020B0604020202020204" pitchFamily="34" charset="0"/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="" xmlns:a16="http://schemas.microsoft.com/office/drawing/2014/main" id="{6F23D57C-71E3-D301-678A-AF122B3AE575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="" xmlns:a16="http://schemas.microsoft.com/office/drawing/2014/main" id="{2E2F1B79-217A-1201-EB4E-E0DE79F6A1C2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zh-TW" altLang="en-US" noProof="0"/>
              <a:t>募資簡報</a:t>
            </a:r>
          </a:p>
        </p:txBody>
      </p:sp>
      <p:pic>
        <p:nvPicPr>
          <p:cNvPr id="6" name="圖片 1">
            <a:extLst>
              <a:ext uri="{FF2B5EF4-FFF2-40B4-BE49-F238E27FC236}">
                <a16:creationId xmlns="" xmlns:a16="http://schemas.microsoft.com/office/drawing/2014/main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9262" y="359491"/>
            <a:ext cx="2523960" cy="14391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4873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形 9">
            <a:extLst>
              <a:ext uri="{FF2B5EF4-FFF2-40B4-BE49-F238E27FC236}">
                <a16:creationId xmlns="" xmlns:a16="http://schemas.microsoft.com/office/drawing/2014/main" id="{B78E600B-75F0-914B-6801-EF32B73C9A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7"/>
            <a:ext cx="12192000" cy="1304587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=""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7" y="202300"/>
            <a:ext cx="9324031" cy="900000"/>
          </a:xfrm>
        </p:spPr>
        <p:txBody>
          <a:bodyPr rtlCol="0">
            <a:normAutofit/>
          </a:bodyPr>
          <a:lstStyle>
            <a:lvl1pPr algn="l"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=""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02195" y="1310793"/>
            <a:ext cx="10309144" cy="4851468"/>
          </a:xfrm>
        </p:spPr>
        <p:txBody>
          <a:bodyPr rtlCol="0">
            <a:normAutofit/>
          </a:bodyPr>
          <a:lstStyle>
            <a:lvl1pPr marL="265113" indent="-265113">
              <a:lnSpc>
                <a:spcPct val="100000"/>
              </a:lnSpc>
              <a:buFont typeface="Arial" panose="020B0604020202020204" pitchFamily="34" charset="0"/>
              <a:buChar char="•"/>
              <a:defRPr sz="28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539750" indent="-198438">
              <a:lnSpc>
                <a:spcPct val="100000"/>
              </a:lnSpc>
              <a:buFont typeface="Arial" panose="020B0604020202020204" pitchFamily="34" charset="0"/>
              <a:buChar char="•"/>
              <a:defRPr sz="24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685783" indent="0">
              <a:lnSpc>
                <a:spcPct val="100000"/>
              </a:lnSpc>
              <a:buNone/>
              <a:defRPr sz="20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028675" indent="0">
              <a:lnSpc>
                <a:spcPct val="100000"/>
              </a:lnSpc>
              <a:buNone/>
              <a:defRPr sz="135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1371566" indent="0">
              <a:lnSpc>
                <a:spcPct val="100000"/>
              </a:lnSpc>
              <a:buNone/>
              <a:defRPr sz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</a:lstStyle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cxnSp>
        <p:nvCxnSpPr>
          <p:cNvPr id="16" name="直線接點​​(S) 15">
            <a:extLst>
              <a:ext uri="{FF2B5EF4-FFF2-40B4-BE49-F238E27FC236}">
                <a16:creationId xmlns="" xmlns:a16="http://schemas.microsoft.com/office/drawing/2014/main" id="{463D7850-C2A6-43CE-BBE4-8E81A0A593B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" y="0"/>
            <a:ext cx="1238251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​​(S) 19">
            <a:extLst>
              <a:ext uri="{FF2B5EF4-FFF2-40B4-BE49-F238E27FC236}">
                <a16:creationId xmlns="" xmlns:a16="http://schemas.microsoft.com/office/drawing/2014/main" id="{EBAD3E03-2E3B-440C-9105-6F9D33006D6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">
            <a:extLst>
              <a:ext uri="{FF2B5EF4-FFF2-40B4-BE49-F238E27FC236}">
                <a16:creationId xmlns="" xmlns:a16="http://schemas.microsoft.com/office/drawing/2014/main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16101" y="202300"/>
            <a:ext cx="1450641" cy="82715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箭號: 五邊形 13">
            <a:extLst>
              <a:ext uri="{FF2B5EF4-FFF2-40B4-BE49-F238E27FC236}">
                <a16:creationId xmlns="" xmlns:a16="http://schemas.microsoft.com/office/drawing/2014/main" id="{3FC410D8-08EC-6B6C-CF9E-49566E7B2403}"/>
              </a:ext>
            </a:extLst>
          </p:cNvPr>
          <p:cNvSpPr/>
          <p:nvPr userDrawn="1"/>
        </p:nvSpPr>
        <p:spPr>
          <a:xfrm rot="10800000">
            <a:off x="11817670" y="1052902"/>
            <a:ext cx="377716" cy="395401"/>
          </a:xfrm>
          <a:prstGeom prst="homePlate">
            <a:avLst>
              <a:gd name="adj" fmla="val 4473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投影片編號版面配置區 4">
            <a:extLst>
              <a:ext uri="{FF2B5EF4-FFF2-40B4-BE49-F238E27FC236}">
                <a16:creationId xmlns="" xmlns:a16="http://schemas.microsoft.com/office/drawing/2014/main" id="{21222846-DFB3-5578-082A-603B19D1EB9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509512" y="1045256"/>
            <a:ext cx="682487" cy="418712"/>
          </a:xfrm>
        </p:spPr>
        <p:txBody>
          <a:bodyPr/>
          <a:lstStyle>
            <a:lvl1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5CEABB6-07DC-46E8-9B57-56EC44A396E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44385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三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箭號: 五邊形 13">
            <a:extLst>
              <a:ext uri="{FF2B5EF4-FFF2-40B4-BE49-F238E27FC236}">
                <a16:creationId xmlns="" xmlns:a16="http://schemas.microsoft.com/office/drawing/2014/main" id="{3FC410D8-08EC-6B6C-CF9E-49566E7B2403}"/>
              </a:ext>
            </a:extLst>
          </p:cNvPr>
          <p:cNvSpPr/>
          <p:nvPr userDrawn="1"/>
        </p:nvSpPr>
        <p:spPr>
          <a:xfrm rot="10800000">
            <a:off x="11817670" y="1052902"/>
            <a:ext cx="377716" cy="395401"/>
          </a:xfrm>
          <a:prstGeom prst="homePlate">
            <a:avLst>
              <a:gd name="adj" fmla="val 4473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圖形 9">
            <a:extLst>
              <a:ext uri="{FF2B5EF4-FFF2-40B4-BE49-F238E27FC236}">
                <a16:creationId xmlns="" xmlns:a16="http://schemas.microsoft.com/office/drawing/2014/main" id="{B78E600B-75F0-914B-6801-EF32B73C9A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7"/>
            <a:ext cx="12192000" cy="1304587"/>
          </a:xfrm>
          <a:prstGeom prst="rect">
            <a:avLst/>
          </a:prstGeom>
        </p:spPr>
      </p:pic>
      <p:cxnSp>
        <p:nvCxnSpPr>
          <p:cNvPr id="16" name="直線接點​​(S) 15">
            <a:extLst>
              <a:ext uri="{FF2B5EF4-FFF2-40B4-BE49-F238E27FC236}">
                <a16:creationId xmlns="" xmlns:a16="http://schemas.microsoft.com/office/drawing/2014/main" id="{463D7850-C2A6-43CE-BBE4-8E81A0A593B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" y="0"/>
            <a:ext cx="1238251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​​(S) 19">
            <a:extLst>
              <a:ext uri="{FF2B5EF4-FFF2-40B4-BE49-F238E27FC236}">
                <a16:creationId xmlns="" xmlns:a16="http://schemas.microsoft.com/office/drawing/2014/main" id="{EBAD3E03-2E3B-440C-9105-6F9D33006D6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標題 1">
            <a:extLst>
              <a:ext uri="{FF2B5EF4-FFF2-40B4-BE49-F238E27FC236}">
                <a16:creationId xmlns=""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7" y="202300"/>
            <a:ext cx="9324031" cy="900000"/>
          </a:xfrm>
        </p:spPr>
        <p:txBody>
          <a:bodyPr rtlCol="0">
            <a:normAutofit/>
          </a:bodyPr>
          <a:lstStyle>
            <a:lvl1pPr algn="l"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pic>
        <p:nvPicPr>
          <p:cNvPr id="11" name="圖片 1">
            <a:extLst>
              <a:ext uri="{FF2B5EF4-FFF2-40B4-BE49-F238E27FC236}">
                <a16:creationId xmlns="" xmlns:a16="http://schemas.microsoft.com/office/drawing/2014/main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16101" y="202300"/>
            <a:ext cx="1450641" cy="827156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投影片編號版面配置區 4">
            <a:extLst>
              <a:ext uri="{FF2B5EF4-FFF2-40B4-BE49-F238E27FC236}">
                <a16:creationId xmlns="" xmlns:a16="http://schemas.microsoft.com/office/drawing/2014/main" id="{21222846-DFB3-5578-082A-603B19D1EB9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509512" y="1045256"/>
            <a:ext cx="682487" cy="418712"/>
          </a:xfrm>
        </p:spPr>
        <p:txBody>
          <a:bodyPr/>
          <a:lstStyle>
            <a:lvl1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5CEABB6-07DC-46E8-9B57-56EC44A396E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63120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議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圖形 10">
            <a:extLst>
              <a:ext uri="{FF2B5EF4-FFF2-40B4-BE49-F238E27FC236}">
                <a16:creationId xmlns="" xmlns:a16="http://schemas.microsoft.com/office/drawing/2014/main" id="{D600C692-560F-EE93-3168-FE5CBBFD5CE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37716" y="0"/>
            <a:ext cx="4354288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350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21" name="直線接點​​(S) 22">
            <a:extLst>
              <a:ext uri="{FF2B5EF4-FFF2-40B4-BE49-F238E27FC236}">
                <a16:creationId xmlns="" xmlns:a16="http://schemas.microsoft.com/office/drawing/2014/main" id="{BB742DF6-4A43-B5CF-AEDA-4E379B6589E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4599432"/>
            <a:ext cx="1710216" cy="2258568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​​(S) 11">
            <a:extLst>
              <a:ext uri="{FF2B5EF4-FFF2-40B4-BE49-F238E27FC236}">
                <a16:creationId xmlns="" xmlns:a16="http://schemas.microsoft.com/office/drawing/2014/main" id="{EB864DD1-893C-9A69-1317-8403F03DC838}"/>
              </a:ext>
            </a:extLst>
          </p:cNvPr>
          <p:cNvCxnSpPr>
            <a:cxnSpLocks/>
          </p:cNvCxnSpPr>
          <p:nvPr userDrawn="1"/>
        </p:nvCxnSpPr>
        <p:spPr>
          <a:xfrm>
            <a:off x="0" y="5895413"/>
            <a:ext cx="12192003" cy="64350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">
            <a:extLst>
              <a:ext uri="{FF2B5EF4-FFF2-40B4-BE49-F238E27FC236}">
                <a16:creationId xmlns="" xmlns:a16="http://schemas.microsoft.com/office/drawing/2014/main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16101" y="202300"/>
            <a:ext cx="1450641" cy="82715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標題 1">
            <a:extLst>
              <a:ext uri="{FF2B5EF4-FFF2-40B4-BE49-F238E27FC236}">
                <a16:creationId xmlns="" xmlns:a16="http://schemas.microsoft.com/office/drawing/2014/main" id="{5F2B99E9-A78D-ABE6-EB34-A1AEF2CA3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7" y="202300"/>
            <a:ext cx="9324031" cy="900000"/>
          </a:xfrm>
        </p:spPr>
        <p:txBody>
          <a:bodyPr rtlCol="0">
            <a:normAutofit/>
          </a:bodyPr>
          <a:lstStyle>
            <a:lvl1pPr algn="l"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12" name="箭號: 五邊形 11">
            <a:extLst>
              <a:ext uri="{FF2B5EF4-FFF2-40B4-BE49-F238E27FC236}">
                <a16:creationId xmlns="" xmlns:a16="http://schemas.microsoft.com/office/drawing/2014/main" id="{A75AFB73-C2A6-6EB5-4195-7721E9AE2A30}"/>
              </a:ext>
            </a:extLst>
          </p:cNvPr>
          <p:cNvSpPr/>
          <p:nvPr userDrawn="1"/>
        </p:nvSpPr>
        <p:spPr>
          <a:xfrm rot="10800000">
            <a:off x="11817670" y="1029456"/>
            <a:ext cx="377716" cy="395401"/>
          </a:xfrm>
          <a:prstGeom prst="homePlate">
            <a:avLst>
              <a:gd name="adj" fmla="val 4473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投影片編號版面配置區 4">
            <a:extLst>
              <a:ext uri="{FF2B5EF4-FFF2-40B4-BE49-F238E27FC236}">
                <a16:creationId xmlns="" xmlns:a16="http://schemas.microsoft.com/office/drawing/2014/main" id="{6A8EBA31-886C-3E7F-9861-255D8A4535C2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509512" y="1045256"/>
            <a:ext cx="682487" cy="418712"/>
          </a:xfrm>
        </p:spPr>
        <p:txBody>
          <a:bodyPr/>
          <a:lstStyle>
            <a:lvl1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5CEABB6-07DC-46E8-9B57-56EC44A396E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  <p:sp>
        <p:nvSpPr>
          <p:cNvPr id="3" name="內容版面配置區 3">
            <a:extLst>
              <a:ext uri="{FF2B5EF4-FFF2-40B4-BE49-F238E27FC236}">
                <a16:creationId xmlns="" xmlns:a16="http://schemas.microsoft.com/office/drawing/2014/main" id="{0508D6D0-1AAC-252D-A6B0-59F6E9994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02195" y="1310793"/>
            <a:ext cx="10309144" cy="4851468"/>
          </a:xfrm>
        </p:spPr>
        <p:txBody>
          <a:bodyPr rtlCol="0">
            <a:normAutofit/>
          </a:bodyPr>
          <a:lstStyle>
            <a:lvl1pPr marL="265113" indent="-265113">
              <a:lnSpc>
                <a:spcPct val="100000"/>
              </a:lnSpc>
              <a:buFont typeface="Arial" panose="020B0604020202020204" pitchFamily="34" charset="0"/>
              <a:buChar char="•"/>
              <a:defRPr sz="28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539750" indent="-198438">
              <a:lnSpc>
                <a:spcPct val="100000"/>
              </a:lnSpc>
              <a:buFont typeface="Arial" panose="020B0604020202020204" pitchFamily="34" charset="0"/>
              <a:buChar char="•"/>
              <a:defRPr sz="24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685783" indent="0">
              <a:lnSpc>
                <a:spcPct val="100000"/>
              </a:lnSpc>
              <a:buNone/>
              <a:defRPr sz="20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028675" indent="0">
              <a:lnSpc>
                <a:spcPct val="100000"/>
              </a:lnSpc>
              <a:buNone/>
              <a:defRPr sz="135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1371566" indent="0">
              <a:lnSpc>
                <a:spcPct val="100000"/>
              </a:lnSpc>
              <a:buNone/>
              <a:defRPr sz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</a:lstStyle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216560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議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圖形 10">
            <a:extLst>
              <a:ext uri="{FF2B5EF4-FFF2-40B4-BE49-F238E27FC236}">
                <a16:creationId xmlns="" xmlns:a16="http://schemas.microsoft.com/office/drawing/2014/main" id="{D600C692-560F-EE93-3168-FE5CBBFD5CE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32944" y="-6479"/>
            <a:ext cx="4354288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350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3" name="標題 1">
            <a:extLst>
              <a:ext uri="{FF2B5EF4-FFF2-40B4-BE49-F238E27FC236}">
                <a16:creationId xmlns=""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3" y="404588"/>
            <a:ext cx="9324031" cy="900000"/>
          </a:xfrm>
        </p:spPr>
        <p:txBody>
          <a:bodyPr rtlCol="0">
            <a:normAutofit/>
          </a:bodyPr>
          <a:lstStyle>
            <a:lvl1pPr algn="l"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pic>
        <p:nvPicPr>
          <p:cNvPr id="16" name="圖形 10">
            <a:extLst>
              <a:ext uri="{FF2B5EF4-FFF2-40B4-BE49-F238E27FC236}">
                <a16:creationId xmlns="" xmlns:a16="http://schemas.microsoft.com/office/drawing/2014/main" id="{B38B0D13-BD5F-460B-B337-F4A9342026D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0137" y="1638302"/>
            <a:ext cx="4320000" cy="2235356"/>
          </a:xfrm>
          <a:prstGeom prst="rect">
            <a:avLst/>
          </a:prstGeom>
        </p:spPr>
      </p:pic>
      <p:pic>
        <p:nvPicPr>
          <p:cNvPr id="17" name="圖形 12">
            <a:extLst>
              <a:ext uri="{FF2B5EF4-FFF2-40B4-BE49-F238E27FC236}">
                <a16:creationId xmlns="" xmlns:a16="http://schemas.microsoft.com/office/drawing/2014/main" id="{BE72876B-D3DA-4462-9E24-3354D8D02A2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4493" y="4023138"/>
            <a:ext cx="4320000" cy="2201994"/>
          </a:xfrm>
          <a:prstGeom prst="rect">
            <a:avLst/>
          </a:prstGeom>
        </p:spPr>
      </p:pic>
      <p:pic>
        <p:nvPicPr>
          <p:cNvPr id="18" name="圖形 14">
            <a:extLst>
              <a:ext uri="{FF2B5EF4-FFF2-40B4-BE49-F238E27FC236}">
                <a16:creationId xmlns="" xmlns:a16="http://schemas.microsoft.com/office/drawing/2014/main" id="{14A539B6-6E3F-41BA-ACE2-76E8BB65163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50600" y="1914668"/>
            <a:ext cx="4320000" cy="2328378"/>
          </a:xfrm>
          <a:prstGeom prst="rect">
            <a:avLst/>
          </a:prstGeom>
        </p:spPr>
      </p:pic>
      <p:sp>
        <p:nvSpPr>
          <p:cNvPr id="19" name="文字版面配置區 15">
            <a:extLst>
              <a:ext uri="{FF2B5EF4-FFF2-40B4-BE49-F238E27FC236}">
                <a16:creationId xmlns=""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4165" y="2354501"/>
            <a:ext cx="4031945" cy="1013156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2800" kern="1200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lvl="0" rtl="0"/>
            <a:r>
              <a:rPr lang="zh-TW" altLang="en-US" noProof="0" dirty="0"/>
              <a:t>按一下以新增副標題</a:t>
            </a:r>
          </a:p>
        </p:txBody>
      </p:sp>
      <p:sp>
        <p:nvSpPr>
          <p:cNvPr id="20" name="文字版面配置區 15">
            <a:extLst>
              <a:ext uri="{FF2B5EF4-FFF2-40B4-BE49-F238E27FC236}">
                <a16:creationId xmlns=""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48098" y="2734647"/>
            <a:ext cx="4031945" cy="1013156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2800" kern="1200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23" name="文字版面配置區 15">
            <a:extLst>
              <a:ext uri="{FF2B5EF4-FFF2-40B4-BE49-F238E27FC236}">
                <a16:creationId xmlns=""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14384" y="4625936"/>
            <a:ext cx="4031945" cy="1013156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2800" kern="1200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pic>
        <p:nvPicPr>
          <p:cNvPr id="12" name="圖片 1">
            <a:extLst>
              <a:ext uri="{FF2B5EF4-FFF2-40B4-BE49-F238E27FC236}">
                <a16:creationId xmlns="" xmlns:a16="http://schemas.microsoft.com/office/drawing/2014/main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16101" y="202300"/>
            <a:ext cx="1450641" cy="82715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箭號: 五邊形 8">
            <a:extLst>
              <a:ext uri="{FF2B5EF4-FFF2-40B4-BE49-F238E27FC236}">
                <a16:creationId xmlns="" xmlns:a16="http://schemas.microsoft.com/office/drawing/2014/main" id="{14EC25D0-5BFF-566A-4303-54297340FDBC}"/>
              </a:ext>
            </a:extLst>
          </p:cNvPr>
          <p:cNvSpPr/>
          <p:nvPr userDrawn="1"/>
        </p:nvSpPr>
        <p:spPr>
          <a:xfrm rot="10800000">
            <a:off x="11817670" y="1029456"/>
            <a:ext cx="377716" cy="395401"/>
          </a:xfrm>
          <a:prstGeom prst="homePlate">
            <a:avLst>
              <a:gd name="adj" fmla="val 4473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投影片編號版面配置區 4">
            <a:extLst>
              <a:ext uri="{FF2B5EF4-FFF2-40B4-BE49-F238E27FC236}">
                <a16:creationId xmlns="" xmlns:a16="http://schemas.microsoft.com/office/drawing/2014/main" id="{57E60439-B1D7-7CF0-6AA9-3177BE19ABF4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509512" y="1045256"/>
            <a:ext cx="682487" cy="418712"/>
          </a:xfrm>
        </p:spPr>
        <p:txBody>
          <a:bodyPr/>
          <a:lstStyle>
            <a:lvl1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5CEABB6-07DC-46E8-9B57-56EC44A396E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83033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形 6">
            <a:extLst>
              <a:ext uri="{FF2B5EF4-FFF2-40B4-BE49-F238E27FC236}">
                <a16:creationId xmlns=""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 flipH="1">
            <a:off x="4141694" y="-4141694"/>
            <a:ext cx="3908612" cy="12192000"/>
          </a:xfrm>
          <a:prstGeom prst="rect">
            <a:avLst/>
          </a:prstGeom>
        </p:spPr>
      </p:pic>
      <p:cxnSp>
        <p:nvCxnSpPr>
          <p:cNvPr id="9" name="直線接點​​(S) 8">
            <a:extLst>
              <a:ext uri="{FF2B5EF4-FFF2-40B4-BE49-F238E27FC236}">
                <a16:creationId xmlns="" xmlns:a16="http://schemas.microsoft.com/office/drawing/2014/main" id="{BDAC7E4E-FE06-4E90-8107-6B543E5515ED}"/>
              </a:ext>
            </a:extLst>
          </p:cNvPr>
          <p:cNvCxnSpPr>
            <a:cxnSpLocks/>
          </p:cNvCxnSpPr>
          <p:nvPr/>
        </p:nvCxnSpPr>
        <p:spPr>
          <a:xfrm flipV="1">
            <a:off x="0" y="2133600"/>
            <a:ext cx="12192000" cy="900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日期版面配置區 2">
            <a:extLst>
              <a:ext uri="{FF2B5EF4-FFF2-40B4-BE49-F238E27FC236}">
                <a16:creationId xmlns="" xmlns:a16="http://schemas.microsoft.com/office/drawing/2014/main" id="{6F23D57C-71E3-D301-678A-AF122B3AE575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15" name="標題 1">
            <a:extLst>
              <a:ext uri="{FF2B5EF4-FFF2-40B4-BE49-F238E27FC236}">
                <a16:creationId xmlns=""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9072"/>
            <a:ext cx="10515600" cy="2344128"/>
          </a:xfrm>
        </p:spPr>
        <p:txBody>
          <a:bodyPr rtlCol="0" anchor="t">
            <a:normAutofit/>
          </a:bodyPr>
          <a:lstStyle>
            <a:lvl1pPr>
              <a:defRPr lang="en-US" sz="33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pic>
        <p:nvPicPr>
          <p:cNvPr id="11" name="圖片 1">
            <a:extLst>
              <a:ext uri="{FF2B5EF4-FFF2-40B4-BE49-F238E27FC236}">
                <a16:creationId xmlns="" xmlns:a16="http://schemas.microsoft.com/office/drawing/2014/main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16101" y="202300"/>
            <a:ext cx="1450641" cy="82715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箭號: 五邊形 16">
            <a:extLst>
              <a:ext uri="{FF2B5EF4-FFF2-40B4-BE49-F238E27FC236}">
                <a16:creationId xmlns="" xmlns:a16="http://schemas.microsoft.com/office/drawing/2014/main" id="{A977A8B1-C07C-5122-EB38-7788F1D1490C}"/>
              </a:ext>
            </a:extLst>
          </p:cNvPr>
          <p:cNvSpPr/>
          <p:nvPr userDrawn="1"/>
        </p:nvSpPr>
        <p:spPr>
          <a:xfrm rot="10800000">
            <a:off x="11817670" y="1029456"/>
            <a:ext cx="377716" cy="395401"/>
          </a:xfrm>
          <a:prstGeom prst="homePlate">
            <a:avLst>
              <a:gd name="adj" fmla="val 4473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投影片編號版面配置區 4">
            <a:extLst>
              <a:ext uri="{FF2B5EF4-FFF2-40B4-BE49-F238E27FC236}">
                <a16:creationId xmlns="" xmlns:a16="http://schemas.microsoft.com/office/drawing/2014/main" id="{D9C28D85-AAD2-B541-7D4B-0FC069C5C7A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509512" y="1045256"/>
            <a:ext cx="682487" cy="418712"/>
          </a:xfrm>
        </p:spPr>
        <p:txBody>
          <a:bodyPr/>
          <a:lstStyle>
            <a:lvl1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5CEABB6-07DC-46E8-9B57-56EC44A396E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80123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時間表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=""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3" y="2257583"/>
            <a:ext cx="12191999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sz="1350" noProof="0">
              <a:solidFill>
                <a:schemeClr val="tx1">
                  <a:lumMod val="75000"/>
                  <a:lumOff val="2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=""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3691886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ZA" sz="1350" noProof="0">
              <a:solidFill>
                <a:schemeClr val="tx1">
                  <a:lumMod val="75000"/>
                  <a:lumOff val="2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4" name="標題 1">
            <a:extLst>
              <a:ext uri="{FF2B5EF4-FFF2-40B4-BE49-F238E27FC236}">
                <a16:creationId xmlns=""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3035300"/>
            <a:ext cx="10332720" cy="1142800"/>
          </a:xfrm>
        </p:spPr>
        <p:txBody>
          <a:bodyPr rtlCol="0" anchor="t">
            <a:normAutofit/>
          </a:bodyPr>
          <a:lstStyle>
            <a:lvl1pPr algn="ctr">
              <a:defRPr lang="en-US" sz="36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cxnSp>
        <p:nvCxnSpPr>
          <p:cNvPr id="39" name="直線接點​​(S) 22">
            <a:extLst>
              <a:ext uri="{FF2B5EF4-FFF2-40B4-BE49-F238E27FC236}">
                <a16:creationId xmlns="" xmlns:a16="http://schemas.microsoft.com/office/drawing/2014/main" id="{BB742DF6-4A43-B5CF-AEDA-4E379B6589E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1816344"/>
            <a:ext cx="1597152" cy="504165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​​(S) 22">
            <a:extLst>
              <a:ext uri="{FF2B5EF4-FFF2-40B4-BE49-F238E27FC236}">
                <a16:creationId xmlns="" xmlns:a16="http://schemas.microsoft.com/office/drawing/2014/main" id="{BB742DF6-4A43-B5CF-AEDA-4E379B6589E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2" y="6184902"/>
            <a:ext cx="6095999" cy="673099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投影片編號版面配置區 8">
            <a:extLst>
              <a:ext uri="{FF2B5EF4-FFF2-40B4-BE49-F238E27FC236}">
                <a16:creationId xmlns=""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6"/>
            <a:ext cx="2743200" cy="365125"/>
          </a:xfrm>
        </p:spPr>
        <p:txBody>
          <a:bodyPr rtlCol="0"/>
          <a:lstStyle>
            <a:lvl1pPr>
              <a:defRPr sz="1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fld id="{B5CEABB6-07DC-46E8-9B57-56EC44A396E5}" type="slidenum">
              <a:rPr lang="en-US" altLang="zh-TW" smtClean="0"/>
              <a:pPr/>
              <a:t>‹#›</a:t>
            </a:fld>
            <a:endParaRPr lang="zh-TW" altLang="en-US"/>
          </a:p>
        </p:txBody>
      </p:sp>
      <p:pic>
        <p:nvPicPr>
          <p:cNvPr id="11" name="圖片 1">
            <a:extLst>
              <a:ext uri="{FF2B5EF4-FFF2-40B4-BE49-F238E27FC236}">
                <a16:creationId xmlns="" xmlns:a16="http://schemas.microsoft.com/office/drawing/2014/main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16101" y="192361"/>
            <a:ext cx="1450641" cy="82715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箭號: 五邊形 9">
            <a:extLst>
              <a:ext uri="{FF2B5EF4-FFF2-40B4-BE49-F238E27FC236}">
                <a16:creationId xmlns="" xmlns:a16="http://schemas.microsoft.com/office/drawing/2014/main" id="{768BC038-D2EA-393E-AC3D-3F53314CE135}"/>
              </a:ext>
            </a:extLst>
          </p:cNvPr>
          <p:cNvSpPr/>
          <p:nvPr userDrawn="1"/>
        </p:nvSpPr>
        <p:spPr>
          <a:xfrm rot="10800000">
            <a:off x="11817670" y="1029456"/>
            <a:ext cx="377716" cy="395401"/>
          </a:xfrm>
          <a:prstGeom prst="homePlate">
            <a:avLst>
              <a:gd name="adj" fmla="val 4473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投影片編號版面配置區 4">
            <a:extLst>
              <a:ext uri="{FF2B5EF4-FFF2-40B4-BE49-F238E27FC236}">
                <a16:creationId xmlns="" xmlns:a16="http://schemas.microsoft.com/office/drawing/2014/main" id="{D5DE7AB3-3D40-2219-E4C6-6A8F62FF741F}"/>
              </a:ext>
            </a:extLst>
          </p:cNvPr>
          <p:cNvSpPr txBox="1">
            <a:spLocks/>
          </p:cNvSpPr>
          <p:nvPr userDrawn="1"/>
        </p:nvSpPr>
        <p:spPr>
          <a:xfrm>
            <a:off x="11509512" y="1045256"/>
            <a:ext cx="682487" cy="4187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Microsoft JhengHei UI" panose="020B0604030504040204" pitchFamily="34" charset="-120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CEABB6-07DC-46E8-9B57-56EC44A396E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84752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=""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=""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=""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=""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06820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6" r:id="rId1"/>
    <p:sldLayoutId id="2147484307" r:id="rId2"/>
    <p:sldLayoutId id="2147484321" r:id="rId3"/>
    <p:sldLayoutId id="2147484300" r:id="rId4"/>
    <p:sldLayoutId id="2147484322" r:id="rId5"/>
    <p:sldLayoutId id="2147484320" r:id="rId6"/>
    <p:sldLayoutId id="2147484312" r:id="rId7"/>
  </p:sldLayoutIdLst>
  <p:hf hd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 cap="all" baseline="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wmf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19.wmf"/><Relationship Id="rId7" Type="http://schemas.openxmlformats.org/officeDocument/2006/relationships/image" Target="../media/image2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26.wmf"/><Relationship Id="rId5" Type="http://schemas.openxmlformats.org/officeDocument/2006/relationships/image" Target="../media/image23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25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13" Type="http://schemas.openxmlformats.org/officeDocument/2006/relationships/oleObject" Target="../embeddings/oleObject9.bin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2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7.e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6.bin"/><Relationship Id="rId10" Type="http://schemas.openxmlformats.org/officeDocument/2006/relationships/image" Target="../media/image30.wmf"/><Relationship Id="rId4" Type="http://schemas.openxmlformats.org/officeDocument/2006/relationships/image" Target="../media/image23.wmf"/><Relationship Id="rId9" Type="http://schemas.openxmlformats.org/officeDocument/2006/relationships/image" Target="../media/image29.wmf"/><Relationship Id="rId14" Type="http://schemas.openxmlformats.org/officeDocument/2006/relationships/image" Target="../media/image26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189441" y="1523796"/>
            <a:ext cx="7919606" cy="881288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  <a:spcBef>
                <a:spcPts val="2400"/>
              </a:spcBef>
              <a:spcAft>
                <a:spcPts val="2400"/>
              </a:spcAft>
            </a:pPr>
            <a:r>
              <a:rPr lang="en-US" altLang="zh-TW" sz="32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ERP</a:t>
            </a:r>
            <a:r>
              <a:rPr lang="zh-TW" altLang="en-US" sz="3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資</a:t>
            </a:r>
            <a:r>
              <a:rPr lang="zh-TW" altLang="en-US" sz="32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材採購作業</a:t>
            </a:r>
            <a:r>
              <a:rPr lang="en-US" altLang="zh-TW" sz="32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32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含異常管理</a:t>
            </a:r>
            <a:r>
              <a:rPr lang="en-US" altLang="zh-TW" sz="32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en-US" sz="3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介紹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15"/>
          </p:nvPr>
        </p:nvSpPr>
        <p:spPr>
          <a:xfrm>
            <a:off x="5954936" y="5920623"/>
            <a:ext cx="5431971" cy="557950"/>
          </a:xfrm>
        </p:spPr>
        <p:txBody>
          <a:bodyPr>
            <a:normAutofit/>
          </a:bodyPr>
          <a:lstStyle/>
          <a:p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2025/5/5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444570" y="55048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總管理處資訊部</a:t>
            </a:r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820990" y="2494461"/>
            <a:ext cx="6794109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、資材管理目的及作業關聯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二、請購方式比較及重要規定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三、採購作業流程、管理重點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四、主要螢幕表單介紹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五、異常管理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稽核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表單、改善建議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416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TW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資材管理目的及作業關聯</a:t>
            </a:r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9111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FD713FB5-F1CB-E033-276D-3D3676F3E21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3</a:t>
            </a:fld>
            <a:endParaRPr lang="zh-TW" altLang="en-US" dirty="0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7" y="202300"/>
            <a:ext cx="9324031" cy="900000"/>
          </a:xfrm>
        </p:spPr>
        <p:txBody>
          <a:bodyPr>
            <a:normAutofit/>
          </a:bodyPr>
          <a:lstStyle/>
          <a:p>
            <a:r>
              <a:rPr lang="zh-TW" altLang="en-US" sz="2800" spc="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資材</a:t>
            </a:r>
            <a:r>
              <a:rPr lang="zh-TW" altLang="en-US" sz="28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管理目的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94059" y="1382437"/>
            <a:ext cx="9427335" cy="18004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適時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提供適質、適量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、適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價之生產原物料、保養備品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及工程材料，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spcBef>
                <a:spcPts val="600"/>
              </a:spcBef>
            </a:pP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供用料部門使用。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spcBef>
                <a:spcPts val="600"/>
              </a:spcBef>
            </a:pP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針對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滯餘料及回收料做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適當處理。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spcBef>
                <a:spcPts val="600"/>
              </a:spcBef>
            </a:pP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主要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作業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項目：分為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請購、採購、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倉儲共三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個部份。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09825" y="3305175"/>
            <a:ext cx="7348537" cy="3496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172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4</a:t>
            </a:fld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09860" y="1316621"/>
            <a:ext cx="8955645" cy="5393741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7" y="202300"/>
            <a:ext cx="9324031" cy="900000"/>
          </a:xfrm>
        </p:spPr>
        <p:txBody>
          <a:bodyPr>
            <a:normAutofit/>
          </a:bodyPr>
          <a:lstStyle/>
          <a:p>
            <a:r>
              <a:rPr lang="zh-TW" altLang="en-US" sz="28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資材管理作業關聯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714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TW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請購方式比較及重要規定</a:t>
            </a:r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0351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6</a:t>
            </a:fld>
            <a:endParaRPr lang="zh-TW" altLang="en-US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7" y="202300"/>
            <a:ext cx="9324031" cy="900000"/>
          </a:xfrm>
        </p:spPr>
        <p:txBody>
          <a:bodyPr>
            <a:normAutofit/>
          </a:bodyPr>
          <a:lstStyle/>
          <a:p>
            <a:r>
              <a:rPr lang="zh-TW" altLang="en-US" sz="28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請購方式比較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087" y="1355724"/>
            <a:ext cx="8738609" cy="536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367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7</a:t>
            </a:fld>
            <a:endParaRPr lang="zh-TW" altLang="en-US" dirty="0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8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請購重要規定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70866" y="1707634"/>
            <a:ext cx="10244834" cy="41088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非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常備請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購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spcBef>
                <a:spcPts val="600"/>
              </a:spcBef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屬列管生產原物料、保養備品等，需於請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購時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詳細說明請購需要量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spcBef>
                <a:spcPts val="600"/>
              </a:spcBef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預定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使用日，以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利各級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主管核簽時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瞭解請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購合理性並做出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適切判斷。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spcBef>
                <a:spcPts val="600"/>
              </a:spcBef>
            </a:pP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　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spcBef>
                <a:spcPts val="600"/>
              </a:spcBef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 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屬請購帶安裝或高架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空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作業、廠商自備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危險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機具卸料等情況，請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購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spcBef>
                <a:spcPts val="600"/>
              </a:spcBef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部門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及廠商均須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簽署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「施工安全告知單」，以確保作業安全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spcBef>
                <a:spcPts val="600"/>
              </a:spcBef>
            </a:pP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spcBef>
                <a:spcPts val="600"/>
              </a:spcBef>
            </a:pP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　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倘請購案須檢附圖面或請購規範者，可透過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ERP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作業上傳電子檔或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於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spcBef>
                <a:spcPts val="600"/>
              </a:spcBef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　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　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ERP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作業建檔請購規範，以提供廠商報價及回覆。　</a:t>
            </a:r>
          </a:p>
        </p:txBody>
      </p:sp>
    </p:spTree>
    <p:extLst>
      <p:ext uri="{BB962C8B-B14F-4D97-AF65-F5344CB8AC3E}">
        <p14:creationId xmlns:p14="http://schemas.microsoft.com/office/powerpoint/2010/main" val="897696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8</a:t>
            </a:fld>
            <a:endParaRPr lang="zh-TW" altLang="en-US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8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請購重要規定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70866" y="1669534"/>
            <a:ext cx="1024483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存量管制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納入存量管制之材料，用料部門應先檢討請購基準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，並經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事業部經理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室    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 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或公司指定部門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覆核後，存管請購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基準設定始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可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生效。　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 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屬備品材料欲納入存量管制時，用料部門應同時將備品類別、設備總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台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 數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、一次保養台數、修換週期、一次修換量及基準設定之計算式輸入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 以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利審核人員審查。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　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為確保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庫存合理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性，用料管制部門應定期檢討存量管制基準之合理性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 倘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需修訂基準時，應呈經營主管核准後，送事業部經理室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或公司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指定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 部門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專人進行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修訂。　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　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目前已有電腦自動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修訂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存量管制基準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機制。</a:t>
            </a:r>
          </a:p>
        </p:txBody>
      </p:sp>
    </p:spTree>
    <p:extLst>
      <p:ext uri="{BB962C8B-B14F-4D97-AF65-F5344CB8AC3E}">
        <p14:creationId xmlns:p14="http://schemas.microsoft.com/office/powerpoint/2010/main" val="3664334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9</a:t>
            </a:fld>
            <a:endParaRPr lang="zh-TW" altLang="en-US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8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請購重要規定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70866" y="1669534"/>
            <a:ext cx="10244834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零星請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領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單價在台幣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100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元以下之合約材料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除個人保管工具、以舊換新、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通用性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 庫存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材料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，且單項材料廠處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課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月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用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總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金額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台幣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5,000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元以下。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 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欲新增零星材料時，需反應總管理處總經理室審核建檔後，請購部門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方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 可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設定零星補充基準。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 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資材課之收料人員應於廠商交貨時，取出印妥之「收料單」憑以核對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無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 誤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後辦理收料，並依其所列示之料品分送各請領部門點收。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 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每月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日電腦自動彙整各請領部門上一個月所請領的零星材料，供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零星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 請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領專人針對每月請領狀況說明，並呈一級主管覆核。</a:t>
            </a:r>
          </a:p>
        </p:txBody>
      </p:sp>
    </p:spTree>
    <p:extLst>
      <p:ext uri="{BB962C8B-B14F-4D97-AF65-F5344CB8AC3E}">
        <p14:creationId xmlns:p14="http://schemas.microsoft.com/office/powerpoint/2010/main" val="89628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10</a:t>
            </a:fld>
            <a:endParaRPr lang="zh-TW" altLang="en-US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8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請購重要規定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70866" y="1669534"/>
            <a:ext cx="10244834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零購作業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大陸適用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單項材料金額在人民幣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1000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元以下之非合約材料，屬個人保管工具或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以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 舊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換新材料者，不得以零購方式作業，應改以非常備請購處理。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 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若為合約材料，管制請購數量低於最低訂購量之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50%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時，即不以合約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方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 式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採購，由零購專人詢議價方式採購。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 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生產廠中夜班及假日急用零購材料，得由請購部門基層主管一級核准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後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 自行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採購，請購部門再以「單據粘貼單」辦理付款。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 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同一部門開單請購同一項零購材料，如有以拆單或拆項方式請購，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應予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 以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退件處理。</a:t>
            </a:r>
          </a:p>
        </p:txBody>
      </p:sp>
    </p:spTree>
    <p:extLst>
      <p:ext uri="{BB962C8B-B14F-4D97-AF65-F5344CB8AC3E}">
        <p14:creationId xmlns:p14="http://schemas.microsoft.com/office/powerpoint/2010/main" val="2018722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11</a:t>
            </a:fld>
            <a:endParaRPr lang="zh-TW" altLang="en-US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8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請購重要規定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70866" y="1469509"/>
            <a:ext cx="10244834" cy="5232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資材類小額費用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報銷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台灣地區單項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含稅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金額台幣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10,000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元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含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以下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大陸地區人民幣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1,000</a:t>
            </a:r>
            <a:b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 元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含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以下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，用料部門可自行從指定通路購買，並依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發票進行報銷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 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指定通路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   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網路商城：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     台灣：</a:t>
            </a:r>
            <a:r>
              <a:rPr lang="en-US" altLang="zh-TW" sz="24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PCHome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不含商店街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Yahoo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奇摩購物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不含超級商城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台塑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         購物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網、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MOMO</a:t>
            </a:r>
            <a:b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   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大陸：京東商城、天貓商城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不含商店街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   ․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實體連鎖商店：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     台灣：家樂福、大潤發、特力屋、振宇五金、全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聯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   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大陸：家樂福、大潤發、沃爾瑪</a:t>
            </a:r>
          </a:p>
        </p:txBody>
      </p:sp>
    </p:spTree>
    <p:extLst>
      <p:ext uri="{BB962C8B-B14F-4D97-AF65-F5344CB8AC3E}">
        <p14:creationId xmlns:p14="http://schemas.microsoft.com/office/powerpoint/2010/main" val="2595732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12</a:t>
            </a:fld>
            <a:endParaRPr lang="zh-TW" altLang="en-US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8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請購重要規定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70866" y="1517134"/>
            <a:ext cx="1024483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資材類小額費用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報銷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 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指定通路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網購及實體通路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購買均有鑑賞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猶豫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期，買錯或有瑕疵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均可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 免費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退貨。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 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「開發試製材料」且「單筆金額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萬元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含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以下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人民幣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4,000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元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含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以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 下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」者適用本作業。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 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「開發試製材料」用料部門須於開發前以產銷開發用料表單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如：新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產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 品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試製開發表單、研究開發表、產品開發需求提案表等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詳列「開發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階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 段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」測試材料各別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品名、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數量及預估金額，供作報銷費用之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依據。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另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應針對「試製階段」及「量產階段」預估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每批量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成品所需材料數量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 供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作開單請購材料之參考，避免購料過多衍生滯存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異常。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72126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TW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採購作業流程、管理重點</a:t>
            </a:r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517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14</a:t>
            </a:fld>
            <a:endParaRPr lang="zh-TW" altLang="en-US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8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企業採購原則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83567" y="1598563"/>
            <a:ext cx="10279758" cy="35855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․所有企業外廠商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採購案件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，均需透過採購部辦理，俾能尋得適當之廠商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spcBef>
                <a:spcPts val="600"/>
              </a:spcBef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以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合理之價格，適時提供適質、適量之設備、材料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spcBef>
                <a:spcPts val="600"/>
              </a:spcBef>
            </a:pP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spcBef>
                <a:spcPts val="600"/>
              </a:spcBef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․倘須自行辦理企業外廠商採購時，需將自行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辦理材料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項目呈閱  總裁後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spcBef>
                <a:spcPts val="600"/>
              </a:spcBef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由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公司總經理室建檔方可作業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spcBef>
                <a:spcPts val="600"/>
              </a:spcBef>
            </a:pP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spcBef>
                <a:spcPts val="600"/>
              </a:spcBef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․採購部應依材料使用狀況、用量多寡、採購頻率、市場供需狀況、交易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習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spcBef>
                <a:spcPts val="600"/>
              </a:spcBef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慣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及價格之穩定性等因素，選擇最有利之採購方式進行採購。</a:t>
            </a:r>
          </a:p>
        </p:txBody>
      </p:sp>
    </p:spTree>
    <p:extLst>
      <p:ext uri="{BB962C8B-B14F-4D97-AF65-F5344CB8AC3E}">
        <p14:creationId xmlns:p14="http://schemas.microsoft.com/office/powerpoint/2010/main" val="2410860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15</a:t>
            </a:fld>
            <a:endParaRPr lang="zh-TW" altLang="en-US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8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採購作業流程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62124" y="1334335"/>
            <a:ext cx="8772525" cy="5437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285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16</a:t>
            </a:fld>
            <a:endParaRPr lang="zh-TW" altLang="en-US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8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採購作業流程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85925" y="1378437"/>
            <a:ext cx="8741667" cy="539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56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17</a:t>
            </a:fld>
            <a:endParaRPr lang="zh-TW" altLang="en-US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8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採購管理重點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3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066800" y="1500188"/>
            <a:ext cx="8229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b="0" dirty="0" smtClean="0">
                <a:latin typeface="標楷體" pitchFamily="65" charset="-120"/>
                <a:ea typeface="標楷體" pitchFamily="65" charset="-120"/>
              </a:rPr>
              <a:t>廠商</a:t>
            </a:r>
            <a:r>
              <a:rPr lang="zh-TW" altLang="en-US" sz="2400" b="0" dirty="0">
                <a:latin typeface="標楷體" pitchFamily="65" charset="-120"/>
                <a:ea typeface="標楷體" pitchFamily="65" charset="-120"/>
              </a:rPr>
              <a:t>資料</a:t>
            </a:r>
            <a:r>
              <a:rPr lang="zh-TW" altLang="en-US" sz="2400" b="0" dirty="0" smtClean="0">
                <a:latin typeface="標楷體" pitchFamily="65" charset="-120"/>
                <a:ea typeface="標楷體" pitchFamily="65" charset="-120"/>
              </a:rPr>
              <a:t>建立</a:t>
            </a:r>
            <a:r>
              <a:rPr lang="en-US" altLang="zh-TW" sz="2400" b="0" dirty="0" smtClean="0">
                <a:latin typeface="標楷體" pitchFamily="65" charset="-120"/>
                <a:ea typeface="標楷體" pitchFamily="65" charset="-120"/>
              </a:rPr>
              <a:t/>
            </a:r>
            <a:br>
              <a:rPr lang="en-US" altLang="zh-TW" sz="2400" b="0" dirty="0" smtClean="0">
                <a:latin typeface="標楷體" pitchFamily="65" charset="-120"/>
                <a:ea typeface="標楷體" pitchFamily="65" charset="-120"/>
              </a:rPr>
            </a:br>
            <a:r>
              <a:rPr lang="zh-TW" altLang="en-US" sz="2400" b="0" dirty="0" smtClean="0">
                <a:latin typeface="標楷體" pitchFamily="65" charset="-120"/>
                <a:ea typeface="標楷體" pitchFamily="65" charset="-120"/>
              </a:rPr>
              <a:t>  </a:t>
            </a:r>
            <a:r>
              <a:rPr lang="en-US" altLang="zh-TW" sz="2400" b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b="0" dirty="0" smtClean="0">
                <a:latin typeface="標楷體" pitchFamily="65" charset="-120"/>
                <a:ea typeface="標楷體" pitchFamily="65" charset="-120"/>
              </a:rPr>
              <a:t>廠商</a:t>
            </a:r>
            <a:r>
              <a:rPr lang="zh-TW" altLang="en-US" sz="2400" b="0" dirty="0">
                <a:latin typeface="標楷體" pitchFamily="65" charset="-120"/>
                <a:ea typeface="標楷體" pitchFamily="65" charset="-120"/>
              </a:rPr>
              <a:t>開發、遴選及建檔 </a:t>
            </a:r>
            <a:r>
              <a:rPr lang="zh-TW" altLang="en-US" sz="2400" b="0" dirty="0" smtClean="0">
                <a:latin typeface="標楷體" pitchFamily="65" charset="-120"/>
                <a:ea typeface="標楷體" pitchFamily="65" charset="-120"/>
              </a:rPr>
              <a:t>    </a:t>
            </a:r>
            <a:r>
              <a:rPr lang="en-US" altLang="zh-TW" sz="2400" b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b="0" dirty="0" smtClean="0">
                <a:latin typeface="標楷體" pitchFamily="65" charset="-120"/>
                <a:ea typeface="標楷體" pitchFamily="65" charset="-120"/>
              </a:rPr>
              <a:t>廠商</a:t>
            </a:r>
            <a:r>
              <a:rPr lang="zh-TW" altLang="en-US" sz="2400" b="0" dirty="0">
                <a:latin typeface="標楷體" pitchFamily="65" charset="-120"/>
                <a:ea typeface="標楷體" pitchFamily="65" charset="-120"/>
              </a:rPr>
              <a:t>評核及淘汰</a:t>
            </a: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1133475" y="5300663"/>
            <a:ext cx="8229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kumimoji="0" lang="zh-TW" altLang="en-US" sz="2400" b="0" dirty="0" smtClean="0">
                <a:latin typeface="標楷體" pitchFamily="65" charset="-120"/>
                <a:ea typeface="標楷體" pitchFamily="65" charset="-120"/>
              </a:rPr>
              <a:t>合約採購</a:t>
            </a:r>
            <a:endParaRPr kumimoji="0" lang="en-US" altLang="zh-TW" sz="2400" b="0" dirty="0" smtClean="0">
              <a:latin typeface="標楷體" pitchFamily="65" charset="-120"/>
              <a:ea typeface="標楷體" pitchFamily="65" charset="-120"/>
            </a:endParaRPr>
          </a:p>
          <a:p>
            <a:pPr eaLnBrk="1" hangingPunct="1"/>
            <a:r>
              <a:rPr kumimoji="0" lang="zh-TW" altLang="en-US" sz="2400" b="0" dirty="0">
                <a:latin typeface="標楷體" pitchFamily="65" charset="-120"/>
                <a:ea typeface="標楷體" pitchFamily="65" charset="-120"/>
              </a:rPr>
              <a:t> </a:t>
            </a:r>
            <a:r>
              <a:rPr kumimoji="0" lang="zh-TW" altLang="en-US" sz="2400" b="0" dirty="0" smtClean="0">
                <a:latin typeface="標楷體" pitchFamily="65" charset="-120"/>
                <a:ea typeface="標楷體" pitchFamily="65" charset="-120"/>
              </a:rPr>
              <a:t> </a:t>
            </a:r>
            <a:r>
              <a:rPr lang="en-US" altLang="zh-TW" sz="2400" b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kumimoji="0" lang="zh-TW" altLang="en-US" sz="2400" b="0" dirty="0" smtClean="0">
                <a:latin typeface="標楷體" pitchFamily="65" charset="-120"/>
                <a:ea typeface="標楷體" pitchFamily="65" charset="-120"/>
              </a:rPr>
              <a:t>合約</a:t>
            </a:r>
            <a:r>
              <a:rPr kumimoji="0" lang="zh-TW" altLang="en-US" sz="2400" b="0" dirty="0">
                <a:latin typeface="標楷體" pitchFamily="65" charset="-120"/>
                <a:ea typeface="標楷體" pitchFamily="65" charset="-120"/>
              </a:rPr>
              <a:t>廠商、單價及交貨日數資料建檔 </a:t>
            </a:r>
            <a:r>
              <a:rPr lang="en-US" altLang="zh-TW" sz="24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kumimoji="0" lang="zh-TW" altLang="en-US" sz="2400" b="0" dirty="0" smtClean="0">
                <a:latin typeface="標楷體" pitchFamily="65" charset="-120"/>
                <a:ea typeface="標楷體" pitchFamily="65" charset="-120"/>
              </a:rPr>
              <a:t>自動</a:t>
            </a:r>
            <a:r>
              <a:rPr kumimoji="0" lang="zh-TW" altLang="en-US" sz="2400" b="0" dirty="0">
                <a:latin typeface="標楷體" pitchFamily="65" charset="-120"/>
                <a:ea typeface="標楷體" pitchFamily="65" charset="-120"/>
              </a:rPr>
              <a:t>訂購</a:t>
            </a:r>
            <a:endParaRPr kumimoji="0" lang="zh-TW" altLang="zh-TW" sz="2400" b="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1085850" y="2527300"/>
            <a:ext cx="946785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b="0" dirty="0" smtClean="0">
                <a:latin typeface="標楷體" pitchFamily="65" charset="-120"/>
                <a:ea typeface="標楷體" pitchFamily="65" charset="-120"/>
              </a:rPr>
              <a:t>詢</a:t>
            </a:r>
            <a:r>
              <a:rPr lang="zh-TW" altLang="en-US" sz="2400" b="0" dirty="0">
                <a:latin typeface="標楷體" pitchFamily="65" charset="-120"/>
                <a:ea typeface="標楷體" pitchFamily="65" charset="-120"/>
              </a:rPr>
              <a:t>價及</a:t>
            </a:r>
            <a:r>
              <a:rPr kumimoji="0" lang="zh-TW" altLang="en-US" sz="2400" b="0" dirty="0" smtClean="0">
                <a:latin typeface="標楷體" pitchFamily="65" charset="-120"/>
                <a:ea typeface="標楷體" pitchFamily="65" charset="-120"/>
              </a:rPr>
              <a:t>開標</a:t>
            </a:r>
            <a:endParaRPr kumimoji="0" lang="en-US" altLang="zh-TW" sz="2400" b="0" dirty="0" smtClean="0">
              <a:latin typeface="標楷體" pitchFamily="65" charset="-120"/>
              <a:ea typeface="標楷體" pitchFamily="65" charset="-120"/>
            </a:endParaRPr>
          </a:p>
          <a:p>
            <a:pPr eaLnBrk="1" hangingPunct="1"/>
            <a:r>
              <a:rPr kumimoji="0" lang="zh-TW" altLang="en-US" sz="2400" b="0" dirty="0">
                <a:latin typeface="標楷體" pitchFamily="65" charset="-120"/>
                <a:ea typeface="標楷體" pitchFamily="65" charset="-120"/>
              </a:rPr>
              <a:t> </a:t>
            </a:r>
            <a:r>
              <a:rPr kumimoji="0" lang="zh-TW" altLang="en-US" sz="2400" b="0" dirty="0" smtClean="0">
                <a:latin typeface="標楷體" pitchFamily="65" charset="-120"/>
                <a:ea typeface="標楷體" pitchFamily="65" charset="-120"/>
              </a:rPr>
              <a:t> </a:t>
            </a:r>
            <a:r>
              <a:rPr lang="en-US" altLang="zh-TW" sz="2400" b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kumimoji="0" lang="zh-TW" altLang="en-US" sz="2400" b="0" dirty="0" smtClean="0">
                <a:latin typeface="標楷體" pitchFamily="65" charset="-120"/>
                <a:ea typeface="標楷體" pitchFamily="65" charset="-120"/>
              </a:rPr>
              <a:t>網路</a:t>
            </a:r>
            <a:r>
              <a:rPr kumimoji="0" lang="zh-TW" altLang="en-US" sz="2400" b="0" dirty="0">
                <a:latin typeface="標楷體" pitchFamily="65" charset="-120"/>
                <a:ea typeface="標楷體" pitchFamily="65" charset="-120"/>
              </a:rPr>
              <a:t>公開招標、自由報價 </a:t>
            </a:r>
            <a:r>
              <a:rPr kumimoji="0" lang="zh-TW" altLang="en-US" sz="2400" b="0" dirty="0" smtClean="0">
                <a:latin typeface="標楷體" pitchFamily="65" charset="-120"/>
                <a:ea typeface="標楷體" pitchFamily="65" charset="-120"/>
              </a:rPr>
              <a:t>  </a:t>
            </a:r>
            <a:r>
              <a:rPr lang="en-US" altLang="zh-TW" sz="2400" b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b="0" dirty="0" smtClean="0">
                <a:latin typeface="標楷體" pitchFamily="65" charset="-120"/>
                <a:ea typeface="標楷體" pitchFamily="65" charset="-120"/>
              </a:rPr>
              <a:t>網路</a:t>
            </a:r>
            <a:r>
              <a:rPr lang="zh-TW" altLang="en-US" sz="2400" b="0" dirty="0">
                <a:latin typeface="標楷體" pitchFamily="65" charset="-120"/>
                <a:ea typeface="標楷體" pitchFamily="65" charset="-120"/>
              </a:rPr>
              <a:t>下載請購規範及圖</a:t>
            </a:r>
            <a:r>
              <a:rPr lang="zh-TW" altLang="en-US" sz="2400" b="0" dirty="0" smtClean="0">
                <a:latin typeface="標楷體" pitchFamily="65" charset="-120"/>
                <a:ea typeface="標楷體" pitchFamily="65" charset="-120"/>
              </a:rPr>
              <a:t>面</a:t>
            </a:r>
            <a:endParaRPr lang="en-US" altLang="zh-TW" sz="2400" b="0" dirty="0" smtClean="0">
              <a:latin typeface="標楷體" pitchFamily="65" charset="-120"/>
              <a:ea typeface="標楷體" pitchFamily="65" charset="-120"/>
            </a:endParaRPr>
          </a:p>
          <a:p>
            <a:pPr eaLnBrk="1" hangingPunct="1"/>
            <a:r>
              <a:rPr kumimoji="0" lang="zh-TW" altLang="en-US" sz="2400" b="0" dirty="0">
                <a:latin typeface="標楷體" pitchFamily="65" charset="-120"/>
                <a:ea typeface="標楷體" pitchFamily="65" charset="-120"/>
              </a:rPr>
              <a:t> </a:t>
            </a:r>
            <a:r>
              <a:rPr kumimoji="0" lang="zh-TW" altLang="en-US" sz="2400" b="0" dirty="0" smtClean="0">
                <a:latin typeface="標楷體" pitchFamily="65" charset="-120"/>
                <a:ea typeface="標楷體" pitchFamily="65" charset="-120"/>
              </a:rPr>
              <a:t> </a:t>
            </a:r>
            <a:r>
              <a:rPr lang="en-US" altLang="zh-TW" sz="2400" b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kumimoji="0" lang="zh-TW" altLang="en-US" sz="2400" b="0" dirty="0" smtClean="0">
                <a:latin typeface="標楷體" pitchFamily="65" charset="-120"/>
                <a:ea typeface="標楷體" pitchFamily="65" charset="-120"/>
              </a:rPr>
              <a:t>傳真</a:t>
            </a:r>
            <a:r>
              <a:rPr kumimoji="0" lang="zh-TW" altLang="en-US" sz="2400" b="0" dirty="0">
                <a:latin typeface="標楷體" pitchFamily="65" charset="-120"/>
                <a:ea typeface="標楷體" pitchFamily="65" charset="-120"/>
              </a:rPr>
              <a:t>詢價、郵寄或網路報價</a:t>
            </a: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1104900" y="3877143"/>
            <a:ext cx="970597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b="0" dirty="0" smtClean="0">
                <a:latin typeface="標楷體" pitchFamily="65" charset="-120"/>
                <a:ea typeface="標楷體" pitchFamily="65" charset="-120"/>
              </a:rPr>
              <a:t>比價</a:t>
            </a:r>
            <a:r>
              <a:rPr lang="zh-TW" altLang="en-US" sz="2400" b="0" dirty="0">
                <a:latin typeface="標楷體" pitchFamily="65" charset="-120"/>
                <a:ea typeface="標楷體" pitchFamily="65" charset="-120"/>
              </a:rPr>
              <a:t>及</a:t>
            </a:r>
            <a:r>
              <a:rPr lang="zh-TW" altLang="en-US" sz="2400" b="0" dirty="0" smtClean="0">
                <a:latin typeface="標楷體" pitchFamily="65" charset="-120"/>
                <a:ea typeface="標楷體" pitchFamily="65" charset="-120"/>
              </a:rPr>
              <a:t>訂購</a:t>
            </a:r>
            <a:endParaRPr kumimoji="0" lang="en-US" altLang="zh-TW" sz="2400" b="0" dirty="0">
              <a:latin typeface="標楷體" pitchFamily="65" charset="-120"/>
              <a:ea typeface="標楷體" pitchFamily="65" charset="-120"/>
            </a:endParaRPr>
          </a:p>
          <a:p>
            <a:pPr eaLnBrk="1" hangingPunct="1"/>
            <a:r>
              <a:rPr kumimoji="0" lang="zh-TW" altLang="en-US" sz="2400" b="0" dirty="0">
                <a:latin typeface="標楷體" pitchFamily="65" charset="-120"/>
                <a:ea typeface="標楷體" pitchFamily="65" charset="-120"/>
              </a:rPr>
              <a:t> </a:t>
            </a:r>
            <a:r>
              <a:rPr kumimoji="0" lang="zh-TW" altLang="en-US" sz="2400" b="0" dirty="0" smtClean="0">
                <a:latin typeface="標楷體" pitchFamily="65" charset="-120"/>
                <a:ea typeface="標楷體" pitchFamily="65" charset="-120"/>
              </a:rPr>
              <a:t> </a:t>
            </a:r>
            <a:r>
              <a:rPr lang="en-US" altLang="zh-TW" sz="2400" b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kumimoji="0" lang="zh-TW" altLang="en-US" sz="2400" b="0" dirty="0" smtClean="0">
                <a:latin typeface="標楷體" pitchFamily="65" charset="-120"/>
                <a:ea typeface="標楷體" pitchFamily="65" charset="-120"/>
              </a:rPr>
              <a:t>比價</a:t>
            </a:r>
            <a:r>
              <a:rPr kumimoji="0" lang="zh-TW" altLang="en-US" sz="2400" b="0" dirty="0">
                <a:latin typeface="標楷體" pitchFamily="65" charset="-120"/>
                <a:ea typeface="標楷體" pitchFamily="65" charset="-120"/>
              </a:rPr>
              <a:t>表依報價高低順序列印 </a:t>
            </a:r>
            <a:r>
              <a:rPr lang="en-US" altLang="zh-TW" sz="24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kumimoji="0" lang="zh-TW" altLang="en-US" sz="2400" b="0" dirty="0" smtClean="0">
                <a:latin typeface="標楷體" pitchFamily="65" charset="-120"/>
                <a:ea typeface="標楷體" pitchFamily="65" charset="-120"/>
              </a:rPr>
              <a:t>列印</a:t>
            </a:r>
            <a:r>
              <a:rPr kumimoji="0" lang="zh-TW" altLang="en-US" sz="2400" b="0" dirty="0">
                <a:latin typeface="標楷體" pitchFamily="65" charset="-120"/>
                <a:ea typeface="標楷體" pitchFamily="65" charset="-120"/>
              </a:rPr>
              <a:t>前購資料及採購</a:t>
            </a:r>
            <a:r>
              <a:rPr kumimoji="0" lang="zh-TW" altLang="en-US" sz="2400" b="0" dirty="0" smtClean="0">
                <a:latin typeface="標楷體" pitchFamily="65" charset="-120"/>
                <a:ea typeface="標楷體" pitchFamily="65" charset="-120"/>
              </a:rPr>
              <a:t>記錄</a:t>
            </a:r>
            <a:endParaRPr kumimoji="0" lang="en-US" altLang="zh-TW" sz="2400" b="0" dirty="0" smtClean="0">
              <a:latin typeface="標楷體" pitchFamily="65" charset="-120"/>
              <a:ea typeface="標楷體" pitchFamily="65" charset="-120"/>
            </a:endParaRPr>
          </a:p>
          <a:p>
            <a:pPr eaLnBrk="1" hangingPunct="1"/>
            <a:r>
              <a:rPr kumimoji="0" lang="zh-TW" altLang="en-US" sz="2400" b="0" dirty="0">
                <a:latin typeface="標楷體" pitchFamily="65" charset="-120"/>
                <a:ea typeface="標楷體" pitchFamily="65" charset="-120"/>
              </a:rPr>
              <a:t> </a:t>
            </a:r>
            <a:r>
              <a:rPr kumimoji="0" lang="zh-TW" altLang="en-US" sz="2400" b="0" dirty="0" smtClean="0">
                <a:latin typeface="標楷體" pitchFamily="65" charset="-120"/>
                <a:ea typeface="標楷體" pitchFamily="65" charset="-120"/>
              </a:rPr>
              <a:t> </a:t>
            </a:r>
            <a:r>
              <a:rPr lang="en-US" altLang="zh-TW" sz="2400" b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kumimoji="0" lang="zh-TW" altLang="en-US" sz="2400" b="0" dirty="0" smtClean="0">
                <a:latin typeface="標楷體" pitchFamily="65" charset="-120"/>
                <a:ea typeface="標楷體" pitchFamily="65" charset="-120"/>
              </a:rPr>
              <a:t>開標</a:t>
            </a:r>
            <a:r>
              <a:rPr kumimoji="0" lang="zh-TW" altLang="en-US" sz="2400" b="0" dirty="0">
                <a:latin typeface="標楷體" pitchFamily="65" charset="-120"/>
                <a:ea typeface="標楷體" pitchFamily="65" charset="-120"/>
              </a:rPr>
              <a:t>後以最低報價且品質交期符合者優先洽</a:t>
            </a:r>
            <a:r>
              <a:rPr kumimoji="0" lang="zh-TW" altLang="en-US" sz="2400" b="0" dirty="0" smtClean="0">
                <a:latin typeface="標楷體" pitchFamily="65" charset="-120"/>
                <a:ea typeface="標楷體" pitchFamily="65" charset="-120"/>
              </a:rPr>
              <a:t>議</a:t>
            </a:r>
            <a:endParaRPr kumimoji="0" lang="zh-TW" altLang="en-US" sz="2400" b="0" dirty="0"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41646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pPr/>
              <a:t>18</a:t>
            </a:fld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8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採購管理重點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114425" y="4872743"/>
            <a:ext cx="66008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b="0" dirty="0" smtClean="0">
                <a:latin typeface="標楷體" panose="03000509000000000000" pitchFamily="65" charset="-120"/>
                <a:ea typeface="標楷體" panose="03000509000000000000" pitchFamily="65" charset="-120"/>
                <a:cs typeface="台塑體" pitchFamily="2" charset="-120"/>
              </a:rPr>
              <a:t>採購</a:t>
            </a:r>
            <a:r>
              <a:rPr lang="zh-TW" altLang="en-US" sz="2400" b="0" dirty="0">
                <a:latin typeface="標楷體" panose="03000509000000000000" pitchFamily="65" charset="-120"/>
                <a:ea typeface="標楷體" panose="03000509000000000000" pitchFamily="65" charset="-120"/>
                <a:cs typeface="台塑體" pitchFamily="2" charset="-120"/>
              </a:rPr>
              <a:t>績效評</a:t>
            </a:r>
            <a:r>
              <a:rPr lang="zh-TW" altLang="en-US" sz="2400" b="0" dirty="0" smtClean="0">
                <a:latin typeface="標楷體" panose="03000509000000000000" pitchFamily="65" charset="-120"/>
                <a:ea typeface="標楷體" panose="03000509000000000000" pitchFamily="65" charset="-120"/>
                <a:cs typeface="台塑體" pitchFamily="2" charset="-120"/>
              </a:rPr>
              <a:t>核</a:t>
            </a:r>
            <a:endParaRPr lang="en-US" altLang="zh-TW" sz="2400" b="0" dirty="0" smtClean="0">
              <a:latin typeface="標楷體" panose="03000509000000000000" pitchFamily="65" charset="-120"/>
              <a:ea typeface="標楷體" panose="03000509000000000000" pitchFamily="65" charset="-120"/>
              <a:cs typeface="台塑體" pitchFamily="2" charset="-120"/>
            </a:endParaRPr>
          </a:p>
          <a:p>
            <a:pPr eaLnBrk="1" hangingPunct="1"/>
            <a:r>
              <a:rPr lang="zh-TW" altLang="en-US" sz="2400" b="0" dirty="0">
                <a:latin typeface="標楷體" panose="03000509000000000000" pitchFamily="65" charset="-120"/>
                <a:ea typeface="標楷體" panose="03000509000000000000" pitchFamily="65" charset="-120"/>
                <a:cs typeface="台塑體" pitchFamily="2" charset="-120"/>
              </a:rPr>
              <a:t>　</a:t>
            </a:r>
            <a:r>
              <a:rPr lang="en-US" altLang="zh-TW" sz="2400" b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b="0" dirty="0" smtClean="0">
                <a:latin typeface="標楷體" panose="03000509000000000000" pitchFamily="65" charset="-120"/>
                <a:ea typeface="標楷體" panose="03000509000000000000" pitchFamily="65" charset="-120"/>
                <a:cs typeface="台塑體" pitchFamily="2" charset="-120"/>
              </a:rPr>
              <a:t>每月</a:t>
            </a:r>
            <a:r>
              <a:rPr lang="zh-TW" altLang="en-US" sz="2400" b="0" dirty="0">
                <a:latin typeface="標楷體" panose="03000509000000000000" pitchFamily="65" charset="-120"/>
                <a:ea typeface="標楷體" panose="03000509000000000000" pitchFamily="65" charset="-120"/>
                <a:cs typeface="台塑體" pitchFamily="2" charset="-120"/>
              </a:rPr>
              <a:t>依組別及經辦統計績效檢討改善   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104900" y="3777368"/>
            <a:ext cx="8229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kumimoji="0" lang="zh-TW" altLang="en-US" sz="2400" b="0" dirty="0" smtClean="0">
                <a:latin typeface="標楷體" panose="03000509000000000000" pitchFamily="65" charset="-120"/>
                <a:ea typeface="標楷體" panose="03000509000000000000" pitchFamily="65" charset="-120"/>
                <a:cs typeface="台塑體" pitchFamily="2" charset="-120"/>
              </a:rPr>
              <a:t>請</a:t>
            </a:r>
            <a:r>
              <a:rPr kumimoji="0" lang="zh-TW" altLang="en-US" sz="2400" b="0" dirty="0">
                <a:latin typeface="標楷體" panose="03000509000000000000" pitchFamily="65" charset="-120"/>
                <a:ea typeface="標楷體" panose="03000509000000000000" pitchFamily="65" charset="-120"/>
                <a:cs typeface="台塑體" pitchFamily="2" charset="-120"/>
              </a:rPr>
              <a:t>訂購</a:t>
            </a:r>
            <a:r>
              <a:rPr kumimoji="0" lang="zh-TW" altLang="en-US" sz="2400" b="0" dirty="0" smtClean="0">
                <a:latin typeface="標楷體" panose="03000509000000000000" pitchFamily="65" charset="-120"/>
                <a:ea typeface="標楷體" panose="03000509000000000000" pitchFamily="65" charset="-120"/>
                <a:cs typeface="台塑體" pitchFamily="2" charset="-120"/>
              </a:rPr>
              <a:t>變更</a:t>
            </a:r>
            <a:endParaRPr kumimoji="0" lang="en-US" altLang="zh-TW" sz="2400" b="0" dirty="0" smtClean="0">
              <a:latin typeface="標楷體" panose="03000509000000000000" pitchFamily="65" charset="-120"/>
              <a:ea typeface="標楷體" panose="03000509000000000000" pitchFamily="65" charset="-120"/>
              <a:cs typeface="台塑體" pitchFamily="2" charset="-120"/>
            </a:endParaRPr>
          </a:p>
          <a:p>
            <a:pPr eaLnBrk="1" hangingPunct="1"/>
            <a:r>
              <a:rPr kumimoji="0" lang="zh-TW" altLang="en-US" sz="2400" b="0" dirty="0">
                <a:latin typeface="標楷體" panose="03000509000000000000" pitchFamily="65" charset="-120"/>
                <a:ea typeface="標楷體" panose="03000509000000000000" pitchFamily="65" charset="-120"/>
                <a:cs typeface="台塑體" pitchFamily="2" charset="-120"/>
              </a:rPr>
              <a:t>　</a:t>
            </a:r>
            <a:r>
              <a:rPr lang="en-US" altLang="zh-TW" sz="2400" b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kumimoji="0" lang="zh-TW" altLang="en-US" sz="2400" b="0" dirty="0" smtClean="0">
                <a:latin typeface="標楷體" panose="03000509000000000000" pitchFamily="65" charset="-120"/>
                <a:ea typeface="標楷體" panose="03000509000000000000" pitchFamily="65" charset="-120"/>
                <a:cs typeface="台塑體" pitchFamily="2" charset="-120"/>
              </a:rPr>
              <a:t>就</a:t>
            </a:r>
            <a:r>
              <a:rPr kumimoji="0" lang="zh-TW" altLang="en-US" sz="2400" b="0" dirty="0">
                <a:latin typeface="標楷體" panose="03000509000000000000" pitchFamily="65" charset="-120"/>
                <a:ea typeface="標楷體" panose="03000509000000000000" pitchFamily="65" charset="-120"/>
                <a:cs typeface="台塑體" pitchFamily="2" charset="-120"/>
              </a:rPr>
              <a:t>源輸入　	 </a:t>
            </a:r>
            <a:r>
              <a:rPr kumimoji="0" lang="zh-TW" altLang="en-US" sz="2400" b="0" dirty="0" smtClean="0">
                <a:latin typeface="標楷體" panose="03000509000000000000" pitchFamily="65" charset="-120"/>
                <a:ea typeface="標楷體" panose="03000509000000000000" pitchFamily="65" charset="-120"/>
                <a:cs typeface="台塑體" pitchFamily="2" charset="-120"/>
              </a:rPr>
              <a:t>　　　</a:t>
            </a:r>
            <a:r>
              <a:rPr lang="en-US" altLang="zh-TW" sz="2400" b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kumimoji="0" lang="zh-TW" altLang="en-US" sz="2400" b="0" dirty="0" smtClean="0">
                <a:latin typeface="標楷體" panose="03000509000000000000" pitchFamily="65" charset="-120"/>
                <a:ea typeface="標楷體" panose="03000509000000000000" pitchFamily="65" charset="-120"/>
                <a:cs typeface="台塑體" pitchFamily="2" charset="-120"/>
              </a:rPr>
              <a:t>自動</a:t>
            </a:r>
            <a:r>
              <a:rPr kumimoji="0" lang="zh-TW" altLang="en-US" sz="2400" b="0" dirty="0">
                <a:latin typeface="標楷體" panose="03000509000000000000" pitchFamily="65" charset="-120"/>
                <a:ea typeface="標楷體" panose="03000509000000000000" pitchFamily="65" charset="-120"/>
                <a:cs typeface="台塑體" pitchFamily="2" charset="-120"/>
              </a:rPr>
              <a:t>傳真及網路廠商確認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095210" y="2615318"/>
            <a:ext cx="8229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b="0" dirty="0" smtClean="0">
                <a:latin typeface="標楷體" panose="03000509000000000000" pitchFamily="65" charset="-120"/>
                <a:ea typeface="標楷體" panose="03000509000000000000" pitchFamily="65" charset="-120"/>
                <a:cs typeface="台塑體" pitchFamily="2" charset="-120"/>
              </a:rPr>
              <a:t>滯</a:t>
            </a:r>
            <a:r>
              <a:rPr lang="zh-TW" altLang="en-US" sz="2400" b="0" dirty="0">
                <a:latin typeface="標楷體" panose="03000509000000000000" pitchFamily="65" charset="-120"/>
                <a:ea typeface="標楷體" panose="03000509000000000000" pitchFamily="65" charset="-120"/>
                <a:cs typeface="台塑體" pitchFamily="2" charset="-120"/>
              </a:rPr>
              <a:t>料查核撥</a:t>
            </a:r>
            <a:r>
              <a:rPr lang="zh-TW" altLang="en-US" sz="2400" b="0" dirty="0" smtClean="0">
                <a:latin typeface="標楷體" panose="03000509000000000000" pitchFamily="65" charset="-120"/>
                <a:ea typeface="標楷體" panose="03000509000000000000" pitchFamily="65" charset="-120"/>
                <a:cs typeface="台塑體" pitchFamily="2" charset="-120"/>
              </a:rPr>
              <a:t>售</a:t>
            </a:r>
            <a:endParaRPr lang="en-US" altLang="zh-TW" sz="2400" b="0" dirty="0" smtClean="0">
              <a:latin typeface="標楷體" panose="03000509000000000000" pitchFamily="65" charset="-120"/>
              <a:ea typeface="標楷體" panose="03000509000000000000" pitchFamily="65" charset="-120"/>
              <a:cs typeface="台塑體" pitchFamily="2" charset="-120"/>
            </a:endParaRPr>
          </a:p>
          <a:p>
            <a:pPr eaLnBrk="1" hangingPunct="1"/>
            <a:r>
              <a:rPr lang="zh-TW" altLang="en-US" sz="2400" b="0" dirty="0" smtClean="0">
                <a:latin typeface="標楷體" panose="03000509000000000000" pitchFamily="65" charset="-120"/>
                <a:ea typeface="標楷體" panose="03000509000000000000" pitchFamily="65" charset="-120"/>
                <a:cs typeface="台塑體" pitchFamily="2" charset="-120"/>
              </a:rPr>
              <a:t>　</a:t>
            </a:r>
            <a:r>
              <a:rPr lang="en-US" altLang="zh-TW" sz="2400" b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b="0" dirty="0" smtClean="0">
                <a:latin typeface="標楷體" panose="03000509000000000000" pitchFamily="65" charset="-120"/>
                <a:ea typeface="標楷體" panose="03000509000000000000" pitchFamily="65" charset="-120"/>
                <a:cs typeface="台塑體" pitchFamily="2" charset="-120"/>
              </a:rPr>
              <a:t>滯</a:t>
            </a:r>
            <a:r>
              <a:rPr lang="zh-TW" altLang="en-US" sz="2400" b="0" dirty="0">
                <a:latin typeface="標楷體" panose="03000509000000000000" pitchFamily="65" charset="-120"/>
                <a:ea typeface="標楷體" panose="03000509000000000000" pitchFamily="65" charset="-120"/>
                <a:cs typeface="台塑體" pitchFamily="2" charset="-120"/>
              </a:rPr>
              <a:t>料撥售確認單 </a:t>
            </a:r>
            <a:r>
              <a:rPr lang="zh-TW" altLang="en-US" sz="2400" b="0" dirty="0" smtClean="0">
                <a:latin typeface="標楷體" panose="03000509000000000000" pitchFamily="65" charset="-120"/>
                <a:ea typeface="標楷體" panose="03000509000000000000" pitchFamily="65" charset="-120"/>
                <a:cs typeface="台塑體" pitchFamily="2" charset="-120"/>
              </a:rPr>
              <a:t>　　　</a:t>
            </a:r>
            <a:r>
              <a:rPr lang="en-US" altLang="zh-TW" sz="2400" b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b="0" dirty="0" smtClean="0">
                <a:latin typeface="標楷體" panose="03000509000000000000" pitchFamily="65" charset="-120"/>
                <a:ea typeface="標楷體" panose="03000509000000000000" pitchFamily="65" charset="-120"/>
                <a:cs typeface="台塑體" pitchFamily="2" charset="-120"/>
              </a:rPr>
              <a:t>訂購</a:t>
            </a:r>
            <a:r>
              <a:rPr lang="zh-TW" altLang="en-US" sz="2400" b="0" dirty="0">
                <a:latin typeface="標楷體" panose="03000509000000000000" pitchFamily="65" charset="-120"/>
                <a:ea typeface="標楷體" panose="03000509000000000000" pitchFamily="65" charset="-120"/>
                <a:cs typeface="台塑體" pitchFamily="2" charset="-120"/>
              </a:rPr>
              <a:t>管制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076325" y="1558043"/>
            <a:ext cx="8229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kumimoji="0" lang="zh-TW" altLang="en-US" sz="2400" b="0" dirty="0" smtClean="0">
                <a:latin typeface="標楷體" panose="03000509000000000000" pitchFamily="65" charset="-120"/>
                <a:ea typeface="標楷體" panose="03000509000000000000" pitchFamily="65" charset="-120"/>
                <a:cs typeface="台塑體" pitchFamily="2" charset="-120"/>
              </a:rPr>
              <a:t>採購</a:t>
            </a:r>
            <a:r>
              <a:rPr kumimoji="0" lang="zh-TW" altLang="en-US" sz="2400" b="0" dirty="0">
                <a:latin typeface="標楷體" panose="03000509000000000000" pitchFamily="65" charset="-120"/>
                <a:ea typeface="標楷體" panose="03000509000000000000" pitchFamily="65" charset="-120"/>
                <a:cs typeface="台塑體" pitchFamily="2" charset="-120"/>
              </a:rPr>
              <a:t>進度</a:t>
            </a:r>
            <a:r>
              <a:rPr kumimoji="0" lang="zh-TW" altLang="en-US" sz="2400" b="0" dirty="0" smtClean="0">
                <a:latin typeface="標楷體" panose="03000509000000000000" pitchFamily="65" charset="-120"/>
                <a:ea typeface="標楷體" panose="03000509000000000000" pitchFamily="65" charset="-120"/>
                <a:cs typeface="台塑體" pitchFamily="2" charset="-120"/>
              </a:rPr>
              <a:t>管制</a:t>
            </a:r>
            <a:endParaRPr kumimoji="0" lang="en-US" altLang="zh-TW" sz="2400" b="0" dirty="0" smtClean="0">
              <a:latin typeface="標楷體" panose="03000509000000000000" pitchFamily="65" charset="-120"/>
              <a:ea typeface="標楷體" panose="03000509000000000000" pitchFamily="65" charset="-120"/>
              <a:cs typeface="台塑體" pitchFamily="2" charset="-120"/>
            </a:endParaRPr>
          </a:p>
          <a:p>
            <a:pPr eaLnBrk="1" hangingPunct="1"/>
            <a:r>
              <a:rPr kumimoji="0" lang="zh-TW" altLang="en-US" sz="2400" b="0" dirty="0">
                <a:latin typeface="標楷體" panose="03000509000000000000" pitchFamily="65" charset="-120"/>
                <a:ea typeface="標楷體" panose="03000509000000000000" pitchFamily="65" charset="-120"/>
                <a:cs typeface="台塑體" pitchFamily="2" charset="-120"/>
              </a:rPr>
              <a:t> </a:t>
            </a:r>
            <a:r>
              <a:rPr kumimoji="0" lang="zh-TW" altLang="en-US" sz="2400" b="0" dirty="0" smtClean="0">
                <a:latin typeface="標楷體" panose="03000509000000000000" pitchFamily="65" charset="-120"/>
                <a:ea typeface="標楷體" panose="03000509000000000000" pitchFamily="65" charset="-120"/>
                <a:cs typeface="台塑體" pitchFamily="2" charset="-120"/>
              </a:rPr>
              <a:t> </a:t>
            </a:r>
            <a:r>
              <a:rPr lang="en-US" altLang="zh-TW" sz="2400" b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kumimoji="0" lang="zh-TW" altLang="en-US" sz="2400" b="0" dirty="0" smtClean="0">
                <a:latin typeface="標楷體" panose="03000509000000000000" pitchFamily="65" charset="-120"/>
                <a:ea typeface="標楷體" panose="03000509000000000000" pitchFamily="65" charset="-120"/>
                <a:cs typeface="台塑體" pitchFamily="2" charset="-120"/>
              </a:rPr>
              <a:t>詢、</a:t>
            </a:r>
            <a:r>
              <a:rPr kumimoji="0" lang="zh-TW" altLang="en-US" sz="2400" b="0" dirty="0">
                <a:latin typeface="標楷體" panose="03000509000000000000" pitchFamily="65" charset="-120"/>
                <a:ea typeface="標楷體" panose="03000509000000000000" pitchFamily="65" charset="-120"/>
                <a:cs typeface="台塑體" pitchFamily="2" charset="-120"/>
              </a:rPr>
              <a:t>訂購進度管制　	 </a:t>
            </a:r>
            <a:r>
              <a:rPr lang="en-US" altLang="zh-TW" sz="2400" b="0" dirty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kumimoji="0" lang="zh-TW" altLang="en-US" sz="2400" b="0" dirty="0" smtClean="0">
                <a:latin typeface="標楷體" panose="03000509000000000000" pitchFamily="65" charset="-120"/>
                <a:ea typeface="標楷體" panose="03000509000000000000" pitchFamily="65" charset="-120"/>
                <a:cs typeface="台塑體" pitchFamily="2" charset="-120"/>
              </a:rPr>
              <a:t>交</a:t>
            </a:r>
            <a:r>
              <a:rPr kumimoji="0" lang="zh-TW" altLang="en-US" sz="2400" b="0" dirty="0">
                <a:latin typeface="標楷體" panose="03000509000000000000" pitchFamily="65" charset="-120"/>
                <a:ea typeface="標楷體" panose="03000509000000000000" pitchFamily="65" charset="-120"/>
                <a:cs typeface="台塑體" pitchFamily="2" charset="-120"/>
              </a:rPr>
              <a:t>期管制   </a:t>
            </a:r>
          </a:p>
        </p:txBody>
      </p:sp>
    </p:spTree>
    <p:extLst>
      <p:ext uri="{BB962C8B-B14F-4D97-AF65-F5344CB8AC3E}">
        <p14:creationId xmlns:p14="http://schemas.microsoft.com/office/powerpoint/2010/main" val="1407459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19</a:t>
            </a:fld>
            <a:endParaRPr lang="zh-TW" altLang="en-US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800" spc="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採購管理</a:t>
            </a:r>
            <a:r>
              <a:rPr lang="zh-TW" altLang="en-US" sz="28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重點－廠商遴選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133475" y="1463968"/>
            <a:ext cx="10134600" cy="4565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</a:pPr>
            <a:r>
              <a:rPr kumimoji="0" lang="zh-TW" altLang="en-US" sz="2400" dirty="0">
                <a:latin typeface="標楷體" pitchFamily="65" charset="-120"/>
                <a:ea typeface="標楷體" pitchFamily="65" charset="-120"/>
              </a:rPr>
              <a:t>設立廠商開發專人</a:t>
            </a:r>
            <a:r>
              <a:rPr kumimoji="0" lang="zh-TW" altLang="en-US" sz="2400" dirty="0" smtClean="0">
                <a:latin typeface="標楷體" pitchFamily="65" charset="-120"/>
                <a:ea typeface="標楷體" pitchFamily="65" charset="-120"/>
              </a:rPr>
              <a:t>：</a:t>
            </a:r>
            <a:r>
              <a:rPr kumimoji="0" lang="en-US" altLang="zh-TW" sz="2400" dirty="0" smtClean="0">
                <a:latin typeface="標楷體" pitchFamily="65" charset="-120"/>
                <a:ea typeface="標楷體" pitchFamily="65" charset="-120"/>
              </a:rPr>
              <a:t/>
            </a:r>
            <a:br>
              <a:rPr kumimoji="0" lang="en-US" altLang="zh-TW" sz="2400" dirty="0" smtClean="0">
                <a:latin typeface="標楷體" pitchFamily="65" charset="-120"/>
                <a:ea typeface="標楷體" pitchFamily="65" charset="-120"/>
              </a:rPr>
            </a:b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依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材料類別設置具有此類專業知識之人員</a:t>
            </a: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擔任。</a:t>
            </a:r>
            <a:endParaRPr lang="zh-TW" altLang="en-US" sz="2400" dirty="0">
              <a:latin typeface="標楷體" pitchFamily="65" charset="-120"/>
              <a:ea typeface="標楷體" pitchFamily="65" charset="-120"/>
            </a:endParaRPr>
          </a:p>
          <a:p>
            <a:pPr marL="342900" indent="-342900">
              <a:lnSpc>
                <a:spcPct val="110000"/>
              </a:lnSpc>
              <a:spcBef>
                <a:spcPts val="6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</a:pPr>
            <a:r>
              <a:rPr kumimoji="0" lang="zh-TW" altLang="en-US" sz="2400" dirty="0">
                <a:latin typeface="標楷體" pitchFamily="65" charset="-120"/>
                <a:ea typeface="標楷體" pitchFamily="65" charset="-120"/>
              </a:rPr>
              <a:t>廠商資料來源：</a:t>
            </a:r>
          </a:p>
          <a:p>
            <a:pPr marL="342900" indent="-342900">
              <a:lnSpc>
                <a:spcPct val="110000"/>
              </a:lnSpc>
              <a:spcBef>
                <a:spcPts val="6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  	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國內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、外工商名錄 </a:t>
            </a: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　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採購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指南</a:t>
            </a:r>
          </a:p>
          <a:p>
            <a:pPr marL="342900" indent="-342900">
              <a:lnSpc>
                <a:spcPct val="110000"/>
              </a:lnSpc>
              <a:spcBef>
                <a:spcPts val="6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  	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報章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、雜誌     　</a:t>
            </a: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　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各種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工商展覽</a:t>
            </a:r>
          </a:p>
          <a:p>
            <a:pPr marL="342900" indent="-3429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  	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廠商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自行推薦 </a:t>
            </a: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　　　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․</a:t>
            </a: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經由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網路取得</a:t>
            </a:r>
          </a:p>
          <a:p>
            <a:pPr marL="342900" indent="-342900">
              <a:lnSpc>
                <a:spcPct val="110000"/>
              </a:lnSpc>
              <a:spcBef>
                <a:spcPts val="6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</a:pPr>
            <a:r>
              <a:rPr kumimoji="0" lang="zh-TW" altLang="en-US" sz="2400" dirty="0">
                <a:latin typeface="標楷體" pitchFamily="65" charset="-120"/>
                <a:ea typeface="標楷體" pitchFamily="65" charset="-120"/>
              </a:rPr>
              <a:t>遴選原則</a:t>
            </a:r>
            <a:r>
              <a:rPr kumimoji="0" lang="zh-TW" altLang="en-US" sz="2400" dirty="0" smtClean="0">
                <a:latin typeface="標楷體" pitchFamily="65" charset="-120"/>
                <a:ea typeface="標楷體" pitchFamily="65" charset="-120"/>
              </a:rPr>
              <a:t>：</a:t>
            </a:r>
            <a:r>
              <a:rPr kumimoji="0" lang="en-US" altLang="zh-TW" sz="2400" dirty="0" smtClean="0">
                <a:latin typeface="標楷體" pitchFamily="65" charset="-120"/>
                <a:ea typeface="標楷體" pitchFamily="65" charset="-120"/>
              </a:rPr>
              <a:t/>
            </a:r>
            <a:br>
              <a:rPr kumimoji="0" lang="en-US" altLang="zh-TW" sz="2400" dirty="0" smtClean="0">
                <a:latin typeface="標楷體" pitchFamily="65" charset="-120"/>
                <a:ea typeface="標楷體" pitchFamily="65" charset="-120"/>
              </a:rPr>
            </a:b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由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廠商開發專人依廠商所提供之製造規模、產品種類、可製供之規格、品質等級及銷售實績等資料加以審查選定</a:t>
            </a:r>
            <a:r>
              <a:rPr lang="en-US" altLang="zh-TW" sz="2400" dirty="0">
                <a:latin typeface="標楷體" pitchFamily="65" charset="-120"/>
                <a:ea typeface="標楷體" pitchFamily="65" charset="-120"/>
              </a:rPr>
              <a:t>(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必要時赴廠商處實地瞭解確認</a:t>
            </a:r>
            <a:r>
              <a:rPr lang="en-US" altLang="zh-TW" sz="2400" dirty="0">
                <a:latin typeface="標楷體" pitchFamily="65" charset="-120"/>
                <a:ea typeface="標楷體" pitchFamily="65" charset="-120"/>
              </a:rPr>
              <a:t>)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</a:rPr>
              <a:t>，凡符合本企業要求之廠商即予建檔列入</a:t>
            </a: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往來。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0941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>
          <a:xfrm>
            <a:off x="11528562" y="1026206"/>
            <a:ext cx="682487" cy="418712"/>
          </a:xfrm>
        </p:spPr>
        <p:txBody>
          <a:bodyPr/>
          <a:lstStyle/>
          <a:p>
            <a:fld id="{B5CEABB6-07DC-46E8-9B57-56EC44A396E5}" type="slidenum">
              <a:rPr lang="en-US" altLang="zh-TW" smtClean="0"/>
              <a:pPr/>
              <a:t>20</a:t>
            </a:fld>
            <a:endParaRPr lang="zh-TW" altLang="en-US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8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採購管理重點－廠商評核</a:t>
            </a:r>
            <a:endParaRPr lang="zh-TW" altLang="en-US" sz="28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3730176" y="2975879"/>
            <a:ext cx="1109663" cy="533400"/>
          </a:xfrm>
          <a:prstGeom prst="rightArrow">
            <a:avLst>
              <a:gd name="adj1" fmla="val 48806"/>
              <a:gd name="adj2" fmla="val 80749"/>
            </a:avLst>
          </a:prstGeom>
          <a:solidFill>
            <a:srgbClr val="0099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TW" altLang="en-US">
              <a:latin typeface="Arial" charset="0"/>
            </a:endParaRP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7498901" y="2747279"/>
            <a:ext cx="1981200" cy="1143000"/>
          </a:xfrm>
          <a:prstGeom prst="foldedCorner">
            <a:avLst>
              <a:gd name="adj" fmla="val 12500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tIns="262800" anchor="ctr"/>
          <a:lstStyle/>
          <a:p>
            <a:pPr algn="ctr">
              <a:defRPr/>
            </a:pPr>
            <a:r>
              <a:rPr lang="zh-TW" altLang="en-US" sz="2400" dirty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  <a:sym typeface="Wingdings" pitchFamily="2" charset="2"/>
              </a:rPr>
              <a:t>往來廠商</a:t>
            </a:r>
          </a:p>
          <a:p>
            <a:pPr algn="ctr">
              <a:defRPr/>
            </a:pPr>
            <a:r>
              <a:rPr lang="zh-TW" altLang="en-US" sz="2400" dirty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  <a:sym typeface="Wingdings" pitchFamily="2" charset="2"/>
              </a:rPr>
              <a:t>異常反應表</a:t>
            </a:r>
            <a:endParaRPr lang="zh-TW" altLang="en-US" sz="2400" dirty="0">
              <a:solidFill>
                <a:schemeClr val="tx1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7" name="Oval 5"/>
          <p:cNvSpPr>
            <a:spLocks noChangeArrowheads="1"/>
          </p:cNvSpPr>
          <p:nvPr/>
        </p:nvSpPr>
        <p:spPr bwMode="auto">
          <a:xfrm>
            <a:off x="2001389" y="2671079"/>
            <a:ext cx="1600200" cy="990600"/>
          </a:xfrm>
          <a:prstGeom prst="ellipse">
            <a:avLst/>
          </a:prstGeom>
          <a:solidFill>
            <a:srgbClr val="FFFF00"/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zh-TW" altLang="en-US" sz="2400" dirty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電腦每</a:t>
            </a:r>
          </a:p>
          <a:p>
            <a:pPr>
              <a:defRPr/>
            </a:pPr>
            <a:r>
              <a:rPr lang="zh-TW" altLang="en-US" sz="2400" dirty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月查核</a:t>
            </a:r>
          </a:p>
        </p:txBody>
      </p:sp>
      <p:sp>
        <p:nvSpPr>
          <p:cNvPr id="8" name="Oval 6"/>
          <p:cNvSpPr>
            <a:spLocks noChangeArrowheads="1"/>
          </p:cNvSpPr>
          <p:nvPr/>
        </p:nvSpPr>
        <p:spPr bwMode="auto">
          <a:xfrm>
            <a:off x="6754364" y="1569354"/>
            <a:ext cx="2592387" cy="990600"/>
          </a:xfrm>
          <a:prstGeom prst="ellipse">
            <a:avLst/>
          </a:prstGeom>
          <a:solidFill>
            <a:srgbClr val="FFCCCC"/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zh-TW" altLang="en-US" sz="2400" dirty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輸入管制註記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4954139" y="2671079"/>
            <a:ext cx="1298575" cy="1219200"/>
          </a:xfrm>
          <a:prstGeom prst="flowChartDecision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zh-TW" altLang="en-US" sz="2000" dirty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超過異</a:t>
            </a:r>
          </a:p>
          <a:p>
            <a:pPr algn="ctr"/>
            <a:r>
              <a:rPr lang="zh-TW" altLang="en-US" sz="2000" dirty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常標準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6394001" y="2648854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>
                <a:latin typeface="標楷體" pitchFamily="65" charset="-120"/>
                <a:ea typeface="標楷體" pitchFamily="65" charset="-120"/>
              </a:rPr>
              <a:t>YES</a:t>
            </a:r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 rot="10800000">
            <a:off x="9480101" y="1909079"/>
            <a:ext cx="504825" cy="1600200"/>
          </a:xfrm>
          <a:prstGeom prst="curvedRightArrow">
            <a:avLst>
              <a:gd name="adj1" fmla="val 63396"/>
              <a:gd name="adj2" fmla="val 126792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631501" y="4195079"/>
            <a:ext cx="3124200" cy="1905000"/>
          </a:xfrm>
          <a:prstGeom prst="roundRect">
            <a:avLst>
              <a:gd name="adj" fmla="val 16667"/>
            </a:avLst>
          </a:prstGeom>
          <a:solidFill>
            <a:srgbClr val="FFCCCC"/>
          </a:solidFill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eaLnBrk="0" hangingPunct="0">
              <a:defRPr/>
            </a:pPr>
            <a:r>
              <a:rPr lang="zh-TW" altLang="en-US" sz="2400" dirty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評核標準：</a:t>
            </a:r>
          </a:p>
          <a:p>
            <a:pPr eaLnBrk="0" hangingPunct="0">
              <a:defRPr/>
            </a:pPr>
            <a:r>
              <a:rPr lang="zh-TW" altLang="en-US" sz="2400" dirty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依同一廠商在最近</a:t>
            </a:r>
          </a:p>
          <a:p>
            <a:pPr eaLnBrk="0" hangingPunct="0">
              <a:defRPr/>
            </a:pPr>
            <a:r>
              <a:rPr lang="zh-TW" altLang="en-US" sz="2400" dirty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三個月內報價或交</a:t>
            </a:r>
          </a:p>
          <a:p>
            <a:pPr eaLnBrk="0" hangingPunct="0">
              <a:defRPr/>
            </a:pPr>
            <a:r>
              <a:rPr lang="zh-TW" altLang="en-US" sz="2400" dirty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貨案件數計算</a:t>
            </a:r>
          </a:p>
        </p:txBody>
      </p:sp>
      <p:sp>
        <p:nvSpPr>
          <p:cNvPr id="13" name="AutoShape 11"/>
          <p:cNvSpPr>
            <a:spLocks noChangeArrowheads="1"/>
          </p:cNvSpPr>
          <p:nvPr/>
        </p:nvSpPr>
        <p:spPr bwMode="auto">
          <a:xfrm>
            <a:off x="5670101" y="4061729"/>
            <a:ext cx="3886200" cy="1371600"/>
          </a:xfrm>
          <a:prstGeom prst="wedgeRoundRectCallout">
            <a:avLst>
              <a:gd name="adj1" fmla="val -74512"/>
              <a:gd name="adj2" fmla="val 3241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zh-TW" altLang="en-US" sz="2400" dirty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　</a:t>
            </a:r>
            <a:r>
              <a:rPr lang="en-US" altLang="zh-TW" sz="2400" dirty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sz="2400" dirty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未報價比率</a:t>
            </a:r>
          </a:p>
          <a:p>
            <a:pPr>
              <a:defRPr/>
            </a:pPr>
            <a:r>
              <a:rPr lang="zh-TW" altLang="en-US" sz="2400" dirty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　</a:t>
            </a:r>
            <a:r>
              <a:rPr lang="en-US" altLang="zh-TW" sz="2400" dirty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en-US" sz="2400" dirty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價格不具競爭力比率</a:t>
            </a:r>
          </a:p>
          <a:p>
            <a:pPr>
              <a:defRPr/>
            </a:pPr>
            <a:r>
              <a:rPr lang="zh-TW" altLang="en-US" sz="2400" dirty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  </a:t>
            </a:r>
            <a:r>
              <a:rPr lang="en-US" altLang="zh-TW" sz="2400" dirty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3.</a:t>
            </a:r>
            <a:r>
              <a:rPr lang="zh-TW" altLang="en-US" sz="2400" dirty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廠商因素改購比率</a:t>
            </a:r>
          </a:p>
        </p:txBody>
      </p:sp>
      <p:sp>
        <p:nvSpPr>
          <p:cNvPr id="14" name="AutoShape 12"/>
          <p:cNvSpPr>
            <a:spLocks noChangeArrowheads="1"/>
          </p:cNvSpPr>
          <p:nvPr/>
        </p:nvSpPr>
        <p:spPr bwMode="auto">
          <a:xfrm>
            <a:off x="5679626" y="5652404"/>
            <a:ext cx="3883474" cy="1066800"/>
          </a:xfrm>
          <a:prstGeom prst="wedgeRoundRectCallout">
            <a:avLst>
              <a:gd name="adj1" fmla="val -75791"/>
              <a:gd name="adj2" fmla="val -71727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zh-TW" altLang="en-US" sz="2400" dirty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　</a:t>
            </a:r>
            <a:r>
              <a:rPr lang="en-US" altLang="zh-TW" sz="2400" dirty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4.</a:t>
            </a:r>
            <a:r>
              <a:rPr lang="zh-TW" altLang="en-US" sz="2400" dirty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交期異常比率</a:t>
            </a:r>
          </a:p>
          <a:p>
            <a:pPr>
              <a:defRPr/>
            </a:pPr>
            <a:r>
              <a:rPr lang="zh-TW" altLang="en-US" sz="2400" dirty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　</a:t>
            </a:r>
            <a:r>
              <a:rPr lang="en-US" altLang="zh-TW" sz="2400" dirty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5.</a:t>
            </a:r>
            <a:r>
              <a:rPr lang="zh-TW" altLang="en-US" sz="2400" dirty="0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rPr>
              <a:t>品質異常比率   </a:t>
            </a:r>
          </a:p>
        </p:txBody>
      </p:sp>
      <p:sp>
        <p:nvSpPr>
          <p:cNvPr id="15" name="AutoShape 13"/>
          <p:cNvSpPr>
            <a:spLocks noChangeArrowheads="1"/>
          </p:cNvSpPr>
          <p:nvPr/>
        </p:nvSpPr>
        <p:spPr bwMode="auto">
          <a:xfrm>
            <a:off x="6292401" y="3009217"/>
            <a:ext cx="1109663" cy="533400"/>
          </a:xfrm>
          <a:prstGeom prst="rightArrow">
            <a:avLst>
              <a:gd name="adj1" fmla="val 48806"/>
              <a:gd name="adj2" fmla="val 80749"/>
            </a:avLst>
          </a:prstGeom>
          <a:solidFill>
            <a:srgbClr val="0099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TW" altLang="en-US">
              <a:latin typeface="Arial" charset="0"/>
            </a:endParaRPr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85007" y="1354246"/>
            <a:ext cx="2302131" cy="12868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79053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21</a:t>
            </a:fld>
            <a:endParaRPr lang="zh-TW" altLang="en-US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800" spc="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採購管理重點－</a:t>
            </a:r>
            <a:r>
              <a:rPr lang="zh-TW" altLang="en-US" sz="28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詢報價作業演進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 rot="20040951" flipV="1">
            <a:off x="3199508" y="3554413"/>
            <a:ext cx="4416425" cy="2413000"/>
          </a:xfrm>
          <a:prstGeom prst="line">
            <a:avLst/>
          </a:prstGeom>
          <a:noFill/>
          <a:ln w="57150">
            <a:solidFill>
              <a:srgbClr val="003399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>
            <a:off x="5252146" y="4959350"/>
            <a:ext cx="3810000" cy="0"/>
          </a:xfrm>
          <a:prstGeom prst="line">
            <a:avLst/>
          </a:prstGeom>
          <a:noFill/>
          <a:ln w="57150">
            <a:solidFill>
              <a:srgbClr val="003399"/>
            </a:solidFill>
            <a:round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7" name="Oval 4"/>
          <p:cNvSpPr>
            <a:spLocks noChangeArrowheads="1"/>
          </p:cNvSpPr>
          <p:nvPr/>
        </p:nvSpPr>
        <p:spPr bwMode="auto">
          <a:xfrm>
            <a:off x="6287196" y="3241675"/>
            <a:ext cx="3529012" cy="1670050"/>
          </a:xfrm>
          <a:prstGeom prst="ellipse">
            <a:avLst/>
          </a:prstGeom>
          <a:solidFill>
            <a:srgbClr val="99FF99"/>
          </a:solidFill>
          <a:ln w="12700">
            <a:noFill/>
            <a:round/>
            <a:headEnd/>
            <a:tailEnd/>
          </a:ln>
          <a:effectLst>
            <a:outerShdw dist="107763" dir="189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TW" altLang="en-US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7106346" y="3167063"/>
            <a:ext cx="2016125" cy="747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/>
            <a:r>
              <a:rPr lang="en-US" altLang="zh-TW" sz="2800" dirty="0">
                <a:solidFill>
                  <a:srgbClr val="D14A2F"/>
                </a:solidFill>
                <a:latin typeface="標楷體" pitchFamily="65" charset="-120"/>
                <a:ea typeface="標楷體" pitchFamily="65" charset="-120"/>
              </a:rPr>
              <a:t>1994</a:t>
            </a:r>
            <a:r>
              <a:rPr lang="zh-TW" altLang="en-US" sz="2800" dirty="0">
                <a:solidFill>
                  <a:srgbClr val="D14A2F"/>
                </a:solidFill>
                <a:latin typeface="標楷體" pitchFamily="65" charset="-120"/>
                <a:ea typeface="標楷體" pitchFamily="65" charset="-120"/>
              </a:rPr>
              <a:t>年</a:t>
            </a:r>
          </a:p>
          <a:p>
            <a:pPr algn="ctr"/>
            <a:r>
              <a:rPr lang="en-US" altLang="zh-TW" sz="2800" dirty="0">
                <a:solidFill>
                  <a:srgbClr val="D14A2F"/>
                </a:solidFill>
                <a:latin typeface="標楷體" pitchFamily="65" charset="-120"/>
                <a:ea typeface="標楷體" pitchFamily="65" charset="-120"/>
              </a:rPr>
              <a:t>EDI</a:t>
            </a:r>
            <a:r>
              <a:rPr lang="zh-TW" altLang="en-US" sz="2800" dirty="0">
                <a:solidFill>
                  <a:srgbClr val="D14A2F"/>
                </a:solidFill>
                <a:latin typeface="標楷體" pitchFamily="65" charset="-120"/>
                <a:ea typeface="標楷體" pitchFamily="65" charset="-120"/>
              </a:rPr>
              <a:t>詢報價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6792021" y="3990975"/>
            <a:ext cx="2960687" cy="75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>
              <a:lnSpc>
                <a:spcPct val="90000"/>
              </a:lnSpc>
            </a:pPr>
            <a:r>
              <a:rPr lang="zh-TW" altLang="en-US" sz="1600" b="0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缺點：軟體安裝在廠商之</a:t>
            </a:r>
            <a:r>
              <a:rPr lang="en-US" altLang="zh-TW" sz="1600" b="0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PC</a:t>
            </a:r>
            <a:r>
              <a:rPr lang="zh-TW" altLang="en-US" sz="1600" b="0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端作業</a:t>
            </a:r>
            <a:r>
              <a:rPr lang="zh-TW" altLang="zh-TW" sz="1600" b="0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，程式更新修改時，須派員至廠商端更新，耗費人力。</a:t>
            </a:r>
            <a:endParaRPr lang="zh-TW" altLang="en-US" sz="1600" b="0" dirty="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>
            <a:off x="4005958" y="6772275"/>
            <a:ext cx="4267200" cy="0"/>
          </a:xfrm>
          <a:prstGeom prst="line">
            <a:avLst/>
          </a:prstGeom>
          <a:noFill/>
          <a:ln w="57150">
            <a:solidFill>
              <a:srgbClr val="003399"/>
            </a:solidFill>
            <a:round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11" name="Oval 8"/>
          <p:cNvSpPr>
            <a:spLocks noChangeArrowheads="1"/>
          </p:cNvSpPr>
          <p:nvPr/>
        </p:nvSpPr>
        <p:spPr bwMode="auto">
          <a:xfrm>
            <a:off x="4947346" y="5045075"/>
            <a:ext cx="3663254" cy="1676400"/>
          </a:xfrm>
          <a:prstGeom prst="ellipse">
            <a:avLst/>
          </a:prstGeom>
          <a:solidFill>
            <a:srgbClr val="99FF99"/>
          </a:solidFill>
          <a:ln w="12700">
            <a:noFill/>
            <a:round/>
            <a:headEnd/>
            <a:tailEnd/>
          </a:ln>
          <a:effectLst>
            <a:outerShdw dist="107763" dir="18900000" algn="ctr" rotWithShape="0">
              <a:srgbClr val="DDDDDD">
                <a:alpha val="50000"/>
              </a:srgbClr>
            </a:outerShdw>
          </a:effec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kern="0">
              <a:solidFill>
                <a:sysClr val="windowText" lastClr="00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5556946" y="5340350"/>
            <a:ext cx="21399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/>
            <a:r>
              <a:rPr lang="zh-TW" altLang="en-US" sz="2800">
                <a:solidFill>
                  <a:srgbClr val="D14A2F"/>
                </a:solidFill>
                <a:latin typeface="標楷體" pitchFamily="65" charset="-120"/>
                <a:ea typeface="標楷體" pitchFamily="65" charset="-120"/>
              </a:rPr>
              <a:t>郵寄詢報價</a:t>
            </a: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5175946" y="5873750"/>
            <a:ext cx="3276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r>
              <a:rPr lang="zh-TW" altLang="en-US" sz="1600" b="0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缺點：</a:t>
            </a:r>
            <a:r>
              <a:rPr lang="en-US" altLang="zh-TW" sz="1600" b="0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sz="1600" b="0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時效慢，且偶而會遺失</a:t>
            </a:r>
            <a:r>
              <a:rPr lang="zh-TW" altLang="zh-TW" sz="1600" b="0" dirty="0" smtClean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。</a:t>
            </a:r>
            <a:r>
              <a:rPr lang="en-US" altLang="zh-TW" sz="1600" b="0" dirty="0" smtClean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   </a:t>
            </a:r>
            <a:br>
              <a:rPr lang="en-US" altLang="zh-TW" sz="1600" b="0" dirty="0" smtClean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</a:br>
            <a:r>
              <a:rPr lang="en-US" altLang="zh-TW" sz="1600" b="0" dirty="0" smtClean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      2</a:t>
            </a:r>
            <a:r>
              <a:rPr lang="en-US" altLang="zh-TW" sz="1600" b="0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.</a:t>
            </a:r>
            <a:r>
              <a:rPr lang="zh-TW" altLang="en-US" sz="1600" b="0" dirty="0" smtClean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郵寄事務</a:t>
            </a:r>
            <a:r>
              <a:rPr lang="zh-TW" altLang="en-US" sz="1600" b="0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多，浪費人力</a:t>
            </a:r>
            <a:r>
              <a:rPr lang="zh-TW" altLang="zh-TW" sz="1600" b="0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。</a:t>
            </a:r>
            <a:endParaRPr lang="zh-TW" altLang="en-US" sz="1600" b="0" dirty="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1899346" y="5873750"/>
            <a:ext cx="2743200" cy="0"/>
          </a:xfrm>
          <a:prstGeom prst="line">
            <a:avLst/>
          </a:prstGeom>
          <a:noFill/>
          <a:ln w="57150">
            <a:solidFill>
              <a:srgbClr val="003399"/>
            </a:solidFill>
            <a:round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15" name="Oval 12"/>
          <p:cNvSpPr>
            <a:spLocks noChangeArrowheads="1"/>
          </p:cNvSpPr>
          <p:nvPr/>
        </p:nvSpPr>
        <p:spPr bwMode="auto">
          <a:xfrm>
            <a:off x="1823146" y="3968750"/>
            <a:ext cx="3276600" cy="1828800"/>
          </a:xfrm>
          <a:prstGeom prst="ellipse">
            <a:avLst/>
          </a:prstGeom>
          <a:solidFill>
            <a:srgbClr val="99FF99"/>
          </a:solidFill>
          <a:ln w="12700">
            <a:noFill/>
            <a:round/>
            <a:headEnd/>
            <a:tailEnd/>
          </a:ln>
          <a:effectLst>
            <a:outerShdw dist="107763" dir="18900000" algn="ctr" rotWithShape="0">
              <a:srgbClr val="DDDDDD">
                <a:alpha val="50000"/>
              </a:srgbClr>
            </a:outerShdw>
          </a:effec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kern="0">
              <a:solidFill>
                <a:sysClr val="windowText" lastClr="00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2661346" y="3968750"/>
            <a:ext cx="16065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/>
            <a:r>
              <a:rPr lang="en-US" altLang="zh-TW" sz="2800">
                <a:solidFill>
                  <a:srgbClr val="D14A2F"/>
                </a:solidFill>
                <a:latin typeface="標楷體" pitchFamily="65" charset="-120"/>
                <a:ea typeface="標楷體" pitchFamily="65" charset="-120"/>
              </a:rPr>
              <a:t>1992</a:t>
            </a:r>
            <a:r>
              <a:rPr lang="zh-TW" altLang="en-US" sz="2800">
                <a:solidFill>
                  <a:srgbClr val="D14A2F"/>
                </a:solidFill>
                <a:latin typeface="標楷體" pitchFamily="65" charset="-120"/>
                <a:ea typeface="標楷體" pitchFamily="65" charset="-120"/>
              </a:rPr>
              <a:t>年</a:t>
            </a:r>
          </a:p>
          <a:p>
            <a:pPr algn="ctr"/>
            <a:r>
              <a:rPr lang="zh-TW" altLang="en-US" sz="2800">
                <a:solidFill>
                  <a:srgbClr val="D14A2F"/>
                </a:solidFill>
                <a:latin typeface="標楷體" pitchFamily="65" charset="-120"/>
                <a:ea typeface="標楷體" pitchFamily="65" charset="-120"/>
              </a:rPr>
              <a:t>傳真詢價</a:t>
            </a:r>
          </a:p>
        </p:txBody>
      </p:sp>
      <p:sp>
        <p:nvSpPr>
          <p:cNvPr id="17" name="Text Box 14"/>
          <p:cNvSpPr txBox="1">
            <a:spLocks noChangeArrowheads="1"/>
          </p:cNvSpPr>
          <p:nvPr/>
        </p:nvSpPr>
        <p:spPr bwMode="auto">
          <a:xfrm>
            <a:off x="1899346" y="4806950"/>
            <a:ext cx="3276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r>
              <a:rPr lang="zh-TW" altLang="en-US" sz="1600" b="0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缺點：</a:t>
            </a:r>
            <a:r>
              <a:rPr lang="en-US" altLang="zh-TW" sz="1600" b="0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sz="1600" b="0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傳真失敗</a:t>
            </a:r>
            <a:r>
              <a:rPr lang="zh-TW" altLang="en-US" sz="1600" b="0" dirty="0" smtClean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時須人工</a:t>
            </a:r>
            <a:r>
              <a:rPr lang="zh-TW" altLang="en-US" sz="1600" b="0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補傳</a:t>
            </a:r>
            <a:r>
              <a:rPr lang="zh-TW" altLang="zh-TW" sz="1600" b="0" dirty="0" smtClean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。</a:t>
            </a:r>
            <a:r>
              <a:rPr lang="en-US" altLang="zh-TW" sz="1600" b="0" dirty="0" smtClean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    </a:t>
            </a:r>
            <a:br>
              <a:rPr lang="en-US" altLang="zh-TW" sz="1600" b="0" dirty="0" smtClean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</a:br>
            <a:r>
              <a:rPr lang="en-US" altLang="zh-TW" sz="1600" b="0" dirty="0" smtClean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      </a:t>
            </a:r>
            <a:r>
              <a:rPr lang="zh-TW" altLang="zh-TW" sz="1600" b="0" dirty="0" smtClean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2</a:t>
            </a:r>
            <a:r>
              <a:rPr lang="zh-TW" altLang="zh-TW" sz="1600" b="0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.</a:t>
            </a:r>
            <a:r>
              <a:rPr lang="zh-TW" altLang="en-US" sz="1600" b="0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須再人工輸入</a:t>
            </a:r>
            <a:r>
              <a:rPr lang="zh-TW" altLang="zh-TW" sz="1600" b="0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報價資料。</a:t>
            </a:r>
            <a:endParaRPr lang="zh-TW" altLang="en-US" sz="1600" b="0" dirty="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>
            <a:off x="2966146" y="3892550"/>
            <a:ext cx="3048000" cy="0"/>
          </a:xfrm>
          <a:prstGeom prst="line">
            <a:avLst/>
          </a:prstGeom>
          <a:noFill/>
          <a:ln w="57150">
            <a:solidFill>
              <a:srgbClr val="003399"/>
            </a:solidFill>
            <a:round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19" name="Oval 16"/>
          <p:cNvSpPr>
            <a:spLocks noChangeArrowheads="1"/>
          </p:cNvSpPr>
          <p:nvPr/>
        </p:nvSpPr>
        <p:spPr bwMode="auto">
          <a:xfrm>
            <a:off x="2889946" y="1758950"/>
            <a:ext cx="3200400" cy="2057400"/>
          </a:xfrm>
          <a:prstGeom prst="ellipse">
            <a:avLst/>
          </a:prstGeom>
          <a:solidFill>
            <a:srgbClr val="99FF99"/>
          </a:solidFill>
          <a:ln w="12700">
            <a:noFill/>
            <a:round/>
            <a:headEnd/>
            <a:tailEnd/>
          </a:ln>
          <a:effectLst>
            <a:outerShdw dist="107763" dir="18900000" algn="ctr" rotWithShape="0">
              <a:srgbClr val="DDDDDD">
                <a:alpha val="50000"/>
              </a:srgbClr>
            </a:outerShdw>
          </a:effec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kern="0">
              <a:solidFill>
                <a:sysClr val="windowText" lastClr="00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0" name="Text Box 17"/>
          <p:cNvSpPr txBox="1">
            <a:spLocks noChangeArrowheads="1"/>
          </p:cNvSpPr>
          <p:nvPr/>
        </p:nvSpPr>
        <p:spPr bwMode="auto">
          <a:xfrm>
            <a:off x="3194746" y="1835150"/>
            <a:ext cx="26733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/>
            <a:r>
              <a:rPr lang="en-US" altLang="zh-TW" sz="2800">
                <a:solidFill>
                  <a:srgbClr val="D14A2F"/>
                </a:solidFill>
                <a:latin typeface="標楷體" pitchFamily="65" charset="-120"/>
                <a:ea typeface="標楷體" pitchFamily="65" charset="-120"/>
              </a:rPr>
              <a:t>1999</a:t>
            </a:r>
            <a:r>
              <a:rPr lang="zh-TW" altLang="en-US" sz="2800">
                <a:solidFill>
                  <a:srgbClr val="D14A2F"/>
                </a:solidFill>
                <a:latin typeface="標楷體" pitchFamily="65" charset="-120"/>
                <a:ea typeface="標楷體" pitchFamily="65" charset="-120"/>
              </a:rPr>
              <a:t>年</a:t>
            </a:r>
            <a:r>
              <a:rPr lang="en-US" altLang="zh-TW" sz="2800">
                <a:solidFill>
                  <a:srgbClr val="D14A2F"/>
                </a:solidFill>
                <a:latin typeface="標楷體" pitchFamily="65" charset="-120"/>
                <a:ea typeface="標楷體" pitchFamily="65" charset="-120"/>
              </a:rPr>
              <a:t>1</a:t>
            </a:r>
            <a:r>
              <a:rPr lang="zh-TW" altLang="en-US" sz="2800">
                <a:solidFill>
                  <a:srgbClr val="D14A2F"/>
                </a:solidFill>
                <a:latin typeface="標楷體" pitchFamily="65" charset="-120"/>
                <a:ea typeface="標楷體" pitchFamily="65" charset="-120"/>
              </a:rPr>
              <a:t>月</a:t>
            </a:r>
          </a:p>
          <a:p>
            <a:pPr algn="ctr"/>
            <a:r>
              <a:rPr lang="zh-TW" altLang="en-US" sz="2800">
                <a:solidFill>
                  <a:srgbClr val="D14A2F"/>
                </a:solidFill>
                <a:latin typeface="標楷體" pitchFamily="65" charset="-120"/>
                <a:ea typeface="標楷體" pitchFamily="65" charset="-120"/>
              </a:rPr>
              <a:t>網際網路詢報價</a:t>
            </a:r>
          </a:p>
        </p:txBody>
      </p:sp>
      <p:sp>
        <p:nvSpPr>
          <p:cNvPr id="21" name="Text Box 18"/>
          <p:cNvSpPr txBox="1">
            <a:spLocks noChangeArrowheads="1"/>
          </p:cNvSpPr>
          <p:nvPr/>
        </p:nvSpPr>
        <p:spPr bwMode="auto">
          <a:xfrm>
            <a:off x="3270946" y="2701925"/>
            <a:ext cx="2667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r>
              <a:rPr lang="zh-TW" altLang="en-US" sz="1600" b="0" dirty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優點：公開招標，公平競標，降低成本，防止舞弊，提高效率，確保</a:t>
            </a:r>
            <a:r>
              <a:rPr lang="zh-TW" altLang="en-US" sz="1600" b="0" dirty="0" smtClean="0">
                <a:solidFill>
                  <a:srgbClr val="000000"/>
                </a:solidFill>
                <a:latin typeface="標楷體" pitchFamily="65" charset="-120"/>
                <a:ea typeface="標楷體" pitchFamily="65" charset="-120"/>
              </a:rPr>
              <a:t>資料安全。</a:t>
            </a:r>
            <a:endParaRPr lang="zh-TW" altLang="en-US" sz="1600" b="0" dirty="0">
              <a:solidFill>
                <a:srgbClr val="000000"/>
              </a:solidFill>
              <a:latin typeface="標楷體" pitchFamily="65" charset="-120"/>
              <a:ea typeface="標楷體" pitchFamily="65" charset="-120"/>
            </a:endParaRPr>
          </a:p>
        </p:txBody>
      </p:sp>
      <p:grpSp>
        <p:nvGrpSpPr>
          <p:cNvPr id="22" name="群組 38"/>
          <p:cNvGrpSpPr>
            <a:grpSpLocks/>
          </p:cNvGrpSpPr>
          <p:nvPr/>
        </p:nvGrpSpPr>
        <p:grpSpPr bwMode="auto">
          <a:xfrm>
            <a:off x="5999858" y="1052513"/>
            <a:ext cx="3311525" cy="1728787"/>
            <a:chOff x="4355976" y="1052736"/>
            <a:chExt cx="3312368" cy="1728192"/>
          </a:xfrm>
        </p:grpSpPr>
        <p:sp>
          <p:nvSpPr>
            <p:cNvPr id="23" name="Oval 16"/>
            <p:cNvSpPr>
              <a:spLocks noChangeArrowheads="1"/>
            </p:cNvSpPr>
            <p:nvPr/>
          </p:nvSpPr>
          <p:spPr bwMode="auto">
            <a:xfrm>
              <a:off x="4355976" y="1052736"/>
              <a:ext cx="3312368" cy="1728192"/>
            </a:xfrm>
            <a:prstGeom prst="ellipse">
              <a:avLst/>
            </a:prstGeom>
            <a:solidFill>
              <a:srgbClr val="99FF99"/>
            </a:solidFill>
            <a:ln w="12700">
              <a:noFill/>
              <a:round/>
              <a:headEnd/>
              <a:tailEnd/>
            </a:ln>
            <a:effectLst>
              <a:outerShdw dist="107763" dir="18900000" algn="ctr" rotWithShape="0">
                <a:srgbClr val="DDDDDD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 kern="0">
                <a:solidFill>
                  <a:sysClr val="windowText" lastClr="000000"/>
                </a:solidFill>
                <a:latin typeface="標楷體" pitchFamily="65" charset="-120"/>
                <a:ea typeface="標楷體" pitchFamily="65" charset="-120"/>
              </a:endParaRPr>
            </a:p>
          </p:txBody>
        </p:sp>
        <p:sp>
          <p:nvSpPr>
            <p:cNvPr id="24" name="Text Box 17"/>
            <p:cNvSpPr txBox="1">
              <a:spLocks noChangeArrowheads="1"/>
            </p:cNvSpPr>
            <p:nvPr/>
          </p:nvSpPr>
          <p:spPr bwMode="auto">
            <a:xfrm>
              <a:off x="4706903" y="1052736"/>
              <a:ext cx="2674031" cy="95375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TW" sz="2800" kern="0" dirty="0">
                  <a:solidFill>
                    <a:srgbClr val="D14A2F"/>
                  </a:solidFill>
                  <a:latin typeface="標楷體" pitchFamily="65" charset="-120"/>
                  <a:ea typeface="標楷體" pitchFamily="65" charset="-120"/>
                </a:rPr>
                <a:t>2015</a:t>
              </a:r>
              <a:r>
                <a:rPr kumimoji="0" lang="zh-TW" altLang="en-US" sz="2800" kern="0" dirty="0">
                  <a:solidFill>
                    <a:srgbClr val="D14A2F"/>
                  </a:solidFill>
                  <a:latin typeface="標楷體" pitchFamily="65" charset="-120"/>
                  <a:ea typeface="標楷體" pitchFamily="65" charset="-120"/>
                </a:rPr>
                <a:t>年</a:t>
              </a:r>
              <a:r>
                <a:rPr kumimoji="0" lang="en-US" altLang="zh-TW" sz="2800" kern="0" dirty="0">
                  <a:solidFill>
                    <a:srgbClr val="D14A2F"/>
                  </a:solidFill>
                  <a:latin typeface="標楷體" pitchFamily="65" charset="-120"/>
                  <a:ea typeface="標楷體" pitchFamily="65" charset="-120"/>
                </a:rPr>
                <a:t>7</a:t>
              </a:r>
              <a:r>
                <a:rPr kumimoji="0" lang="zh-TW" altLang="en-US" sz="2800" kern="0" dirty="0">
                  <a:solidFill>
                    <a:srgbClr val="D14A2F"/>
                  </a:solidFill>
                  <a:latin typeface="標楷體" pitchFamily="65" charset="-120"/>
                  <a:ea typeface="標楷體" pitchFamily="65" charset="-120"/>
                </a:rPr>
                <a:t>月</a:t>
              </a:r>
              <a:endParaRPr kumimoji="0" lang="en-US" altLang="zh-TW" sz="2800" kern="0" dirty="0">
                <a:solidFill>
                  <a:srgbClr val="D14A2F"/>
                </a:solidFill>
                <a:latin typeface="標楷體" pitchFamily="65" charset="-120"/>
                <a:ea typeface="標楷體" pitchFamily="65" charset="-120"/>
              </a:endParaRPr>
            </a:p>
            <a:p>
              <a:pPr algn="ctr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zh-TW" altLang="en-US" sz="2800" kern="0" dirty="0">
                  <a:solidFill>
                    <a:srgbClr val="D14A2F"/>
                  </a:solidFill>
                  <a:latin typeface="標楷體" pitchFamily="65" charset="-120"/>
                  <a:ea typeface="標楷體" pitchFamily="65" charset="-120"/>
                </a:rPr>
                <a:t>採購</a:t>
              </a:r>
              <a:r>
                <a:rPr kumimoji="0" lang="en-US" altLang="zh-TW" sz="2800" kern="0" dirty="0">
                  <a:solidFill>
                    <a:srgbClr val="D14A2F"/>
                  </a:solidFill>
                  <a:latin typeface="標楷體" pitchFamily="65" charset="-120"/>
                  <a:ea typeface="標楷體" pitchFamily="65" charset="-120"/>
                </a:rPr>
                <a:t>APP</a:t>
              </a:r>
              <a:endParaRPr kumimoji="0" lang="zh-TW" altLang="en-US" sz="2800" kern="0" dirty="0">
                <a:solidFill>
                  <a:srgbClr val="D14A2F"/>
                </a:solidFill>
                <a:latin typeface="標楷體" pitchFamily="65" charset="-120"/>
                <a:ea typeface="標楷體" pitchFamily="65" charset="-120"/>
              </a:endParaRPr>
            </a:p>
          </p:txBody>
        </p:sp>
        <p:sp>
          <p:nvSpPr>
            <p:cNvPr id="25" name="Text Box 18"/>
            <p:cNvSpPr txBox="1">
              <a:spLocks noChangeArrowheads="1"/>
            </p:cNvSpPr>
            <p:nvPr/>
          </p:nvSpPr>
          <p:spPr bwMode="auto">
            <a:xfrm>
              <a:off x="4571931" y="1917625"/>
              <a:ext cx="3096413" cy="58399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zh-TW" altLang="en-US" sz="1600" kern="0" dirty="0">
                  <a:solidFill>
                    <a:sysClr val="windowText" lastClr="000000"/>
                  </a:solidFill>
                  <a:latin typeface="標楷體" pitchFamily="65" charset="-120"/>
                  <a:ea typeface="標楷體" pitchFamily="65" charset="-120"/>
                </a:rPr>
                <a:t>詢價單、議價函、訂購通知、催交</a:t>
              </a:r>
              <a:r>
                <a:rPr kumimoji="0" lang="en-US" altLang="zh-TW" sz="1600" kern="0" dirty="0">
                  <a:solidFill>
                    <a:sysClr val="windowText" lastClr="000000"/>
                  </a:solidFill>
                  <a:latin typeface="標楷體" pitchFamily="65" charset="-120"/>
                  <a:ea typeface="標楷體" pitchFamily="65" charset="-120"/>
                </a:rPr>
                <a:t>(</a:t>
              </a:r>
              <a:r>
                <a:rPr kumimoji="0" lang="zh-TW" altLang="en-US" sz="1600" kern="0" dirty="0">
                  <a:solidFill>
                    <a:sysClr val="windowText" lastClr="000000"/>
                  </a:solidFill>
                  <a:latin typeface="標楷體" pitchFamily="65" charset="-120"/>
                  <a:ea typeface="標楷體" pitchFamily="65" charset="-120"/>
                </a:rPr>
                <a:t>裝</a:t>
              </a:r>
              <a:r>
                <a:rPr kumimoji="0" lang="en-US" altLang="zh-TW" sz="1600" kern="0" dirty="0">
                  <a:solidFill>
                    <a:sysClr val="windowText" lastClr="000000"/>
                  </a:solidFill>
                  <a:latin typeface="標楷體" pitchFamily="65" charset="-120"/>
                  <a:ea typeface="標楷體" pitchFamily="65" charset="-120"/>
                </a:rPr>
                <a:t>)</a:t>
              </a:r>
              <a:r>
                <a:rPr kumimoji="0" lang="zh-TW" altLang="en-US" sz="1600" kern="0" dirty="0">
                  <a:solidFill>
                    <a:sysClr val="windowText" lastClr="000000"/>
                  </a:solidFill>
                  <a:latin typeface="標楷體" pitchFamily="65" charset="-120"/>
                  <a:ea typeface="標楷體" pitchFamily="65" charset="-120"/>
                </a:rPr>
                <a:t>通知等，訊息行動化。</a:t>
              </a:r>
            </a:p>
          </p:txBody>
        </p:sp>
      </p:grpSp>
      <p:pic>
        <p:nvPicPr>
          <p:cNvPr id="26" name="圖片 2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68096" y="3343636"/>
            <a:ext cx="1370116" cy="854796"/>
          </a:xfrm>
          <a:prstGeom prst="rect">
            <a:avLst/>
          </a:prstGeom>
        </p:spPr>
      </p:pic>
      <p:pic>
        <p:nvPicPr>
          <p:cNvPr id="27" name="圖片 26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1342" y="1205608"/>
            <a:ext cx="712092" cy="712092"/>
          </a:xfrm>
          <a:prstGeom prst="rect">
            <a:avLst/>
          </a:prstGeom>
        </p:spPr>
      </p:pic>
      <p:pic>
        <p:nvPicPr>
          <p:cNvPr id="28" name="圖片 27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9296" y="1442242"/>
            <a:ext cx="778446" cy="785813"/>
          </a:xfrm>
          <a:prstGeom prst="rect">
            <a:avLst/>
          </a:prstGeom>
        </p:spPr>
      </p:pic>
      <p:pic>
        <p:nvPicPr>
          <p:cNvPr id="29" name="圖片 28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00502" y="5150643"/>
            <a:ext cx="903288" cy="903288"/>
          </a:xfrm>
          <a:prstGeom prst="rect">
            <a:avLst/>
          </a:prstGeom>
        </p:spPr>
      </p:pic>
      <p:pic>
        <p:nvPicPr>
          <p:cNvPr id="30" name="圖片 29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41390" y="4029870"/>
            <a:ext cx="919956" cy="919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146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22</a:t>
            </a:fld>
            <a:endParaRPr lang="zh-TW" altLang="en-US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800" spc="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採購管理重點－</a:t>
            </a:r>
            <a:r>
              <a:rPr lang="zh-TW" altLang="en-US" sz="28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採購交期管制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8828320" y="2880018"/>
            <a:ext cx="1295400" cy="762000"/>
          </a:xfrm>
          <a:prstGeom prst="foldedCorner">
            <a:avLst>
              <a:gd name="adj" fmla="val 12500"/>
            </a:avLst>
          </a:prstGeom>
          <a:solidFill>
            <a:srgbClr val="CCECFF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tIns="262800" anchor="ctr"/>
          <a:lstStyle/>
          <a:p>
            <a:pPr algn="ctr">
              <a:defRPr/>
            </a:pPr>
            <a:r>
              <a:rPr lang="zh-TW" altLang="en-US" sz="2400" dirty="0" smtClean="0">
                <a:latin typeface="標楷體" pitchFamily="65" charset="-120"/>
                <a:ea typeface="標楷體" pitchFamily="65" charset="-120"/>
                <a:sym typeface="Wingdings" pitchFamily="2" charset="2"/>
              </a:rPr>
              <a:t>催</a:t>
            </a:r>
            <a:r>
              <a:rPr lang="zh-TW" altLang="en-US" sz="2400" dirty="0">
                <a:latin typeface="標楷體" pitchFamily="65" charset="-120"/>
                <a:ea typeface="標楷體" pitchFamily="65" charset="-120"/>
                <a:sym typeface="Wingdings" pitchFamily="2" charset="2"/>
              </a:rPr>
              <a:t>交單</a:t>
            </a:r>
          </a:p>
          <a:p>
            <a:pPr algn="ctr">
              <a:defRPr/>
            </a:pPr>
            <a:endParaRPr lang="en-US" altLang="zh-TW" sz="24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3560995" y="3337218"/>
            <a:ext cx="922338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4561120" y="2803818"/>
            <a:ext cx="1446213" cy="1066800"/>
          </a:xfrm>
          <a:prstGeom prst="flowChartDecision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是否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交貨</a:t>
            </a:r>
            <a:endParaRPr lang="en-US" altLang="zh-TW" dirty="0">
              <a:solidFill>
                <a:srgbClr val="FF33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741720" y="4099218"/>
            <a:ext cx="1603375" cy="519113"/>
          </a:xfrm>
          <a:prstGeom prst="rect">
            <a:avLst/>
          </a:prstGeom>
          <a:solidFill>
            <a:srgbClr val="CCECFF"/>
          </a:solidFill>
          <a:ln>
            <a:noFill/>
          </a:ln>
          <a:effectLst>
            <a:prstShdw prst="shdw13" dist="71842" dir="13500000">
              <a:schemeClr val="accent2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kumimoji="0" lang="zh-TW" altLang="zh-TW" sz="2800" b="0">
                <a:solidFill>
                  <a:srgbClr val="000099"/>
                </a:solidFill>
                <a:latin typeface="標楷體" pitchFamily="65" charset="-120"/>
                <a:ea typeface="標楷體" pitchFamily="65" charset="-120"/>
              </a:rPr>
              <a:t>訂購後</a:t>
            </a:r>
            <a:endParaRPr kumimoji="0" lang="zh-TW" altLang="en-US" sz="2800" b="0">
              <a:solidFill>
                <a:srgbClr val="000099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6696308" y="2727618"/>
            <a:ext cx="1370012" cy="1143000"/>
          </a:xfrm>
          <a:prstGeom prst="flowChartDecision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逾約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交日</a:t>
            </a:r>
            <a:endParaRPr lang="en-US" altLang="zh-TW" dirty="0">
              <a:solidFill>
                <a:srgbClr val="FF3300"/>
              </a:solidFill>
              <a:latin typeface="標楷體" pitchFamily="65" charset="-120"/>
              <a:ea typeface="標楷體" pitchFamily="65" charset="-120"/>
            </a:endParaRPr>
          </a:p>
        </p:txBody>
      </p:sp>
      <p:grpSp>
        <p:nvGrpSpPr>
          <p:cNvPr id="10" name="Group 8"/>
          <p:cNvGrpSpPr>
            <a:grpSpLocks/>
          </p:cNvGrpSpPr>
          <p:nvPr/>
        </p:nvGrpSpPr>
        <p:grpSpPr bwMode="auto">
          <a:xfrm>
            <a:off x="5304070" y="3870618"/>
            <a:ext cx="514350" cy="457200"/>
            <a:chOff x="6216" y="1392"/>
            <a:chExt cx="327" cy="288"/>
          </a:xfrm>
        </p:grpSpPr>
        <p:cxnSp>
          <p:nvCxnSpPr>
            <p:cNvPr id="11" name="AutoShape 9"/>
            <p:cNvCxnSpPr>
              <a:cxnSpLocks noChangeShapeType="1"/>
            </p:cNvCxnSpPr>
            <p:nvPr/>
          </p:nvCxnSpPr>
          <p:spPr bwMode="auto">
            <a:xfrm>
              <a:off x="6216" y="1440"/>
              <a:ext cx="0" cy="240"/>
            </a:xfrm>
            <a:prstGeom prst="straightConnector1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6232" y="1392"/>
              <a:ext cx="3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zh-TW" sz="1600" b="0">
                  <a:latin typeface="標楷體" pitchFamily="65" charset="-120"/>
                  <a:ea typeface="標楷體" pitchFamily="65" charset="-120"/>
                </a:rPr>
                <a:t>YES</a:t>
              </a:r>
            </a:p>
          </p:txBody>
        </p:sp>
      </p:grpSp>
      <p:grpSp>
        <p:nvGrpSpPr>
          <p:cNvPr id="13" name="Group 11"/>
          <p:cNvGrpSpPr>
            <a:grpSpLocks/>
          </p:cNvGrpSpPr>
          <p:nvPr/>
        </p:nvGrpSpPr>
        <p:grpSpPr bwMode="auto">
          <a:xfrm>
            <a:off x="5931133" y="2956218"/>
            <a:ext cx="765175" cy="381000"/>
            <a:chOff x="6480" y="1036"/>
            <a:chExt cx="720" cy="212"/>
          </a:xfrm>
        </p:grpSpPr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>
              <a:off x="6480" y="1036"/>
              <a:ext cx="364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zh-TW" sz="1600" b="0">
                  <a:latin typeface="標楷體" pitchFamily="65" charset="-120"/>
                  <a:ea typeface="標楷體" pitchFamily="65" charset="-120"/>
                </a:rPr>
                <a:t>NO</a:t>
              </a:r>
            </a:p>
          </p:txBody>
        </p:sp>
        <p:cxnSp>
          <p:nvCxnSpPr>
            <p:cNvPr id="15" name="AutoShape 13"/>
            <p:cNvCxnSpPr>
              <a:cxnSpLocks noChangeShapeType="1"/>
            </p:cNvCxnSpPr>
            <p:nvPr/>
          </p:nvCxnSpPr>
          <p:spPr bwMode="auto">
            <a:xfrm>
              <a:off x="6528" y="1248"/>
              <a:ext cx="672" cy="0"/>
            </a:xfrm>
            <a:prstGeom prst="straightConnector1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6" name="Group 14"/>
          <p:cNvGrpSpPr>
            <a:grpSpLocks/>
          </p:cNvGrpSpPr>
          <p:nvPr/>
        </p:nvGrpSpPr>
        <p:grpSpPr bwMode="auto">
          <a:xfrm>
            <a:off x="8066320" y="2956218"/>
            <a:ext cx="762000" cy="381000"/>
            <a:chOff x="6480" y="1036"/>
            <a:chExt cx="720" cy="212"/>
          </a:xfrm>
        </p:grpSpPr>
        <p:sp>
          <p:nvSpPr>
            <p:cNvPr id="17" name="Text Box 15"/>
            <p:cNvSpPr txBox="1">
              <a:spLocks noChangeArrowheads="1"/>
            </p:cNvSpPr>
            <p:nvPr/>
          </p:nvSpPr>
          <p:spPr bwMode="auto">
            <a:xfrm>
              <a:off x="6480" y="1036"/>
              <a:ext cx="462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zh-TW" sz="1600" b="0">
                  <a:latin typeface="標楷體" pitchFamily="65" charset="-120"/>
                  <a:ea typeface="標楷體" pitchFamily="65" charset="-120"/>
                </a:rPr>
                <a:t>YES</a:t>
              </a:r>
            </a:p>
          </p:txBody>
        </p:sp>
        <p:cxnSp>
          <p:nvCxnSpPr>
            <p:cNvPr id="18" name="AutoShape 16"/>
            <p:cNvCxnSpPr>
              <a:cxnSpLocks noChangeShapeType="1"/>
            </p:cNvCxnSpPr>
            <p:nvPr/>
          </p:nvCxnSpPr>
          <p:spPr bwMode="auto">
            <a:xfrm>
              <a:off x="6528" y="1248"/>
              <a:ext cx="672" cy="0"/>
            </a:xfrm>
            <a:prstGeom prst="straightConnector1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pic>
        <p:nvPicPr>
          <p:cNvPr id="19" name="Picture 17" descr="IN00307_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18283" y="1378243"/>
            <a:ext cx="1693862" cy="139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18" descr="BD04969_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70320" y="2702218"/>
            <a:ext cx="1374775" cy="127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19" descr="AG00021_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02408" y="4434181"/>
            <a:ext cx="1273175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 Box 20"/>
          <p:cNvSpPr txBox="1">
            <a:spLocks noChangeArrowheads="1"/>
          </p:cNvSpPr>
          <p:nvPr/>
        </p:nvSpPr>
        <p:spPr bwMode="auto">
          <a:xfrm>
            <a:off x="4702408" y="6305843"/>
            <a:ext cx="12938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r>
              <a:rPr kumimoji="0" lang="zh-TW" altLang="en-US" sz="2000">
                <a:latin typeface="標楷體" pitchFamily="65" charset="-120"/>
                <a:ea typeface="標楷體" pitchFamily="65" charset="-120"/>
              </a:rPr>
              <a:t>付款審核</a:t>
            </a:r>
            <a:endParaRPr kumimoji="0" lang="zh-TW" altLang="en-US" sz="240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8828320" y="3870618"/>
            <a:ext cx="1295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r>
              <a:rPr kumimoji="0" lang="zh-TW" altLang="en-US" sz="2000" b="0">
                <a:latin typeface="標楷體" pitchFamily="65" charset="-120"/>
                <a:ea typeface="標楷體" pitchFamily="65" charset="-120"/>
              </a:rPr>
              <a:t>跟催廠商儘速交貨</a:t>
            </a:r>
            <a:endParaRPr kumimoji="0" lang="zh-TW" altLang="en-US" sz="2400" b="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24" name="Picture 22" descr="BD06569_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98070" y="4578643"/>
            <a:ext cx="32766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9420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23</a:t>
            </a:fld>
            <a:endParaRPr lang="zh-TW" altLang="en-US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800" spc="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採購管理重點－滯料查核撥</a:t>
            </a:r>
            <a:r>
              <a:rPr lang="zh-TW" altLang="en-US" sz="28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售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14" descr="IN00307_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75941" y="4554361"/>
            <a:ext cx="1693863" cy="1398587"/>
          </a:xfrm>
          <a:noFill/>
        </p:spPr>
      </p:pic>
      <p:graphicFrame>
        <p:nvGraphicFramePr>
          <p:cNvPr id="6" name="Object 3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722506445"/>
              </p:ext>
            </p:extLst>
          </p:nvPr>
        </p:nvGraphicFramePr>
        <p:xfrm>
          <a:off x="7282653" y="1242042"/>
          <a:ext cx="2012950" cy="193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8" name="Clip" r:id="rId4" imgW="2013509" imgH="1930298" progId="">
                  <p:embed/>
                </p:oleObj>
              </mc:Choice>
              <mc:Fallback>
                <p:oleObj name="Clip" r:id="rId4" imgW="2013509" imgH="1930298" progId="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2653" y="1242042"/>
                        <a:ext cx="2012950" cy="193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228053" y="3172442"/>
            <a:ext cx="1454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/>
            <a:r>
              <a:rPr kumimoji="0" lang="zh-TW" altLang="en-US" sz="2000" b="0">
                <a:latin typeface="Times New Roman" pitchFamily="18" charset="0"/>
                <a:ea typeface="標楷體" pitchFamily="65" charset="-120"/>
              </a:rPr>
              <a:t>電腦查核</a:t>
            </a:r>
          </a:p>
          <a:p>
            <a:pPr algn="ctr"/>
            <a:r>
              <a:rPr kumimoji="0" lang="zh-TW" altLang="en-US" sz="2000" b="0">
                <a:latin typeface="Times New Roman" pitchFamily="18" charset="0"/>
                <a:ea typeface="標楷體" pitchFamily="65" charset="-120"/>
              </a:rPr>
              <a:t>企業餘滯料</a:t>
            </a:r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2278087"/>
              </p:ext>
            </p:extLst>
          </p:nvPr>
        </p:nvGraphicFramePr>
        <p:xfrm>
          <a:off x="2610641" y="1724642"/>
          <a:ext cx="703262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" name="Clip" r:id="rId6" imgW="1927225" imgH="3382963" progId="">
                  <p:embed/>
                </p:oleObj>
              </mc:Choice>
              <mc:Fallback>
                <p:oleObj name="Clip" r:id="rId6" imgW="1927225" imgH="3382963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0641" y="1724642"/>
                        <a:ext cx="703262" cy="1235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Line 6"/>
          <p:cNvSpPr>
            <a:spLocks noChangeShapeType="1"/>
          </p:cNvSpPr>
          <p:nvPr/>
        </p:nvSpPr>
        <p:spPr bwMode="auto">
          <a:xfrm>
            <a:off x="3690141" y="2300905"/>
            <a:ext cx="6858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auto">
          <a:xfrm>
            <a:off x="4698203" y="1869105"/>
            <a:ext cx="1584325" cy="1008062"/>
          </a:xfrm>
          <a:prstGeom prst="foldedCorner">
            <a:avLst>
              <a:gd name="adj" fmla="val 12500"/>
            </a:avLst>
          </a:prstGeom>
          <a:solidFill>
            <a:srgbClr val="CCECFF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tIns="262800" anchor="ctr"/>
          <a:lstStyle/>
          <a:p>
            <a:pPr>
              <a:defRPr/>
            </a:pPr>
            <a:r>
              <a:rPr lang="zh-TW" altLang="en-US" sz="2400" dirty="0">
                <a:latin typeface="Times New Roman" pitchFamily="18" charset="0"/>
                <a:ea typeface="標楷體" pitchFamily="65" charset="-120"/>
              </a:rPr>
              <a:t>餘滯料撥</a:t>
            </a:r>
          </a:p>
          <a:p>
            <a:pPr>
              <a:defRPr/>
            </a:pPr>
            <a:r>
              <a:rPr lang="zh-TW" altLang="en-US" sz="2400" dirty="0">
                <a:latin typeface="Times New Roman" pitchFamily="18" charset="0"/>
                <a:ea typeface="標楷體" pitchFamily="65" charset="-120"/>
              </a:rPr>
              <a:t>售確認單</a:t>
            </a:r>
            <a:endParaRPr lang="zh-TW" altLang="en-US" sz="2400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4698203" y="3172442"/>
            <a:ext cx="1454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zh-TW" altLang="en-US" sz="2000" b="0">
                <a:latin typeface="Times New Roman" pitchFamily="18" charset="0"/>
                <a:ea typeface="標楷體" pitchFamily="65" charset="-120"/>
              </a:rPr>
              <a:t>資材課及請</a:t>
            </a:r>
          </a:p>
          <a:p>
            <a:pPr algn="ctr" eaLnBrk="1" hangingPunct="1"/>
            <a:r>
              <a:rPr lang="zh-TW" altLang="en-US" sz="2000" b="0">
                <a:latin typeface="Times New Roman" pitchFamily="18" charset="0"/>
                <a:ea typeface="標楷體" pitchFamily="65" charset="-120"/>
              </a:rPr>
              <a:t>購部門確認</a:t>
            </a:r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>
            <a:off x="6642891" y="2300905"/>
            <a:ext cx="6858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7689053" y="3172442"/>
            <a:ext cx="1200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zh-TW" altLang="en-US" sz="2000" b="0">
                <a:latin typeface="Times New Roman" pitchFamily="18" charset="0"/>
                <a:ea typeface="標楷體" pitchFamily="65" charset="-120"/>
              </a:rPr>
              <a:t>確認結果</a:t>
            </a:r>
          </a:p>
          <a:p>
            <a:pPr algn="ctr" eaLnBrk="1" hangingPunct="1"/>
            <a:r>
              <a:rPr lang="zh-TW" altLang="en-US" sz="2000" b="0">
                <a:latin typeface="Times New Roman" pitchFamily="18" charset="0"/>
                <a:ea typeface="標楷體" pitchFamily="65" charset="-120"/>
              </a:rPr>
              <a:t>輸入電腦</a:t>
            </a:r>
          </a:p>
        </p:txBody>
      </p:sp>
      <p:graphicFrame>
        <p:nvGraphicFramePr>
          <p:cNvPr id="14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0982670"/>
              </p:ext>
            </p:extLst>
          </p:nvPr>
        </p:nvGraphicFramePr>
        <p:xfrm>
          <a:off x="7506491" y="4893292"/>
          <a:ext cx="1676400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0" name="Clip" r:id="rId8" imgW="5821363" imgH="2887663" progId="">
                  <p:embed/>
                </p:oleObj>
              </mc:Choice>
              <mc:Fallback>
                <p:oleObj name="Clip" r:id="rId8" imgW="5821363" imgH="2887663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6491" y="4893292"/>
                        <a:ext cx="1676400" cy="830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8443116" y="3956667"/>
            <a:ext cx="0" cy="685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7569991" y="5875955"/>
            <a:ext cx="1708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zh-TW" altLang="en-US" sz="2000" b="0">
                <a:latin typeface="Times New Roman" pitchFamily="18" charset="0"/>
                <a:ea typeface="標楷體" pitchFamily="65" charset="-120"/>
              </a:rPr>
              <a:t>採購部優先向</a:t>
            </a:r>
          </a:p>
          <a:p>
            <a:pPr algn="ctr" eaLnBrk="1" hangingPunct="1"/>
            <a:r>
              <a:rPr lang="zh-TW" altLang="en-US" sz="2000" b="0">
                <a:latin typeface="Times New Roman" pitchFamily="18" charset="0"/>
                <a:ea typeface="標楷體" pitchFamily="65" charset="-120"/>
              </a:rPr>
              <a:t>餘滯料訂購</a:t>
            </a:r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 flipH="1">
            <a:off x="6498428" y="5253655"/>
            <a:ext cx="6096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" name="Text Box 16"/>
          <p:cNvSpPr txBox="1">
            <a:spLocks noChangeArrowheads="1"/>
          </p:cNvSpPr>
          <p:nvPr/>
        </p:nvSpPr>
        <p:spPr bwMode="auto">
          <a:xfrm>
            <a:off x="4825203" y="5918817"/>
            <a:ext cx="1454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zh-TW" altLang="en-US" sz="2000" b="0">
                <a:latin typeface="Times New Roman" pitchFamily="18" charset="0"/>
                <a:ea typeface="標楷體" pitchFamily="65" charset="-120"/>
              </a:rPr>
              <a:t>資材課辦理</a:t>
            </a:r>
          </a:p>
          <a:p>
            <a:pPr algn="ctr" eaLnBrk="1" hangingPunct="1"/>
            <a:r>
              <a:rPr lang="zh-TW" altLang="en-US" sz="2000" b="0">
                <a:latin typeface="Times New Roman" pitchFamily="18" charset="0"/>
                <a:ea typeface="標楷體" pitchFamily="65" charset="-120"/>
              </a:rPr>
              <a:t>材料交運</a:t>
            </a:r>
          </a:p>
        </p:txBody>
      </p:sp>
      <p:graphicFrame>
        <p:nvGraphicFramePr>
          <p:cNvPr id="1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1391147"/>
              </p:ext>
            </p:extLst>
          </p:nvPr>
        </p:nvGraphicFramePr>
        <p:xfrm>
          <a:off x="2701128" y="5036167"/>
          <a:ext cx="6096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" name="Clip" r:id="rId10" imgW="370876" imgH="315153" progId="">
                  <p:embed/>
                </p:oleObj>
              </mc:Choice>
              <mc:Fallback>
                <p:oleObj name="Clip" r:id="rId10" imgW="370876" imgH="315153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1128" y="5036167"/>
                        <a:ext cx="609600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Line 18"/>
          <p:cNvSpPr>
            <a:spLocks noChangeShapeType="1"/>
          </p:cNvSpPr>
          <p:nvPr/>
        </p:nvSpPr>
        <p:spPr bwMode="auto">
          <a:xfrm flipH="1">
            <a:off x="3618703" y="5253655"/>
            <a:ext cx="6096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2702716" y="5901355"/>
            <a:ext cx="692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zh-TW" altLang="en-US" sz="2000" b="0">
                <a:latin typeface="Times New Roman" pitchFamily="18" charset="0"/>
                <a:ea typeface="標楷體" pitchFamily="65" charset="-120"/>
              </a:rPr>
              <a:t>完成</a:t>
            </a:r>
          </a:p>
        </p:txBody>
      </p:sp>
    </p:spTree>
    <p:extLst>
      <p:ext uri="{BB962C8B-B14F-4D97-AF65-F5344CB8AC3E}">
        <p14:creationId xmlns:p14="http://schemas.microsoft.com/office/powerpoint/2010/main" val="1818845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24</a:t>
            </a:fld>
            <a:endParaRPr lang="zh-TW" altLang="en-US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800" spc="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採購管理重點－</a:t>
            </a:r>
            <a:r>
              <a:rPr lang="zh-TW" altLang="en-US" sz="28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請訂購變更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15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516869829"/>
              </p:ext>
            </p:extLst>
          </p:nvPr>
        </p:nvGraphicFramePr>
        <p:xfrm>
          <a:off x="4283512" y="3926511"/>
          <a:ext cx="2012950" cy="193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0" name="Clip" r:id="rId3" imgW="2013509" imgH="1930298" progId="">
                  <p:embed/>
                </p:oleObj>
              </mc:Choice>
              <mc:Fallback>
                <p:oleObj name="Clip" r:id="rId3" imgW="2013509" imgH="1930298" progId="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512" y="3926511"/>
                        <a:ext cx="2012950" cy="193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439168" y="2903830"/>
            <a:ext cx="1200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/>
            <a:r>
              <a:rPr kumimoji="0" lang="zh-TW" altLang="en-US" sz="2000" b="0">
                <a:latin typeface="Times New Roman" pitchFamily="18" charset="0"/>
                <a:ea typeface="標楷體" pitchFamily="65" charset="-120"/>
              </a:rPr>
              <a:t>申請部門</a:t>
            </a:r>
          </a:p>
          <a:p>
            <a:pPr algn="ctr"/>
            <a:r>
              <a:rPr kumimoji="0" lang="zh-TW" altLang="en-US" sz="2000" b="0">
                <a:latin typeface="Times New Roman" pitchFamily="18" charset="0"/>
                <a:ea typeface="標楷體" pitchFamily="65" charset="-120"/>
              </a:rPr>
              <a:t>就源輸入</a:t>
            </a:r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3807593" y="2184693"/>
            <a:ext cx="6858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5640385"/>
              </p:ext>
            </p:extLst>
          </p:nvPr>
        </p:nvGraphicFramePr>
        <p:xfrm>
          <a:off x="5391918" y="1824330"/>
          <a:ext cx="1066800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1" name="Clip" r:id="rId5" imgW="4895910" imgH="4772025" progId="">
                  <p:embed/>
                </p:oleObj>
              </mc:Choice>
              <mc:Fallback>
                <p:oleObj name="Clip" r:id="rId5" imgW="4895910" imgH="477202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1918" y="1824330"/>
                        <a:ext cx="1066800" cy="1039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0850580"/>
              </p:ext>
            </p:extLst>
          </p:nvPr>
        </p:nvGraphicFramePr>
        <p:xfrm>
          <a:off x="4599756" y="1752893"/>
          <a:ext cx="106680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2" name="Clip" r:id="rId7" imgW="723870" imgH="304890" progId="">
                  <p:embed/>
                </p:oleObj>
              </mc:Choice>
              <mc:Fallback>
                <p:oleObj name="Clip" r:id="rId7" imgW="723870" imgH="30489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9756" y="1752893"/>
                        <a:ext cx="1066800" cy="455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Line 7"/>
          <p:cNvSpPr>
            <a:spLocks noChangeShapeType="1"/>
          </p:cNvSpPr>
          <p:nvPr/>
        </p:nvSpPr>
        <p:spPr bwMode="auto">
          <a:xfrm>
            <a:off x="6615881" y="2184693"/>
            <a:ext cx="6858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pic>
        <p:nvPicPr>
          <p:cNvPr id="11" name="Picture 8" descr="j0301252"/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95381" y="1463968"/>
            <a:ext cx="1427162" cy="1220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9" descr="j0195384"/>
          <p:cNvPicPr>
            <a:picLocks noChangeAspect="1" noChangeArrowheads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439168" y="1463968"/>
            <a:ext cx="1339850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4742631" y="2903830"/>
            <a:ext cx="1962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TW" altLang="en-US" sz="2000">
                <a:latin typeface="Times New Roman" pitchFamily="18" charset="0"/>
                <a:ea typeface="標楷體" pitchFamily="65" charset="-120"/>
              </a:rPr>
              <a:t>自動傳真或網路</a:t>
            </a:r>
          </a:p>
          <a:p>
            <a:r>
              <a:rPr lang="zh-TW" altLang="en-US" sz="2000">
                <a:latin typeface="Times New Roman" pitchFamily="18" charset="0"/>
                <a:ea typeface="標楷體" pitchFamily="65" charset="-120"/>
              </a:rPr>
              <a:t>傳送變更資料</a:t>
            </a: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7550918" y="2903830"/>
            <a:ext cx="2216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TW" altLang="en-US" sz="2000">
                <a:latin typeface="Times New Roman" pitchFamily="18" charset="0"/>
                <a:ea typeface="標楷體" pitchFamily="65" charset="-120"/>
              </a:rPr>
              <a:t>廠商確認約交日、</a:t>
            </a:r>
          </a:p>
          <a:p>
            <a:r>
              <a:rPr lang="zh-TW" altLang="en-US" sz="2000">
                <a:latin typeface="Times New Roman" pitchFamily="18" charset="0"/>
                <a:ea typeface="標楷體" pitchFamily="65" charset="-120"/>
              </a:rPr>
              <a:t>交貨地點、數量</a:t>
            </a:r>
          </a:p>
        </p:txBody>
      </p:sp>
      <p:graphicFrame>
        <p:nvGraphicFramePr>
          <p:cNvPr id="1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9635656"/>
              </p:ext>
            </p:extLst>
          </p:nvPr>
        </p:nvGraphicFramePr>
        <p:xfrm>
          <a:off x="7479481" y="4561180"/>
          <a:ext cx="1676400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" name="Clip" r:id="rId11" imgW="5821363" imgH="2887663" progId="">
                  <p:embed/>
                </p:oleObj>
              </mc:Choice>
              <mc:Fallback>
                <p:oleObj name="Clip" r:id="rId11" imgW="5821363" imgH="2887663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9481" y="4561180"/>
                        <a:ext cx="1676400" cy="830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Line 13"/>
          <p:cNvSpPr>
            <a:spLocks noChangeShapeType="1"/>
          </p:cNvSpPr>
          <p:nvPr/>
        </p:nvSpPr>
        <p:spPr bwMode="auto">
          <a:xfrm>
            <a:off x="8416106" y="3624555"/>
            <a:ext cx="0" cy="6858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" name="Text Box 14"/>
          <p:cNvSpPr txBox="1">
            <a:spLocks noChangeArrowheads="1"/>
          </p:cNvSpPr>
          <p:nvPr/>
        </p:nvSpPr>
        <p:spPr bwMode="auto">
          <a:xfrm>
            <a:off x="7542981" y="5802605"/>
            <a:ext cx="1708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zh-TW" altLang="en-US" sz="2000" b="0">
                <a:latin typeface="Times New Roman" pitchFamily="18" charset="0"/>
                <a:ea typeface="標楷體" pitchFamily="65" charset="-120"/>
              </a:rPr>
              <a:t>若廠商不同意</a:t>
            </a:r>
          </a:p>
          <a:p>
            <a:pPr algn="ctr" eaLnBrk="1" hangingPunct="1"/>
            <a:r>
              <a:rPr lang="zh-TW" altLang="en-US" sz="2000" b="0">
                <a:latin typeface="Times New Roman" pitchFamily="18" charset="0"/>
                <a:ea typeface="標楷體" pitchFamily="65" charset="-120"/>
              </a:rPr>
              <a:t>採購再與洽談</a:t>
            </a:r>
          </a:p>
        </p:txBody>
      </p:sp>
      <p:sp>
        <p:nvSpPr>
          <p:cNvPr id="18" name="Line 16"/>
          <p:cNvSpPr>
            <a:spLocks noChangeShapeType="1"/>
          </p:cNvSpPr>
          <p:nvPr/>
        </p:nvSpPr>
        <p:spPr bwMode="auto">
          <a:xfrm flipH="1">
            <a:off x="6471418" y="5137443"/>
            <a:ext cx="6096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4925193" y="5802605"/>
            <a:ext cx="1200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zh-TW" altLang="en-US" sz="2000" b="0">
                <a:latin typeface="Times New Roman" pitchFamily="18" charset="0"/>
                <a:ea typeface="標楷體" pitchFamily="65" charset="-120"/>
              </a:rPr>
              <a:t>採購輸入</a:t>
            </a:r>
          </a:p>
          <a:p>
            <a:pPr algn="ctr" eaLnBrk="1" hangingPunct="1"/>
            <a:r>
              <a:rPr lang="zh-TW" altLang="en-US" sz="2000" b="0">
                <a:latin typeface="Times New Roman" pitchFamily="18" charset="0"/>
                <a:ea typeface="標楷體" pitchFamily="65" charset="-120"/>
              </a:rPr>
              <a:t>洽談結果</a:t>
            </a:r>
          </a:p>
        </p:txBody>
      </p:sp>
      <p:sp>
        <p:nvSpPr>
          <p:cNvPr id="20" name="Line 18"/>
          <p:cNvSpPr>
            <a:spLocks noChangeShapeType="1"/>
          </p:cNvSpPr>
          <p:nvPr/>
        </p:nvSpPr>
        <p:spPr bwMode="auto">
          <a:xfrm flipH="1">
            <a:off x="3663131" y="5064418"/>
            <a:ext cx="6096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graphicFrame>
        <p:nvGraphicFramePr>
          <p:cNvPr id="2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4268028"/>
              </p:ext>
            </p:extLst>
          </p:nvPr>
        </p:nvGraphicFramePr>
        <p:xfrm>
          <a:off x="2674118" y="4919955"/>
          <a:ext cx="6096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" name="Clip" r:id="rId13" imgW="370876" imgH="315153" progId="">
                  <p:embed/>
                </p:oleObj>
              </mc:Choice>
              <mc:Fallback>
                <p:oleObj name="Clip" r:id="rId13" imgW="370876" imgH="315153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4118" y="4919955"/>
                        <a:ext cx="609600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0"/>
          <p:cNvSpPr txBox="1">
            <a:spLocks noChangeArrowheads="1"/>
          </p:cNvSpPr>
          <p:nvPr/>
        </p:nvSpPr>
        <p:spPr bwMode="auto">
          <a:xfrm>
            <a:off x="2294706" y="5785143"/>
            <a:ext cx="1454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1" hangingPunct="1"/>
            <a:r>
              <a:rPr lang="zh-TW" altLang="en-US" sz="2000" b="0">
                <a:latin typeface="Times New Roman" pitchFamily="18" charset="0"/>
                <a:ea typeface="標楷體" pitchFamily="65" charset="-120"/>
              </a:rPr>
              <a:t>完成並通知</a:t>
            </a:r>
          </a:p>
          <a:p>
            <a:pPr algn="ctr" eaLnBrk="1" hangingPunct="1"/>
            <a:r>
              <a:rPr lang="zh-TW" altLang="en-US" sz="2000" b="0">
                <a:latin typeface="Times New Roman" pitchFamily="18" charset="0"/>
                <a:ea typeface="標楷體" pitchFamily="65" charset="-120"/>
              </a:rPr>
              <a:t>申請部門</a:t>
            </a:r>
          </a:p>
        </p:txBody>
      </p:sp>
    </p:spTree>
    <p:extLst>
      <p:ext uri="{BB962C8B-B14F-4D97-AF65-F5344CB8AC3E}">
        <p14:creationId xmlns:p14="http://schemas.microsoft.com/office/powerpoint/2010/main" val="142658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25</a:t>
            </a:fld>
            <a:endParaRPr lang="zh-TW" altLang="en-US" dirty="0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800" spc="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採購管理重點－</a:t>
            </a:r>
            <a:r>
              <a:rPr lang="zh-TW" altLang="en-US" sz="28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網路採購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3"/>
          <p:cNvGrpSpPr>
            <a:grpSpLocks/>
          </p:cNvGrpSpPr>
          <p:nvPr/>
        </p:nvGrpSpPr>
        <p:grpSpPr bwMode="auto">
          <a:xfrm>
            <a:off x="4137905" y="4724400"/>
            <a:ext cx="4029075" cy="2057400"/>
            <a:chOff x="1488" y="2928"/>
            <a:chExt cx="2538" cy="1296"/>
          </a:xfrm>
          <a:solidFill>
            <a:srgbClr val="92D050"/>
          </a:solidFill>
        </p:grpSpPr>
        <p:sp>
          <p:nvSpPr>
            <p:cNvPr id="7" name="AutoShape 4"/>
            <p:cNvSpPr>
              <a:spLocks noChangeArrowheads="1"/>
            </p:cNvSpPr>
            <p:nvPr/>
          </p:nvSpPr>
          <p:spPr bwMode="auto">
            <a:xfrm>
              <a:off x="1488" y="2928"/>
              <a:ext cx="2538" cy="1296"/>
            </a:xfrm>
            <a:prstGeom prst="cloudCallout">
              <a:avLst>
                <a:gd name="adj1" fmla="val 41412"/>
                <a:gd name="adj2" fmla="val -22301"/>
              </a:avLst>
            </a:prstGeom>
            <a:grpFill/>
            <a:ln w="12700" cap="sq">
              <a:noFill/>
              <a:round/>
              <a:headEnd type="none" w="sm" len="sm"/>
              <a:tailEnd type="none" w="sm" len="sm"/>
            </a:ln>
            <a:effectLst>
              <a:prstShdw prst="shdw17" dist="17961" dir="2700000">
                <a:schemeClr val="accent2">
                  <a:gamma/>
                  <a:shade val="60000"/>
                  <a:invGamma/>
                </a:schemeClr>
              </a:prstShdw>
            </a:effectLst>
          </p:spPr>
          <p:txBody>
            <a:bodyPr/>
            <a:lstStyle/>
            <a:p>
              <a:pPr algn="ctr">
                <a:defRPr/>
              </a:pPr>
              <a:endParaRPr lang="en-US" sz="1600">
                <a:solidFill>
                  <a:srgbClr val="FFFFFF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endParaRPr>
            </a:p>
          </p:txBody>
        </p:sp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2117" y="3072"/>
              <a:ext cx="1411" cy="288"/>
            </a:xfrm>
            <a:prstGeom prst="rect">
              <a:avLst/>
            </a:prstGeom>
            <a:grp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Tx/>
                <a:buChar char="•"/>
                <a:defRPr/>
              </a:pPr>
              <a:r>
                <a:rPr lang="zh-TW" altLang="en-US" sz="2400" dirty="0">
                  <a:solidFill>
                    <a:srgbClr val="FF0000"/>
                  </a:solidFill>
                  <a:latin typeface="台塑體" pitchFamily="2" charset="-120"/>
                  <a:ea typeface="台塑體" pitchFamily="2" charset="-120"/>
                  <a:cs typeface="台塑體" pitchFamily="2" charset="-120"/>
                </a:rPr>
                <a:t>免除寄</a:t>
              </a:r>
              <a:r>
                <a:rPr lang="zh-TW" altLang="en-US" sz="2400" dirty="0" smtClean="0">
                  <a:solidFill>
                    <a:srgbClr val="FF0000"/>
                  </a:solidFill>
                  <a:latin typeface="台塑體" pitchFamily="2" charset="-120"/>
                  <a:ea typeface="台塑體" pitchFamily="2" charset="-120"/>
                  <a:cs typeface="台塑體" pitchFamily="2" charset="-120"/>
                </a:rPr>
                <a:t>送</a:t>
              </a:r>
              <a:endParaRPr lang="zh-TW" altLang="en-US" sz="2400" dirty="0">
                <a:solidFill>
                  <a:srgbClr val="FF000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endParaRPr>
            </a:p>
          </p:txBody>
        </p:sp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2117" y="3312"/>
              <a:ext cx="1363" cy="288"/>
            </a:xfrm>
            <a:prstGeom prst="rect">
              <a:avLst/>
            </a:prstGeom>
            <a:grp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Tx/>
                <a:buChar char="•"/>
                <a:defRPr/>
              </a:pPr>
              <a:r>
                <a:rPr lang="zh-TW" altLang="en-US" sz="2400" dirty="0">
                  <a:solidFill>
                    <a:srgbClr val="FF0000"/>
                  </a:solidFill>
                  <a:latin typeface="台塑體" pitchFamily="2" charset="-120"/>
                  <a:ea typeface="台塑體" pitchFamily="2" charset="-120"/>
                  <a:cs typeface="台塑體" pitchFamily="2" charset="-120"/>
                </a:rPr>
                <a:t>節省</a:t>
              </a:r>
              <a:r>
                <a:rPr lang="zh-TW" altLang="en-US" sz="2400" dirty="0" smtClean="0">
                  <a:solidFill>
                    <a:srgbClr val="FF0000"/>
                  </a:solidFill>
                  <a:latin typeface="台塑體" pitchFamily="2" charset="-120"/>
                  <a:ea typeface="台塑體" pitchFamily="2" charset="-120"/>
                  <a:cs typeface="台塑體" pitchFamily="2" charset="-120"/>
                </a:rPr>
                <a:t>費用</a:t>
              </a:r>
              <a:endParaRPr lang="zh-TW" altLang="en-US" sz="2400" dirty="0">
                <a:solidFill>
                  <a:srgbClr val="FF000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endParaRPr>
            </a:p>
          </p:txBody>
        </p:sp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2117" y="3552"/>
              <a:ext cx="1699" cy="288"/>
            </a:xfrm>
            <a:prstGeom prst="rect">
              <a:avLst/>
            </a:prstGeom>
            <a:grp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Tx/>
                <a:buChar char="•"/>
                <a:defRPr/>
              </a:pPr>
              <a:r>
                <a:rPr lang="zh-TW" altLang="en-US" sz="2400" dirty="0">
                  <a:solidFill>
                    <a:srgbClr val="FF0000"/>
                  </a:solidFill>
                  <a:latin typeface="台塑體" pitchFamily="2" charset="-120"/>
                  <a:ea typeface="台塑體" pitchFamily="2" charset="-120"/>
                  <a:cs typeface="台塑體" pitchFamily="2" charset="-120"/>
                </a:rPr>
                <a:t>資料安全</a:t>
              </a:r>
              <a:r>
                <a:rPr lang="zh-TW" altLang="en-US" sz="2400" dirty="0" smtClean="0">
                  <a:solidFill>
                    <a:srgbClr val="FF0000"/>
                  </a:solidFill>
                  <a:latin typeface="台塑體" pitchFamily="2" charset="-120"/>
                  <a:ea typeface="台塑體" pitchFamily="2" charset="-120"/>
                  <a:cs typeface="台塑體" pitchFamily="2" charset="-120"/>
                </a:rPr>
                <a:t>保密</a:t>
              </a:r>
              <a:endParaRPr lang="zh-TW" altLang="en-US" sz="2400" dirty="0">
                <a:solidFill>
                  <a:srgbClr val="FF000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endParaRPr>
            </a:p>
          </p:txBody>
        </p:sp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2117" y="3792"/>
              <a:ext cx="1411" cy="288"/>
            </a:xfrm>
            <a:prstGeom prst="rect">
              <a:avLst/>
            </a:prstGeom>
            <a:grp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Tx/>
                <a:buChar char="•"/>
                <a:defRPr/>
              </a:pPr>
              <a:r>
                <a:rPr lang="zh-TW" altLang="en-US" sz="2400" dirty="0">
                  <a:solidFill>
                    <a:srgbClr val="FF3300"/>
                  </a:solidFill>
                  <a:latin typeface="台塑體" pitchFamily="2" charset="-120"/>
                  <a:ea typeface="台塑體" pitchFamily="2" charset="-120"/>
                  <a:cs typeface="台塑體" pitchFamily="2" charset="-120"/>
                </a:rPr>
                <a:t>查詢</a:t>
              </a:r>
              <a:r>
                <a:rPr lang="zh-TW" altLang="en-US" sz="2400" dirty="0" smtClean="0">
                  <a:solidFill>
                    <a:srgbClr val="FF3300"/>
                  </a:solidFill>
                  <a:latin typeface="台塑體" pitchFamily="2" charset="-120"/>
                  <a:ea typeface="台塑體" pitchFamily="2" charset="-120"/>
                  <a:cs typeface="台塑體" pitchFamily="2" charset="-120"/>
                </a:rPr>
                <a:t>方便</a:t>
              </a:r>
              <a:endParaRPr lang="zh-TW" altLang="en-US" sz="2400" dirty="0">
                <a:solidFill>
                  <a:srgbClr val="FF330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endParaRPr>
            </a:p>
          </p:txBody>
        </p:sp>
      </p:grpSp>
      <p:grpSp>
        <p:nvGrpSpPr>
          <p:cNvPr id="12" name="Group 9"/>
          <p:cNvGrpSpPr>
            <a:grpSpLocks/>
          </p:cNvGrpSpPr>
          <p:nvPr/>
        </p:nvGrpSpPr>
        <p:grpSpPr bwMode="auto">
          <a:xfrm>
            <a:off x="1847143" y="1066800"/>
            <a:ext cx="4905375" cy="2362200"/>
            <a:chOff x="144" y="720"/>
            <a:chExt cx="3090" cy="1488"/>
          </a:xfrm>
        </p:grpSpPr>
        <p:sp>
          <p:nvSpPr>
            <p:cNvPr id="13" name="AutoShape 10"/>
            <p:cNvSpPr>
              <a:spLocks noChangeArrowheads="1"/>
            </p:cNvSpPr>
            <p:nvPr/>
          </p:nvSpPr>
          <p:spPr bwMode="auto">
            <a:xfrm>
              <a:off x="144" y="720"/>
              <a:ext cx="2400" cy="1488"/>
            </a:xfrm>
            <a:prstGeom prst="cloudCallout">
              <a:avLst>
                <a:gd name="adj1" fmla="val -39500"/>
                <a:gd name="adj2" fmla="val 80981"/>
              </a:avLst>
            </a:prstGeom>
            <a:solidFill>
              <a:schemeClr val="accent1"/>
            </a:solidFill>
            <a:ln w="12700" cap="sq">
              <a:noFill/>
              <a:round/>
              <a:headEnd type="none" w="sm" len="sm"/>
              <a:tailEnd type="none" w="sm" len="sm"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/>
            <a:lstStyle/>
            <a:p>
              <a:pPr algn="ctr">
                <a:defRPr/>
              </a:pPr>
              <a:endParaRPr lang="en-US" sz="1600">
                <a:solidFill>
                  <a:srgbClr val="000099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endParaRP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930" y="1392"/>
              <a:ext cx="23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lang="zh-TW" altLang="en-US" sz="2400" dirty="0" smtClean="0">
                  <a:solidFill>
                    <a:srgbClr val="000099"/>
                  </a:solidFill>
                  <a:latin typeface="台塑體" pitchFamily="2" charset="-120"/>
                  <a:ea typeface="台塑體" pitchFamily="2" charset="-120"/>
                  <a:cs typeface="台塑體" pitchFamily="2" charset="-120"/>
                </a:rPr>
                <a:t>自由競爭</a:t>
              </a:r>
              <a:endParaRPr lang="zh-TW" altLang="en-US" sz="2400" dirty="0">
                <a:solidFill>
                  <a:srgbClr val="000099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endParaRP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930" y="1632"/>
              <a:ext cx="23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lang="zh-TW" altLang="en-US" sz="2400" dirty="0">
                  <a:solidFill>
                    <a:srgbClr val="000099"/>
                  </a:solidFill>
                  <a:latin typeface="台塑體" pitchFamily="2" charset="-120"/>
                  <a:ea typeface="台塑體" pitchFamily="2" charset="-120"/>
                  <a:cs typeface="台塑體" pitchFamily="2" charset="-120"/>
                </a:rPr>
                <a:t>提示</a:t>
              </a:r>
              <a:r>
                <a:rPr lang="zh-TW" altLang="en-US" sz="2400" dirty="0" smtClean="0">
                  <a:solidFill>
                    <a:srgbClr val="000099"/>
                  </a:solidFill>
                  <a:latin typeface="台塑體" pitchFamily="2" charset="-120"/>
                  <a:ea typeface="台塑體" pitchFamily="2" charset="-120"/>
                  <a:cs typeface="台塑體" pitchFamily="2" charset="-120"/>
                </a:rPr>
                <a:t>交貨</a:t>
              </a:r>
              <a:endParaRPr lang="zh-TW" altLang="en-US" sz="2400" dirty="0">
                <a:solidFill>
                  <a:srgbClr val="000099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endParaRPr>
            </a:p>
          </p:txBody>
        </p:sp>
        <p:sp>
          <p:nvSpPr>
            <p:cNvPr id="16" name="Text Box 13"/>
            <p:cNvSpPr txBox="1">
              <a:spLocks noChangeArrowheads="1"/>
            </p:cNvSpPr>
            <p:nvPr/>
          </p:nvSpPr>
          <p:spPr bwMode="auto">
            <a:xfrm>
              <a:off x="930" y="1152"/>
              <a:ext cx="23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lang="zh-TW" altLang="en-US" sz="2400" dirty="0">
                  <a:solidFill>
                    <a:srgbClr val="000099"/>
                  </a:solidFill>
                  <a:latin typeface="台塑體" pitchFamily="2" charset="-120"/>
                  <a:ea typeface="台塑體" pitchFamily="2" charset="-120"/>
                  <a:cs typeface="台塑體" pitchFamily="2" charset="-120"/>
                </a:rPr>
                <a:t>隨時</a:t>
              </a:r>
              <a:r>
                <a:rPr lang="zh-TW" altLang="en-US" sz="2400" dirty="0" smtClean="0">
                  <a:solidFill>
                    <a:srgbClr val="000099"/>
                  </a:solidFill>
                  <a:latin typeface="台塑體" pitchFamily="2" charset="-120"/>
                  <a:ea typeface="台塑體" pitchFamily="2" charset="-120"/>
                  <a:cs typeface="台塑體" pitchFamily="2" charset="-120"/>
                </a:rPr>
                <a:t>報價</a:t>
              </a:r>
              <a:endParaRPr lang="zh-TW" altLang="en-US" sz="2400" dirty="0">
                <a:solidFill>
                  <a:srgbClr val="000099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endParaRPr>
            </a:p>
          </p:txBody>
        </p:sp>
        <p:sp>
          <p:nvSpPr>
            <p:cNvPr id="17" name="Text Box 14"/>
            <p:cNvSpPr txBox="1">
              <a:spLocks noChangeArrowheads="1"/>
            </p:cNvSpPr>
            <p:nvPr/>
          </p:nvSpPr>
          <p:spPr bwMode="auto">
            <a:xfrm>
              <a:off x="1008" y="816"/>
              <a:ext cx="8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zh-TW" altLang="en-US" sz="3200" u="sng" dirty="0">
                  <a:solidFill>
                    <a:srgbClr val="000099"/>
                  </a:solidFill>
                  <a:latin typeface="台塑體" pitchFamily="2" charset="-120"/>
                  <a:ea typeface="台塑體" pitchFamily="2" charset="-120"/>
                  <a:cs typeface="台塑體" pitchFamily="2" charset="-120"/>
                </a:rPr>
                <a:t>廠  商</a:t>
              </a:r>
            </a:p>
          </p:txBody>
        </p:sp>
      </p:grpSp>
      <p:grpSp>
        <p:nvGrpSpPr>
          <p:cNvPr id="18" name="Group 15"/>
          <p:cNvGrpSpPr>
            <a:grpSpLocks/>
          </p:cNvGrpSpPr>
          <p:nvPr/>
        </p:nvGrpSpPr>
        <p:grpSpPr bwMode="auto">
          <a:xfrm>
            <a:off x="6038143" y="1066800"/>
            <a:ext cx="5291138" cy="2209800"/>
            <a:chOff x="2784" y="672"/>
            <a:chExt cx="3333" cy="1392"/>
          </a:xfrm>
        </p:grpSpPr>
        <p:sp>
          <p:nvSpPr>
            <p:cNvPr id="19" name="AutoShape 16"/>
            <p:cNvSpPr>
              <a:spLocks noChangeArrowheads="1"/>
            </p:cNvSpPr>
            <p:nvPr/>
          </p:nvSpPr>
          <p:spPr bwMode="auto">
            <a:xfrm>
              <a:off x="2784" y="672"/>
              <a:ext cx="2544" cy="1392"/>
            </a:xfrm>
            <a:prstGeom prst="cloudCallout">
              <a:avLst>
                <a:gd name="adj1" fmla="val 28657"/>
                <a:gd name="adj2" fmla="val 54741"/>
              </a:avLst>
            </a:prstGeom>
            <a:solidFill>
              <a:srgbClr val="FFCC00"/>
            </a:solidFill>
            <a:ln>
              <a:noFill/>
            </a:ln>
            <a:effectLst>
              <a:prstShdw prst="shdw17" dist="17961" dir="2700000">
                <a:srgbClr val="997A00"/>
              </a:prstShdw>
            </a:effectLst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/>
            <a:p>
              <a:pPr algn="ctr"/>
              <a:endParaRPr lang="en-US" altLang="zh-TW" sz="1600">
                <a:latin typeface="台塑體" pitchFamily="2" charset="-120"/>
                <a:ea typeface="台塑體" pitchFamily="2" charset="-120"/>
                <a:cs typeface="台塑體" pitchFamily="2" charset="-120"/>
              </a:endParaRPr>
            </a:p>
          </p:txBody>
        </p:sp>
        <p:sp>
          <p:nvSpPr>
            <p:cNvPr id="20" name="Text Box 17"/>
            <p:cNvSpPr txBox="1">
              <a:spLocks noChangeArrowheads="1"/>
            </p:cNvSpPr>
            <p:nvPr/>
          </p:nvSpPr>
          <p:spPr bwMode="auto">
            <a:xfrm>
              <a:off x="3492" y="1056"/>
              <a:ext cx="248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lang="zh-TW" altLang="en-US" sz="2400" dirty="0">
                  <a:solidFill>
                    <a:srgbClr val="0000FF"/>
                  </a:solidFill>
                  <a:latin typeface="台塑體" pitchFamily="2" charset="-120"/>
                  <a:ea typeface="台塑體" pitchFamily="2" charset="-120"/>
                  <a:cs typeface="台塑體" pitchFamily="2" charset="-120"/>
                </a:rPr>
                <a:t>資料自動</a:t>
              </a:r>
              <a:r>
                <a:rPr lang="zh-TW" altLang="en-US" sz="2400" dirty="0" smtClean="0">
                  <a:solidFill>
                    <a:srgbClr val="0000FF"/>
                  </a:solidFill>
                  <a:latin typeface="台塑體" pitchFamily="2" charset="-120"/>
                  <a:ea typeface="台塑體" pitchFamily="2" charset="-120"/>
                  <a:cs typeface="台塑體" pitchFamily="2" charset="-120"/>
                </a:rPr>
                <a:t>連結</a:t>
              </a:r>
              <a:endParaRPr lang="zh-TW" altLang="en-US" sz="2400" dirty="0">
                <a:solidFill>
                  <a:srgbClr val="0000FF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endParaRPr>
            </a:p>
          </p:txBody>
        </p:sp>
        <p:sp>
          <p:nvSpPr>
            <p:cNvPr id="21" name="Text Box 18"/>
            <p:cNvSpPr txBox="1">
              <a:spLocks noChangeArrowheads="1"/>
            </p:cNvSpPr>
            <p:nvPr/>
          </p:nvSpPr>
          <p:spPr bwMode="auto">
            <a:xfrm>
              <a:off x="3492" y="1296"/>
              <a:ext cx="262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lang="zh-TW" altLang="en-US" sz="2400" dirty="0">
                  <a:solidFill>
                    <a:srgbClr val="0000FF"/>
                  </a:solidFill>
                  <a:latin typeface="台塑體" pitchFamily="2" charset="-120"/>
                  <a:ea typeface="台塑體" pitchFamily="2" charset="-120"/>
                  <a:cs typeface="台塑體" pitchFamily="2" charset="-120"/>
                </a:rPr>
                <a:t>降低人工</a:t>
              </a:r>
              <a:r>
                <a:rPr lang="zh-TW" altLang="en-US" sz="2400" dirty="0" smtClean="0">
                  <a:solidFill>
                    <a:srgbClr val="0000FF"/>
                  </a:solidFill>
                  <a:latin typeface="台塑體" pitchFamily="2" charset="-120"/>
                  <a:ea typeface="台塑體" pitchFamily="2" charset="-120"/>
                  <a:cs typeface="台塑體" pitchFamily="2" charset="-120"/>
                </a:rPr>
                <a:t>錯誤</a:t>
              </a:r>
              <a:endParaRPr lang="zh-TW" altLang="en-US" sz="2400" dirty="0">
                <a:solidFill>
                  <a:srgbClr val="66FF33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endParaRPr>
            </a:p>
          </p:txBody>
        </p:sp>
        <p:sp>
          <p:nvSpPr>
            <p:cNvPr id="22" name="Text Box 19"/>
            <p:cNvSpPr txBox="1">
              <a:spLocks noChangeArrowheads="1"/>
            </p:cNvSpPr>
            <p:nvPr/>
          </p:nvSpPr>
          <p:spPr bwMode="auto">
            <a:xfrm>
              <a:off x="3492" y="1536"/>
              <a:ext cx="228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lang="zh-TW" altLang="en-US" sz="2400" dirty="0">
                  <a:solidFill>
                    <a:srgbClr val="0000FF"/>
                  </a:solidFill>
                  <a:latin typeface="台塑體" pitchFamily="2" charset="-120"/>
                  <a:ea typeface="台塑體" pitchFamily="2" charset="-120"/>
                  <a:cs typeface="台塑體" pitchFamily="2" charset="-120"/>
                </a:rPr>
                <a:t>提高</a:t>
              </a:r>
              <a:r>
                <a:rPr lang="zh-TW" altLang="en-US" sz="2400" dirty="0" smtClean="0">
                  <a:solidFill>
                    <a:srgbClr val="0000FF"/>
                  </a:solidFill>
                  <a:latin typeface="台塑體" pitchFamily="2" charset="-120"/>
                  <a:ea typeface="台塑體" pitchFamily="2" charset="-120"/>
                  <a:cs typeface="台塑體" pitchFamily="2" charset="-120"/>
                </a:rPr>
                <a:t>工作效率</a:t>
              </a:r>
              <a:endParaRPr lang="zh-TW" altLang="en-US" sz="2400" dirty="0">
                <a:solidFill>
                  <a:srgbClr val="66FF33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endParaRPr>
            </a:p>
          </p:txBody>
        </p:sp>
        <p:sp>
          <p:nvSpPr>
            <p:cNvPr id="23" name="Text Box 20"/>
            <p:cNvSpPr txBox="1">
              <a:spLocks noChangeArrowheads="1"/>
            </p:cNvSpPr>
            <p:nvPr/>
          </p:nvSpPr>
          <p:spPr bwMode="auto">
            <a:xfrm>
              <a:off x="3729" y="720"/>
              <a:ext cx="129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b="1">
                  <a:solidFill>
                    <a:schemeClr val="tx1"/>
                  </a:solidFill>
                  <a:latin typeface="Arial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TW" altLang="en-US" sz="3200" u="sng" dirty="0" smtClean="0">
                  <a:solidFill>
                    <a:srgbClr val="0000FF"/>
                  </a:solidFill>
                  <a:latin typeface="台塑體" pitchFamily="2" charset="-120"/>
                  <a:ea typeface="台塑體" pitchFamily="2" charset="-120"/>
                  <a:cs typeface="台塑體" pitchFamily="2" charset="-120"/>
                </a:rPr>
                <a:t>企  業</a:t>
              </a:r>
              <a:endParaRPr lang="zh-TW" altLang="en-US" sz="3200" u="sng" dirty="0">
                <a:solidFill>
                  <a:srgbClr val="0000FF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endParaRPr>
            </a:p>
          </p:txBody>
        </p:sp>
      </p:grpSp>
      <p:pic>
        <p:nvPicPr>
          <p:cNvPr id="24" name="Picture 22" descr="j023064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66531" y="3178175"/>
            <a:ext cx="2971800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3" descr="PEOPLE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00175" y="3498850"/>
            <a:ext cx="2438400" cy="313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24" descr="main_building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94737" y="3498850"/>
            <a:ext cx="2362994" cy="145415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265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26</a:t>
            </a:fld>
            <a:endParaRPr lang="zh-TW" altLang="en-US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800" spc="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採購管理重點－</a:t>
            </a:r>
            <a:r>
              <a:rPr lang="zh-TW" altLang="en-US" sz="28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網路採購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4"/>
          <p:cNvSpPr txBox="1">
            <a:spLocks noChangeArrowheads="1"/>
          </p:cNvSpPr>
          <p:nvPr/>
        </p:nvSpPr>
        <p:spPr bwMode="auto">
          <a:xfrm>
            <a:off x="4579938" y="6227763"/>
            <a:ext cx="2752725" cy="415498"/>
          </a:xfrm>
          <a:prstGeom prst="rect">
            <a:avLst/>
          </a:prstGeom>
          <a:solidFill>
            <a:schemeClr val="bg1"/>
          </a:solidFill>
          <a:ln w="28575">
            <a:solidFill>
              <a:srgbClr val="00CC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1" hangingPunct="1">
              <a:lnSpc>
                <a:spcPct val="105000"/>
              </a:lnSpc>
              <a:spcBef>
                <a:spcPct val="50000"/>
              </a:spcBef>
              <a:spcAft>
                <a:spcPct val="10000"/>
              </a:spcAft>
            </a:pPr>
            <a:r>
              <a:rPr lang="zh-TW" altLang="en-US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貨款查詢</a:t>
            </a:r>
          </a:p>
        </p:txBody>
      </p:sp>
      <p:sp>
        <p:nvSpPr>
          <p:cNvPr id="6" name="Text Box 41"/>
          <p:cNvSpPr txBox="1">
            <a:spLocks noChangeArrowheads="1"/>
          </p:cNvSpPr>
          <p:nvPr/>
        </p:nvSpPr>
        <p:spPr bwMode="auto">
          <a:xfrm>
            <a:off x="4579938" y="1690688"/>
            <a:ext cx="2752725" cy="415498"/>
          </a:xfrm>
          <a:prstGeom prst="rect">
            <a:avLst/>
          </a:prstGeom>
          <a:solidFill>
            <a:schemeClr val="bg1"/>
          </a:solidFill>
          <a:ln w="28575">
            <a:solidFill>
              <a:srgbClr val="00CC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1" hangingPunct="1">
              <a:lnSpc>
                <a:spcPct val="105000"/>
              </a:lnSpc>
              <a:spcBef>
                <a:spcPct val="60000"/>
              </a:spcBef>
              <a:spcAft>
                <a:spcPct val="10000"/>
              </a:spcAft>
            </a:pPr>
            <a:r>
              <a:rPr lang="zh-TW" altLang="en-US" dirty="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領投標作業</a:t>
            </a:r>
          </a:p>
        </p:txBody>
      </p:sp>
      <p:sp>
        <p:nvSpPr>
          <p:cNvPr id="7" name="Text Box 42"/>
          <p:cNvSpPr txBox="1">
            <a:spLocks noChangeArrowheads="1"/>
          </p:cNvSpPr>
          <p:nvPr/>
        </p:nvSpPr>
        <p:spPr bwMode="auto">
          <a:xfrm>
            <a:off x="4579938" y="2817813"/>
            <a:ext cx="2743200" cy="415498"/>
          </a:xfrm>
          <a:prstGeom prst="rect">
            <a:avLst/>
          </a:prstGeom>
          <a:solidFill>
            <a:schemeClr val="bg1"/>
          </a:solidFill>
          <a:ln w="28575">
            <a:solidFill>
              <a:srgbClr val="00CC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1" hangingPunct="1">
              <a:lnSpc>
                <a:spcPct val="105000"/>
              </a:lnSpc>
              <a:spcBef>
                <a:spcPct val="50000"/>
              </a:spcBef>
              <a:spcAft>
                <a:spcPct val="10000"/>
              </a:spcAft>
            </a:pPr>
            <a:r>
              <a:rPr lang="zh-TW" altLang="en-US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訂單管理</a:t>
            </a:r>
          </a:p>
        </p:txBody>
      </p:sp>
      <p:sp>
        <p:nvSpPr>
          <p:cNvPr id="8" name="Text Box 43"/>
          <p:cNvSpPr txBox="1">
            <a:spLocks noChangeArrowheads="1"/>
          </p:cNvSpPr>
          <p:nvPr/>
        </p:nvSpPr>
        <p:spPr bwMode="auto">
          <a:xfrm>
            <a:off x="4579938" y="3706813"/>
            <a:ext cx="2752725" cy="415498"/>
          </a:xfrm>
          <a:prstGeom prst="rect">
            <a:avLst/>
          </a:prstGeom>
          <a:solidFill>
            <a:schemeClr val="bg1"/>
          </a:solidFill>
          <a:ln w="28575">
            <a:solidFill>
              <a:srgbClr val="00CC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1" hangingPunct="1">
              <a:lnSpc>
                <a:spcPct val="105000"/>
              </a:lnSpc>
              <a:spcBef>
                <a:spcPct val="50000"/>
              </a:spcBef>
              <a:spcAft>
                <a:spcPct val="10000"/>
              </a:spcAft>
            </a:pPr>
            <a:r>
              <a:rPr lang="zh-TW" altLang="en-US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交貨管理作業</a:t>
            </a:r>
          </a:p>
        </p:txBody>
      </p:sp>
      <p:sp>
        <p:nvSpPr>
          <p:cNvPr id="9" name="Text Box 45"/>
          <p:cNvSpPr txBox="1">
            <a:spLocks noChangeArrowheads="1"/>
          </p:cNvSpPr>
          <p:nvPr/>
        </p:nvSpPr>
        <p:spPr bwMode="auto">
          <a:xfrm>
            <a:off x="1370013" y="3211513"/>
            <a:ext cx="1466850" cy="1015663"/>
          </a:xfrm>
          <a:prstGeom prst="rect">
            <a:avLst/>
          </a:prstGeom>
          <a:solidFill>
            <a:schemeClr val="bg1"/>
          </a:solidFill>
          <a:ln w="28575">
            <a:solidFill>
              <a:srgbClr val="00CC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TW" altLang="en-US" dirty="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台塑</a:t>
            </a:r>
            <a:br>
              <a:rPr lang="zh-TW" altLang="en-US" dirty="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</a:br>
            <a:r>
              <a:rPr lang="zh-TW" altLang="en-US" dirty="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網際網路</a:t>
            </a:r>
            <a:br>
              <a:rPr lang="zh-TW" altLang="en-US" dirty="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</a:br>
            <a:r>
              <a:rPr lang="zh-TW" altLang="en-US" dirty="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採購系統</a:t>
            </a:r>
          </a:p>
        </p:txBody>
      </p:sp>
      <p:sp>
        <p:nvSpPr>
          <p:cNvPr id="10" name="Text Box 46"/>
          <p:cNvSpPr txBox="1">
            <a:spLocks noChangeArrowheads="1"/>
          </p:cNvSpPr>
          <p:nvPr/>
        </p:nvSpPr>
        <p:spPr bwMode="auto">
          <a:xfrm>
            <a:off x="7899400" y="1116013"/>
            <a:ext cx="2357438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160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(1) </a:t>
            </a:r>
            <a:r>
              <a:rPr lang="zh-TW" altLang="en-US" sz="160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詢報價單</a:t>
            </a:r>
          </a:p>
          <a:p>
            <a:pPr eaLnBrk="1" hangingPunct="1"/>
            <a:r>
              <a:rPr lang="en-US" altLang="zh-TW" sz="160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(2) </a:t>
            </a:r>
            <a:r>
              <a:rPr lang="zh-TW" altLang="en-US" sz="160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詢價撤銷通知</a:t>
            </a:r>
          </a:p>
          <a:p>
            <a:pPr eaLnBrk="1" hangingPunct="1"/>
            <a:r>
              <a:rPr lang="en-US" altLang="zh-TW" sz="160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(3) </a:t>
            </a:r>
            <a:r>
              <a:rPr lang="zh-TW" altLang="en-US" sz="160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報價完成通知</a:t>
            </a:r>
          </a:p>
          <a:p>
            <a:pPr eaLnBrk="1" hangingPunct="1"/>
            <a:r>
              <a:rPr lang="en-US" altLang="zh-TW" sz="160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(4) </a:t>
            </a:r>
            <a:r>
              <a:rPr lang="zh-TW" altLang="en-US" sz="160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未得標通知</a:t>
            </a:r>
          </a:p>
          <a:p>
            <a:pPr eaLnBrk="1" hangingPunct="1"/>
            <a:r>
              <a:rPr lang="en-US" altLang="zh-TW" sz="160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(5) </a:t>
            </a:r>
            <a:r>
              <a:rPr lang="zh-TW" altLang="en-US" sz="160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報價資料查詢</a:t>
            </a:r>
          </a:p>
          <a:p>
            <a:pPr eaLnBrk="1" hangingPunct="1"/>
            <a:r>
              <a:rPr lang="en-US" altLang="zh-TW" sz="160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(6) </a:t>
            </a:r>
            <a:r>
              <a:rPr lang="zh-TW" altLang="en-US" sz="160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議價函</a:t>
            </a:r>
          </a:p>
        </p:txBody>
      </p:sp>
      <p:sp>
        <p:nvSpPr>
          <p:cNvPr id="11" name="Text Box 47"/>
          <p:cNvSpPr txBox="1">
            <a:spLocks noChangeArrowheads="1"/>
          </p:cNvSpPr>
          <p:nvPr/>
        </p:nvSpPr>
        <p:spPr bwMode="auto">
          <a:xfrm>
            <a:off x="7923213" y="2630488"/>
            <a:ext cx="2592387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160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(1) </a:t>
            </a:r>
            <a:r>
              <a:rPr lang="zh-TW" altLang="en-US" sz="160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訂購通知</a:t>
            </a:r>
          </a:p>
          <a:p>
            <a:pPr eaLnBrk="1" hangingPunct="1"/>
            <a:r>
              <a:rPr lang="en-US" altLang="zh-TW" sz="160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(2) </a:t>
            </a:r>
            <a:r>
              <a:rPr lang="zh-TW" altLang="en-US" sz="160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買賣合約書</a:t>
            </a:r>
            <a:endParaRPr lang="en-US" altLang="zh-TW" sz="1600">
              <a:solidFill>
                <a:srgbClr val="002060"/>
              </a:solidFill>
              <a:latin typeface="台塑體" pitchFamily="2" charset="-120"/>
              <a:ea typeface="台塑體" pitchFamily="2" charset="-120"/>
              <a:cs typeface="台塑體" pitchFamily="2" charset="-120"/>
            </a:endParaRPr>
          </a:p>
          <a:p>
            <a:pPr eaLnBrk="1" hangingPunct="1"/>
            <a:r>
              <a:rPr lang="en-US" altLang="zh-TW" sz="160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(3) </a:t>
            </a:r>
            <a:r>
              <a:rPr lang="zh-TW" altLang="en-US" sz="160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線上托運或自行交貨</a:t>
            </a:r>
          </a:p>
          <a:p>
            <a:pPr eaLnBrk="1" hangingPunct="1"/>
            <a:endParaRPr lang="zh-TW" altLang="en-US" sz="1600">
              <a:solidFill>
                <a:srgbClr val="002060"/>
              </a:solidFill>
              <a:latin typeface="台塑體" pitchFamily="2" charset="-120"/>
              <a:ea typeface="台塑體" pitchFamily="2" charset="-120"/>
              <a:cs typeface="台塑體" pitchFamily="2" charset="-120"/>
            </a:endParaRPr>
          </a:p>
        </p:txBody>
      </p:sp>
      <p:sp>
        <p:nvSpPr>
          <p:cNvPr id="12" name="Text Box 48"/>
          <p:cNvSpPr txBox="1">
            <a:spLocks noChangeArrowheads="1"/>
          </p:cNvSpPr>
          <p:nvPr/>
        </p:nvSpPr>
        <p:spPr bwMode="auto">
          <a:xfrm>
            <a:off x="7937500" y="3438525"/>
            <a:ext cx="2357438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160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(1) </a:t>
            </a:r>
            <a:r>
              <a:rPr lang="zh-TW" altLang="en-US" sz="160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交貨提示通知</a:t>
            </a:r>
          </a:p>
          <a:p>
            <a:pPr eaLnBrk="1" hangingPunct="1"/>
            <a:r>
              <a:rPr lang="en-US" altLang="zh-TW" sz="160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(2) </a:t>
            </a:r>
            <a:r>
              <a:rPr lang="zh-TW" altLang="en-US" sz="160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交貨變更通知</a:t>
            </a:r>
          </a:p>
          <a:p>
            <a:pPr eaLnBrk="1" hangingPunct="1"/>
            <a:r>
              <a:rPr lang="en-US" altLang="zh-TW" sz="160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(3) </a:t>
            </a:r>
            <a:r>
              <a:rPr lang="zh-TW" altLang="en-US" sz="160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催交通知</a:t>
            </a:r>
          </a:p>
          <a:p>
            <a:pPr eaLnBrk="1" hangingPunct="1"/>
            <a:r>
              <a:rPr lang="en-US" altLang="zh-TW" sz="160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(4) </a:t>
            </a:r>
            <a:r>
              <a:rPr lang="zh-TW" altLang="en-US" sz="160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逾期交貨扣款通知</a:t>
            </a:r>
          </a:p>
        </p:txBody>
      </p:sp>
      <p:sp>
        <p:nvSpPr>
          <p:cNvPr id="13" name="Text Box 49"/>
          <p:cNvSpPr txBox="1">
            <a:spLocks noChangeArrowheads="1"/>
          </p:cNvSpPr>
          <p:nvPr/>
        </p:nvSpPr>
        <p:spPr bwMode="auto">
          <a:xfrm>
            <a:off x="7937500" y="6223000"/>
            <a:ext cx="235743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160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(1) </a:t>
            </a:r>
            <a:r>
              <a:rPr lang="zh-TW" altLang="en-US" sz="160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匯款通知單</a:t>
            </a:r>
          </a:p>
          <a:p>
            <a:pPr eaLnBrk="1" hangingPunct="1"/>
            <a:r>
              <a:rPr lang="en-US" altLang="zh-TW" sz="160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(2) </a:t>
            </a:r>
            <a:r>
              <a:rPr lang="zh-TW" altLang="en-US" sz="160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付款進度查詢</a:t>
            </a:r>
          </a:p>
        </p:txBody>
      </p:sp>
      <p:sp>
        <p:nvSpPr>
          <p:cNvPr id="14" name="Text Box 50"/>
          <p:cNvSpPr txBox="1">
            <a:spLocks noChangeArrowheads="1"/>
          </p:cNvSpPr>
          <p:nvPr/>
        </p:nvSpPr>
        <p:spPr bwMode="auto">
          <a:xfrm>
            <a:off x="4579938" y="4714875"/>
            <a:ext cx="2743200" cy="415498"/>
          </a:xfrm>
          <a:prstGeom prst="rect">
            <a:avLst/>
          </a:prstGeom>
          <a:solidFill>
            <a:schemeClr val="bg1"/>
          </a:solidFill>
          <a:ln w="28575">
            <a:solidFill>
              <a:srgbClr val="00CC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1" hangingPunct="1">
              <a:lnSpc>
                <a:spcPct val="105000"/>
              </a:lnSpc>
              <a:spcBef>
                <a:spcPct val="50000"/>
              </a:spcBef>
              <a:spcAft>
                <a:spcPct val="10000"/>
              </a:spcAft>
            </a:pPr>
            <a:r>
              <a:rPr lang="zh-TW" altLang="en-US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文件催交作業</a:t>
            </a:r>
          </a:p>
        </p:txBody>
      </p:sp>
      <p:sp>
        <p:nvSpPr>
          <p:cNvPr id="15" name="Text Box 51"/>
          <p:cNvSpPr txBox="1">
            <a:spLocks noChangeArrowheads="1"/>
          </p:cNvSpPr>
          <p:nvPr/>
        </p:nvSpPr>
        <p:spPr bwMode="auto">
          <a:xfrm>
            <a:off x="7937500" y="4572000"/>
            <a:ext cx="25781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160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(1) </a:t>
            </a:r>
            <a:r>
              <a:rPr lang="zh-TW" altLang="en-US" sz="160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催發票函</a:t>
            </a:r>
          </a:p>
          <a:p>
            <a:pPr eaLnBrk="1" hangingPunct="1"/>
            <a:r>
              <a:rPr lang="en-US" altLang="zh-TW" sz="160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(2) </a:t>
            </a:r>
            <a:r>
              <a:rPr lang="zh-TW" altLang="en-US" sz="160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催投資抵減文件函</a:t>
            </a:r>
            <a:endParaRPr lang="en-US" altLang="zh-TW" sz="1600">
              <a:solidFill>
                <a:srgbClr val="002060"/>
              </a:solidFill>
              <a:latin typeface="台塑體" pitchFamily="2" charset="-120"/>
              <a:ea typeface="台塑體" pitchFamily="2" charset="-120"/>
              <a:cs typeface="台塑體" pitchFamily="2" charset="-120"/>
            </a:endParaRPr>
          </a:p>
          <a:p>
            <a:pPr eaLnBrk="1" hangingPunct="1"/>
            <a:r>
              <a:rPr lang="en-US" altLang="zh-TW" sz="160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(3) </a:t>
            </a:r>
            <a:r>
              <a:rPr lang="zh-TW" altLang="en-US" sz="160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催買賣合約書文件函</a:t>
            </a:r>
          </a:p>
        </p:txBody>
      </p:sp>
      <p:cxnSp>
        <p:nvCxnSpPr>
          <p:cNvPr id="16" name="AutoShape 66"/>
          <p:cNvCxnSpPr>
            <a:cxnSpLocks noChangeShapeType="1"/>
            <a:stCxn id="6" idx="1"/>
            <a:endCxn id="9" idx="3"/>
          </p:cNvCxnSpPr>
          <p:nvPr/>
        </p:nvCxnSpPr>
        <p:spPr bwMode="auto">
          <a:xfrm rot="10800000" flipV="1">
            <a:off x="2836864" y="1898437"/>
            <a:ext cx="1743075" cy="1820908"/>
          </a:xfrm>
          <a:prstGeom prst="bentConnector3">
            <a:avLst>
              <a:gd name="adj1" fmla="val 50000"/>
            </a:avLst>
          </a:prstGeom>
          <a:noFill/>
          <a:ln w="22225">
            <a:solidFill>
              <a:srgbClr val="66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AutoShape 67"/>
          <p:cNvCxnSpPr>
            <a:cxnSpLocks noChangeShapeType="1"/>
            <a:stCxn id="7" idx="1"/>
            <a:endCxn id="9" idx="3"/>
          </p:cNvCxnSpPr>
          <p:nvPr/>
        </p:nvCxnSpPr>
        <p:spPr bwMode="auto">
          <a:xfrm rot="10800000" flipV="1">
            <a:off x="2836864" y="3025561"/>
            <a:ext cx="1743075" cy="693783"/>
          </a:xfrm>
          <a:prstGeom prst="bentConnector3">
            <a:avLst>
              <a:gd name="adj1" fmla="val 50000"/>
            </a:avLst>
          </a:prstGeom>
          <a:noFill/>
          <a:ln w="22225">
            <a:solidFill>
              <a:srgbClr val="66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AutoShape 68"/>
          <p:cNvCxnSpPr>
            <a:cxnSpLocks noChangeShapeType="1"/>
            <a:stCxn id="8" idx="1"/>
            <a:endCxn id="9" idx="3"/>
          </p:cNvCxnSpPr>
          <p:nvPr/>
        </p:nvCxnSpPr>
        <p:spPr bwMode="auto">
          <a:xfrm rot="10800000">
            <a:off x="2836864" y="3719346"/>
            <a:ext cx="1743075" cy="195217"/>
          </a:xfrm>
          <a:prstGeom prst="bentConnector3">
            <a:avLst>
              <a:gd name="adj1" fmla="val 50000"/>
            </a:avLst>
          </a:prstGeom>
          <a:noFill/>
          <a:ln w="22225">
            <a:solidFill>
              <a:srgbClr val="66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AutoShape 69"/>
          <p:cNvCxnSpPr>
            <a:cxnSpLocks noChangeShapeType="1"/>
            <a:stCxn id="5" idx="1"/>
            <a:endCxn id="9" idx="3"/>
          </p:cNvCxnSpPr>
          <p:nvPr/>
        </p:nvCxnSpPr>
        <p:spPr bwMode="auto">
          <a:xfrm rot="10800000">
            <a:off x="2836864" y="3719346"/>
            <a:ext cx="1743075" cy="2716167"/>
          </a:xfrm>
          <a:prstGeom prst="bentConnector3">
            <a:avLst>
              <a:gd name="adj1" fmla="val 50000"/>
            </a:avLst>
          </a:prstGeom>
          <a:noFill/>
          <a:ln w="22225">
            <a:solidFill>
              <a:srgbClr val="66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AutoShape 71"/>
          <p:cNvCxnSpPr>
            <a:cxnSpLocks noChangeShapeType="1"/>
            <a:stCxn id="14" idx="1"/>
            <a:endCxn id="9" idx="3"/>
          </p:cNvCxnSpPr>
          <p:nvPr/>
        </p:nvCxnSpPr>
        <p:spPr bwMode="auto">
          <a:xfrm rot="10800000">
            <a:off x="2836864" y="3719346"/>
            <a:ext cx="1743075" cy="1203279"/>
          </a:xfrm>
          <a:prstGeom prst="bentConnector3">
            <a:avLst>
              <a:gd name="adj1" fmla="val 50000"/>
            </a:avLst>
          </a:prstGeom>
          <a:noFill/>
          <a:ln w="22225">
            <a:solidFill>
              <a:srgbClr val="66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AutoShape 81"/>
          <p:cNvCxnSpPr>
            <a:cxnSpLocks noChangeShapeType="1"/>
            <a:stCxn id="6" idx="3"/>
            <a:endCxn id="10" idx="1"/>
          </p:cNvCxnSpPr>
          <p:nvPr/>
        </p:nvCxnSpPr>
        <p:spPr bwMode="auto">
          <a:xfrm flipV="1">
            <a:off x="7332663" y="1895476"/>
            <a:ext cx="566737" cy="2961"/>
          </a:xfrm>
          <a:prstGeom prst="straightConnector1">
            <a:avLst/>
          </a:prstGeom>
          <a:noFill/>
          <a:ln w="22225">
            <a:solidFill>
              <a:srgbClr val="66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AutoShape 82"/>
          <p:cNvCxnSpPr>
            <a:cxnSpLocks noChangeShapeType="1"/>
          </p:cNvCxnSpPr>
          <p:nvPr/>
        </p:nvCxnSpPr>
        <p:spPr bwMode="auto">
          <a:xfrm>
            <a:off x="7346950" y="3059113"/>
            <a:ext cx="552450" cy="0"/>
          </a:xfrm>
          <a:prstGeom prst="straightConnector1">
            <a:avLst/>
          </a:prstGeom>
          <a:noFill/>
          <a:ln w="22225">
            <a:solidFill>
              <a:srgbClr val="66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AutoShape 83"/>
          <p:cNvCxnSpPr>
            <a:cxnSpLocks noChangeShapeType="1"/>
          </p:cNvCxnSpPr>
          <p:nvPr/>
        </p:nvCxnSpPr>
        <p:spPr bwMode="auto">
          <a:xfrm>
            <a:off x="7346950" y="5003800"/>
            <a:ext cx="552450" cy="0"/>
          </a:xfrm>
          <a:prstGeom prst="straightConnector1">
            <a:avLst/>
          </a:prstGeom>
          <a:noFill/>
          <a:ln w="22225">
            <a:solidFill>
              <a:srgbClr val="66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84"/>
          <p:cNvCxnSpPr>
            <a:cxnSpLocks noChangeShapeType="1"/>
          </p:cNvCxnSpPr>
          <p:nvPr/>
        </p:nvCxnSpPr>
        <p:spPr bwMode="auto">
          <a:xfrm>
            <a:off x="7346950" y="6516688"/>
            <a:ext cx="552450" cy="0"/>
          </a:xfrm>
          <a:prstGeom prst="straightConnector1">
            <a:avLst/>
          </a:prstGeom>
          <a:noFill/>
          <a:ln w="22225">
            <a:solidFill>
              <a:srgbClr val="66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85"/>
          <p:cNvCxnSpPr>
            <a:cxnSpLocks noChangeShapeType="1"/>
          </p:cNvCxnSpPr>
          <p:nvPr/>
        </p:nvCxnSpPr>
        <p:spPr bwMode="auto">
          <a:xfrm>
            <a:off x="7346950" y="3995738"/>
            <a:ext cx="552450" cy="0"/>
          </a:xfrm>
          <a:prstGeom prst="straightConnector1">
            <a:avLst/>
          </a:prstGeom>
          <a:noFill/>
          <a:ln w="22225">
            <a:solidFill>
              <a:srgbClr val="66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4594225" y="5483225"/>
            <a:ext cx="2752725" cy="415498"/>
          </a:xfrm>
          <a:prstGeom prst="rect">
            <a:avLst/>
          </a:prstGeom>
          <a:solidFill>
            <a:schemeClr val="bg1"/>
          </a:solidFill>
          <a:ln w="28575">
            <a:solidFill>
              <a:srgbClr val="00CC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algn="ctr" eaLnBrk="1" hangingPunct="1">
              <a:lnSpc>
                <a:spcPct val="105000"/>
              </a:lnSpc>
              <a:spcBef>
                <a:spcPct val="50000"/>
              </a:spcBef>
              <a:spcAft>
                <a:spcPct val="10000"/>
              </a:spcAft>
            </a:pPr>
            <a:r>
              <a:rPr lang="zh-TW" altLang="en-US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提貨管理</a:t>
            </a:r>
          </a:p>
        </p:txBody>
      </p:sp>
      <p:cxnSp>
        <p:nvCxnSpPr>
          <p:cNvPr id="27" name="AutoShape 69"/>
          <p:cNvCxnSpPr>
            <a:cxnSpLocks noChangeShapeType="1"/>
            <a:stCxn id="26" idx="1"/>
            <a:endCxn id="9" idx="3"/>
          </p:cNvCxnSpPr>
          <p:nvPr/>
        </p:nvCxnSpPr>
        <p:spPr bwMode="auto">
          <a:xfrm rot="10800000">
            <a:off x="2836863" y="3719346"/>
            <a:ext cx="1757362" cy="1971629"/>
          </a:xfrm>
          <a:prstGeom prst="bentConnector3">
            <a:avLst>
              <a:gd name="adj1" fmla="val 50000"/>
            </a:avLst>
          </a:prstGeom>
          <a:noFill/>
          <a:ln w="22225">
            <a:solidFill>
              <a:srgbClr val="66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84"/>
          <p:cNvCxnSpPr>
            <a:cxnSpLocks noChangeShapeType="1"/>
          </p:cNvCxnSpPr>
          <p:nvPr/>
        </p:nvCxnSpPr>
        <p:spPr bwMode="auto">
          <a:xfrm>
            <a:off x="7370763" y="5722938"/>
            <a:ext cx="552450" cy="0"/>
          </a:xfrm>
          <a:prstGeom prst="straightConnector1">
            <a:avLst/>
          </a:prstGeom>
          <a:noFill/>
          <a:ln w="22225">
            <a:solidFill>
              <a:srgbClr val="66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" name="Text Box 49"/>
          <p:cNvSpPr txBox="1">
            <a:spLocks noChangeArrowheads="1"/>
          </p:cNvSpPr>
          <p:nvPr/>
        </p:nvSpPr>
        <p:spPr bwMode="auto">
          <a:xfrm>
            <a:off x="7942263" y="5529263"/>
            <a:ext cx="235743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zh-TW" altLang="en-US" sz="1600">
                <a:solidFill>
                  <a:srgbClr val="002060"/>
                </a:solidFill>
                <a:latin typeface="台塑體" pitchFamily="2" charset="-120"/>
                <a:ea typeface="台塑體" pitchFamily="2" charset="-120"/>
                <a:cs typeface="台塑體" pitchFamily="2" charset="-120"/>
              </a:rPr>
              <a:t>資材提貨許可單</a:t>
            </a:r>
          </a:p>
        </p:txBody>
      </p:sp>
    </p:spTree>
    <p:extLst>
      <p:ext uri="{BB962C8B-B14F-4D97-AF65-F5344CB8AC3E}">
        <p14:creationId xmlns:p14="http://schemas.microsoft.com/office/powerpoint/2010/main" val="222748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27</a:t>
            </a:fld>
            <a:endParaRPr lang="zh-TW" altLang="en-US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8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採購作業重要表單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28750" y="1748135"/>
            <a:ext cx="6096000" cy="172970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․採購作業與請購部門相關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之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重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要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表單有：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 ․採購會簽附圖案件洽辦單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 ․採購呈核表</a:t>
            </a:r>
          </a:p>
        </p:txBody>
      </p:sp>
    </p:spTree>
    <p:extLst>
      <p:ext uri="{BB962C8B-B14F-4D97-AF65-F5344CB8AC3E}">
        <p14:creationId xmlns:p14="http://schemas.microsoft.com/office/powerpoint/2010/main" val="567167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28</a:t>
            </a:fld>
            <a:endParaRPr lang="zh-TW" altLang="en-US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8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採購作業重要表單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85850" y="1644943"/>
            <a:ext cx="10077450" cy="31362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․採購會簽附圖案件洽辦單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 ․使用時機：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   採購案件開標後，倘廠商以代用品報價、或設備規格複雜需依請購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規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範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內容逐項分析評估等原因，採購經辦可透過此OA表單會簽請購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部門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確認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，經請購部門評估適合之規格或廠商後，再回覆採購部進一步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與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廠商洽議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或加詢其他廠商。</a:t>
            </a:r>
          </a:p>
        </p:txBody>
      </p:sp>
    </p:spTree>
    <p:extLst>
      <p:ext uri="{BB962C8B-B14F-4D97-AF65-F5344CB8AC3E}">
        <p14:creationId xmlns:p14="http://schemas.microsoft.com/office/powerpoint/2010/main" val="4081587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29</a:t>
            </a:fld>
            <a:endParaRPr lang="zh-TW" altLang="en-US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8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採購作業重要表單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20388" y="1343025"/>
            <a:ext cx="8752349" cy="544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639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30</a:t>
            </a:fld>
            <a:endParaRPr lang="zh-TW" altLang="en-US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8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採購作業重要表單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76325" y="1683043"/>
            <a:ext cx="10115550" cy="20959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․採購呈核表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 ․使用時機：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   採購案件詢議價完成後，倘採購部確認完成擬購之廠商時，即可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列印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</a:t>
            </a: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此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表，後續即檢附此表及相關附件依核決權限辦理送審呈核。</a:t>
            </a:r>
          </a:p>
        </p:txBody>
      </p:sp>
    </p:spTree>
    <p:extLst>
      <p:ext uri="{BB962C8B-B14F-4D97-AF65-F5344CB8AC3E}">
        <p14:creationId xmlns:p14="http://schemas.microsoft.com/office/powerpoint/2010/main" val="1382493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31</a:t>
            </a:fld>
            <a:endParaRPr lang="zh-TW" altLang="en-US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8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採購作業重要表單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01749" y="1325691"/>
            <a:ext cx="8667749" cy="553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356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主要螢幕表單介紹</a:t>
            </a:r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4017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FD713FB5-F1CB-E033-276D-3D3676F3E21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33</a:t>
            </a:fld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63700" y="1308100"/>
            <a:ext cx="8598418" cy="5540944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4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非常備材料請購輸入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7563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FD713FB5-F1CB-E033-276D-3D3676F3E21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34</a:t>
            </a:fld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5821" y="1282700"/>
            <a:ext cx="9720357" cy="5575300"/>
          </a:xfrm>
          <a:prstGeom prst="rect">
            <a:avLst/>
          </a:prstGeom>
        </p:spPr>
      </p:pic>
      <p:sp>
        <p:nvSpPr>
          <p:cNvPr id="4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4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請購單</a:t>
            </a:r>
            <a:r>
              <a:rPr lang="en-US" altLang="zh-TW" sz="24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24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紙本</a:t>
            </a:r>
            <a:r>
              <a:rPr lang="en-US" altLang="zh-TW" sz="24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439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FD713FB5-F1CB-E033-276D-3D3676F3E21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35</a:t>
            </a:fld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59101" y="1346200"/>
            <a:ext cx="6299199" cy="5499100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4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請購單</a:t>
            </a:r>
            <a:r>
              <a:rPr lang="en-US" altLang="zh-TW" sz="24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(OA)-1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948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FD713FB5-F1CB-E033-276D-3D3676F3E21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36</a:t>
            </a:fld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4200" y="1394312"/>
            <a:ext cx="10922000" cy="2018224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4600" y="3587750"/>
            <a:ext cx="7151575" cy="3219450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4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請購單</a:t>
            </a:r>
            <a:r>
              <a:rPr lang="en-US" altLang="zh-TW" sz="24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(OA)-2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663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FD713FB5-F1CB-E033-276D-3D3676F3E21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37</a:t>
            </a:fld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95500" y="1318560"/>
            <a:ext cx="7805132" cy="5539439"/>
          </a:xfrm>
          <a:prstGeom prst="rect">
            <a:avLst/>
          </a:prstGeom>
        </p:spPr>
      </p:pic>
      <p:sp>
        <p:nvSpPr>
          <p:cNvPr id="4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4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詢價單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942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FD713FB5-F1CB-E033-276D-3D3676F3E21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38</a:t>
            </a:fld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76500" y="1325514"/>
            <a:ext cx="8072541" cy="5532486"/>
          </a:xfrm>
          <a:prstGeom prst="rect">
            <a:avLst/>
          </a:prstGeom>
        </p:spPr>
      </p:pic>
      <p:sp>
        <p:nvSpPr>
          <p:cNvPr id="4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4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報價單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8208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FD713FB5-F1CB-E033-276D-3D3676F3E21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39</a:t>
            </a:fld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1352550"/>
            <a:ext cx="10839450" cy="4914900"/>
          </a:xfrm>
          <a:prstGeom prst="rect">
            <a:avLst/>
          </a:prstGeom>
        </p:spPr>
      </p:pic>
      <p:sp>
        <p:nvSpPr>
          <p:cNvPr id="4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4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詢價單明細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406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FD713FB5-F1CB-E033-276D-3D3676F3E21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40</a:t>
            </a:fld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46167" y="1333500"/>
            <a:ext cx="9699665" cy="5524500"/>
          </a:xfrm>
          <a:prstGeom prst="rect">
            <a:avLst/>
          </a:prstGeom>
        </p:spPr>
      </p:pic>
      <p:sp>
        <p:nvSpPr>
          <p:cNvPr id="4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4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比價表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103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FD713FB5-F1CB-E033-276D-3D3676F3E21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41</a:t>
            </a:fld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92300" y="1296068"/>
            <a:ext cx="8411747" cy="5561931"/>
          </a:xfrm>
          <a:prstGeom prst="rect">
            <a:avLst/>
          </a:prstGeom>
        </p:spPr>
      </p:pic>
      <p:sp>
        <p:nvSpPr>
          <p:cNvPr id="4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4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採購廠商報價及異常資料表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797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FD713FB5-F1CB-E033-276D-3D3676F3E21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42</a:t>
            </a:fld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60700" y="1278396"/>
            <a:ext cx="6161526" cy="5579604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4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採購會簽附圖案件洽辦單</a:t>
            </a:r>
            <a:r>
              <a:rPr lang="en-US" altLang="zh-TW" sz="24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1555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FD713FB5-F1CB-E033-276D-3D3676F3E21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43</a:t>
            </a:fld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55900" y="1358900"/>
            <a:ext cx="6934200" cy="3151841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79700" y="4592652"/>
            <a:ext cx="7099300" cy="2265347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4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採購會簽附圖案件洽辦單</a:t>
            </a:r>
            <a:r>
              <a:rPr lang="en-US" altLang="zh-TW" sz="24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46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FD713FB5-F1CB-E033-276D-3D3676F3E21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44</a:t>
            </a:fld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4700" y="1346200"/>
            <a:ext cx="10864850" cy="5511800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4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催報價立案資料查詢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913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FD713FB5-F1CB-E033-276D-3D3676F3E21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45</a:t>
            </a:fld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40000" y="1308100"/>
            <a:ext cx="6856304" cy="5562599"/>
          </a:xfrm>
          <a:prstGeom prst="rect">
            <a:avLst/>
          </a:prstGeom>
        </p:spPr>
      </p:pic>
      <p:sp>
        <p:nvSpPr>
          <p:cNvPr id="4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4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逾期催報價申請單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2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FD713FB5-F1CB-E033-276D-3D3676F3E21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46</a:t>
            </a:fld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85900" y="1308100"/>
            <a:ext cx="9167557" cy="5549900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4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議價函資料輸入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825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FD713FB5-F1CB-E033-276D-3D3676F3E21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47</a:t>
            </a:fld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38400" y="1320800"/>
            <a:ext cx="7350510" cy="5537200"/>
          </a:xfrm>
          <a:prstGeom prst="rect">
            <a:avLst/>
          </a:prstGeom>
        </p:spPr>
      </p:pic>
      <p:sp>
        <p:nvSpPr>
          <p:cNvPr id="4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4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議價函</a:t>
            </a:r>
            <a:r>
              <a:rPr lang="en-US" altLang="zh-TW" sz="24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24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廠商回覆</a:t>
            </a:r>
            <a:r>
              <a:rPr lang="en-US" altLang="zh-TW" sz="24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)-1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39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FD713FB5-F1CB-E033-276D-3D3676F3E21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48</a:t>
            </a:fld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0" y="1333500"/>
            <a:ext cx="10769600" cy="3101917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9899" y="4460817"/>
            <a:ext cx="6172201" cy="2299203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4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議價函</a:t>
            </a:r>
            <a:r>
              <a:rPr lang="en-US" altLang="zh-TW" sz="24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24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廠商回覆</a:t>
            </a:r>
            <a:r>
              <a:rPr lang="en-US" altLang="zh-TW" sz="24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)-2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3713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FD713FB5-F1CB-E033-276D-3D3676F3E21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49</a:t>
            </a:fld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25600" y="1295400"/>
            <a:ext cx="8781436" cy="5562600"/>
          </a:xfrm>
          <a:prstGeom prst="rect">
            <a:avLst/>
          </a:prstGeom>
        </p:spPr>
      </p:pic>
      <p:sp>
        <p:nvSpPr>
          <p:cNvPr id="4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4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議價資料輸入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162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FD713FB5-F1CB-E033-276D-3D3676F3E21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50</a:t>
            </a:fld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3700" y="1371600"/>
            <a:ext cx="11404600" cy="5275118"/>
          </a:xfrm>
          <a:prstGeom prst="rect">
            <a:avLst/>
          </a:prstGeom>
        </p:spPr>
      </p:pic>
      <p:sp>
        <p:nvSpPr>
          <p:cNvPr id="4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4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採購呈核表</a:t>
            </a:r>
            <a:r>
              <a:rPr lang="en-US" altLang="zh-TW" sz="24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637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FD713FB5-F1CB-E033-276D-3D3676F3E21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51</a:t>
            </a:fld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08100" y="1356212"/>
            <a:ext cx="9629910" cy="5409858"/>
          </a:xfrm>
          <a:prstGeom prst="rect">
            <a:avLst/>
          </a:prstGeom>
        </p:spPr>
      </p:pic>
      <p:sp>
        <p:nvSpPr>
          <p:cNvPr id="4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4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採購呈核表</a:t>
            </a:r>
            <a:r>
              <a:rPr lang="en-US" altLang="zh-TW" sz="24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516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FD713FB5-F1CB-E033-276D-3D3676F3E21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52</a:t>
            </a:fld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73199" y="1371600"/>
            <a:ext cx="9169401" cy="1681339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73200" y="3369432"/>
            <a:ext cx="9169401" cy="1383588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73200" y="5069512"/>
            <a:ext cx="9169401" cy="1262261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4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採購呈核表</a:t>
            </a:r>
            <a:r>
              <a:rPr lang="en-US" altLang="zh-TW" sz="24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-3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84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FD713FB5-F1CB-E033-276D-3D3676F3E21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53</a:t>
            </a:fld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" y="1320800"/>
            <a:ext cx="10736262" cy="5484812"/>
          </a:xfrm>
          <a:prstGeom prst="rect">
            <a:avLst/>
          </a:prstGeom>
        </p:spPr>
      </p:pic>
      <p:sp>
        <p:nvSpPr>
          <p:cNvPr id="4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4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訂購資料輸入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3500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FD713FB5-F1CB-E033-276D-3D3676F3E21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54</a:t>
            </a:fld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8000" y="1346200"/>
            <a:ext cx="8636962" cy="5359400"/>
          </a:xfrm>
          <a:prstGeom prst="rect">
            <a:avLst/>
          </a:prstGeom>
        </p:spPr>
      </p:pic>
      <p:sp>
        <p:nvSpPr>
          <p:cNvPr id="4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4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訂購通知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480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>
            <a:extLst>
              <a:ext uri="{FF2B5EF4-FFF2-40B4-BE49-F238E27FC236}">
                <a16:creationId xmlns="" xmlns:a16="http://schemas.microsoft.com/office/drawing/2014/main" id="{FD713FB5-F1CB-E033-276D-3D3676F3E21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55</a:t>
            </a:fld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46199" y="1336054"/>
            <a:ext cx="9401175" cy="5426695"/>
          </a:xfrm>
          <a:prstGeom prst="rect">
            <a:avLst/>
          </a:prstGeom>
        </p:spPr>
      </p:pic>
      <p:sp>
        <p:nvSpPr>
          <p:cNvPr id="4" name="標題 1">
            <a:extLst>
              <a:ext uri="{FF2B5EF4-FFF2-40B4-BE49-F238E27FC236}">
                <a16:creationId xmlns:a16="http://schemas.microsoft.com/office/drawing/2014/main" xmlns="" id="{9A9058CA-B733-54FE-2BAC-C857600D5797}"/>
              </a:ext>
            </a:extLst>
          </p:cNvPr>
          <p:cNvSpPr txBox="1">
            <a:spLocks/>
          </p:cNvSpPr>
          <p:nvPr/>
        </p:nvSpPr>
        <p:spPr>
          <a:xfrm>
            <a:off x="1045467" y="354700"/>
            <a:ext cx="9324031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sz="2400" spc="38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訂購明細</a:t>
            </a:r>
            <a:endParaRPr lang="zh-TW" altLang="en-US" sz="2400" spc="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128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TW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異常管理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稽核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表單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56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8479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57</a:t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07" y="1550227"/>
            <a:ext cx="5676900" cy="1807122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323" y="3552417"/>
            <a:ext cx="6162675" cy="2097762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3134" y="1577523"/>
            <a:ext cx="5514975" cy="4571660"/>
          </a:xfrm>
          <a:prstGeom prst="rect">
            <a:avLst/>
          </a:prstGeom>
        </p:spPr>
      </p:pic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456631" y="424239"/>
            <a:ext cx="8844402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>
              <a:defRPr/>
            </a:pPr>
            <a:r>
              <a:rPr lang="en-US" altLang="zh-TW" sz="2800" dirty="0" smtClean="0"/>
              <a:t>(</a:t>
            </a:r>
            <a:r>
              <a:rPr lang="zh-TW" altLang="en-US" sz="2800" dirty="0" smtClean="0"/>
              <a:t>一</a:t>
            </a:r>
            <a:r>
              <a:rPr lang="en-US" altLang="zh-TW" sz="2800" dirty="0" smtClean="0"/>
              <a:t>)</a:t>
            </a:r>
            <a:r>
              <a:rPr lang="zh-TW" altLang="en-US" sz="2800" dirty="0" smtClean="0"/>
              <a:t>請</a:t>
            </a:r>
            <a:r>
              <a:rPr lang="zh-TW" altLang="en-US" sz="2800" dirty="0"/>
              <a:t>購案件</a:t>
            </a:r>
            <a:r>
              <a:rPr lang="en-US" altLang="zh-TW" sz="2800" dirty="0"/>
              <a:t>(</a:t>
            </a:r>
            <a:r>
              <a:rPr lang="zh-TW" altLang="en-US" sz="2800" dirty="0"/>
              <a:t>非正式料號</a:t>
            </a:r>
            <a:r>
              <a:rPr lang="en-US" altLang="zh-TW" sz="2800" dirty="0"/>
              <a:t>)</a:t>
            </a:r>
            <a:r>
              <a:rPr lang="zh-TW" altLang="en-US" sz="2800" dirty="0"/>
              <a:t>異常通知及改善說明</a:t>
            </a:r>
            <a:endParaRPr lang="zh-TW" altLang="en-US" sz="2800" b="1" dirty="0" smtClean="0">
              <a:latin typeface="+mj-ea"/>
              <a:ea typeface="+mj-ea"/>
            </a:endParaRPr>
          </a:p>
        </p:txBody>
      </p:sp>
      <p:sp>
        <p:nvSpPr>
          <p:cNvPr id="2" name="圓角矩形 1"/>
          <p:cNvSpPr/>
          <p:nvPr/>
        </p:nvSpPr>
        <p:spPr>
          <a:xfrm>
            <a:off x="2771775" y="3552417"/>
            <a:ext cx="3386632" cy="113388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圓角矩形 7"/>
          <p:cNvSpPr/>
          <p:nvPr/>
        </p:nvSpPr>
        <p:spPr>
          <a:xfrm>
            <a:off x="6463133" y="3448366"/>
            <a:ext cx="4004841" cy="107601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0747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58</a:t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0755" y="1337481"/>
            <a:ext cx="5229418" cy="378043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0755" y="5158854"/>
            <a:ext cx="7410450" cy="1699145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073" y="1337481"/>
            <a:ext cx="5819775" cy="2866029"/>
          </a:xfrm>
          <a:prstGeom prst="rect">
            <a:avLst/>
          </a:prstGeom>
        </p:spPr>
      </p:pic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24869" y="369650"/>
            <a:ext cx="8844402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>
              <a:defRPr/>
            </a:pPr>
            <a:r>
              <a:rPr lang="en-US" altLang="zh-TW" sz="2800" dirty="0" smtClean="0"/>
              <a:t>(</a:t>
            </a:r>
            <a:r>
              <a:rPr lang="zh-TW" altLang="en-US" sz="2800" dirty="0" smtClean="0"/>
              <a:t>二</a:t>
            </a:r>
            <a:r>
              <a:rPr lang="en-US" altLang="zh-TW" sz="2800" dirty="0" smtClean="0"/>
              <a:t>)</a:t>
            </a:r>
            <a:r>
              <a:rPr lang="zh-TW" altLang="en-US" sz="2800" dirty="0" smtClean="0"/>
              <a:t>請</a:t>
            </a:r>
            <a:r>
              <a:rPr lang="zh-TW" altLang="en-US" sz="2800" dirty="0"/>
              <a:t>購資料不全通知單</a:t>
            </a:r>
            <a:endParaRPr lang="zh-TW" altLang="en-US" sz="2800" b="1" dirty="0" smtClean="0">
              <a:latin typeface="+mj-ea"/>
              <a:ea typeface="+mj-ea"/>
            </a:endParaRPr>
          </a:p>
        </p:txBody>
      </p:sp>
      <p:sp>
        <p:nvSpPr>
          <p:cNvPr id="7" name="圓角矩形 6"/>
          <p:cNvSpPr/>
          <p:nvPr/>
        </p:nvSpPr>
        <p:spPr>
          <a:xfrm>
            <a:off x="361949" y="3790542"/>
            <a:ext cx="5267325" cy="129580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4813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59</a:t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58" y="1371102"/>
            <a:ext cx="5534025" cy="1495425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74512" y="1310924"/>
            <a:ext cx="4326336" cy="5547075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776" y="3229970"/>
            <a:ext cx="7077605" cy="2351964"/>
          </a:xfrm>
          <a:prstGeom prst="rect">
            <a:avLst/>
          </a:prstGeom>
        </p:spPr>
      </p:pic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564666" y="446431"/>
            <a:ext cx="8844402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>
              <a:defRPr/>
            </a:pPr>
            <a:r>
              <a:rPr lang="en-US" altLang="zh-TW" sz="2800" dirty="0" smtClean="0"/>
              <a:t>(</a:t>
            </a:r>
            <a:r>
              <a:rPr lang="zh-TW" altLang="en-US" sz="2800" dirty="0" smtClean="0"/>
              <a:t>三</a:t>
            </a:r>
            <a:r>
              <a:rPr lang="en-US" altLang="zh-TW" sz="2800" dirty="0" smtClean="0"/>
              <a:t>)</a:t>
            </a:r>
            <a:r>
              <a:rPr lang="zh-TW" altLang="en-US" sz="2800" dirty="0" smtClean="0"/>
              <a:t>緊急採購案件合理性確認單</a:t>
            </a:r>
            <a:endParaRPr lang="zh-TW" altLang="en-US" sz="2800" b="1" dirty="0" smtClean="0">
              <a:latin typeface="+mj-ea"/>
              <a:ea typeface="+mj-ea"/>
            </a:endParaRPr>
          </a:p>
        </p:txBody>
      </p:sp>
      <p:sp>
        <p:nvSpPr>
          <p:cNvPr id="10" name="圓角矩形 9"/>
          <p:cNvSpPr/>
          <p:nvPr/>
        </p:nvSpPr>
        <p:spPr>
          <a:xfrm>
            <a:off x="7522654" y="4866867"/>
            <a:ext cx="4326446" cy="123865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8929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60</a:t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6349" y="1569233"/>
            <a:ext cx="5267325" cy="2666882"/>
          </a:xfrm>
          <a:prstGeom prst="rect">
            <a:avLst/>
          </a:prstGeom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90172" y="424241"/>
            <a:ext cx="9453927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>
              <a:defRPr/>
            </a:pPr>
            <a:r>
              <a:rPr lang="en-US" altLang="zh-TW" sz="2800" dirty="0" smtClean="0"/>
              <a:t>(</a:t>
            </a:r>
            <a:r>
              <a:rPr lang="zh-TW" altLang="en-US" sz="2800" dirty="0" smtClean="0"/>
              <a:t>四</a:t>
            </a:r>
            <a:r>
              <a:rPr lang="en-US" altLang="zh-TW" sz="2800" dirty="0" smtClean="0"/>
              <a:t>)</a:t>
            </a:r>
            <a:r>
              <a:rPr lang="zh-TW" altLang="en-US" sz="2800" dirty="0" smtClean="0"/>
              <a:t>採購案件撤案重開合理性確認單</a:t>
            </a:r>
            <a:r>
              <a:rPr lang="en-US" altLang="zh-TW" sz="2800" dirty="0" smtClean="0"/>
              <a:t>(</a:t>
            </a:r>
            <a:r>
              <a:rPr lang="zh-TW" altLang="en-US" sz="2800" dirty="0" smtClean="0"/>
              <a:t>撤舊案後重開新案</a:t>
            </a:r>
            <a:r>
              <a:rPr lang="en-US" altLang="zh-TW" sz="2800" dirty="0" smtClean="0"/>
              <a:t>)</a:t>
            </a:r>
            <a:endParaRPr lang="zh-TW" altLang="en-US" sz="2800" b="1" dirty="0" smtClean="0">
              <a:latin typeface="+mj-ea"/>
              <a:ea typeface="+mj-ea"/>
            </a:endParaRPr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305" y="4544704"/>
            <a:ext cx="10620375" cy="2198479"/>
          </a:xfrm>
          <a:prstGeom prst="rect">
            <a:avLst/>
          </a:prstGeom>
        </p:spPr>
      </p:pic>
      <p:sp>
        <p:nvSpPr>
          <p:cNvPr id="7" name="圓角矩形 6"/>
          <p:cNvSpPr/>
          <p:nvPr/>
        </p:nvSpPr>
        <p:spPr>
          <a:xfrm>
            <a:off x="3344449" y="2228850"/>
            <a:ext cx="2551526" cy="191452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6094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61</a:t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481708"/>
            <a:ext cx="10591800" cy="4646139"/>
          </a:xfrm>
          <a:prstGeom prst="rect">
            <a:avLst/>
          </a:prstGeom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90173" y="424241"/>
            <a:ext cx="8844402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>
              <a:defRPr/>
            </a:pPr>
            <a:r>
              <a:rPr lang="en-US" altLang="zh-TW" sz="2800" dirty="0" smtClean="0"/>
              <a:t>(</a:t>
            </a:r>
            <a:r>
              <a:rPr lang="zh-TW" altLang="en-US" sz="2800" dirty="0" smtClean="0"/>
              <a:t>四</a:t>
            </a:r>
            <a:r>
              <a:rPr lang="en-US" altLang="zh-TW" sz="2800" dirty="0" smtClean="0"/>
              <a:t>)</a:t>
            </a:r>
            <a:r>
              <a:rPr lang="zh-TW" altLang="en-US" sz="2800" dirty="0" smtClean="0"/>
              <a:t>採購案件撤案重開合理性確認單</a:t>
            </a:r>
            <a:r>
              <a:rPr lang="en-US" altLang="zh-TW" sz="2800" dirty="0"/>
              <a:t>(</a:t>
            </a:r>
            <a:r>
              <a:rPr lang="zh-TW" altLang="en-US" sz="2800" dirty="0"/>
              <a:t>撤舊案後重開新案</a:t>
            </a:r>
            <a:r>
              <a:rPr lang="en-US" altLang="zh-TW" sz="2800" dirty="0"/>
              <a:t>)</a:t>
            </a:r>
            <a:endParaRPr lang="zh-TW" altLang="en-US" sz="2800" b="1" dirty="0">
              <a:latin typeface="+mj-ea"/>
            </a:endParaRPr>
          </a:p>
          <a:p>
            <a:pPr>
              <a:defRPr/>
            </a:pPr>
            <a:endParaRPr lang="zh-TW" altLang="en-US" sz="2800" b="1" dirty="0" smtClean="0">
              <a:latin typeface="+mj-ea"/>
              <a:ea typeface="+mj-ea"/>
            </a:endParaRPr>
          </a:p>
        </p:txBody>
      </p:sp>
      <p:sp>
        <p:nvSpPr>
          <p:cNvPr id="7" name="圓角矩形 6"/>
          <p:cNvSpPr/>
          <p:nvPr/>
        </p:nvSpPr>
        <p:spPr>
          <a:xfrm>
            <a:off x="3476624" y="4666842"/>
            <a:ext cx="5114925" cy="140058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7118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62</a:t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536" y="1477615"/>
            <a:ext cx="5124450" cy="193432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14" y="3732807"/>
            <a:ext cx="10629900" cy="2163028"/>
          </a:xfrm>
          <a:prstGeom prst="rect">
            <a:avLst/>
          </a:prstGeom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490173" y="424241"/>
            <a:ext cx="8844402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>
              <a:defRPr/>
            </a:pPr>
            <a:r>
              <a:rPr lang="en-US" altLang="zh-TW" sz="2800" dirty="0" smtClean="0"/>
              <a:t>(</a:t>
            </a:r>
            <a:r>
              <a:rPr lang="zh-TW" altLang="en-US" sz="2800" dirty="0" smtClean="0"/>
              <a:t>五</a:t>
            </a:r>
            <a:r>
              <a:rPr lang="en-US" altLang="zh-TW" sz="2800" dirty="0" smtClean="0"/>
              <a:t>)</a:t>
            </a:r>
            <a:r>
              <a:rPr lang="zh-TW" altLang="en-US" sz="2800" dirty="0" smtClean="0"/>
              <a:t>採購案件撤案重開合理性確認單</a:t>
            </a:r>
            <a:r>
              <a:rPr lang="en-US" altLang="zh-TW" sz="2800" dirty="0" smtClean="0"/>
              <a:t>(</a:t>
            </a:r>
            <a:r>
              <a:rPr lang="zh-TW" altLang="en-US" sz="2800" dirty="0" smtClean="0"/>
              <a:t>重開新案後撤</a:t>
            </a:r>
            <a:r>
              <a:rPr lang="zh-TW" altLang="en-US" sz="2800" dirty="0"/>
              <a:t>舊</a:t>
            </a:r>
            <a:r>
              <a:rPr lang="zh-TW" altLang="en-US" sz="2800" dirty="0" smtClean="0"/>
              <a:t>案</a:t>
            </a:r>
            <a:r>
              <a:rPr lang="en-US" altLang="zh-TW" sz="2800" dirty="0" smtClean="0"/>
              <a:t>)</a:t>
            </a:r>
            <a:endParaRPr lang="zh-TW" altLang="en-US" sz="2800" b="1" dirty="0" smtClean="0">
              <a:latin typeface="+mj-ea"/>
              <a:ea typeface="+mj-ea"/>
            </a:endParaRPr>
          </a:p>
        </p:txBody>
      </p:sp>
      <p:sp>
        <p:nvSpPr>
          <p:cNvPr id="8" name="圓角矩形 7"/>
          <p:cNvSpPr/>
          <p:nvPr/>
        </p:nvSpPr>
        <p:spPr>
          <a:xfrm>
            <a:off x="3465536" y="2181226"/>
            <a:ext cx="2551526" cy="11049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0627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63</a:t>
            </a:fld>
            <a:endParaRPr lang="zh-TW" altLang="en-US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90173" y="424241"/>
            <a:ext cx="8844402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>
              <a:defRPr/>
            </a:pPr>
            <a:r>
              <a:rPr lang="en-US" altLang="zh-TW" sz="2800" dirty="0" smtClean="0"/>
              <a:t>(</a:t>
            </a:r>
            <a:r>
              <a:rPr lang="zh-TW" altLang="en-US" sz="2800" dirty="0" smtClean="0"/>
              <a:t>五</a:t>
            </a:r>
            <a:r>
              <a:rPr lang="en-US" altLang="zh-TW" sz="2800" dirty="0" smtClean="0"/>
              <a:t>)</a:t>
            </a:r>
            <a:r>
              <a:rPr lang="zh-TW" altLang="en-US" sz="2800" dirty="0" smtClean="0"/>
              <a:t>採購案件撤案重開合理性確認單</a:t>
            </a:r>
            <a:r>
              <a:rPr lang="en-US" altLang="zh-TW" sz="2800" dirty="0" smtClean="0"/>
              <a:t>(</a:t>
            </a:r>
            <a:r>
              <a:rPr lang="zh-TW" altLang="en-US" sz="2800" dirty="0" smtClean="0"/>
              <a:t>重開新案後撤案</a:t>
            </a:r>
            <a:r>
              <a:rPr lang="en-US" altLang="zh-TW" sz="2800" dirty="0" smtClean="0"/>
              <a:t>)</a:t>
            </a:r>
            <a:endParaRPr lang="zh-TW" altLang="en-US" sz="2800" b="1" dirty="0" smtClean="0">
              <a:latin typeface="+mj-ea"/>
              <a:ea typeface="+mj-ea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386173"/>
            <a:ext cx="10496550" cy="4728024"/>
          </a:xfrm>
          <a:prstGeom prst="rect">
            <a:avLst/>
          </a:prstGeom>
        </p:spPr>
      </p:pic>
      <p:sp>
        <p:nvSpPr>
          <p:cNvPr id="7" name="圓角矩形 6"/>
          <p:cNvSpPr/>
          <p:nvPr/>
        </p:nvSpPr>
        <p:spPr>
          <a:xfrm>
            <a:off x="3476624" y="4666842"/>
            <a:ext cx="5114925" cy="140058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4606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64</a:t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031" y="1269242"/>
            <a:ext cx="10848975" cy="5581934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00495" y="460192"/>
            <a:ext cx="52116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六</a:t>
            </a:r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停止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往來供應商比對處理單</a:t>
            </a:r>
          </a:p>
        </p:txBody>
      </p:sp>
      <p:sp>
        <p:nvSpPr>
          <p:cNvPr id="7" name="圓角矩形 6"/>
          <p:cNvSpPr/>
          <p:nvPr/>
        </p:nvSpPr>
        <p:spPr>
          <a:xfrm>
            <a:off x="666750" y="1609318"/>
            <a:ext cx="10906125" cy="55285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097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65</a:t>
            </a:fld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26167" y="460192"/>
            <a:ext cx="3698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提供</a:t>
            </a:r>
            <a:r>
              <a:rPr lang="en-US" altLang="zh-TW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FPCUSA</a:t>
            </a:r>
            <a:r>
              <a:rPr lang="zh-TW" altLang="en-US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改善建議</a:t>
            </a:r>
            <a:endParaRPr lang="zh-TW" altLang="en-US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2189773"/>
            <a:ext cx="6400800" cy="367665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726016" y="1560926"/>
            <a:ext cx="49552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(AS-400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供應商管理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廠商基本資料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942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66</a:t>
            </a:fld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26167" y="460192"/>
            <a:ext cx="36984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提供</a:t>
            </a:r>
            <a:r>
              <a:rPr lang="en-US" altLang="zh-TW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FPCUSA</a:t>
            </a:r>
            <a:r>
              <a:rPr lang="zh-TW" altLang="en-US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改善建議</a:t>
            </a:r>
            <a:endParaRPr lang="zh-TW" altLang="en-US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120763" y="1422869"/>
            <a:ext cx="10165863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2800" b="1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defRPr kumimoji="1" sz="2800" b="1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defRPr kumimoji="1" sz="2800" b="1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defRPr kumimoji="1" sz="2800" b="1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defRPr kumimoji="1" sz="2800" b="1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>
              <a:defRPr/>
            </a:pPr>
            <a:r>
              <a:rPr lang="zh-TW" altLang="en-US" sz="2600" b="0" dirty="0" smtClean="0">
                <a:solidFill>
                  <a:schemeClr val="tx1"/>
                </a:solidFill>
                <a:latin typeface="標楷體" panose="03000509000000000000" pitchFamily="65" charset="-120"/>
              </a:rPr>
              <a:t>為</a:t>
            </a:r>
            <a:r>
              <a:rPr lang="zh-TW" altLang="en-US" sz="2600" b="0" dirty="0">
                <a:solidFill>
                  <a:schemeClr val="tx1"/>
                </a:solidFill>
                <a:latin typeface="標楷體" panose="03000509000000000000" pitchFamily="65" charset="-120"/>
              </a:rPr>
              <a:t>加強查核廠商登記資料之正確性</a:t>
            </a:r>
            <a:r>
              <a:rPr lang="zh-TW" altLang="en-US" sz="2600" b="0" dirty="0" smtClean="0">
                <a:solidFill>
                  <a:schemeClr val="tx1"/>
                </a:solidFill>
                <a:latin typeface="標楷體" panose="03000509000000000000" pitchFamily="65" charset="-120"/>
              </a:rPr>
              <a:t>，避免廠商經</a:t>
            </a:r>
            <a:r>
              <a:rPr lang="zh-TW" altLang="en-US" sz="2600" b="0" dirty="0">
                <a:solidFill>
                  <a:schemeClr val="tx1"/>
                </a:solidFill>
                <a:latin typeface="標楷體" panose="03000509000000000000" pitchFamily="65" charset="-120"/>
              </a:rPr>
              <a:t>本企業</a:t>
            </a:r>
            <a:r>
              <a:rPr lang="zh-TW" altLang="en-US" sz="2600" b="0" dirty="0" smtClean="0">
                <a:solidFill>
                  <a:schemeClr val="tx1"/>
                </a:solidFill>
                <a:latin typeface="標楷體" panose="03000509000000000000" pitchFamily="65" charset="-120"/>
              </a:rPr>
              <a:t>拒絕往來後</a:t>
            </a:r>
            <a:r>
              <a:rPr lang="zh-TW" altLang="en-US" sz="2600" b="0" dirty="0">
                <a:solidFill>
                  <a:schemeClr val="tx1"/>
                </a:solidFill>
                <a:latin typeface="標楷體" panose="03000509000000000000" pitchFamily="65" charset="-120"/>
              </a:rPr>
              <a:t>又</a:t>
            </a:r>
            <a:r>
              <a:rPr lang="zh-TW" altLang="en-US" sz="2600" b="0" dirty="0" smtClean="0">
                <a:solidFill>
                  <a:schemeClr val="tx1"/>
                </a:solidFill>
                <a:latin typeface="標楷體" panose="03000509000000000000" pitchFamily="65" charset="-120"/>
              </a:rPr>
              <a:t>另</a:t>
            </a:r>
            <a:r>
              <a:rPr lang="zh-TW" altLang="en-US" sz="2600" b="0" dirty="0">
                <a:solidFill>
                  <a:schemeClr val="tx1"/>
                </a:solidFill>
                <a:latin typeface="標楷體" panose="03000509000000000000" pitchFamily="65" charset="-120"/>
              </a:rPr>
              <a:t>設公司</a:t>
            </a:r>
            <a:r>
              <a:rPr lang="zh-TW" altLang="en-US" sz="2600" b="0" dirty="0" smtClean="0">
                <a:solidFill>
                  <a:schemeClr val="tx1"/>
                </a:solidFill>
                <a:latin typeface="標楷體" panose="03000509000000000000" pitchFamily="65" charset="-120"/>
              </a:rPr>
              <a:t>登記；或因關聯</a:t>
            </a:r>
            <a:r>
              <a:rPr lang="zh-TW" altLang="en-US" sz="2600" b="0" dirty="0">
                <a:solidFill>
                  <a:schemeClr val="tx1"/>
                </a:solidFill>
                <a:latin typeface="標楷體" panose="03000509000000000000" pitchFamily="65" charset="-120"/>
              </a:rPr>
              <a:t>廠商</a:t>
            </a:r>
            <a:r>
              <a:rPr lang="zh-TW" altLang="en-US" sz="2600" b="0" dirty="0" smtClean="0">
                <a:solidFill>
                  <a:schemeClr val="tx1"/>
                </a:solidFill>
                <a:latin typeface="標楷體" panose="03000509000000000000" pitchFamily="65" charset="-120"/>
              </a:rPr>
              <a:t>圍標報價</a:t>
            </a:r>
            <a:r>
              <a:rPr lang="zh-TW" altLang="en-US" sz="2600" b="0" dirty="0">
                <a:solidFill>
                  <a:schemeClr val="tx1"/>
                </a:solidFill>
                <a:latin typeface="標楷體" panose="03000509000000000000" pitchFamily="65" charset="-120"/>
              </a:rPr>
              <a:t>，影響</a:t>
            </a:r>
            <a:r>
              <a:rPr lang="zh-TW" altLang="en-US" sz="2600" b="0" dirty="0" smtClean="0">
                <a:solidFill>
                  <a:schemeClr val="tx1"/>
                </a:solidFill>
                <a:latin typeface="標楷體" panose="03000509000000000000" pitchFamily="65" charset="-120"/>
              </a:rPr>
              <a:t>企業採購權益。</a:t>
            </a:r>
            <a:endParaRPr lang="en-US" altLang="zh-TW" sz="2600" b="0" dirty="0" smtClean="0">
              <a:solidFill>
                <a:schemeClr val="tx1"/>
              </a:solidFill>
              <a:latin typeface="標楷體" panose="03000509000000000000" pitchFamily="65" charset="-120"/>
            </a:endParaRPr>
          </a:p>
        </p:txBody>
      </p:sp>
      <p:pic>
        <p:nvPicPr>
          <p:cNvPr id="48" name="圖片 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111" y="2969891"/>
            <a:ext cx="4781791" cy="3764612"/>
          </a:xfrm>
          <a:prstGeom prst="rect">
            <a:avLst/>
          </a:prstGeom>
        </p:spPr>
      </p:pic>
      <p:sp>
        <p:nvSpPr>
          <p:cNvPr id="49" name="矩形 48"/>
          <p:cNvSpPr/>
          <p:nvPr/>
        </p:nvSpPr>
        <p:spPr>
          <a:xfrm>
            <a:off x="4801911" y="2460894"/>
            <a:ext cx="28007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企業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ERP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查核作法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5403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</a:t>
            </a:r>
            <a:endParaRPr lang="zh-TW" altLang="en-US" b="1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67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6484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單線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noline" id="{080CB5C6-FA0A-40B0-8C1A-A4BA88D91EE0}" vid="{DC98E595-77B2-413A-A4EA-B47400BD13CB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令人眼睛為之一亮的極簡風銷售宣傳</Template>
  <TotalTime>15558</TotalTime>
  <Words>1677</Words>
  <Application>Microsoft Office PowerPoint</Application>
  <PresentationFormat>寬螢幕</PresentationFormat>
  <Paragraphs>330</Paragraphs>
  <Slides>67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67</vt:i4>
      </vt:variant>
    </vt:vector>
  </HeadingPairs>
  <TitlesOfParts>
    <vt:vector size="78" baseType="lpstr">
      <vt:lpstr>Microsoft JhengHei UI</vt:lpstr>
      <vt:lpstr>Tenorite</vt:lpstr>
      <vt:lpstr>台塑體</vt:lpstr>
      <vt:lpstr>新細明體</vt:lpstr>
      <vt:lpstr>標楷體</vt:lpstr>
      <vt:lpstr>Arial</vt:lpstr>
      <vt:lpstr>Calibri</vt:lpstr>
      <vt:lpstr>Times New Roman</vt:lpstr>
      <vt:lpstr>Wingdings</vt:lpstr>
      <vt:lpstr>單線</vt:lpstr>
      <vt:lpstr>Clip</vt:lpstr>
      <vt:lpstr>ERP資材採購作業(含異常管理)介紹</vt:lpstr>
      <vt:lpstr>資材管理目的及作業關聯</vt:lpstr>
      <vt:lpstr>資材管理目的</vt:lpstr>
      <vt:lpstr>資材管理作業關聯</vt:lpstr>
      <vt:lpstr>請購方式比較及重要規定</vt:lpstr>
      <vt:lpstr>請購方式比較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採購作業流程、管理重點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主要螢幕表單介紹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異常管理(稽核)表單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Q &amp; A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00RKD0/李靜媚</dc:creator>
  <cp:lastModifiedBy>00RKF0/高仲思</cp:lastModifiedBy>
  <cp:revision>3002</cp:revision>
  <cp:lastPrinted>2025-04-24T06:43:45Z</cp:lastPrinted>
  <dcterms:created xsi:type="dcterms:W3CDTF">2025-01-10T07:02:16Z</dcterms:created>
  <dcterms:modified xsi:type="dcterms:W3CDTF">2025-04-24T09:50:25Z</dcterms:modified>
</cp:coreProperties>
</file>