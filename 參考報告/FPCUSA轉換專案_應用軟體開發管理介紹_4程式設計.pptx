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98" r:id="rId1"/>
  </p:sldMasterIdLst>
  <p:notesMasterIdLst>
    <p:notesMasterId r:id="rId33"/>
  </p:notesMasterIdLst>
  <p:handoutMasterIdLst>
    <p:handoutMasterId r:id="rId34"/>
  </p:handoutMasterIdLst>
  <p:sldIdLst>
    <p:sldId id="504" r:id="rId2"/>
    <p:sldId id="615" r:id="rId3"/>
    <p:sldId id="528" r:id="rId4"/>
    <p:sldId id="506" r:id="rId5"/>
    <p:sldId id="455" r:id="rId6"/>
    <p:sldId id="456" r:id="rId7"/>
    <p:sldId id="464" r:id="rId8"/>
    <p:sldId id="529" r:id="rId9"/>
    <p:sldId id="461" r:id="rId10"/>
    <p:sldId id="459" r:id="rId11"/>
    <p:sldId id="508" r:id="rId12"/>
    <p:sldId id="466" r:id="rId13"/>
    <p:sldId id="458" r:id="rId14"/>
    <p:sldId id="467" r:id="rId15"/>
    <p:sldId id="548" r:id="rId16"/>
    <p:sldId id="617" r:id="rId17"/>
    <p:sldId id="470" r:id="rId18"/>
    <p:sldId id="612" r:id="rId19"/>
    <p:sldId id="626" r:id="rId20"/>
    <p:sldId id="519" r:id="rId21"/>
    <p:sldId id="465" r:id="rId22"/>
    <p:sldId id="618" r:id="rId23"/>
    <p:sldId id="619" r:id="rId24"/>
    <p:sldId id="620" r:id="rId25"/>
    <p:sldId id="621" r:id="rId26"/>
    <p:sldId id="627" r:id="rId27"/>
    <p:sldId id="622" r:id="rId28"/>
    <p:sldId id="623" r:id="rId29"/>
    <p:sldId id="624" r:id="rId30"/>
    <p:sldId id="625" r:id="rId31"/>
    <p:sldId id="616" r:id="rId32"/>
  </p:sldIdLst>
  <p:sldSz cx="12192000" cy="6858000"/>
  <p:notesSz cx="7099300" cy="10234613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FFEFEF"/>
    <a:srgbClr val="FFEBEB"/>
    <a:srgbClr val="FFE5E5"/>
    <a:srgbClr val="FF7D7D"/>
    <a:srgbClr val="ECA890"/>
    <a:srgbClr val="FFCCCC"/>
    <a:srgbClr val="0000FF"/>
    <a:srgbClr val="00FF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855" autoAdjust="0"/>
    <p:restoredTop sz="93834" autoAdjust="0"/>
  </p:normalViewPr>
  <p:slideViewPr>
    <p:cSldViewPr snapToGrid="0">
      <p:cViewPr varScale="1">
        <p:scale>
          <a:sx n="83" d="100"/>
          <a:sy n="83" d="100"/>
        </p:scale>
        <p:origin x="3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35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4021296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r">
              <a:defRPr sz="1300"/>
            </a:lvl1pPr>
          </a:lstStyle>
          <a:p>
            <a:fld id="{CD7244E6-A45F-460D-B8BE-008BF35B8B56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4021296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r">
              <a:defRPr sz="1300"/>
            </a:lvl1pPr>
          </a:lstStyle>
          <a:p>
            <a:fld id="{47D59402-F725-4F0C-997F-82DBBA4FFC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9855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6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r">
              <a:defRPr sz="1300"/>
            </a:lvl1pPr>
          </a:lstStyle>
          <a:p>
            <a:fld id="{FFB4414E-9775-444A-BBDC-C9A7AB718EBA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5" tIns="49517" rIns="99035" bIns="49517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1" y="4925407"/>
            <a:ext cx="5679440" cy="4029879"/>
          </a:xfrm>
          <a:prstGeom prst="rect">
            <a:avLst/>
          </a:prstGeom>
        </p:spPr>
        <p:txBody>
          <a:bodyPr vert="horz" lIns="99035" tIns="49517" rIns="99035" bIns="49517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6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r">
              <a:defRPr sz="1300"/>
            </a:lvl1pPr>
          </a:lstStyle>
          <a:p>
            <a:fld id="{9A9FE17B-0309-43F4-A166-43322B09A8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3024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形 6">
            <a:extLst>
              <a:ext uri="{FF2B5EF4-FFF2-40B4-BE49-F238E27FC236}">
                <a16:creationId xmlns:a16="http://schemas.microsoft.com/office/drawing/2014/main" xmlns="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" y="0"/>
            <a:ext cx="5581651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368" y="1999072"/>
            <a:ext cx="7213773" cy="2344128"/>
          </a:xfrm>
        </p:spPr>
        <p:txBody>
          <a:bodyPr rtlCol="0" anchor="t">
            <a:normAutofit/>
          </a:bodyPr>
          <a:lstStyle>
            <a:lvl1pPr>
              <a:defRPr lang="en-US" sz="33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xmlns="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版面配置區 15">
            <a:extLst>
              <a:ext uri="{FF2B5EF4-FFF2-40B4-BE49-F238E27FC236}">
                <a16:creationId xmlns:a16="http://schemas.microsoft.com/office/drawing/2014/main" xmlns="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0595" y="4548557"/>
            <a:ext cx="5433204" cy="557949"/>
          </a:xfrm>
        </p:spPr>
        <p:txBody>
          <a:bodyPr rtlCol="0">
            <a:noAutofit/>
          </a:bodyPr>
          <a:lstStyle>
            <a:lvl1pPr marL="0" indent="0" algn="r">
              <a:buNone/>
              <a:defRPr lang="en-US" sz="24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2" name="文字版面配置區 18">
            <a:extLst>
              <a:ext uri="{FF2B5EF4-FFF2-40B4-BE49-F238E27FC236}">
                <a16:creationId xmlns:a16="http://schemas.microsoft.com/office/drawing/2014/main" xmlns="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0169" y="5070800"/>
            <a:ext cx="5431971" cy="557950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6F23D57C-71E3-D301-678A-AF122B3AE575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2E2F1B79-217A-1201-EB4E-E0DE79F6A1C2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zh-TW" altLang="en-US" noProof="0"/>
              <a:t>募資簡報</a:t>
            </a:r>
          </a:p>
        </p:txBody>
      </p:sp>
      <p:pic>
        <p:nvPicPr>
          <p:cNvPr id="6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9262" y="359491"/>
            <a:ext cx="2523960" cy="14391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4873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形 9">
            <a:extLst>
              <a:ext uri="{FF2B5EF4-FFF2-40B4-BE49-F238E27FC236}">
                <a16:creationId xmlns:a16="http://schemas.microsoft.com/office/drawing/2014/main" xmlns="" id="{B78E600B-75F0-914B-6801-EF32B73C9A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7"/>
            <a:ext cx="12192000" cy="130458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2195" y="1449693"/>
            <a:ext cx="10309144" cy="4851468"/>
          </a:xfrm>
        </p:spPr>
        <p:txBody>
          <a:bodyPr rtlCol="0">
            <a:normAutofit/>
          </a:bodyPr>
          <a:lstStyle>
            <a:lvl1pPr marL="265113" indent="-265113">
              <a:lnSpc>
                <a:spcPct val="100000"/>
              </a:lnSpc>
              <a:buFont typeface="Arial" panose="020B0604020202020204" pitchFamily="34" charset="0"/>
              <a:buChar char="•"/>
              <a:defRPr sz="28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539750" indent="-198438">
              <a:lnSpc>
                <a:spcPct val="100000"/>
              </a:lnSpc>
              <a:buFont typeface="Arial" panose="020B0604020202020204" pitchFamily="34" charset="0"/>
              <a:buChar char="•"/>
              <a:defRPr sz="24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685783" indent="0">
              <a:lnSpc>
                <a:spcPct val="100000"/>
              </a:lnSpc>
              <a:buNone/>
              <a:defRPr sz="20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028675" indent="0">
              <a:lnSpc>
                <a:spcPct val="100000"/>
              </a:lnSpc>
              <a:buNone/>
              <a:defRPr sz="135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1371566" indent="0">
              <a:lnSpc>
                <a:spcPct val="100000"/>
              </a:lnSpc>
              <a:buNone/>
              <a:defRPr sz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cxnSp>
        <p:nvCxnSpPr>
          <p:cNvPr id="16" name="直線接點​​(S) 15">
            <a:extLst>
              <a:ext uri="{FF2B5EF4-FFF2-40B4-BE49-F238E27FC236}">
                <a16:creationId xmlns:a16="http://schemas.microsoft.com/office/drawing/2014/main" xmlns="" id="{463D7850-C2A6-43CE-BBE4-8E81A0A593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1" y="0"/>
            <a:ext cx="1238251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​​(S) 19">
            <a:extLst>
              <a:ext uri="{FF2B5EF4-FFF2-40B4-BE49-F238E27FC236}">
                <a16:creationId xmlns:a16="http://schemas.microsoft.com/office/drawing/2014/main" xmlns="" id="{EBAD3E03-2E3B-440C-9105-6F9D33006D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箭號: 五邊形 13">
            <a:extLst>
              <a:ext uri="{FF2B5EF4-FFF2-40B4-BE49-F238E27FC236}">
                <a16:creationId xmlns:a16="http://schemas.microsoft.com/office/drawing/2014/main" xmlns="" id="{3FC410D8-08EC-6B6C-CF9E-49566E7B2403}"/>
              </a:ext>
            </a:extLst>
          </p:cNvPr>
          <p:cNvSpPr/>
          <p:nvPr userDrawn="1"/>
        </p:nvSpPr>
        <p:spPr>
          <a:xfrm rot="10800000">
            <a:off x="11817670" y="1052902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投影片編號版面配置區 4">
            <a:extLst>
              <a:ext uri="{FF2B5EF4-FFF2-40B4-BE49-F238E27FC236}">
                <a16:creationId xmlns:a16="http://schemas.microsoft.com/office/drawing/2014/main" xmlns="" id="{21222846-DFB3-5578-082A-603B19D1EB9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43853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箭號: 五邊形 13">
            <a:extLst>
              <a:ext uri="{FF2B5EF4-FFF2-40B4-BE49-F238E27FC236}">
                <a16:creationId xmlns:a16="http://schemas.microsoft.com/office/drawing/2014/main" xmlns="" id="{3FC410D8-08EC-6B6C-CF9E-49566E7B2403}"/>
              </a:ext>
            </a:extLst>
          </p:cNvPr>
          <p:cNvSpPr/>
          <p:nvPr userDrawn="1"/>
        </p:nvSpPr>
        <p:spPr>
          <a:xfrm rot="10800000">
            <a:off x="11817670" y="1052902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形 9">
            <a:extLst>
              <a:ext uri="{FF2B5EF4-FFF2-40B4-BE49-F238E27FC236}">
                <a16:creationId xmlns:a16="http://schemas.microsoft.com/office/drawing/2014/main" xmlns="" id="{B78E600B-75F0-914B-6801-EF32B73C9A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7"/>
            <a:ext cx="12192000" cy="1304587"/>
          </a:xfrm>
          <a:prstGeom prst="rect">
            <a:avLst/>
          </a:prstGeom>
        </p:spPr>
      </p:pic>
      <p:cxnSp>
        <p:nvCxnSpPr>
          <p:cNvPr id="16" name="直線接點​​(S) 15">
            <a:extLst>
              <a:ext uri="{FF2B5EF4-FFF2-40B4-BE49-F238E27FC236}">
                <a16:creationId xmlns:a16="http://schemas.microsoft.com/office/drawing/2014/main" xmlns="" id="{463D7850-C2A6-43CE-BBE4-8E81A0A593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1" y="0"/>
            <a:ext cx="1238251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​​(S) 19">
            <a:extLst>
              <a:ext uri="{FF2B5EF4-FFF2-40B4-BE49-F238E27FC236}">
                <a16:creationId xmlns:a16="http://schemas.microsoft.com/office/drawing/2014/main" xmlns="" id="{EBAD3E03-2E3B-440C-9105-6F9D33006D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標題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投影片編號版面配置區 4">
            <a:extLst>
              <a:ext uri="{FF2B5EF4-FFF2-40B4-BE49-F238E27FC236}">
                <a16:creationId xmlns:a16="http://schemas.microsoft.com/office/drawing/2014/main" xmlns="" id="{21222846-DFB3-5578-082A-603B19D1EB9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631205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形 10">
            <a:extLst>
              <a:ext uri="{FF2B5EF4-FFF2-40B4-BE49-F238E27FC236}">
                <a16:creationId xmlns:a16="http://schemas.microsoft.com/office/drawing/2014/main" xmlns="" id="{D600C692-560F-EE93-3168-FE5CBBFD5C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7837716" y="0"/>
            <a:ext cx="4354288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350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21" name="直線接點​​(S) 22">
            <a:extLst>
              <a:ext uri="{FF2B5EF4-FFF2-40B4-BE49-F238E27FC236}">
                <a16:creationId xmlns:a16="http://schemas.microsoft.com/office/drawing/2014/main" xmlns="" id="{BB742DF6-4A43-B5CF-AEDA-4E379B6589E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4599432"/>
            <a:ext cx="1710216" cy="2258568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​​(S) 11">
            <a:extLst>
              <a:ext uri="{FF2B5EF4-FFF2-40B4-BE49-F238E27FC236}">
                <a16:creationId xmlns:a16="http://schemas.microsoft.com/office/drawing/2014/main" xmlns="" id="{EB864DD1-893C-9A69-1317-8403F03DC838}"/>
              </a:ext>
            </a:extLst>
          </p:cNvPr>
          <p:cNvCxnSpPr>
            <a:cxnSpLocks/>
          </p:cNvCxnSpPr>
          <p:nvPr userDrawn="1"/>
        </p:nvCxnSpPr>
        <p:spPr>
          <a:xfrm>
            <a:off x="0" y="5895413"/>
            <a:ext cx="12192003" cy="64350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2B99E9-A78D-ABE6-EB34-A1AEF2CA3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12" name="箭號: 五邊形 11">
            <a:extLst>
              <a:ext uri="{FF2B5EF4-FFF2-40B4-BE49-F238E27FC236}">
                <a16:creationId xmlns:a16="http://schemas.microsoft.com/office/drawing/2014/main" xmlns="" id="{A75AFB73-C2A6-6EB5-4195-7721E9AE2A30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投影片編號版面配置區 4">
            <a:extLst>
              <a:ext uri="{FF2B5EF4-FFF2-40B4-BE49-F238E27FC236}">
                <a16:creationId xmlns:a16="http://schemas.microsoft.com/office/drawing/2014/main" xmlns="" id="{6A8EBA31-886C-3E7F-9861-255D8A4535C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xmlns="" id="{0508D6D0-1AAC-252D-A6B0-59F6E9994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2195" y="1310793"/>
            <a:ext cx="10309144" cy="4851468"/>
          </a:xfrm>
        </p:spPr>
        <p:txBody>
          <a:bodyPr rtlCol="0">
            <a:normAutofit/>
          </a:bodyPr>
          <a:lstStyle>
            <a:lvl1pPr marL="265113" indent="-265113">
              <a:lnSpc>
                <a:spcPct val="100000"/>
              </a:lnSpc>
              <a:buFont typeface="Arial" panose="020B0604020202020204" pitchFamily="34" charset="0"/>
              <a:buChar char="•"/>
              <a:defRPr sz="28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539750" indent="-198438">
              <a:lnSpc>
                <a:spcPct val="100000"/>
              </a:lnSpc>
              <a:buFont typeface="Arial" panose="020B0604020202020204" pitchFamily="34" charset="0"/>
              <a:buChar char="•"/>
              <a:defRPr sz="24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685783" indent="0">
              <a:lnSpc>
                <a:spcPct val="100000"/>
              </a:lnSpc>
              <a:buNone/>
              <a:defRPr sz="20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028675" indent="0">
              <a:lnSpc>
                <a:spcPct val="100000"/>
              </a:lnSpc>
              <a:buNone/>
              <a:defRPr sz="135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1371566" indent="0">
              <a:lnSpc>
                <a:spcPct val="100000"/>
              </a:lnSpc>
              <a:buNone/>
              <a:defRPr sz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165607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形 10">
            <a:extLst>
              <a:ext uri="{FF2B5EF4-FFF2-40B4-BE49-F238E27FC236}">
                <a16:creationId xmlns:a16="http://schemas.microsoft.com/office/drawing/2014/main" xmlns="" id="{D600C692-560F-EE93-3168-FE5CBBFD5C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7832944" y="-6479"/>
            <a:ext cx="4354288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350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404588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pic>
        <p:nvPicPr>
          <p:cNvPr id="16" name="圖形 10">
            <a:extLst>
              <a:ext uri="{FF2B5EF4-FFF2-40B4-BE49-F238E27FC236}">
                <a16:creationId xmlns:a16="http://schemas.microsoft.com/office/drawing/2014/main" xmlns="" id="{B38B0D13-BD5F-460B-B337-F4A9342026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70137" y="1638302"/>
            <a:ext cx="4320000" cy="2235356"/>
          </a:xfrm>
          <a:prstGeom prst="rect">
            <a:avLst/>
          </a:prstGeom>
        </p:spPr>
      </p:pic>
      <p:pic>
        <p:nvPicPr>
          <p:cNvPr id="17" name="圖形 12">
            <a:extLst>
              <a:ext uri="{FF2B5EF4-FFF2-40B4-BE49-F238E27FC236}">
                <a16:creationId xmlns:a16="http://schemas.microsoft.com/office/drawing/2014/main" xmlns="" id="{BE72876B-D3DA-4462-9E24-3354D8D02A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594493" y="4023138"/>
            <a:ext cx="4320000" cy="2201994"/>
          </a:xfrm>
          <a:prstGeom prst="rect">
            <a:avLst/>
          </a:prstGeom>
        </p:spPr>
      </p:pic>
      <p:pic>
        <p:nvPicPr>
          <p:cNvPr id="18" name="圖形 14">
            <a:extLst>
              <a:ext uri="{FF2B5EF4-FFF2-40B4-BE49-F238E27FC236}">
                <a16:creationId xmlns:a16="http://schemas.microsoft.com/office/drawing/2014/main" xmlns="" id="{14A539B6-6E3F-41BA-ACE2-76E8BB6516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450600" y="1914668"/>
            <a:ext cx="4320000" cy="2328378"/>
          </a:xfrm>
          <a:prstGeom prst="rect">
            <a:avLst/>
          </a:prstGeom>
        </p:spPr>
      </p:pic>
      <p:sp>
        <p:nvSpPr>
          <p:cNvPr id="19" name="文字版面配置區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165" y="2354501"/>
            <a:ext cx="4031945" cy="1013156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28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 dirty="0"/>
              <a:t>按一下以新增副標題</a:t>
            </a:r>
          </a:p>
        </p:txBody>
      </p:sp>
      <p:sp>
        <p:nvSpPr>
          <p:cNvPr id="20" name="文字版面配置區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48098" y="2734647"/>
            <a:ext cx="4031945" cy="1013156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28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3" name="文字版面配置區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4384" y="4625936"/>
            <a:ext cx="4031945" cy="1013156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28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pic>
        <p:nvPicPr>
          <p:cNvPr id="12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箭號: 五邊形 8">
            <a:extLst>
              <a:ext uri="{FF2B5EF4-FFF2-40B4-BE49-F238E27FC236}">
                <a16:creationId xmlns:a16="http://schemas.microsoft.com/office/drawing/2014/main" xmlns="" id="{14EC25D0-5BFF-566A-4303-54297340FDBC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投影片編號版面配置區 4">
            <a:extLst>
              <a:ext uri="{FF2B5EF4-FFF2-40B4-BE49-F238E27FC236}">
                <a16:creationId xmlns:a16="http://schemas.microsoft.com/office/drawing/2014/main" xmlns="" id="{57E60439-B1D7-7CF0-6AA9-3177BE19ABF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30337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形 6">
            <a:extLst>
              <a:ext uri="{FF2B5EF4-FFF2-40B4-BE49-F238E27FC236}">
                <a16:creationId xmlns:a16="http://schemas.microsoft.com/office/drawing/2014/main" xmlns="" id="{AEE644D4-F9A4-4237-BD5C-4B97ABA933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16200000" flipH="1">
            <a:off x="4141694" y="-4141694"/>
            <a:ext cx="3908612" cy="12192000"/>
          </a:xfrm>
          <a:prstGeom prst="rect">
            <a:avLst/>
          </a:prstGeom>
        </p:spPr>
      </p:pic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xmlns="" id="{BDAC7E4E-FE06-4E90-8107-6B543E5515ED}"/>
              </a:ext>
            </a:extLst>
          </p:cNvPr>
          <p:cNvCxnSpPr>
            <a:cxnSpLocks/>
          </p:cNvCxnSpPr>
          <p:nvPr/>
        </p:nvCxnSpPr>
        <p:spPr>
          <a:xfrm flipV="1">
            <a:off x="0" y="2133600"/>
            <a:ext cx="12192000" cy="900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標題 1">
            <a:extLst>
              <a:ext uri="{FF2B5EF4-FFF2-40B4-BE49-F238E27FC236}">
                <a16:creationId xmlns:a16="http://schemas.microsoft.com/office/drawing/2014/main" xmlns="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9072"/>
            <a:ext cx="10515600" cy="2344128"/>
          </a:xfrm>
        </p:spPr>
        <p:txBody>
          <a:bodyPr rtlCol="0" anchor="t">
            <a:normAutofit/>
          </a:bodyPr>
          <a:lstStyle>
            <a:lvl1pPr>
              <a:defRPr lang="en-US" sz="33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箭號: 五邊形 16">
            <a:extLst>
              <a:ext uri="{FF2B5EF4-FFF2-40B4-BE49-F238E27FC236}">
                <a16:creationId xmlns:a16="http://schemas.microsoft.com/office/drawing/2014/main" xmlns="" id="{A977A8B1-C07C-5122-EB38-7788F1D1490C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投影片編號版面配置區 4">
            <a:extLst>
              <a:ext uri="{FF2B5EF4-FFF2-40B4-BE49-F238E27FC236}">
                <a16:creationId xmlns:a16="http://schemas.microsoft.com/office/drawing/2014/main" xmlns="" id="{D9C28D85-AAD2-B541-7D4B-0FC069C5C7A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01232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時間表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7D46070C-E825-43D0-99F4-8B4614131131}"/>
              </a:ext>
            </a:extLst>
          </p:cNvPr>
          <p:cNvSpPr/>
          <p:nvPr userDrawn="1"/>
        </p:nvSpPr>
        <p:spPr>
          <a:xfrm>
            <a:off x="3" y="2257583"/>
            <a:ext cx="12191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sz="1350" noProof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FFA35437-CCDE-4D92-B879-F23B329C8EC3}"/>
              </a:ext>
            </a:extLst>
          </p:cNvPr>
          <p:cNvSpPr/>
          <p:nvPr userDrawn="1"/>
        </p:nvSpPr>
        <p:spPr>
          <a:xfrm>
            <a:off x="929640" y="3691886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ZA" sz="1350" noProof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4" name="標題 1">
            <a:extLst>
              <a:ext uri="{FF2B5EF4-FFF2-40B4-BE49-F238E27FC236}">
                <a16:creationId xmlns:a16="http://schemas.microsoft.com/office/drawing/2014/main" xmlns="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3035300"/>
            <a:ext cx="10332720" cy="1142800"/>
          </a:xfrm>
        </p:spPr>
        <p:txBody>
          <a:bodyPr rtlCol="0" anchor="t">
            <a:normAutofit/>
          </a:bodyPr>
          <a:lstStyle>
            <a:lvl1pPr algn="ctr">
              <a:defRPr lang="en-US" sz="36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cxnSp>
        <p:nvCxnSpPr>
          <p:cNvPr id="39" name="直線接點​​(S) 22">
            <a:extLst>
              <a:ext uri="{FF2B5EF4-FFF2-40B4-BE49-F238E27FC236}">
                <a16:creationId xmlns:a16="http://schemas.microsoft.com/office/drawing/2014/main" xmlns="" id="{BB742DF6-4A43-B5CF-AEDA-4E379B6589E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1816344"/>
            <a:ext cx="1597152" cy="504165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​​(S) 22">
            <a:extLst>
              <a:ext uri="{FF2B5EF4-FFF2-40B4-BE49-F238E27FC236}">
                <a16:creationId xmlns:a16="http://schemas.microsoft.com/office/drawing/2014/main" xmlns="" id="{BB742DF6-4A43-B5CF-AEDA-4E379B6589E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2" y="6184902"/>
            <a:ext cx="6095999" cy="673099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192361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箭號: 五邊形 9">
            <a:extLst>
              <a:ext uri="{FF2B5EF4-FFF2-40B4-BE49-F238E27FC236}">
                <a16:creationId xmlns:a16="http://schemas.microsoft.com/office/drawing/2014/main" xmlns="" id="{768BC038-D2EA-393E-AC3D-3F53314CE135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投影片編號版面配置區 4">
            <a:extLst>
              <a:ext uri="{FF2B5EF4-FFF2-40B4-BE49-F238E27FC236}">
                <a16:creationId xmlns:a16="http://schemas.microsoft.com/office/drawing/2014/main" xmlns="" id="{D5DE7AB3-3D40-2219-E4C6-6A8F62FF741F}"/>
              </a:ext>
            </a:extLst>
          </p:cNvPr>
          <p:cNvSpPr txBox="1">
            <a:spLocks/>
          </p:cNvSpPr>
          <p:nvPr userDrawn="1"/>
        </p:nvSpPr>
        <p:spPr>
          <a:xfrm>
            <a:off x="11509512" y="1045256"/>
            <a:ext cx="682487" cy="418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47529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8228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xmlns="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0682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6" r:id="rId1"/>
    <p:sldLayoutId id="2147484307" r:id="rId2"/>
    <p:sldLayoutId id="2147484321" r:id="rId3"/>
    <p:sldLayoutId id="2147484300" r:id="rId4"/>
    <p:sldLayoutId id="2147484322" r:id="rId5"/>
    <p:sldLayoutId id="2147484320" r:id="rId6"/>
    <p:sldLayoutId id="2147484312" r:id="rId7"/>
    <p:sldLayoutId id="2147484323" r:id="rId8"/>
  </p:sldLayoutIdLst>
  <p:hf hd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 cap="all" baseline="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032239-453A-96FF-6623-C7688B7FD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CAB1B36F-E24D-4069-BCF5-2DCEE0D5CA81}"/>
              </a:ext>
            </a:extLst>
          </p:cNvPr>
          <p:cNvSpPr/>
          <p:nvPr/>
        </p:nvSpPr>
        <p:spPr>
          <a:xfrm>
            <a:off x="7187602" y="4256178"/>
            <a:ext cx="4788490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C00559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應用軟體管理電腦作業</a:t>
            </a:r>
            <a:r>
              <a:rPr lang="zh-TW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說明</a:t>
            </a:r>
            <a:endParaRPr lang="en-US" altLang="zh-TW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C00103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電腦作業實施維護</a:t>
            </a:r>
            <a:r>
              <a:rPr lang="zh-TW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辦法</a:t>
            </a:r>
            <a:endParaRPr lang="en-US" altLang="zh-TW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C00533AIX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系統使用申請單傳簽電腦作業說明</a:t>
            </a:r>
            <a:endParaRPr lang="zh-TW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C00537 NT系統使用申請單傳簽電腦作業</a:t>
            </a:r>
            <a:r>
              <a:rPr lang="zh-TW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說明</a:t>
            </a:r>
            <a:endParaRPr lang="en-US" altLang="zh-TW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C00606OracleDS11gERP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程式設計</a:t>
            </a:r>
            <a:r>
              <a:rPr lang="zh-TW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規範</a:t>
            </a:r>
            <a:endParaRPr lang="zh-TW" alt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標題 3"/>
          <p:cNvSpPr>
            <a:spLocks noGrp="1"/>
          </p:cNvSpPr>
          <p:nvPr/>
        </p:nvSpPr>
        <p:spPr>
          <a:xfrm>
            <a:off x="929640" y="2441448"/>
            <a:ext cx="10332720" cy="18147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TW" altLang="en-US" dirty="0"/>
              <a:t>資訊系統設計</a:t>
            </a:r>
            <a:r>
              <a:rPr lang="zh-TW" altLang="en-US" dirty="0" smtClean="0"/>
              <a:t>程序</a:t>
            </a:r>
            <a:r>
              <a:rPr lang="en-US" altLang="zh-TW" dirty="0" smtClean="0"/>
              <a:t>/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程式設計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程式履歷建立與程式開發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0470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資訊系統設計</a:t>
            </a:r>
            <a:r>
              <a:rPr lang="zh-TW" altLang="en-US" dirty="0" smtClean="0"/>
              <a:t>程序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</a:t>
            </a:fld>
            <a:endParaRPr lang="zh-TW" altLang="en-US" dirty="0"/>
          </a:p>
        </p:txBody>
      </p:sp>
      <p:grpSp>
        <p:nvGrpSpPr>
          <p:cNvPr id="40" name="群組 39"/>
          <p:cNvGrpSpPr/>
          <p:nvPr/>
        </p:nvGrpSpPr>
        <p:grpSpPr>
          <a:xfrm>
            <a:off x="1301768" y="1600442"/>
            <a:ext cx="2880000" cy="2020582"/>
            <a:chOff x="1330011" y="2219559"/>
            <a:chExt cx="2880000" cy="1334296"/>
          </a:xfrm>
        </p:grpSpPr>
        <p:sp>
          <p:nvSpPr>
            <p:cNvPr id="41" name="圓角矩形 40"/>
            <p:cNvSpPr/>
            <p:nvPr/>
          </p:nvSpPr>
          <p:spPr>
            <a:xfrm>
              <a:off x="1330011" y="2219559"/>
              <a:ext cx="2880000" cy="1334296"/>
            </a:xfrm>
            <a:prstGeom prst="roundRect">
              <a:avLst>
                <a:gd name="adj" fmla="val 9215"/>
              </a:avLst>
            </a:prstGeom>
            <a:no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0" rIns="137160" bIns="136800" numCol="1" spcCol="1270" rtlCol="0" anchor="t" anchorCtr="0">
              <a:noAutofit/>
            </a:bodyPr>
            <a:lstStyle/>
            <a:p>
              <a:pPr lvl="0" algn="ctr" defTabSz="1600200">
                <a:spcBef>
                  <a:spcPct val="0"/>
                </a:spcBef>
              </a:pPr>
              <a:r>
                <a:rPr lang="zh-TW" altLang="en-US" sz="28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2" name="手繪多邊形 41"/>
            <p:cNvSpPr/>
            <p:nvPr/>
          </p:nvSpPr>
          <p:spPr>
            <a:xfrm>
              <a:off x="1427307" y="2654477"/>
              <a:ext cx="2700000" cy="645262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編寫原則</a:t>
              </a:r>
              <a:endParaRPr lang="zh-TW" altLang="en-US" sz="24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4493738" y="1577650"/>
            <a:ext cx="2880000" cy="4752000"/>
            <a:chOff x="4408551" y="1647100"/>
            <a:chExt cx="2880000" cy="4752000"/>
          </a:xfrm>
        </p:grpSpPr>
        <p:sp>
          <p:nvSpPr>
            <p:cNvPr id="44" name="圓角矩形 43"/>
            <p:cNvSpPr/>
            <p:nvPr/>
          </p:nvSpPr>
          <p:spPr>
            <a:xfrm>
              <a:off x="4408551" y="1647100"/>
              <a:ext cx="2880000" cy="4752000"/>
            </a:xfrm>
            <a:prstGeom prst="roundRect">
              <a:avLst>
                <a:gd name="adj" fmla="val 4276"/>
              </a:avLst>
            </a:prstGeom>
            <a:no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0" rIns="137160" bIns="136800" numCol="1" spcCol="1270" rtlCol="0" anchor="t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8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endParaRPr lang="en-US" altLang="zh-TW" sz="28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5" name="手繪多邊形 44"/>
            <p:cNvSpPr/>
            <p:nvPr/>
          </p:nvSpPr>
          <p:spPr>
            <a:xfrm>
              <a:off x="4494720" y="2140271"/>
              <a:ext cx="2700000" cy="2004992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履歷建立</a:t>
              </a:r>
              <a:endParaRPr lang="zh-TW" alt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6" name="手繪多邊形 45"/>
            <p:cNvSpPr/>
            <p:nvPr/>
          </p:nvSpPr>
          <p:spPr>
            <a:xfrm>
              <a:off x="4494720" y="4206931"/>
              <a:ext cx="2700000" cy="2031823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程式開發</a:t>
              </a:r>
              <a:endParaRPr lang="zh-TW" alt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7" name="手繪多邊形 46"/>
            <p:cNvSpPr/>
            <p:nvPr/>
          </p:nvSpPr>
          <p:spPr>
            <a:xfrm>
              <a:off x="5083157" y="2565978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基礎建檔</a:t>
              </a:r>
              <a:endParaRPr lang="zh-TW" alt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8" name="手繪多邊形 47"/>
            <p:cNvSpPr/>
            <p:nvPr/>
          </p:nvSpPr>
          <p:spPr>
            <a:xfrm>
              <a:off x="5083157" y="3048911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帳號申請</a:t>
              </a:r>
              <a:endParaRPr lang="zh-TW" alt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9" name="手繪多邊形 48"/>
            <p:cNvSpPr/>
            <p:nvPr/>
          </p:nvSpPr>
          <p:spPr>
            <a:xfrm>
              <a:off x="5117686" y="5719081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設計規範</a:t>
              </a:r>
              <a:endParaRPr lang="zh-TW" alt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50" name="手繪多邊形 49"/>
            <p:cNvSpPr/>
            <p:nvPr/>
          </p:nvSpPr>
          <p:spPr>
            <a:xfrm>
              <a:off x="5124720" y="4708679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accent5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資料字典</a:t>
              </a:r>
              <a:endParaRPr lang="zh-TW" alt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51" name="圓角矩形 50"/>
          <p:cNvSpPr/>
          <p:nvPr/>
        </p:nvSpPr>
        <p:spPr>
          <a:xfrm>
            <a:off x="7697884" y="1579445"/>
            <a:ext cx="2880000" cy="4750205"/>
          </a:xfrm>
          <a:prstGeom prst="roundRect">
            <a:avLst>
              <a:gd name="adj" fmla="val 4276"/>
            </a:avLst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0" rIns="137160" bIns="136800" numCol="1" spcCol="1270" rtlCol="0" anchor="t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TW" altLang="en-US" sz="28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實施維護</a:t>
            </a:r>
            <a:endParaRPr lang="en-US" altLang="zh-TW" sz="2800" dirty="0" smtClean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52" name="群組 51"/>
          <p:cNvGrpSpPr/>
          <p:nvPr/>
        </p:nvGrpSpPr>
        <p:grpSpPr>
          <a:xfrm>
            <a:off x="7787884" y="2070821"/>
            <a:ext cx="2700000" cy="2004992"/>
            <a:chOff x="7739739" y="2140271"/>
            <a:chExt cx="2700000" cy="2004992"/>
          </a:xfrm>
        </p:grpSpPr>
        <p:sp>
          <p:nvSpPr>
            <p:cNvPr id="53" name="手繪多邊形 52"/>
            <p:cNvSpPr/>
            <p:nvPr/>
          </p:nvSpPr>
          <p:spPr>
            <a:xfrm>
              <a:off x="7739739" y="2140271"/>
              <a:ext cx="2700000" cy="2004992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作業實施</a:t>
              </a:r>
              <a:endParaRPr lang="zh-TW" altLang="en-US" sz="24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54" name="手繪多邊形 53"/>
            <p:cNvSpPr/>
            <p:nvPr/>
          </p:nvSpPr>
          <p:spPr>
            <a:xfrm>
              <a:off x="8369739" y="2570083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程式派送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55" name="手繪多邊形 54"/>
            <p:cNvSpPr/>
            <p:nvPr/>
          </p:nvSpPr>
          <p:spPr>
            <a:xfrm>
              <a:off x="8369739" y="3067361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排程申請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56" name="手繪多邊形 55"/>
            <p:cNvSpPr/>
            <p:nvPr/>
          </p:nvSpPr>
          <p:spPr>
            <a:xfrm>
              <a:off x="8369739" y="3553855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安裝確認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7" name="群組 56"/>
          <p:cNvGrpSpPr/>
          <p:nvPr/>
        </p:nvGrpSpPr>
        <p:grpSpPr>
          <a:xfrm>
            <a:off x="7787884" y="4137481"/>
            <a:ext cx="2700000" cy="2031823"/>
            <a:chOff x="7739739" y="4206931"/>
            <a:chExt cx="2700000" cy="2031823"/>
          </a:xfrm>
        </p:grpSpPr>
        <p:sp>
          <p:nvSpPr>
            <p:cNvPr id="58" name="手繪多邊形 57"/>
            <p:cNvSpPr/>
            <p:nvPr/>
          </p:nvSpPr>
          <p:spPr>
            <a:xfrm>
              <a:off x="7739739" y="4206931"/>
              <a:ext cx="2700000" cy="2031823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作業維護</a:t>
              </a:r>
              <a:endParaRPr lang="zh-TW" altLang="en-US" sz="24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59" name="手繪多邊形 58"/>
            <p:cNvSpPr/>
            <p:nvPr/>
          </p:nvSpPr>
          <p:spPr>
            <a:xfrm>
              <a:off x="7809793" y="4680000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異常管理</a:t>
              </a:r>
            </a:p>
          </p:txBody>
        </p:sp>
        <p:sp>
          <p:nvSpPr>
            <p:cNvPr id="60" name="手繪多邊形 59"/>
            <p:cNvSpPr/>
            <p:nvPr/>
          </p:nvSpPr>
          <p:spPr>
            <a:xfrm>
              <a:off x="7808400" y="5176267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欄位異動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1" name="手繪多邊形 60"/>
            <p:cNvSpPr/>
            <p:nvPr/>
          </p:nvSpPr>
          <p:spPr>
            <a:xfrm>
              <a:off x="7808400" y="5667416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自主檢查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2" name="手繪多邊形 61"/>
            <p:cNvSpPr/>
            <p:nvPr/>
          </p:nvSpPr>
          <p:spPr>
            <a:xfrm>
              <a:off x="9108000" y="4680000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帳號管理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3" name="手繪多邊形 62"/>
            <p:cNvSpPr/>
            <p:nvPr/>
          </p:nvSpPr>
          <p:spPr>
            <a:xfrm>
              <a:off x="9108000" y="5176267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磁碟</a:t>
              </a: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管理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4" name="手繪多邊形 63"/>
            <p:cNvSpPr/>
            <p:nvPr/>
          </p:nvSpPr>
          <p:spPr>
            <a:xfrm>
              <a:off x="9108000" y="5670828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作業交接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5" name="群組 64"/>
          <p:cNvGrpSpPr/>
          <p:nvPr/>
        </p:nvGrpSpPr>
        <p:grpSpPr>
          <a:xfrm>
            <a:off x="1298542" y="3937084"/>
            <a:ext cx="2880000" cy="2392566"/>
            <a:chOff x="1326785" y="3643049"/>
            <a:chExt cx="2880000" cy="1334296"/>
          </a:xfrm>
        </p:grpSpPr>
        <p:sp>
          <p:nvSpPr>
            <p:cNvPr id="66" name="圓角矩形 65"/>
            <p:cNvSpPr/>
            <p:nvPr/>
          </p:nvSpPr>
          <p:spPr>
            <a:xfrm>
              <a:off x="1326785" y="3643049"/>
              <a:ext cx="2880000" cy="1334296"/>
            </a:xfrm>
            <a:prstGeom prst="roundRect">
              <a:avLst>
                <a:gd name="adj" fmla="val 9215"/>
              </a:avLst>
            </a:prstGeom>
            <a:no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0" rIns="137160" bIns="136800" numCol="1" spcCol="1270" rtlCol="0" anchor="t" anchorCtr="0">
              <a:noAutofit/>
            </a:bodyPr>
            <a:lstStyle/>
            <a:p>
              <a:pPr lvl="0" algn="ctr" defTabSz="1600200">
                <a:spcBef>
                  <a:spcPct val="0"/>
                </a:spcBef>
              </a:pPr>
              <a:r>
                <a:rPr lang="zh-TW" altLang="en-US" sz="28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</a:t>
              </a:r>
              <a:r>
                <a:rPr lang="zh-TW" altLang="en-US" sz="28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sz="28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7" name="手繪多邊形 66"/>
            <p:cNvSpPr/>
            <p:nvPr/>
          </p:nvSpPr>
          <p:spPr>
            <a:xfrm>
              <a:off x="1424081" y="4034624"/>
              <a:ext cx="2700000" cy="645262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系統文件</a:t>
              </a:r>
              <a:endParaRPr lang="zh-TW" altLang="en-US" sz="24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68" name="向下箭號 67"/>
          <p:cNvSpPr/>
          <p:nvPr/>
        </p:nvSpPr>
        <p:spPr>
          <a:xfrm>
            <a:off x="2483899" y="3632840"/>
            <a:ext cx="509286" cy="299535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endParaRPr lang="zh-TW" altLang="en-US" sz="3600" kern="1200" dirty="0" smtClean="0">
              <a:ln>
                <a:solidFill>
                  <a:schemeClr val="accent6"/>
                </a:solidFill>
              </a:ln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9" name="向下箭號 68"/>
          <p:cNvSpPr/>
          <p:nvPr/>
        </p:nvSpPr>
        <p:spPr>
          <a:xfrm rot="-5400000">
            <a:off x="4077731" y="3961095"/>
            <a:ext cx="509286" cy="299535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endParaRPr lang="zh-TW" altLang="en-US" sz="3600" kern="1200" dirty="0" smtClean="0">
              <a:ln>
                <a:solidFill>
                  <a:schemeClr val="accent6"/>
                </a:solidFill>
              </a:ln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0" name="向下箭號 69"/>
          <p:cNvSpPr/>
          <p:nvPr/>
        </p:nvSpPr>
        <p:spPr>
          <a:xfrm rot="-5400000">
            <a:off x="7275191" y="3961095"/>
            <a:ext cx="509286" cy="299535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endParaRPr lang="zh-TW" altLang="en-US" sz="3600" kern="1200" dirty="0" smtClean="0">
              <a:ln>
                <a:solidFill>
                  <a:schemeClr val="accent6"/>
                </a:solidFill>
              </a:ln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5" name="手繪多邊形 34"/>
          <p:cNvSpPr/>
          <p:nvPr/>
        </p:nvSpPr>
        <p:spPr>
          <a:xfrm>
            <a:off x="5225427" y="5147883"/>
            <a:ext cx="1440000" cy="452679"/>
          </a:xfrm>
          <a:custGeom>
            <a:avLst/>
            <a:gdLst>
              <a:gd name="connsiteX0" fmla="*/ 0 w 2617576"/>
              <a:gd name="connsiteY0" fmla="*/ 146276 h 1462763"/>
              <a:gd name="connsiteX1" fmla="*/ 146276 w 2617576"/>
              <a:gd name="connsiteY1" fmla="*/ 0 h 1462763"/>
              <a:gd name="connsiteX2" fmla="*/ 2471300 w 2617576"/>
              <a:gd name="connsiteY2" fmla="*/ 0 h 1462763"/>
              <a:gd name="connsiteX3" fmla="*/ 2617576 w 2617576"/>
              <a:gd name="connsiteY3" fmla="*/ 146276 h 1462763"/>
              <a:gd name="connsiteX4" fmla="*/ 2617576 w 2617576"/>
              <a:gd name="connsiteY4" fmla="*/ 1316487 h 1462763"/>
              <a:gd name="connsiteX5" fmla="*/ 2471300 w 2617576"/>
              <a:gd name="connsiteY5" fmla="*/ 1462763 h 1462763"/>
              <a:gd name="connsiteX6" fmla="*/ 146276 w 2617576"/>
              <a:gd name="connsiteY6" fmla="*/ 1462763 h 1462763"/>
              <a:gd name="connsiteX7" fmla="*/ 0 w 2617576"/>
              <a:gd name="connsiteY7" fmla="*/ 1316487 h 1462763"/>
              <a:gd name="connsiteX8" fmla="*/ 0 w 2617576"/>
              <a:gd name="connsiteY8" fmla="*/ 146276 h 146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17576" h="1462763">
                <a:moveTo>
                  <a:pt x="0" y="146276"/>
                </a:moveTo>
                <a:cubicBezTo>
                  <a:pt x="0" y="65490"/>
                  <a:pt x="65490" y="0"/>
                  <a:pt x="146276" y="0"/>
                </a:cubicBezTo>
                <a:lnTo>
                  <a:pt x="2471300" y="0"/>
                </a:lnTo>
                <a:cubicBezTo>
                  <a:pt x="2552086" y="0"/>
                  <a:pt x="2617576" y="65490"/>
                  <a:pt x="2617576" y="146276"/>
                </a:cubicBezTo>
                <a:lnTo>
                  <a:pt x="2617576" y="1316487"/>
                </a:lnTo>
                <a:cubicBezTo>
                  <a:pt x="2617576" y="1397273"/>
                  <a:pt x="2552086" y="1462763"/>
                  <a:pt x="2471300" y="1462763"/>
                </a:cubicBezTo>
                <a:lnTo>
                  <a:pt x="146276" y="1462763"/>
                </a:lnTo>
                <a:cubicBezTo>
                  <a:pt x="65490" y="1462763"/>
                  <a:pt x="0" y="1397273"/>
                  <a:pt x="0" y="1316487"/>
                </a:cubicBezTo>
                <a:lnTo>
                  <a:pt x="0" y="146276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accent5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963" tIns="96183" rIns="113963" bIns="96183" numCol="1" spcCol="1270" anchor="ctr" anchorCtr="0">
            <a:noAutofit/>
          </a:bodyPr>
          <a:lstStyle/>
          <a:p>
            <a:pPr lvl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TW" altLang="en-US" sz="20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授權申請</a:t>
            </a:r>
            <a:endParaRPr lang="en-US" altLang="zh-TW" sz="2000" kern="12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35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電腦作業設計開發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3</a:t>
            </a:fld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972732" y="2335233"/>
            <a:ext cx="1620000" cy="360000"/>
          </a:xfrm>
          <a:prstGeom prst="rect">
            <a:avLst/>
          </a:prstGeom>
          <a:solidFill>
            <a:srgbClr val="FFEB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基礎建置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288305" y="2353219"/>
            <a:ext cx="1620000" cy="360000"/>
          </a:xfrm>
          <a:prstGeom prst="rect">
            <a:avLst/>
          </a:prstGeom>
          <a:solidFill>
            <a:srgbClr val="FFEB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帳號申請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730332" y="2353219"/>
            <a:ext cx="1620000" cy="360000"/>
          </a:xfrm>
          <a:prstGeom prst="rect">
            <a:avLst/>
          </a:prstGeom>
          <a:solidFill>
            <a:srgbClr val="FFEB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程式開發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903396" y="3240000"/>
            <a:ext cx="1656000" cy="28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制度基礎</a:t>
            </a:r>
            <a:r>
              <a:rPr lang="zh-TW" altLang="en-US" sz="1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資料建檔</a:t>
            </a:r>
            <a:endParaRPr lang="zh-TW" altLang="en-US" sz="1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903396" y="3672000"/>
            <a:ext cx="1656000" cy="28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作業代號</a:t>
            </a:r>
            <a:r>
              <a:rPr lang="zh-TW" altLang="en-US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設定</a:t>
            </a:r>
          </a:p>
        </p:txBody>
      </p:sp>
      <p:sp>
        <p:nvSpPr>
          <p:cNvPr id="17" name="矩形 16"/>
          <p:cNvSpPr/>
          <p:nvPr/>
        </p:nvSpPr>
        <p:spPr>
          <a:xfrm>
            <a:off x="4230786" y="3240000"/>
            <a:ext cx="1656000" cy="28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NT</a:t>
            </a:r>
            <a:r>
              <a:rPr lang="zh-TW" altLang="en-US" sz="1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帳號</a:t>
            </a:r>
            <a:r>
              <a:rPr lang="en-US" altLang="zh-TW" sz="1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&amp;</a:t>
            </a:r>
            <a:r>
              <a:rPr lang="zh-TW" altLang="en-US" sz="1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作業區</a:t>
            </a:r>
            <a:endParaRPr lang="zh-TW" altLang="en-US" sz="1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230788" y="3672000"/>
            <a:ext cx="1656000" cy="28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資料庫</a:t>
            </a:r>
            <a:r>
              <a:rPr lang="en-US" altLang="zh-TW" sz="1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&amp;</a:t>
            </a:r>
            <a:r>
              <a:rPr lang="zh-TW" altLang="en-US" sz="1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帳號申請</a:t>
            </a:r>
            <a:endParaRPr lang="zh-TW" altLang="en-US" sz="1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240515" y="4104000"/>
            <a:ext cx="1656000" cy="28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AIX</a:t>
            </a:r>
            <a:r>
              <a:rPr lang="zh-TW" altLang="en-US" sz="1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帳號申請</a:t>
            </a:r>
            <a:endParaRPr lang="zh-TW" altLang="en-US" sz="1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722354" y="3240000"/>
            <a:ext cx="1656000" cy="28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資料字典建檔</a:t>
            </a:r>
            <a:endParaRPr lang="zh-TW" altLang="en-US" sz="1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722354" y="3672000"/>
            <a:ext cx="1656000" cy="28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檔案物件開立</a:t>
            </a:r>
            <a:endParaRPr lang="zh-TW" altLang="en-US" sz="1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722354" y="4545701"/>
            <a:ext cx="1656000" cy="2685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程式開發建置</a:t>
            </a:r>
            <a:endParaRPr lang="zh-TW" altLang="en-US" sz="1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722354" y="4104000"/>
            <a:ext cx="1656000" cy="28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關聯檔案授權申請</a:t>
            </a:r>
            <a:endParaRPr lang="zh-TW" altLang="en-US" sz="1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722354" y="4968000"/>
            <a:ext cx="1656000" cy="28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制度程式對照建檔</a:t>
            </a:r>
            <a:endParaRPr lang="zh-TW" altLang="en-US" sz="1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162631" y="2353219"/>
            <a:ext cx="1620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bg1">
                    <a:lumMod val="8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作業</a:t>
            </a:r>
            <a:r>
              <a:rPr lang="zh-TW" altLang="en-US" dirty="0" smtClean="0">
                <a:solidFill>
                  <a:schemeClr val="bg1">
                    <a:lumMod val="8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實施</a:t>
            </a:r>
            <a:endParaRPr lang="zh-TW" altLang="en-US" dirty="0">
              <a:solidFill>
                <a:schemeClr val="bg1">
                  <a:lumMod val="8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5" name="直線單箭頭接點 4"/>
          <p:cNvCxnSpPr/>
          <p:nvPr/>
        </p:nvCxnSpPr>
        <p:spPr>
          <a:xfrm>
            <a:off x="950976" y="2940084"/>
            <a:ext cx="9818717" cy="0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橢圓 5"/>
          <p:cNvSpPr/>
          <p:nvPr/>
        </p:nvSpPr>
        <p:spPr>
          <a:xfrm>
            <a:off x="1665028" y="2844000"/>
            <a:ext cx="180000" cy="18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2">
                    <a:lumMod val="50000"/>
                  </a:schemeClr>
                </a:solidFill>
              </a:ln>
            </a:endParaRPr>
          </a:p>
        </p:txBody>
      </p:sp>
      <p:sp>
        <p:nvSpPr>
          <p:cNvPr id="10" name="橢圓 9"/>
          <p:cNvSpPr/>
          <p:nvPr/>
        </p:nvSpPr>
        <p:spPr>
          <a:xfrm>
            <a:off x="4009784" y="2844000"/>
            <a:ext cx="180000" cy="18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2">
                    <a:lumMod val="50000"/>
                  </a:schemeClr>
                </a:solidFill>
              </a:ln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6461537" y="2844000"/>
            <a:ext cx="180000" cy="18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2">
                    <a:lumMod val="50000"/>
                  </a:schemeClr>
                </a:solidFill>
              </a:ln>
            </a:endParaRPr>
          </a:p>
        </p:txBody>
      </p:sp>
      <p:sp>
        <p:nvSpPr>
          <p:cNvPr id="26" name="橢圓 25"/>
          <p:cNvSpPr/>
          <p:nvPr/>
        </p:nvSpPr>
        <p:spPr>
          <a:xfrm>
            <a:off x="8854927" y="2844000"/>
            <a:ext cx="180000" cy="18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2">
                    <a:lumMod val="50000"/>
                  </a:schemeClr>
                </a:solidFill>
              </a:ln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120416" y="3240000"/>
            <a:ext cx="1656000" cy="28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bg1">
                    <a:lumMod val="8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程式派送申請</a:t>
            </a:r>
            <a:endParaRPr lang="zh-TW" altLang="en-US" sz="1400" dirty="0">
              <a:solidFill>
                <a:schemeClr val="bg1">
                  <a:lumMod val="8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113693" y="3672000"/>
            <a:ext cx="1656000" cy="28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bg1">
                    <a:lumMod val="8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排程申請</a:t>
            </a:r>
          </a:p>
        </p:txBody>
      </p:sp>
      <p:cxnSp>
        <p:nvCxnSpPr>
          <p:cNvPr id="46" name="肘形接點 45"/>
          <p:cNvCxnSpPr>
            <a:stCxn id="6" idx="4"/>
            <a:endCxn id="15" idx="1"/>
          </p:cNvCxnSpPr>
          <p:nvPr/>
        </p:nvCxnSpPr>
        <p:spPr>
          <a:xfrm rot="16200000" flipH="1">
            <a:off x="1649212" y="3129816"/>
            <a:ext cx="360000" cy="148368"/>
          </a:xfrm>
          <a:prstGeom prst="bentConnector2">
            <a:avLst/>
          </a:prstGeom>
          <a:ln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接點 47"/>
          <p:cNvCxnSpPr>
            <a:stCxn id="6" idx="4"/>
            <a:endCxn id="16" idx="1"/>
          </p:cNvCxnSpPr>
          <p:nvPr/>
        </p:nvCxnSpPr>
        <p:spPr>
          <a:xfrm rot="16200000" flipH="1">
            <a:off x="1433212" y="3345816"/>
            <a:ext cx="792000" cy="148368"/>
          </a:xfrm>
          <a:prstGeom prst="bentConnector2">
            <a:avLst/>
          </a:prstGeom>
          <a:ln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肘形接點 50"/>
          <p:cNvCxnSpPr>
            <a:stCxn id="10" idx="4"/>
            <a:endCxn id="17" idx="1"/>
          </p:cNvCxnSpPr>
          <p:nvPr/>
        </p:nvCxnSpPr>
        <p:spPr>
          <a:xfrm rot="16200000" flipH="1">
            <a:off x="3985285" y="3138499"/>
            <a:ext cx="360000" cy="131002"/>
          </a:xfrm>
          <a:prstGeom prst="bentConnector2">
            <a:avLst/>
          </a:prstGeom>
          <a:ln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肘形接點 53"/>
          <p:cNvCxnSpPr>
            <a:stCxn id="10" idx="4"/>
            <a:endCxn id="18" idx="1"/>
          </p:cNvCxnSpPr>
          <p:nvPr/>
        </p:nvCxnSpPr>
        <p:spPr>
          <a:xfrm rot="16200000" flipH="1">
            <a:off x="3769286" y="3354498"/>
            <a:ext cx="792000" cy="131004"/>
          </a:xfrm>
          <a:prstGeom prst="bentConnector2">
            <a:avLst/>
          </a:prstGeom>
          <a:ln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/>
          <p:cNvCxnSpPr>
            <a:stCxn id="10" idx="4"/>
            <a:endCxn id="19" idx="1"/>
          </p:cNvCxnSpPr>
          <p:nvPr/>
        </p:nvCxnSpPr>
        <p:spPr>
          <a:xfrm rot="16200000" flipH="1">
            <a:off x="3558149" y="3565634"/>
            <a:ext cx="1224000" cy="140731"/>
          </a:xfrm>
          <a:prstGeom prst="bentConnector2">
            <a:avLst/>
          </a:prstGeom>
          <a:ln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肘形接點 61"/>
          <p:cNvCxnSpPr>
            <a:stCxn id="13" idx="4"/>
            <a:endCxn id="20" idx="1"/>
          </p:cNvCxnSpPr>
          <p:nvPr/>
        </p:nvCxnSpPr>
        <p:spPr>
          <a:xfrm rot="16200000" flipH="1">
            <a:off x="6456945" y="3118591"/>
            <a:ext cx="360000" cy="170817"/>
          </a:xfrm>
          <a:prstGeom prst="bentConnector2">
            <a:avLst/>
          </a:prstGeom>
          <a:ln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肘形接點 65"/>
          <p:cNvCxnSpPr>
            <a:stCxn id="13" idx="4"/>
            <a:endCxn id="21" idx="1"/>
          </p:cNvCxnSpPr>
          <p:nvPr/>
        </p:nvCxnSpPr>
        <p:spPr>
          <a:xfrm rot="16200000" flipH="1">
            <a:off x="6240945" y="3334591"/>
            <a:ext cx="792000" cy="170817"/>
          </a:xfrm>
          <a:prstGeom prst="bentConnector2">
            <a:avLst/>
          </a:prstGeom>
          <a:ln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肘形接點 68"/>
          <p:cNvCxnSpPr>
            <a:stCxn id="13" idx="4"/>
            <a:endCxn id="22" idx="1"/>
          </p:cNvCxnSpPr>
          <p:nvPr/>
        </p:nvCxnSpPr>
        <p:spPr>
          <a:xfrm rot="16200000" flipH="1">
            <a:off x="5808945" y="3766591"/>
            <a:ext cx="1656000" cy="170817"/>
          </a:xfrm>
          <a:prstGeom prst="bentConnector2">
            <a:avLst/>
          </a:prstGeom>
          <a:ln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肘形接點 71"/>
          <p:cNvCxnSpPr>
            <a:stCxn id="13" idx="4"/>
            <a:endCxn id="23" idx="1"/>
          </p:cNvCxnSpPr>
          <p:nvPr/>
        </p:nvCxnSpPr>
        <p:spPr>
          <a:xfrm rot="16200000" flipH="1">
            <a:off x="6024945" y="3550591"/>
            <a:ext cx="1224000" cy="170817"/>
          </a:xfrm>
          <a:prstGeom prst="bentConnector2">
            <a:avLst/>
          </a:prstGeom>
          <a:ln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肘形接點 74"/>
          <p:cNvCxnSpPr>
            <a:stCxn id="13" idx="4"/>
            <a:endCxn id="24" idx="1"/>
          </p:cNvCxnSpPr>
          <p:nvPr/>
        </p:nvCxnSpPr>
        <p:spPr>
          <a:xfrm rot="16200000" flipH="1">
            <a:off x="5592945" y="3982591"/>
            <a:ext cx="2088000" cy="170817"/>
          </a:xfrm>
          <a:prstGeom prst="bentConnector2">
            <a:avLst/>
          </a:prstGeom>
          <a:ln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肘形接點 77"/>
          <p:cNvCxnSpPr>
            <a:stCxn id="26" idx="4"/>
            <a:endCxn id="27" idx="1"/>
          </p:cNvCxnSpPr>
          <p:nvPr/>
        </p:nvCxnSpPr>
        <p:spPr>
          <a:xfrm rot="16200000" flipH="1">
            <a:off x="8852671" y="3116255"/>
            <a:ext cx="360000" cy="175489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肘形接點 80"/>
          <p:cNvCxnSpPr>
            <a:stCxn id="26" idx="4"/>
            <a:endCxn id="28" idx="1"/>
          </p:cNvCxnSpPr>
          <p:nvPr/>
        </p:nvCxnSpPr>
        <p:spPr>
          <a:xfrm rot="16200000" flipH="1">
            <a:off x="8633310" y="3335617"/>
            <a:ext cx="792000" cy="168766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1903396" y="4104000"/>
            <a:ext cx="1800000" cy="28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制度與程式人員對照</a:t>
            </a:r>
            <a:endParaRPr lang="zh-TW" altLang="en-US" sz="1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95" name="肘形接點 94"/>
          <p:cNvCxnSpPr>
            <a:stCxn id="6" idx="4"/>
            <a:endCxn id="94" idx="1"/>
          </p:cNvCxnSpPr>
          <p:nvPr/>
        </p:nvCxnSpPr>
        <p:spPr>
          <a:xfrm rot="16200000" flipH="1">
            <a:off x="1217212" y="3561816"/>
            <a:ext cx="1224000" cy="148368"/>
          </a:xfrm>
          <a:prstGeom prst="bentConnector2">
            <a:avLst/>
          </a:prstGeom>
          <a:ln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9110732" y="4503209"/>
            <a:ext cx="1656000" cy="28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US" altLang="zh-TW" sz="1400" dirty="0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OA</a:t>
            </a:r>
            <a:r>
              <a:rPr lang="zh-TW" altLang="en-US" sz="1400" dirty="0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案件通知申請</a:t>
            </a:r>
            <a:endParaRPr lang="zh-TW" altLang="en-US" sz="14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9120416" y="4104000"/>
            <a:ext cx="1656000" cy="28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zh-TW" altLang="en-US" sz="1400" dirty="0" smtClean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報表轉存系統申請</a:t>
            </a:r>
            <a:endParaRPr lang="zh-TW" altLang="en-US" sz="14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57" name="肘形接點 56"/>
          <p:cNvCxnSpPr>
            <a:stCxn id="26" idx="4"/>
            <a:endCxn id="56" idx="1"/>
          </p:cNvCxnSpPr>
          <p:nvPr/>
        </p:nvCxnSpPr>
        <p:spPr>
          <a:xfrm rot="16200000" flipH="1">
            <a:off x="8420671" y="3548255"/>
            <a:ext cx="1224000" cy="175489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肘形接點 62"/>
          <p:cNvCxnSpPr>
            <a:stCxn id="26" idx="4"/>
            <a:endCxn id="55" idx="1"/>
          </p:cNvCxnSpPr>
          <p:nvPr/>
        </p:nvCxnSpPr>
        <p:spPr>
          <a:xfrm rot="16200000" flipH="1">
            <a:off x="8216225" y="3752701"/>
            <a:ext cx="1623209" cy="165805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群組 52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59" name="圓角矩形 58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60" name="圓角矩形 59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1" name="圓角矩形 60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</a:t>
              </a: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4" name="圓角矩形 63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65" name="向右箭號 64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7" name="向右箭號 66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8" name="向右箭號 67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左中括弧 3"/>
          <p:cNvSpPr/>
          <p:nvPr/>
        </p:nvSpPr>
        <p:spPr>
          <a:xfrm rot="5400000">
            <a:off x="2874029" y="355943"/>
            <a:ext cx="133151" cy="3680749"/>
          </a:xfrm>
          <a:prstGeom prst="leftBracket">
            <a:avLst/>
          </a:prstGeom>
          <a:ln>
            <a:solidFill>
              <a:srgbClr val="CC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ctr"/>
            <a:endParaRPr lang="zh-TW" altLang="en-US" dirty="0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2386607" y="176104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CC009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履歷建立</a:t>
            </a:r>
            <a:endParaRPr lang="zh-TW" altLang="en-US" dirty="0">
              <a:solidFill>
                <a:srgbClr val="CC0099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1606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8D75275-97A9-E947-9CCB-084ED2BD0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程式履歷建置目的</a:t>
            </a:r>
            <a:r>
              <a:rPr lang="zh-TW" altLang="en-US" dirty="0"/>
              <a:t>及範圍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B45C4C1F-2C1C-2E21-D095-C92D224D9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2195" y="1449693"/>
            <a:ext cx="10309144" cy="4210331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制訂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「應用軟體管理電腦作業」用以製作程式履歷。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作業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目的：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0">
              <a:spcBef>
                <a:spcPts val="600"/>
              </a:spcBef>
              <a:buNone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將電腦作業開發中，有關程式、檔案、作業區之申請資料，以及後續維護狀況，製作成履歷紀錄，方便管理追蹤。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作業範圍：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0">
              <a:spcBef>
                <a:spcPts val="600"/>
              </a:spcBef>
              <a:buNone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基礎資料維護、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OA表單欄位建檔、各項應用軟體資料查詢、管理需求應用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…等。</a:t>
            </a:r>
            <a:endParaRPr lang="zh-TW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BF3C5BA7-6552-3628-C011-BB9C4A5AC50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4</a:t>
            </a:fld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1347404" y="983099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6" name="圓角矩形 5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7" name="圓角矩形 6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</a:t>
              </a: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10" name="向右箭號 9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向右箭號 10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向右箭號 11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7138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應用軟體</a:t>
            </a:r>
            <a:r>
              <a:rPr lang="zh-TW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管理</a:t>
            </a:r>
            <a:r>
              <a:rPr lang="zh-TW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作業資料</a:t>
            </a:r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架構圖 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5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547" y="1325068"/>
            <a:ext cx="9698779" cy="539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879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應用軟體</a:t>
            </a:r>
            <a:r>
              <a:rPr lang="zh-TW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管理作業</a:t>
            </a:r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基礎資料</a:t>
            </a:r>
            <a:r>
              <a:rPr lang="en-US" altLang="zh-TW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示意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6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852" y="1254612"/>
            <a:ext cx="9790223" cy="541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298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以增設「制度</a:t>
            </a:r>
            <a:r>
              <a:rPr lang="en-US" altLang="zh-TW" dirty="0" smtClean="0"/>
              <a:t>&amp;</a:t>
            </a:r>
            <a:r>
              <a:rPr lang="zh-TW" altLang="en-US" dirty="0"/>
              <a:t>電腦作業</a:t>
            </a:r>
            <a:r>
              <a:rPr lang="zh-TW" altLang="en-US" dirty="0" smtClean="0"/>
              <a:t>」介紹應用軟體管理作業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7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073" y="1463968"/>
            <a:ext cx="5270921" cy="3390134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240" y="1463968"/>
            <a:ext cx="5172453" cy="1465955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4"/>
          <a:srcRect b="27038"/>
          <a:stretch/>
        </p:blipFill>
        <p:spPr>
          <a:xfrm>
            <a:off x="946240" y="3087310"/>
            <a:ext cx="5159481" cy="1912707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435" y="5186366"/>
            <a:ext cx="5154286" cy="1335341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3585054" y="2091447"/>
            <a:ext cx="1658152" cy="22385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5">
                    <a:lumMod val="75000"/>
                  </a:schemeClr>
                </a:solidFill>
              </a:ln>
              <a:noFill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937842" y="1522649"/>
            <a:ext cx="1658152" cy="22385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5">
                    <a:lumMod val="75000"/>
                  </a:schemeClr>
                </a:solidFill>
              </a:ln>
              <a:noFill/>
            </a:endParaRPr>
          </a:p>
        </p:txBody>
      </p:sp>
      <p:sp>
        <p:nvSpPr>
          <p:cNvPr id="14" name="向右箭號 13"/>
          <p:cNvSpPr/>
          <p:nvPr/>
        </p:nvSpPr>
        <p:spPr>
          <a:xfrm>
            <a:off x="3136690" y="2023468"/>
            <a:ext cx="378176" cy="321013"/>
          </a:xfrm>
          <a:prstGeom prst="rightArrow">
            <a:avLst/>
          </a:prstGeom>
          <a:solidFill>
            <a:srgbClr val="FFCCC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向右箭號 14"/>
          <p:cNvSpPr/>
          <p:nvPr/>
        </p:nvSpPr>
        <p:spPr>
          <a:xfrm>
            <a:off x="9513190" y="1462760"/>
            <a:ext cx="378176" cy="321013"/>
          </a:xfrm>
          <a:prstGeom prst="rightArrow">
            <a:avLst/>
          </a:prstGeom>
          <a:solidFill>
            <a:srgbClr val="FFCCC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向右箭號 15"/>
          <p:cNvSpPr/>
          <p:nvPr/>
        </p:nvSpPr>
        <p:spPr>
          <a:xfrm>
            <a:off x="6158685" y="2604562"/>
            <a:ext cx="378176" cy="321013"/>
          </a:xfrm>
          <a:prstGeom prst="rightArrow">
            <a:avLst/>
          </a:prstGeom>
          <a:solidFill>
            <a:srgbClr val="FFCCC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" name="群組 16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18" name="圓角矩形 17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19" name="圓角矩形 18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圓角矩形 19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</a:t>
              </a: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圓角矩形 20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22" name="向右箭號 21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3" name="向右箭號 22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4" name="向右箭號 23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3994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基礎</a:t>
            </a:r>
            <a:r>
              <a:rPr lang="zh-TW" altLang="en-US" dirty="0" smtClean="0">
                <a:solidFill>
                  <a:schemeClr val="tx1"/>
                </a:solidFill>
              </a:rPr>
              <a:t>建置</a:t>
            </a:r>
            <a:r>
              <a:rPr lang="en-US" altLang="zh-TW" dirty="0" smtClean="0">
                <a:solidFill>
                  <a:schemeClr val="tx1"/>
                </a:solidFill>
              </a:rPr>
              <a:t>-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制度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基礎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資料建檔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8</a:t>
            </a:fld>
            <a:endParaRPr lang="zh-TW" altLang="en-US" dirty="0"/>
          </a:p>
        </p:txBody>
      </p:sp>
      <p:sp>
        <p:nvSpPr>
          <p:cNvPr id="6" name="內容版面配置區 4"/>
          <p:cNvSpPr txBox="1">
            <a:spLocks/>
          </p:cNvSpPr>
          <p:nvPr/>
        </p:nvSpPr>
        <p:spPr>
          <a:xfrm>
            <a:off x="984120" y="1368000"/>
            <a:ext cx="10319426" cy="1447801"/>
          </a:xfrm>
          <a:prstGeom prst="rect">
            <a:avLst/>
          </a:prstGeom>
        </p:spPr>
        <p:txBody>
          <a:bodyPr/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TW" altLang="en-US" sz="26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增</a:t>
            </a:r>
            <a:r>
              <a:rPr lang="en-US" altLang="zh-TW" sz="26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(</a:t>
            </a:r>
            <a:r>
              <a:rPr lang="zh-TW" altLang="en-US" sz="26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修</a:t>
            </a:r>
            <a:r>
              <a:rPr lang="en-US" altLang="zh-TW" sz="26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)</a:t>
            </a:r>
            <a:r>
              <a:rPr lang="zh-TW" altLang="en-US" sz="26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訂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制度基礎資料時，以部門內便簽向資訊部管理組申請建檔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(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更新</a:t>
            </a:r>
            <a:r>
              <a:rPr lang="en-US" altLang="zh-TW" sz="2600" dirty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)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各項基礎資料，包含制度代號名稱、作業代號。</a:t>
            </a:r>
            <a:endParaRPr lang="en-US" altLang="zh-TW" sz="2600" dirty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制度名稱與人事規章制度基礎資料同步。</a:t>
            </a:r>
          </a:p>
          <a:p>
            <a:pPr lvl="2"/>
            <a:endParaRPr lang="en-US" altLang="zh-TW" sz="2600" dirty="0"/>
          </a:p>
          <a:p>
            <a:pPr marL="0" indent="0">
              <a:buFont typeface="Arial" panose="020B0604020202020204" pitchFamily="34" charset="0"/>
              <a:buNone/>
            </a:pPr>
            <a:endParaRPr lang="zh-TW" altLang="en-US" sz="26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2"/>
          <a:srcRect b="64592"/>
          <a:stretch/>
        </p:blipFill>
        <p:spPr>
          <a:xfrm>
            <a:off x="1146661" y="2826883"/>
            <a:ext cx="9582947" cy="138630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263392" y="3794652"/>
            <a:ext cx="9116021" cy="2088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5">
                    <a:lumMod val="75000"/>
                  </a:schemeClr>
                </a:solidFill>
              </a:ln>
              <a:noFill/>
            </a:endParaRPr>
          </a:p>
        </p:txBody>
      </p:sp>
      <p:sp>
        <p:nvSpPr>
          <p:cNvPr id="12" name="向右箭號 11"/>
          <p:cNvSpPr/>
          <p:nvPr/>
        </p:nvSpPr>
        <p:spPr>
          <a:xfrm>
            <a:off x="856033" y="3726559"/>
            <a:ext cx="378176" cy="321013"/>
          </a:xfrm>
          <a:prstGeom prst="rightArrow">
            <a:avLst/>
          </a:prstGeom>
          <a:solidFill>
            <a:srgbClr val="FFCCC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 rotWithShape="1">
          <a:blip r:embed="rId2"/>
          <a:srcRect t="54285" b="19712"/>
          <a:stretch/>
        </p:blipFill>
        <p:spPr>
          <a:xfrm>
            <a:off x="1149294" y="4271524"/>
            <a:ext cx="9582947" cy="1018109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263391" y="4888880"/>
            <a:ext cx="9116021" cy="20752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5">
                    <a:lumMod val="75000"/>
                  </a:schemeClr>
                </a:solidFill>
              </a:ln>
              <a:noFill/>
            </a:endParaRP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 rotWithShape="1">
          <a:blip r:embed="rId3"/>
          <a:srcRect t="1" b="73984"/>
          <a:stretch/>
        </p:blipFill>
        <p:spPr>
          <a:xfrm>
            <a:off x="1135086" y="5472136"/>
            <a:ext cx="9579585" cy="1110661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1263391" y="6271508"/>
            <a:ext cx="9285909" cy="25292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5">
                    <a:lumMod val="75000"/>
                  </a:schemeClr>
                </a:solidFill>
              </a:ln>
              <a:noFill/>
            </a:endParaRPr>
          </a:p>
        </p:txBody>
      </p:sp>
      <p:sp>
        <p:nvSpPr>
          <p:cNvPr id="24" name="向右箭號 23"/>
          <p:cNvSpPr/>
          <p:nvPr/>
        </p:nvSpPr>
        <p:spPr>
          <a:xfrm>
            <a:off x="863870" y="6203415"/>
            <a:ext cx="378176" cy="321013"/>
          </a:xfrm>
          <a:prstGeom prst="rightArrow">
            <a:avLst/>
          </a:prstGeom>
          <a:solidFill>
            <a:srgbClr val="FFCCC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5" name="群組 24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26" name="圓角矩形 25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27" name="圓角矩形 26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8" name="圓角矩形 27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基礎建檔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9" name="圓角矩形 28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30" name="向右箭號 29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31" name="向右箭號 30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32" name="向右箭號 31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2031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基礎建置</a:t>
            </a:r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erp</a:t>
            </a:r>
            <a:r>
              <a:rPr lang="zh-TW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制度及程式人員對照建檔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9</a:t>
            </a:fld>
            <a:endParaRPr lang="zh-TW" altLang="en-US" dirty="0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xmlns="" id="{86AA943A-F738-2889-5D76-265080181EBD}"/>
              </a:ext>
            </a:extLst>
          </p:cNvPr>
          <p:cNvSpPr txBox="1">
            <a:spLocks/>
          </p:cNvSpPr>
          <p:nvPr/>
        </p:nvSpPr>
        <p:spPr>
          <a:xfrm>
            <a:off x="838200" y="1521843"/>
            <a:ext cx="10241604" cy="1483513"/>
          </a:xfrm>
          <a:prstGeom prst="rect">
            <a:avLst/>
          </a:prstGeom>
        </p:spPr>
        <p:txBody>
          <a:bodyPr/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制度基礎資料建</a:t>
            </a:r>
            <a:r>
              <a:rPr lang="zh-TW" altLang="en-US" sz="26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檔完成後，由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小組長建</a:t>
            </a:r>
            <a:r>
              <a:rPr lang="zh-TW" altLang="en-US" sz="26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檔制度與程式人員</a:t>
            </a:r>
            <a:r>
              <a:rPr lang="en-US" altLang="zh-TW" sz="26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(</a:t>
            </a:r>
            <a:r>
              <a:rPr lang="zh-TW" altLang="en-US" sz="26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含代理人員</a:t>
            </a:r>
            <a:r>
              <a:rPr lang="en-US" altLang="zh-TW" sz="26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)</a:t>
            </a:r>
            <a:r>
              <a:rPr lang="zh-TW" altLang="en-US" sz="26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對照。</a:t>
            </a:r>
            <a:endParaRPr lang="en-US" altLang="zh-TW" sz="2600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  <a:p>
            <a:r>
              <a:rPr lang="zh-TW" altLang="en-US" sz="26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倘負責人員或代理人員變更時，透過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交接作業申請修改設定。</a:t>
            </a:r>
            <a:endParaRPr lang="en-US" altLang="zh-TW" sz="2600" dirty="0"/>
          </a:p>
          <a:p>
            <a:pPr marL="0" indent="0">
              <a:buFont typeface="Arial" panose="020B0604020202020204" pitchFamily="34" charset="0"/>
              <a:buNone/>
            </a:pPr>
            <a:endParaRPr lang="zh-TW" altLang="en-US" sz="2600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309" y="2924532"/>
            <a:ext cx="10032495" cy="347125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91014" y="5458080"/>
            <a:ext cx="10088790" cy="53502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5">
                    <a:lumMod val="75000"/>
                  </a:schemeClr>
                </a:solidFill>
              </a:ln>
              <a:noFill/>
            </a:endParaRPr>
          </a:p>
        </p:txBody>
      </p:sp>
      <p:sp>
        <p:nvSpPr>
          <p:cNvPr id="9" name="向右箭號 8"/>
          <p:cNvSpPr/>
          <p:nvPr/>
        </p:nvSpPr>
        <p:spPr>
          <a:xfrm>
            <a:off x="583655" y="5389987"/>
            <a:ext cx="378176" cy="321013"/>
          </a:xfrm>
          <a:prstGeom prst="rightArrow">
            <a:avLst/>
          </a:prstGeom>
          <a:solidFill>
            <a:srgbClr val="FFCCC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" name="群組 16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18" name="圓角矩形 17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19" name="圓角矩形 18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圓角矩形 19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基礎建檔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圓角矩形 20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22" name="向右箭號 21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3" name="向右箭號 22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4" name="向右箭號 23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812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電腦作業使用申請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dirty="0" smtClean="0"/>
              <a:t>AIX</a:t>
            </a:r>
            <a:r>
              <a:rPr lang="zh-TW" altLang="en-US" dirty="0"/>
              <a:t>系統使用申請單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10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l="5160" r="4969"/>
          <a:stretch/>
        </p:blipFill>
        <p:spPr>
          <a:xfrm>
            <a:off x="1066416" y="1499333"/>
            <a:ext cx="4892417" cy="4978209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xmlns="" id="{077B5617-1452-8FB4-85D9-F628FF44A47D}"/>
              </a:ext>
            </a:extLst>
          </p:cNvPr>
          <p:cNvSpPr txBox="1">
            <a:spLocks/>
          </p:cNvSpPr>
          <p:nvPr/>
        </p:nvSpPr>
        <p:spPr>
          <a:xfrm>
            <a:off x="5986215" y="1499333"/>
            <a:ext cx="5765800" cy="4264860"/>
          </a:xfrm>
          <a:prstGeom prst="rect">
            <a:avLst/>
          </a:prstGeom>
        </p:spPr>
        <p:txBody>
          <a:bodyPr>
            <a:no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需先確認作業</a:t>
            </a:r>
            <a:r>
              <a:rPr lang="zh-TW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安裝主機</a:t>
            </a:r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(lers01)</a:t>
            </a:r>
            <a:r>
              <a:rPr lang="zh-TW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、資料庫</a:t>
            </a:r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(lers01a)</a:t>
            </a:r>
          </a:p>
          <a:p>
            <a:pPr>
              <a:spcBef>
                <a:spcPts val="1200"/>
              </a:spcBef>
            </a:pPr>
            <a:r>
              <a:rPr lang="zh-TW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確認帳號編碼原則 </a:t>
            </a:r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ulefuap</a:t>
            </a:r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TW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使用者帳號命名標準</a:t>
            </a:r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長度七位</a:t>
            </a:r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):</a:t>
            </a:r>
          </a:p>
          <a:p>
            <a:pPr lvl="2"/>
            <a:r>
              <a:rPr lang="zh-TW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第一位表示作業</a:t>
            </a:r>
            <a:r>
              <a:rPr lang="zh-TW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類別</a:t>
            </a:r>
            <a:r>
              <a:rPr lang="zh-TW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</a:t>
            </a:r>
            <a:r>
              <a:rPr lang="zh-TW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：正式作業</a:t>
            </a:r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zh-TW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第二、三位表示公司、事業部</a:t>
            </a:r>
            <a:endParaRPr lang="en-US" altLang="zh-TW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/>
            <a:r>
              <a:rPr lang="zh-TW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第四位表示作業機能</a:t>
            </a:r>
            <a:r>
              <a:rPr lang="zh-TW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別</a:t>
            </a:r>
            <a:r>
              <a:rPr lang="en-US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</a:t>
            </a:r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zh-TW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：財務</a:t>
            </a:r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zh-TW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第五、六位表示應用作業代號</a:t>
            </a:r>
            <a:endParaRPr lang="en-US" altLang="zh-TW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/>
            <a:r>
              <a:rPr lang="zh-TW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第七</a:t>
            </a:r>
            <a:r>
              <a:rPr lang="zh-TW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位</a:t>
            </a:r>
            <a:r>
              <a:rPr lang="zh-TW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帳號</a:t>
            </a:r>
            <a:r>
              <a:rPr lang="zh-TW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類別</a:t>
            </a:r>
            <a:r>
              <a:rPr lang="zh-TW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管控帳號權限</a:t>
            </a:r>
            <a:endParaRPr lang="en-US" altLang="zh-TW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(p:</a:t>
            </a:r>
            <a:r>
              <a:rPr lang="zh-TW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供作業維護人員維護</a:t>
            </a:r>
            <a:r>
              <a:rPr lang="zh-TW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</a:t>
            </a:r>
            <a:r>
              <a:rPr lang="en-US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1:</a:t>
            </a:r>
            <a:r>
              <a:rPr lang="zh-TW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使用者使用</a:t>
            </a:r>
            <a:r>
              <a:rPr lang="en-US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 r:database link)</a:t>
            </a:r>
            <a:endParaRPr lang="en-US" altLang="zh-TW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此申請單於</a:t>
            </a:r>
            <a:r>
              <a:rPr lang="en-US" altLang="zh-TW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OA</a:t>
            </a:r>
            <a:r>
              <a:rPr lang="zh-TW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填寫，</a:t>
            </a:r>
            <a:r>
              <a:rPr lang="en-US" altLang="zh-TW" sz="20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核簽流程結束資料回寫應用軟體管理</a:t>
            </a:r>
            <a:r>
              <a:rPr lang="zh-TW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電腦</a:t>
            </a:r>
            <a:r>
              <a:rPr lang="zh-TW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作業，納入程式履歷管理。</a:t>
            </a:r>
            <a:endParaRPr lang="en-US" altLang="zh-TW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  <a:p>
            <a:pPr marL="0" indent="0">
              <a:buNone/>
            </a:pPr>
            <a:endParaRPr lang="en-US" altLang="zh-TW" sz="16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6137551" y="5934926"/>
            <a:ext cx="3916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C00306ORACLE</a:t>
            </a:r>
            <a:r>
              <a:rPr lang="zh-TW" altLang="en-US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資料庫使用管理細則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6137551" y="6304258"/>
            <a:ext cx="4788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C00533AIX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系統使用申請單傳簽電腦作業說明</a:t>
            </a:r>
            <a:endParaRPr lang="zh-TW" altLang="en-US" dirty="0"/>
          </a:p>
        </p:txBody>
      </p:sp>
      <p:grpSp>
        <p:nvGrpSpPr>
          <p:cNvPr id="14" name="群組 13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15" name="圓角矩形 14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16" name="圓角矩形 15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圓角矩形 16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帳號申請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圓角矩形 17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19" name="向右箭號 18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向右箭號 19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向右箭號 20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1780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8E7A089-5F54-FDEC-3570-94C37A3F8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程式履歷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資料庫帳號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/AIX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帳號負責人員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57977764-3E3E-593D-AD77-4302F0FF6E2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11</a:t>
            </a:fld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xmlns="" id="{4DFEB8E7-CA14-F90B-409D-2733CCCAF0C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902195" y="1495987"/>
            <a:ext cx="1030914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  <a:cs typeface="+mn-cs"/>
              </a:defRPr>
            </a:lvl9pPr>
          </a:lstStyle>
          <a:p>
            <a:r>
              <a:rPr lang="en-US" altLang="zh-TW" sz="2400" dirty="0" err="1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AIX系統使用申請單核准後寫入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。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帳號負責人、代理人異動時，透過作業交接辦理變更資料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作業維護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)。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  <a:p>
            <a:r>
              <a:rPr lang="en-US" altLang="zh-TW" sz="2400" dirty="0" err="1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程式員需針對負責帳號進行定期密碼變更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(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作業維護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)。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836" y="2812215"/>
            <a:ext cx="9987758" cy="1705419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836" y="4633527"/>
            <a:ext cx="9986503" cy="1714455"/>
          </a:xfrm>
          <a:prstGeom prst="rect">
            <a:avLst/>
          </a:prstGeom>
        </p:spPr>
      </p:pic>
      <p:grpSp>
        <p:nvGrpSpPr>
          <p:cNvPr id="15" name="群組 14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16" name="圓角矩形 15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17" name="圓角矩形 16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圓角矩形 17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帳號申請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圓角矩形 18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20" name="向右箭號 19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向右箭號 20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2" name="向右箭號 21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409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Erp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制度及資料庫帳號對照建檔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12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892" y="2595848"/>
            <a:ext cx="9955784" cy="238433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C1CB6433-6730-625B-9F2A-6A321E6824C9}"/>
              </a:ext>
            </a:extLst>
          </p:cNvPr>
          <p:cNvSpPr txBox="1"/>
          <p:nvPr/>
        </p:nvSpPr>
        <p:spPr>
          <a:xfrm>
            <a:off x="893067" y="1486023"/>
            <a:ext cx="9666170" cy="859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113" indent="-265113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程式</a:t>
            </a:r>
            <a:r>
              <a:rPr lang="zh-TW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員輸入制度編號與安裝資料庫、帳號對照。</a:t>
            </a:r>
            <a:endParaRPr lang="en-US" altLang="zh-TW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65113" indent="-265113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現供資料字典一致性比對用。</a:t>
            </a:r>
            <a:endParaRPr lang="en-US" altLang="zh-TW" sz="2400" dirty="0">
              <a:solidFill>
                <a:schemeClr val="tx1">
                  <a:lumMod val="75000"/>
                  <a:lumOff val="2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12" name="群組 11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19" name="圓角矩形 18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20" name="圓角矩形 19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圓角矩形 20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基礎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建檔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2" name="圓角矩形 21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23" name="向右箭號 22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4" name="向右箭號 23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向右箭號 24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175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電腦作業使用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申請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dirty="0" smtClean="0"/>
              <a:t>NT</a:t>
            </a:r>
            <a:r>
              <a:rPr lang="zh-TW" altLang="en-US" dirty="0"/>
              <a:t>系統使用申請單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13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rcRect l="10484" r="10335"/>
          <a:stretch/>
        </p:blipFill>
        <p:spPr>
          <a:xfrm>
            <a:off x="1381828" y="1538664"/>
            <a:ext cx="5176488" cy="511678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xmlns="" id="{927F99BF-57B5-17B5-D48F-60A1C6BD6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8316" y="1561811"/>
            <a:ext cx="4789388" cy="2523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  <a:cs typeface="+mn-cs"/>
              </a:defRPr>
            </a:lvl9pPr>
          </a:lstStyle>
          <a:p>
            <a:pPr marL="182563" indent="-182563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由作業維護人申請。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  <a:p>
            <a:pPr marL="182563" indent="-182563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ERP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作業設定區為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ERP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入口帳號。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  <a:p>
            <a:pPr marL="182563" indent="-182563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程式上線派送，執行檔派送至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ERP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作業執行區，原始檔案則派送到原始程式存放區。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639716" y="6233646"/>
            <a:ext cx="4743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solidFill>
                  <a:schemeClr val="accent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dirty="0" smtClean="0">
                <a:solidFill>
                  <a:schemeClr val="accent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00537 N</a:t>
            </a:r>
            <a:r>
              <a:rPr lang="zh-TW" altLang="en-US" dirty="0">
                <a:solidFill>
                  <a:schemeClr val="accent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T系統使用申請單傳簽電腦作業說明</a:t>
            </a:r>
          </a:p>
        </p:txBody>
      </p:sp>
      <p:grpSp>
        <p:nvGrpSpPr>
          <p:cNvPr id="19" name="群組 18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20" name="圓角矩形 19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21" name="圓角矩形 20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2" name="圓角矩形 21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帳號申請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3" name="圓角矩形 22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24" name="向右箭號 23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向右箭號 24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6" name="向右箭號 25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9545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ERP</a:t>
            </a:r>
            <a:r>
              <a:rPr lang="zh-TW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電腦設定管理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透過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系統使用申請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單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「ERP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作業設定區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」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產生以下資料。即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ERP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登入入口畫面相關設定。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14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9" y="2297171"/>
            <a:ext cx="6138511" cy="3207419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/>
          <a:srcRect r="10127"/>
          <a:stretch/>
        </p:blipFill>
        <p:spPr>
          <a:xfrm>
            <a:off x="5167883" y="3819856"/>
            <a:ext cx="7024116" cy="289639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97125" y="4669536"/>
            <a:ext cx="3456432" cy="30175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6370306" y="4669536"/>
            <a:ext cx="5821693" cy="15849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902195" y="2967314"/>
            <a:ext cx="524253" cy="30175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肘形接點 10"/>
          <p:cNvCxnSpPr>
            <a:stCxn id="7" idx="3"/>
            <a:endCxn id="8" idx="1"/>
          </p:cNvCxnSpPr>
          <p:nvPr/>
        </p:nvCxnSpPr>
        <p:spPr>
          <a:xfrm flipV="1">
            <a:off x="4253557" y="4748784"/>
            <a:ext cx="2116749" cy="71628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25">
            <a:extLst>
              <a:ext uri="{FF2B5EF4-FFF2-40B4-BE49-F238E27FC236}">
                <a16:creationId xmlns:a16="http://schemas.microsoft.com/office/drawing/2014/main" xmlns="" id="{BB5CED4C-B16F-E5CA-1BD4-D5C85A729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883" y="3377941"/>
            <a:ext cx="7024116" cy="402291"/>
          </a:xfrm>
          <a:prstGeom prst="rect">
            <a:avLst/>
          </a:prstGeom>
          <a:ln w="3175">
            <a:solidFill>
              <a:schemeClr val="accent2">
                <a:lumMod val="90000"/>
              </a:schemeClr>
            </a:solidFill>
            <a:prstDash val="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0000" tIns="46800" rIns="90000" bIns="46800" anchor="ctr">
            <a:spAutoFit/>
            <a:flatTx/>
          </a:bodyPr>
          <a:lstStyle/>
          <a:p>
            <a:pPr algn="ctr" eaLnBrk="1" hangingPunct="1">
              <a:buClr>
                <a:srgbClr val="FF9900"/>
              </a:buClr>
              <a:buSzPct val="75000"/>
              <a:buFont typeface="Wingdings" panose="05000000000000000000" pitchFamily="2" charset="2"/>
              <a:buNone/>
            </a:pPr>
            <a:r>
              <a:rPr lang="zh-TW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電腦作業登入畫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</a:t>
            </a:r>
          </a:p>
        </p:txBody>
      </p:sp>
      <p:grpSp>
        <p:nvGrpSpPr>
          <p:cNvPr id="21" name="群組 20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22" name="圓角矩形 21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23" name="圓角矩形 22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4" name="圓角矩形 23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帳號申請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圓角矩形 24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26" name="向右箭號 25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7" name="向右箭號 26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8" name="向右箭號 27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1601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程式開發設計</a:t>
            </a:r>
            <a:r>
              <a:rPr lang="en-US" altLang="zh-TW" dirty="0" smtClean="0"/>
              <a:t>-</a:t>
            </a:r>
            <a:r>
              <a:rPr lang="zh-TW" altLang="en-US" dirty="0" smtClean="0"/>
              <a:t>依據程式設計規範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893066" y="1444470"/>
            <a:ext cx="10616445" cy="1889039"/>
          </a:xfrm>
        </p:spPr>
        <p:txBody>
          <a:bodyPr>
            <a:noAutofit/>
          </a:bodyPr>
          <a:lstStyle/>
          <a:p>
            <a:r>
              <a:rPr lang="en-US" altLang="zh-TW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ERP</a:t>
            </a:r>
            <a:r>
              <a:rPr lang="zh-TW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程式開發依據程式設計規範，透過</a:t>
            </a:r>
            <a:r>
              <a:rPr lang="zh-TW" altLang="zh-TW" sz="2400" dirty="0" smtClean="0"/>
              <a:t>統一</a:t>
            </a:r>
            <a:r>
              <a:rPr lang="zh-TW" altLang="zh-TW" sz="2400" dirty="0"/>
              <a:t>程式設計原則，減少程式員學習摸索時間，增加程式設計</a:t>
            </a:r>
            <a:r>
              <a:rPr lang="zh-TW" altLang="zh-TW" sz="2400" dirty="0" smtClean="0"/>
              <a:t>效率</a:t>
            </a:r>
            <a:r>
              <a:rPr lang="zh-TW" altLang="en-US" sz="2400" dirty="0" smtClean="0"/>
              <a:t>。</a:t>
            </a:r>
            <a:endParaRPr lang="en-US" altLang="zh-TW" sz="2400" dirty="0" smtClean="0"/>
          </a:p>
          <a:p>
            <a:pPr>
              <a:spcBef>
                <a:spcPts val="300"/>
              </a:spcBef>
            </a:pP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程式</a:t>
            </a:r>
            <a:r>
              <a:rPr lang="zh-TW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與資料庫檔案命名原則皆需依照設計規範命名，且檔案格式以</a:t>
            </a:r>
            <a:r>
              <a:rPr lang="zh-TW" altLang="en-US" sz="2400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資料字典</a:t>
            </a:r>
            <a:r>
              <a:rPr lang="zh-TW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開立產生。</a:t>
            </a:r>
            <a:endParaRPr lang="en-US" altLang="zh-TW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15</a:t>
            </a:fld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575" y="2777731"/>
            <a:ext cx="4086200" cy="3974483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535" y="2777731"/>
            <a:ext cx="3915103" cy="3436471"/>
          </a:xfrm>
          <a:prstGeom prst="rect">
            <a:avLst/>
          </a:prstGeom>
        </p:spPr>
      </p:pic>
      <p:grpSp>
        <p:nvGrpSpPr>
          <p:cNvPr id="15" name="群組 14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16" name="圓角矩形 15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17" name="圓角矩形 16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圓角矩形 17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設計規範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圓角矩形 18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20" name="向右箭號 19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向右箭號 20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2" name="向右箭號 21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273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資料字典</a:t>
            </a:r>
            <a:r>
              <a:rPr lang="zh-TW" altLang="en-US" dirty="0"/>
              <a:t>之</a:t>
            </a:r>
            <a:r>
              <a:rPr lang="zh-TW" altLang="en-US" dirty="0" smtClean="0"/>
              <a:t>重要性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 smtClean="0"/>
              <a:t>資料字典是用以描述資料庫中各種資料元素的工具，記錄資料檔案中</a:t>
            </a:r>
            <a:r>
              <a:rPr lang="zh-TW" altLang="en-US" sz="2400" dirty="0" smtClean="0">
                <a:solidFill>
                  <a:srgbClr val="C00000"/>
                </a:solidFill>
              </a:rPr>
              <a:t>欄位名稱、資料類型、欄位長度、允許值、是否為主鍵</a:t>
            </a:r>
            <a:r>
              <a:rPr lang="zh-TW" altLang="en-US" sz="2400" dirty="0" smtClean="0"/>
              <a:t>，</a:t>
            </a:r>
            <a:r>
              <a:rPr lang="zh-TW" altLang="en-US" sz="2400" dirty="0"/>
              <a:t>幫助開發者</a:t>
            </a:r>
            <a:r>
              <a:rPr lang="zh-TW" altLang="en-US" sz="2400" dirty="0" smtClean="0"/>
              <a:t>與使用者了解資料的結構與用途。</a:t>
            </a:r>
            <a:endParaRPr lang="en-US" altLang="zh-TW" sz="2400" dirty="0" smtClean="0"/>
          </a:p>
          <a:p>
            <a:pPr>
              <a:spcBef>
                <a:spcPts val="1200"/>
              </a:spcBef>
            </a:pPr>
            <a:r>
              <a:rPr lang="zh-TW" altLang="en-US" sz="2400" dirty="0" smtClean="0"/>
              <a:t>透過</a:t>
            </a:r>
            <a:r>
              <a:rPr lang="zh-TW" altLang="en-US" sz="2400" dirty="0"/>
              <a:t>建立標準化的</a:t>
            </a:r>
            <a:r>
              <a:rPr lang="zh-TW" altLang="en-US" sz="2400" dirty="0" smtClean="0"/>
              <a:t>命名</a:t>
            </a:r>
            <a:r>
              <a:rPr lang="zh-TW" altLang="en-US" sz="2400" dirty="0"/>
              <a:t>慣例、資料類型和</a:t>
            </a:r>
            <a:r>
              <a:rPr lang="zh-TW" altLang="en-US" sz="2400" dirty="0" smtClean="0"/>
              <a:t>定義</a:t>
            </a:r>
            <a:r>
              <a:rPr lang="zh-TW" altLang="en-US" sz="2400" dirty="0"/>
              <a:t>，</a:t>
            </a:r>
            <a:r>
              <a:rPr lang="zh-TW" altLang="en-US" sz="2400" dirty="0" smtClean="0"/>
              <a:t>達成</a:t>
            </a:r>
            <a:r>
              <a:rPr lang="zh-TW" altLang="en-US" sz="2400" dirty="0"/>
              <a:t>：</a:t>
            </a:r>
            <a:endParaRPr lang="en-US" altLang="zh-TW" sz="2400" dirty="0" smtClean="0"/>
          </a:p>
          <a:p>
            <a:pPr lvl="1">
              <a:spcBef>
                <a:spcPts val="600"/>
              </a:spcBef>
            </a:pPr>
            <a:r>
              <a:rPr lang="zh-TW" altLang="en-US" dirty="0">
                <a:solidFill>
                  <a:srgbClr val="C00000"/>
                </a:solidFill>
              </a:rPr>
              <a:t>資料</a:t>
            </a:r>
            <a:r>
              <a:rPr lang="zh-TW" altLang="en-US" dirty="0" smtClean="0">
                <a:solidFill>
                  <a:srgbClr val="C00000"/>
                </a:solidFill>
              </a:rPr>
              <a:t>一致性</a:t>
            </a:r>
            <a:r>
              <a:rPr lang="zh-TW" altLang="en-US" dirty="0" smtClean="0"/>
              <a:t>：</a:t>
            </a:r>
            <a:r>
              <a:rPr lang="zh-TW" altLang="en-US" dirty="0"/>
              <a:t>確保各電腦作業使用定義相同，避免混淆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>
              <a:spcBef>
                <a:spcPts val="600"/>
              </a:spcBef>
            </a:pPr>
            <a:r>
              <a:rPr lang="zh-TW" altLang="en-US" dirty="0" smtClean="0">
                <a:solidFill>
                  <a:srgbClr val="C00000"/>
                </a:solidFill>
              </a:rPr>
              <a:t>資料</a:t>
            </a:r>
            <a:r>
              <a:rPr lang="zh-TW" altLang="en-US" dirty="0">
                <a:solidFill>
                  <a:srgbClr val="C00000"/>
                </a:solidFill>
              </a:rPr>
              <a:t>品質提升</a:t>
            </a:r>
            <a:r>
              <a:rPr lang="zh-TW" altLang="en-US" dirty="0" smtClean="0"/>
              <a:t>：透過規範與定義，有助於確保輸入與儲存資料正確及完整性。</a:t>
            </a:r>
            <a:endParaRPr lang="en-US" altLang="zh-TW" dirty="0" smtClean="0"/>
          </a:p>
          <a:p>
            <a:pPr lvl="1">
              <a:spcBef>
                <a:spcPts val="600"/>
              </a:spcBef>
            </a:pPr>
            <a:r>
              <a:rPr lang="zh-TW" altLang="en-US" dirty="0">
                <a:solidFill>
                  <a:srgbClr val="C00000"/>
                </a:solidFill>
              </a:rPr>
              <a:t>良好溝通橋樑</a:t>
            </a:r>
            <a:r>
              <a:rPr lang="zh-TW" altLang="en-US" dirty="0" smtClean="0"/>
              <a:t>：協助不同部門與開發團隊溝通，清楚了解資料的來源及格式。</a:t>
            </a:r>
            <a:endParaRPr lang="en-US" altLang="zh-TW" dirty="0" smtClean="0"/>
          </a:p>
          <a:p>
            <a:pPr lvl="1">
              <a:spcBef>
                <a:spcPts val="600"/>
              </a:spcBef>
            </a:pPr>
            <a:r>
              <a:rPr lang="zh-TW" altLang="en-US" dirty="0" smtClean="0">
                <a:solidFill>
                  <a:srgbClr val="C00000"/>
                </a:solidFill>
              </a:rPr>
              <a:t>系統維護便利</a:t>
            </a:r>
            <a:r>
              <a:rPr lang="zh-TW" altLang="en-US" dirty="0" smtClean="0"/>
              <a:t>：當系統升級或維護變更時，資料字典可以完成提供資料結構參考。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16</a:t>
            </a:fld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6" name="圓角矩形 5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7" name="圓角矩形 6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資料字典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10" name="向右箭號 9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向右箭號 10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向右箭號 11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976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以資料字典建立資料庫檔案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zh-TW" altLang="en-US" sz="2400" dirty="0" smtClean="0"/>
              <a:t>依照程式設計規範</a:t>
            </a:r>
            <a:r>
              <a:rPr lang="zh-TW" altLang="en-US" sz="2400" dirty="0"/>
              <a:t>命名檔案名稱。</a:t>
            </a:r>
            <a:endParaRPr lang="en-US" altLang="zh-TW" sz="2400" dirty="0" smtClean="0"/>
          </a:p>
          <a:p>
            <a:pPr>
              <a:spcBef>
                <a:spcPts val="0"/>
              </a:spcBef>
            </a:pPr>
            <a:r>
              <a:rPr lang="zh-TW" altLang="en-US" sz="2400" dirty="0" smtClean="0"/>
              <a:t>檔案</a:t>
            </a:r>
            <a:r>
              <a:rPr lang="zh-TW" altLang="en-US" sz="2400" dirty="0"/>
              <a:t>欄位中文輸入後，利用關鍵字組合產生欄位名稱代號。</a:t>
            </a:r>
          </a:p>
          <a:p>
            <a:pPr>
              <a:spcBef>
                <a:spcPts val="0"/>
              </a:spcBef>
            </a:pPr>
            <a:r>
              <a:rPr lang="zh-TW" altLang="en-US" sz="2400" dirty="0" smtClean="0"/>
              <a:t>利用資料字典 </a:t>
            </a:r>
            <a:r>
              <a:rPr lang="en-US" altLang="zh-TW" sz="2400" dirty="0" smtClean="0"/>
              <a:t>(</a:t>
            </a:r>
            <a:r>
              <a:rPr lang="zh-TW" altLang="en-US" sz="2400" dirty="0"/>
              <a:t>電腦檔案欄位說明建檔</a:t>
            </a:r>
            <a:r>
              <a:rPr lang="en-US" altLang="zh-TW" sz="2400" dirty="0" smtClean="0"/>
              <a:t>)</a:t>
            </a:r>
            <a:r>
              <a:rPr lang="zh-TW" altLang="en-US" sz="2400" dirty="0"/>
              <a:t>產生</a:t>
            </a:r>
            <a:r>
              <a:rPr lang="zh-TW" altLang="en-US" sz="2400" dirty="0" smtClean="0"/>
              <a:t>檔案開立語法。</a:t>
            </a:r>
            <a:endParaRPr lang="en-US" altLang="zh-TW" sz="2400" dirty="0" smtClean="0"/>
          </a:p>
          <a:p>
            <a:endParaRPr lang="zh-TW" altLang="en-US" sz="24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17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564" y="2701089"/>
            <a:ext cx="8577064" cy="398633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/>
          <a:srcRect r="34236" b="14201"/>
          <a:stretch/>
        </p:blipFill>
        <p:spPr>
          <a:xfrm>
            <a:off x="6375962" y="3718239"/>
            <a:ext cx="5133550" cy="297368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033673" y="2843784"/>
            <a:ext cx="868680" cy="26652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/>
          <p:cNvCxnSpPr>
            <a:stCxn id="7" idx="3"/>
          </p:cNvCxnSpPr>
          <p:nvPr/>
        </p:nvCxnSpPr>
        <p:spPr>
          <a:xfrm>
            <a:off x="4902353" y="2977048"/>
            <a:ext cx="1473609" cy="99722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群組 16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18" name="圓角矩形 17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19" name="圓角矩形 18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圓角矩形 19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資料字典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圓角矩形 20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22" name="向右箭號 21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3" name="向右箭號 22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4" name="向右箭號 23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9503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資料字典關鍵字建檔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902195" y="1438809"/>
            <a:ext cx="10309144" cy="1270626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應先統</a:t>
            </a:r>
            <a:r>
              <a:rPr lang="zh-TW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整所有機能電腦作業的欄位名稱，共同建立關鍵字。</a:t>
            </a:r>
            <a:endParaRPr lang="en-US" altLang="zh-TW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(FPG</a:t>
            </a:r>
            <a:r>
              <a:rPr lang="zh-TW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目前</a:t>
            </a:r>
            <a:r>
              <a:rPr lang="zh-TW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建檔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5,161</a:t>
            </a:r>
            <a:r>
              <a:rPr lang="zh-TW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筆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zh-TW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關鍵字建檔後，輸入欄位名稱自關鍵字組合產生檔案欄位名稱。</a:t>
            </a:r>
            <a:endParaRPr lang="en-US" altLang="zh-TW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18</a:t>
            </a:fld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1286273" y="2709435"/>
            <a:ext cx="9925066" cy="3106089"/>
            <a:chOff x="1286274" y="2492398"/>
            <a:chExt cx="9925066" cy="3106089"/>
          </a:xfrm>
        </p:grpSpPr>
        <p:pic>
          <p:nvPicPr>
            <p:cNvPr id="6" name="圖片 5"/>
            <p:cNvPicPr>
              <a:picLocks noChangeAspect="1"/>
            </p:cNvPicPr>
            <p:nvPr/>
          </p:nvPicPr>
          <p:blipFill rotWithShape="1">
            <a:blip r:embed="rId2"/>
            <a:srcRect t="58110"/>
            <a:stretch/>
          </p:blipFill>
          <p:spPr>
            <a:xfrm>
              <a:off x="1295404" y="3346704"/>
              <a:ext cx="9915936" cy="333012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04531" y="2492398"/>
              <a:ext cx="9906808" cy="809362"/>
            </a:xfrm>
            <a:prstGeom prst="rect">
              <a:avLst/>
            </a:prstGeom>
          </p:spPr>
        </p:pic>
        <p:pic>
          <p:nvPicPr>
            <p:cNvPr id="8" name="圖片 7"/>
            <p:cNvPicPr>
              <a:picLocks noChangeAspect="1"/>
            </p:cNvPicPr>
            <p:nvPr/>
          </p:nvPicPr>
          <p:blipFill rotWithShape="1">
            <a:blip r:embed="rId4"/>
            <a:srcRect t="44346" b="24511"/>
            <a:stretch/>
          </p:blipFill>
          <p:spPr>
            <a:xfrm>
              <a:off x="1286274" y="4103877"/>
              <a:ext cx="9925065" cy="1494610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1393350" y="5099043"/>
              <a:ext cx="2630010" cy="323349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n>
                  <a:solidFill>
                    <a:schemeClr val="accent5">
                      <a:lumMod val="75000"/>
                    </a:schemeClr>
                  </a:solidFill>
                </a:ln>
                <a:noFill/>
              </a:endParaRPr>
            </a:p>
          </p:txBody>
        </p:sp>
        <p:sp>
          <p:nvSpPr>
            <p:cNvPr id="10" name="向右箭號 9"/>
            <p:cNvSpPr/>
            <p:nvPr/>
          </p:nvSpPr>
          <p:spPr>
            <a:xfrm rot="5400000">
              <a:off x="2519266" y="3731290"/>
              <a:ext cx="378176" cy="321013"/>
            </a:xfrm>
            <a:prstGeom prst="rightArrow">
              <a:avLst/>
            </a:prstGeom>
            <a:solidFill>
              <a:srgbClr val="FFCCCC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12" name="圓角矩形 11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13" name="圓角矩形 12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4" name="圓角矩形 13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資料字典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圓角矩形 14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16" name="向右箭號 15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向右箭號 16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向右箭號 17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6144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檔案留存異動人員資訊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902195" y="1449693"/>
            <a:ext cx="9942589" cy="485146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zh-TW" altLang="en-US" sz="2400" dirty="0" smtClean="0"/>
              <a:t>基準檔、異動檔須留存</a:t>
            </a:r>
            <a:r>
              <a:rPr lang="en-US" altLang="zh-TW" sz="2400" dirty="0" smtClean="0"/>
              <a:t>(</a:t>
            </a:r>
            <a:r>
              <a:rPr lang="zh-TW" altLang="en-US" sz="2400" dirty="0" smtClean="0"/>
              <a:t>最後</a:t>
            </a:r>
            <a:r>
              <a:rPr lang="en-US" altLang="zh-TW" sz="2400" dirty="0" smtClean="0"/>
              <a:t>)</a:t>
            </a:r>
            <a:r>
              <a:rPr lang="zh-TW" altLang="en-US" sz="2400" dirty="0" smtClean="0"/>
              <a:t>異動人員、時間等資訊，以利追查了解資料異動情況。</a:t>
            </a:r>
            <a:endParaRPr lang="en-US" altLang="zh-TW" sz="2400" dirty="0" smtClean="0"/>
          </a:p>
          <a:p>
            <a:pPr>
              <a:spcBef>
                <a:spcPts val="600"/>
              </a:spcBef>
            </a:pPr>
            <a:r>
              <a:rPr lang="zh-TW" altLang="en-US" sz="2400" dirty="0" smtClean="0"/>
              <a:t>異動人員資訊留存亦可供後續電腦作業執行情況確認使用</a:t>
            </a:r>
            <a:r>
              <a:rPr lang="en-US" altLang="zh-TW" sz="2400" dirty="0" smtClean="0"/>
              <a:t>(</a:t>
            </a:r>
            <a:r>
              <a:rPr lang="zh-TW" altLang="en-US" sz="2400" dirty="0" smtClean="0"/>
              <a:t>實施維護階段</a:t>
            </a:r>
            <a:r>
              <a:rPr lang="en-US" altLang="zh-TW" sz="2400" dirty="0" smtClean="0"/>
              <a:t>)</a:t>
            </a:r>
            <a:r>
              <a:rPr lang="zh-TW" altLang="en-US" sz="2400" dirty="0" smtClean="0"/>
              <a:t>。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19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499" y="3171825"/>
            <a:ext cx="9308973" cy="251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074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資料庫關聯物件申請輸入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49967" y="2285415"/>
            <a:ext cx="9961372" cy="4423517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20</a:t>
            </a:fld>
            <a:endParaRPr lang="zh-TW" altLang="en-US" dirty="0"/>
          </a:p>
        </p:txBody>
      </p:sp>
      <p:grpSp>
        <p:nvGrpSpPr>
          <p:cNvPr id="12" name="群組 11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13" name="圓角矩形 12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14" name="圓角矩形 13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圓角矩形 14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授權申請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6" name="圓角矩形 15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17" name="向右箭號 16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向右箭號 17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向右箭號 18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內容版面配置區 2"/>
          <p:cNvSpPr txBox="1">
            <a:spLocks/>
          </p:cNvSpPr>
          <p:nvPr/>
        </p:nvSpPr>
        <p:spPr>
          <a:xfrm>
            <a:off x="902195" y="1438809"/>
            <a:ext cx="10309144" cy="846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8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marL="539750" indent="-198438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2pPr>
            <a:lvl3pPr marL="685783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20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3pPr>
            <a:lvl4pPr marL="1028675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4pPr>
            <a:lvl5pPr marL="1371566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dirty="0" smtClean="0"/>
              <a:t>若電腦作業需要使用其他作業檔，或傳送寫入</a:t>
            </a:r>
            <a:r>
              <a:rPr lang="en-US" altLang="zh-TW" sz="2400" dirty="0" smtClean="0"/>
              <a:t>/</a:t>
            </a:r>
            <a:r>
              <a:rPr lang="zh-TW" altLang="en-US" sz="2400" dirty="0" smtClean="0"/>
              <a:t>更新檔案，需以權限申請單申請授權。</a:t>
            </a:r>
            <a:endParaRPr lang="en-US" altLang="zh-TW" sz="2400" dirty="0" smtClean="0"/>
          </a:p>
          <a:p>
            <a:endParaRPr lang="zh-TW" altLang="en-US" sz="2400" dirty="0"/>
          </a:p>
        </p:txBody>
      </p:sp>
      <p:sp>
        <p:nvSpPr>
          <p:cNvPr id="21" name="矩形 20"/>
          <p:cNvSpPr/>
          <p:nvPr/>
        </p:nvSpPr>
        <p:spPr>
          <a:xfrm>
            <a:off x="4495089" y="3401374"/>
            <a:ext cx="4049105" cy="32334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5">
                    <a:lumMod val="75000"/>
                  </a:schemeClr>
                </a:solidFill>
              </a:ln>
              <a:noFill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144769" y="3832861"/>
            <a:ext cx="4892000" cy="126034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5">
                    <a:lumMod val="75000"/>
                  </a:schemeClr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88132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ERP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制度及程式對照建檔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TW" altLang="en-US" sz="2400" dirty="0" smtClean="0"/>
              <a:t>程式開發完成後，需將各項程式之編號、名稱及類別等建</a:t>
            </a:r>
            <a:r>
              <a:rPr lang="zh-TW" altLang="en-US" sz="2400" dirty="0"/>
              <a:t>檔</a:t>
            </a:r>
            <a:r>
              <a:rPr lang="zh-TW" altLang="en-US" sz="2400" dirty="0" smtClean="0"/>
              <a:t>「</a:t>
            </a:r>
            <a:r>
              <a:rPr lang="zh-TW" altLang="en-US" sz="2400" dirty="0" smtClean="0">
                <a:solidFill>
                  <a:srgbClr val="C00000"/>
                </a:solidFill>
              </a:rPr>
              <a:t>制度與程式對照</a:t>
            </a:r>
            <a:r>
              <a:rPr lang="zh-TW" altLang="en-US" sz="2400" dirty="0" smtClean="0"/>
              <a:t>」</a:t>
            </a:r>
            <a:r>
              <a:rPr lang="zh-TW" altLang="en-US" sz="2400" dirty="0"/>
              <a:t>，</a:t>
            </a:r>
            <a:r>
              <a:rPr lang="zh-TW" altLang="en-US" sz="2400" dirty="0" smtClean="0"/>
              <a:t>才可進行程式派送。派送後回寫最近一次派送人員及時間。</a:t>
            </a:r>
            <a:endParaRPr lang="en-US" altLang="zh-TW" sz="2400" dirty="0" smtClean="0"/>
          </a:p>
          <a:p>
            <a:pPr>
              <a:spcBef>
                <a:spcPts val="300"/>
              </a:spcBef>
            </a:pPr>
            <a:r>
              <a:rPr lang="zh-TW" altLang="en-US" sz="2400" dirty="0" smtClean="0"/>
              <a:t>若程式配合制度檢討取消功能，需註記「作廢註記</a:t>
            </a:r>
            <a:r>
              <a:rPr lang="zh-TW" altLang="en-US" sz="2400" dirty="0"/>
              <a:t>」 </a:t>
            </a:r>
            <a:r>
              <a:rPr lang="zh-TW" altLang="en-US" sz="2400" dirty="0" smtClean="0"/>
              <a:t>。</a:t>
            </a:r>
            <a:endParaRPr lang="en-US" altLang="zh-TW" sz="2400" dirty="0" smtClean="0"/>
          </a:p>
          <a:p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21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990" y="2744484"/>
            <a:ext cx="8718659" cy="3904070"/>
          </a:xfrm>
          <a:prstGeom prst="rect">
            <a:avLst/>
          </a:prstGeom>
        </p:spPr>
      </p:pic>
      <p:grpSp>
        <p:nvGrpSpPr>
          <p:cNvPr id="13" name="群組 12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14" name="圓角矩形 13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15" name="圓角矩形 14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6" name="圓角矩形 15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基礎建檔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圓角矩形 16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18" name="向右箭號 17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向右箭號 18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向右箭號 19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17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程式設計規範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8285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程式設計規範內容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440" y="1482565"/>
            <a:ext cx="8293821" cy="5191144"/>
          </a:xfrm>
          <a:prstGeom prst="rect">
            <a:avLst/>
          </a:prstGeom>
        </p:spPr>
      </p:pic>
      <p:grpSp>
        <p:nvGrpSpPr>
          <p:cNvPr id="5" name="群組 4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6" name="圓角矩形 5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7" name="圓角矩形 6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設計規範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10" name="向右箭號 9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向右箭號 10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向右箭號 11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98" y="1482565"/>
            <a:ext cx="2154174" cy="301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847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程式設計規範目的與綱要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902194" y="1447953"/>
            <a:ext cx="10427221" cy="5068236"/>
          </a:xfrm>
        </p:spPr>
        <p:txBody>
          <a:bodyPr>
            <a:normAutofit/>
          </a:bodyPr>
          <a:lstStyle/>
          <a:p>
            <a:pPr algn="just"/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為使程式設計人員於開發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Developer Suite 11g(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簡稱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DS11g)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程式時有所遵循，</a:t>
            </a:r>
            <a:r>
              <a:rPr lang="zh-TW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統一程式設計原則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，減少程式員學習摸索時間，增加程式設計效率，故訂定本規範。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本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規範主要內容為提供程式員於規劃、設計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DS11g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版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作業所使用之輸出入螢幕、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ON-LINE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報表，以及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unicode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字集環境下之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AIX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批次報表等之設計方法與規定、異常案例解決，並提供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Disk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存取之標準範例程式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TW" alt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制訂</a:t>
            </a:r>
            <a:r>
              <a:rPr lang="zh-TW" altLang="zh-TW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螢幕</a:t>
            </a:r>
            <a:r>
              <a:rPr lang="zh-TW" alt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、報表</a:t>
            </a:r>
            <a:r>
              <a:rPr lang="zh-TW" altLang="zh-TW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程式</a:t>
            </a:r>
            <a:r>
              <a:rPr lang="zh-TW" altLang="zh-TW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開發環境及設計標準</a:t>
            </a:r>
            <a:r>
              <a:rPr lang="zh-TW" altLang="zh-TW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說明</a:t>
            </a:r>
            <a:r>
              <a:rPr lang="zh-TW" alt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實例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簡介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螢幕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程式撰寫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步驟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標準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開發螢幕程式的操作步驟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750" lvl="4" indent="-198438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zh-TW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實例簡介報表程式撰寫</a:t>
            </a:r>
            <a:r>
              <a:rPr lang="zh-TW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步驟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，說明</a:t>
            </a:r>
            <a:r>
              <a:rPr lang="zh-TW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開發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報表程式的操作步驟。</a:t>
            </a:r>
          </a:p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凡程式員於初次參與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DS11g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程式設計前，必須研讀本規範，並依本規範之規定進行程式設計與系統規劃。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24</a:t>
            </a:fld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6" name="圓角矩形 5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7" name="圓角矩形 6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設計規範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10" name="向右箭號 9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向右箭號 10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向右箭號 11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3018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系統設計命名原則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893067" y="1463968"/>
            <a:ext cx="10309144" cy="895436"/>
          </a:xfrm>
        </p:spPr>
        <p:txBody>
          <a:bodyPr>
            <a:noAutofit/>
          </a:bodyPr>
          <a:lstStyle/>
          <a:p>
            <a:r>
              <a:rPr lang="zh-TW" altLang="en-US" sz="2400" dirty="0" smtClean="0"/>
              <a:t>程式設計規範中訂定作業代號、程式名稱、檔案名稱之命名原則，開發作業時據以遵守。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25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65" y="2509591"/>
            <a:ext cx="3851283" cy="195780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654" y="2509591"/>
            <a:ext cx="3913543" cy="365573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416" y="2517802"/>
            <a:ext cx="3765008" cy="2805300"/>
          </a:xfrm>
          <a:prstGeom prst="rect">
            <a:avLst/>
          </a:prstGeom>
        </p:spPr>
      </p:pic>
      <p:grpSp>
        <p:nvGrpSpPr>
          <p:cNvPr id="8" name="群組 7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9" name="圓角矩形 8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圓角矩形 10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設計規範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圓角矩形 11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13" name="向右箭號 12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4" name="向右箭號 13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向右箭號 14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9065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作業別</a:t>
            </a:r>
            <a:r>
              <a:rPr lang="zh-TW" altLang="en-US" dirty="0"/>
              <a:t>與</a:t>
            </a:r>
            <a:r>
              <a:rPr lang="zh-TW" altLang="en-US" dirty="0" smtClean="0"/>
              <a:t>帳號編碼範例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26</a:t>
            </a:fld>
            <a:endParaRPr lang="zh-TW" altLang="en-US" dirty="0"/>
          </a:p>
        </p:txBody>
      </p:sp>
      <p:sp>
        <p:nvSpPr>
          <p:cNvPr id="6" name="流程圖: 換頁接點 5"/>
          <p:cNvSpPr/>
          <p:nvPr/>
        </p:nvSpPr>
        <p:spPr>
          <a:xfrm>
            <a:off x="275208" y="-1"/>
            <a:ext cx="405114" cy="1310793"/>
          </a:xfrm>
          <a:prstGeom prst="flowChartOffpageConnector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r>
              <a:rPr lang="zh-TW" alt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案例</a:t>
            </a:r>
            <a:endParaRPr lang="zh-TW" altLang="en-US" sz="2400" kern="12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242739"/>
              </p:ext>
            </p:extLst>
          </p:nvPr>
        </p:nvGraphicFramePr>
        <p:xfrm>
          <a:off x="893067" y="1661033"/>
          <a:ext cx="10887189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045"/>
                <a:gridCol w="1837944"/>
                <a:gridCol w="2130552"/>
                <a:gridCol w="2002536"/>
                <a:gridCol w="2386584"/>
                <a:gridCol w="193852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項目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機能別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作業別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制度編號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帳號編碼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程式編號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176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編號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原則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碼 </a:t>
                      </a:r>
                      <a:r>
                        <a:rPr lang="zh-TW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</a:t>
                      </a:r>
                      <a:endParaRPr lang="en-US" altLang="zh-TW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碼 </a:t>
                      </a:r>
                      <a:r>
                        <a:rPr lang="zh-TW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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</a:t>
                      </a:r>
                      <a:r>
                        <a:rPr lang="zh-TW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</a:t>
                      </a:r>
                      <a:endParaRPr lang="en-US" altLang="zh-TW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碼 </a:t>
                      </a:r>
                      <a:r>
                        <a:rPr lang="zh-TW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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</a:t>
                      </a:r>
                      <a:r>
                        <a:rPr lang="zh-TW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</a:t>
                      </a:r>
                      <a:endParaRPr lang="en-US" altLang="zh-TW" sz="16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碼</a:t>
                      </a:r>
                      <a:r>
                        <a:rPr lang="zh-TW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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</a:t>
                      </a:r>
                      <a:r>
                        <a:rPr lang="zh-TW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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</a:t>
                      </a:r>
                      <a:r>
                        <a:rPr lang="en-US" altLang="zh-TW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</a:t>
                      </a:r>
                      <a:r>
                        <a:rPr lang="zh-TW" altLang="zh-TW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</a:t>
                      </a:r>
                      <a:r>
                        <a:rPr lang="zh-TW" altLang="en-US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</a:t>
                      </a:r>
                      <a:endParaRPr lang="zh-TW" altLang="zh-TW" sz="16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3432">
                <a:tc vMerge="1">
                  <a:txBody>
                    <a:bodyPr/>
                    <a:lstStyle/>
                    <a:p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人事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／財務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／</a:t>
                      </a:r>
                      <a:endParaRPr lang="en-US" altLang="zh-TW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產銷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／資材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／</a:t>
                      </a:r>
                      <a:endParaRPr lang="en-US" altLang="zh-TW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保養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／工程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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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公司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事業部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)/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地區</a:t>
                      </a:r>
                      <a:endParaRPr lang="en-US" altLang="zh-TW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    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機能別</a:t>
                      </a:r>
                      <a:endParaRPr lang="en-US" altLang="zh-TW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zh-TW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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電腦作業別</a:t>
                      </a:r>
                      <a:endParaRPr lang="en-US" altLang="zh-TW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</a:t>
                      </a:r>
                      <a:r>
                        <a:rPr lang="zh-TW" altLang="en-US" sz="160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機能別</a:t>
                      </a:r>
                      <a:endParaRPr lang="en-US" altLang="zh-TW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    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公司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事業部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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流水位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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               u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正式作業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</a:t>
                      </a:r>
                      <a:r>
                        <a:rPr lang="zh-TW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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作業別</a:t>
                      </a:r>
                      <a:endParaRPr lang="en-US" altLang="zh-TW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</a:t>
                      </a:r>
                      <a:r>
                        <a:rPr lang="en-US" altLang="zh-TW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使用者別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</a:t>
                      </a:r>
                      <a:r>
                        <a:rPr lang="en-US" altLang="zh-TW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zh-TW" altLang="en-US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程式類別</a:t>
                      </a:r>
                      <a:endParaRPr lang="en-US" altLang="zh-TW" sz="16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 </a:t>
                      </a: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公司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事業部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</a:t>
                      </a:r>
                      <a:r>
                        <a:rPr lang="zh-TW" altLang="en-US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    機能別</a:t>
                      </a:r>
                      <a:endParaRPr lang="en-US" altLang="zh-TW" sz="16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</a:t>
                      </a:r>
                      <a:r>
                        <a:rPr lang="en-US" altLang="zh-TW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altLang="en-US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作業別</a:t>
                      </a:r>
                      <a:endParaRPr lang="en-US" altLang="zh-TW" sz="16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</a:t>
                      </a:r>
                      <a:r>
                        <a:rPr lang="zh-TW" altLang="en-US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 流水位</a:t>
                      </a:r>
                      <a:endParaRPr lang="en-US" altLang="zh-TW" sz="16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 </a:t>
                      </a:r>
                      <a:r>
                        <a:rPr lang="en-US" altLang="zh-TW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TW" altLang="en-US" sz="16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 各作業運用 </a:t>
                      </a:r>
                      <a:endParaRPr lang="zh-TW" altLang="zh-TW" sz="16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9976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範例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財務管理</a:t>
                      </a:r>
                      <a:endParaRPr lang="en-US" altLang="zh-TW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一般帳務</a:t>
                      </a:r>
                      <a:endParaRPr lang="en-US" altLang="zh-TW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0NFC1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一般帳務電腦作業</a:t>
                      </a:r>
                      <a:endParaRPr lang="en-US" altLang="zh-TW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F00101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U1NFC1P (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台塑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U2NFC1P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南亞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H0NFCC09</a:t>
                      </a:r>
                    </a:p>
                    <a:p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公司資料資料建檔</a:t>
                      </a:r>
                      <a:endParaRPr lang="en-US" altLang="zh-TW" sz="16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K0NFCC10</a:t>
                      </a:r>
                    </a:p>
                    <a:p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傳票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印表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536">
                <a:tc vMerge="1">
                  <a:txBody>
                    <a:bodyPr/>
                    <a:lstStyle/>
                    <a:p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財務管理</a:t>
                      </a:r>
                      <a:endParaRPr lang="en-US" altLang="zh-TW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一般帳務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大陸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TW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LBFC1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一般帳務電腦作業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大陸地區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FCN101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UPCFC1P (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台塑工業寧波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UPCFC1R(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資料庫連結用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H0NFCC09CN</a:t>
                      </a:r>
                    </a:p>
                    <a:p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公司資料資料建擋</a:t>
                      </a:r>
                      <a:endParaRPr lang="en-US" altLang="zh-TW" sz="16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K0NFCC10CN</a:t>
                      </a:r>
                    </a:p>
                    <a:p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傳票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印表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23310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程式設計規範</a:t>
            </a:r>
            <a:r>
              <a:rPr lang="en-US" altLang="zh-TW" dirty="0"/>
              <a:t>-</a:t>
            </a:r>
            <a:r>
              <a:rPr lang="zh-TW" altLang="en-US" dirty="0"/>
              <a:t>螢幕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提供標準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、說明各物件之設計規定，並以標準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實例簡介螢幕程式撰寫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步驟。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27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62" y="2335319"/>
            <a:ext cx="3389697" cy="4395529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061" y="2335321"/>
            <a:ext cx="3335643" cy="4399586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009" y="2335320"/>
            <a:ext cx="3148571" cy="4395529"/>
          </a:xfrm>
          <a:prstGeom prst="rect">
            <a:avLst/>
          </a:prstGeom>
        </p:spPr>
      </p:pic>
      <p:grpSp>
        <p:nvGrpSpPr>
          <p:cNvPr id="8" name="群組 7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9" name="圓角矩形 8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圓角矩形 10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設計規範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圓角矩形 11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13" name="向右箭號 12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4" name="向右箭號 13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向右箭號 14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5536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內容版面配置區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04447" y="1597761"/>
            <a:ext cx="9831745" cy="456529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程式設計規範</a:t>
            </a:r>
            <a:r>
              <a:rPr lang="en-US" altLang="zh-TW" dirty="0" smtClean="0"/>
              <a:t>-</a:t>
            </a:r>
            <a:r>
              <a:rPr lang="zh-TW" altLang="en-US" dirty="0" smtClean="0"/>
              <a:t>螢幕規範範例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28</a:t>
            </a:fld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6" name="圓角矩形 5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7" name="圓角矩形 6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設計規範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11" name="向右箭號 10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向右箭號 11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3" name="向右箭號 12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流程圖: 換頁接點 13"/>
          <p:cNvSpPr/>
          <p:nvPr/>
        </p:nvSpPr>
        <p:spPr>
          <a:xfrm>
            <a:off x="275208" y="-1"/>
            <a:ext cx="405114" cy="1310793"/>
          </a:xfrm>
          <a:prstGeom prst="flowChartOffpageConnector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r>
              <a:rPr lang="zh-TW" alt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案例</a:t>
            </a:r>
            <a:endParaRPr lang="zh-TW" altLang="en-US" sz="2400" kern="12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489704" y="2071669"/>
            <a:ext cx="3185487" cy="369332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欄位高度、寬度、字體、字型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7" name="直線單箭頭接點 16"/>
          <p:cNvCxnSpPr>
            <a:stCxn id="3" idx="2"/>
          </p:cNvCxnSpPr>
          <p:nvPr/>
        </p:nvCxnSpPr>
        <p:spPr>
          <a:xfrm flipH="1">
            <a:off x="6082447" y="2441001"/>
            <a:ext cx="1" cy="29219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5417399" y="3498380"/>
            <a:ext cx="1569660" cy="369332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下拉選單設定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0" name="直線單箭頭接點 19"/>
          <p:cNvCxnSpPr>
            <a:stCxn id="19" idx="2"/>
          </p:cNvCxnSpPr>
          <p:nvPr/>
        </p:nvCxnSpPr>
        <p:spPr>
          <a:xfrm>
            <a:off x="6202229" y="3867712"/>
            <a:ext cx="0" cy="34308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62852" y="4210797"/>
            <a:ext cx="646331" cy="369332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捲軸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4" name="直線單箭頭接點 23"/>
          <p:cNvCxnSpPr/>
          <p:nvPr/>
        </p:nvCxnSpPr>
        <p:spPr>
          <a:xfrm>
            <a:off x="1133856" y="4379976"/>
            <a:ext cx="320040" cy="548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83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程式設計規範</a:t>
            </a:r>
            <a:r>
              <a:rPr lang="en-US" altLang="zh-TW" dirty="0" smtClean="0"/>
              <a:t>-</a:t>
            </a:r>
            <a:r>
              <a:rPr lang="zh-TW" altLang="en-US" dirty="0"/>
              <a:t>報表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65113" lvl="4" indent="-265113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以實例簡介報表程式撰寫步驟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，說明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開發報表程式的操作步驟。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29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93" y="1920188"/>
            <a:ext cx="3399846" cy="451987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398" y="1920188"/>
            <a:ext cx="3499333" cy="4519873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4981" y="1920188"/>
            <a:ext cx="3528443" cy="4519873"/>
          </a:xfrm>
          <a:prstGeom prst="rect">
            <a:avLst/>
          </a:prstGeom>
        </p:spPr>
      </p:pic>
      <p:grpSp>
        <p:nvGrpSpPr>
          <p:cNvPr id="8" name="群組 7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9" name="圓角矩形 8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圓角矩形 10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設計規範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圓角矩形 11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13" name="向右箭號 12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4" name="向右箭號 13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向右箭號 14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47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程式設計規範</a:t>
            </a:r>
            <a:r>
              <a:rPr lang="en-US" altLang="zh-TW" dirty="0" smtClean="0"/>
              <a:t>-</a:t>
            </a:r>
            <a:r>
              <a:rPr lang="zh-TW" altLang="en-US" dirty="0" smtClean="0"/>
              <a:t>報表規範</a:t>
            </a:r>
            <a:r>
              <a:rPr lang="zh-TW" altLang="en-US" dirty="0"/>
              <a:t>範例</a:t>
            </a: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493971" y="1567915"/>
            <a:ext cx="8250700" cy="5126101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30</a:t>
            </a:fld>
            <a:endParaRPr lang="zh-TW" altLang="en-US" dirty="0"/>
          </a:p>
        </p:txBody>
      </p:sp>
      <p:grpSp>
        <p:nvGrpSpPr>
          <p:cNvPr id="14" name="群組 13"/>
          <p:cNvGrpSpPr/>
          <p:nvPr/>
        </p:nvGrpSpPr>
        <p:grpSpPr>
          <a:xfrm>
            <a:off x="1347404" y="994674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15" name="圓角矩形 14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</p:txBody>
        </p:sp>
        <p:sp>
          <p:nvSpPr>
            <p:cNvPr id="16" name="圓角矩形 15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圓角矩形 16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5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設計規範</a:t>
              </a:r>
              <a:r>
                <a:rPr lang="en-US" altLang="zh-TW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圓角矩形 17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19" name="向右箭號 18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向右箭號 19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向右箭號 20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流程圖: 換頁接點 29"/>
          <p:cNvSpPr/>
          <p:nvPr/>
        </p:nvSpPr>
        <p:spPr>
          <a:xfrm>
            <a:off x="275208" y="-1"/>
            <a:ext cx="405114" cy="1310793"/>
          </a:xfrm>
          <a:prstGeom prst="flowChartOffpageConnector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r>
              <a:rPr lang="zh-TW" alt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案例</a:t>
            </a:r>
            <a:endParaRPr lang="zh-TW" altLang="en-US" sz="2400" kern="12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749740" y="1463968"/>
            <a:ext cx="2492990" cy="369332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字體、寬度、數字格式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2" name="直線單箭頭接點 31"/>
          <p:cNvCxnSpPr>
            <a:stCxn id="31" idx="2"/>
          </p:cNvCxnSpPr>
          <p:nvPr/>
        </p:nvCxnSpPr>
        <p:spPr>
          <a:xfrm>
            <a:off x="2996235" y="1833300"/>
            <a:ext cx="1246495" cy="46561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9391076" y="3298864"/>
            <a:ext cx="1107996" cy="369332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報表邊界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6" name="直線單箭頭接點 35"/>
          <p:cNvCxnSpPr>
            <a:stCxn id="33" idx="0"/>
          </p:cNvCxnSpPr>
          <p:nvPr/>
        </p:nvCxnSpPr>
        <p:spPr>
          <a:xfrm flipH="1" flipV="1">
            <a:off x="9656064" y="2441448"/>
            <a:ext cx="289010" cy="85741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9908107" y="1710008"/>
            <a:ext cx="1338828" cy="369332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日期、頁次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40" name="直線單箭頭接點 39"/>
          <p:cNvCxnSpPr>
            <a:stCxn id="38" idx="1"/>
          </p:cNvCxnSpPr>
          <p:nvPr/>
        </p:nvCxnSpPr>
        <p:spPr>
          <a:xfrm flipH="1">
            <a:off x="9528048" y="1894674"/>
            <a:ext cx="380059" cy="1960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55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字版面配置區 5">
            <a:extLst>
              <a:ext uri="{FF2B5EF4-FFF2-40B4-BE49-F238E27FC236}">
                <a16:creationId xmlns:a16="http://schemas.microsoft.com/office/drawing/2014/main" xmlns="" id="{BA3CF485-C6C6-E6C8-6545-51AADA8BC744}"/>
              </a:ext>
            </a:extLst>
          </p:cNvPr>
          <p:cNvSpPr txBox="1">
            <a:spLocks/>
          </p:cNvSpPr>
          <p:nvPr/>
        </p:nvSpPr>
        <p:spPr>
          <a:xfrm>
            <a:off x="9161228" y="4041328"/>
            <a:ext cx="2715087" cy="454472"/>
          </a:xfrm>
          <a:prstGeom prst="rect">
            <a:avLst/>
          </a:prstGeom>
        </p:spPr>
        <p:txBody>
          <a:bodyPr>
            <a:no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800" dirty="0">
                <a:solidFill>
                  <a:schemeClr val="accent2">
                    <a:lumMod val="90000"/>
                  </a:schemeClr>
                </a:solidFill>
                <a:latin typeface="Arial Black" panose="020B0A04020102020204" pitchFamily="34" charset="0"/>
                <a:ea typeface="標楷體" panose="03000509000000000000" pitchFamily="65" charset="-120"/>
              </a:rPr>
              <a:t>Thank You</a:t>
            </a:r>
            <a:endParaRPr lang="zh-TW" altLang="en-US" sz="2800" dirty="0">
              <a:solidFill>
                <a:schemeClr val="accent2">
                  <a:lumMod val="90000"/>
                </a:schemeClr>
              </a:solidFill>
              <a:latin typeface="Arial Black" panose="020B0A040201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1A6D12F-1428-79A2-8A5E-0BAC7C5E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165" y="3021496"/>
            <a:ext cx="10087669" cy="695176"/>
          </a:xfrm>
        </p:spPr>
        <p:txBody>
          <a:bodyPr>
            <a:normAutofit/>
          </a:bodyPr>
          <a:lstStyle/>
          <a:p>
            <a:r>
              <a:rPr lang="zh-TW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以上報告</a:t>
            </a:r>
          </a:p>
        </p:txBody>
      </p:sp>
    </p:spTree>
    <p:extLst>
      <p:ext uri="{BB962C8B-B14F-4D97-AF65-F5344CB8AC3E}">
        <p14:creationId xmlns:p14="http://schemas.microsoft.com/office/powerpoint/2010/main" val="3581906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單線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6">
              <a:lumMod val="75000"/>
            </a:schemeClr>
          </a:solidFill>
        </a:ln>
      </a:spPr>
      <a:bodyPr spcFirstLastPara="0" vert="horz" wrap="square" lIns="137160" tIns="137160" rIns="137160" bIns="136800" numCol="1" spcCol="1270" anchor="t" anchorCtr="0">
        <a:noAutofit/>
      </a:bodyPr>
      <a:lstStyle>
        <a:defPPr algn="ctr" defTabSz="1600200">
          <a:spcBef>
            <a:spcPct val="0"/>
          </a:spcBef>
          <a:defRPr sz="3600" kern="1200" dirty="0" smtClean="0"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defRPr>
        </a:defPPr>
      </a:lstStyle>
      <a:style>
        <a:lnRef idx="0">
          <a:scrgbClr r="0" g="0" b="0"/>
        </a:lnRef>
        <a:fillRef idx="1">
          <a:schemeClr val="accent2">
            <a:tint val="40000"/>
            <a:hueOff val="0"/>
            <a:satOff val="0"/>
            <a:lumOff val="0"/>
            <a:alphaOff val="0"/>
          </a:schemeClr>
        </a:fillRef>
        <a:effectRef idx="0">
          <a:schemeClr val="accent2">
            <a:tint val="40000"/>
            <a:hueOff val="0"/>
            <a:satOff val="0"/>
            <a:lumOff val="0"/>
            <a:alphaOff val="0"/>
          </a:schemeClr>
        </a:effectRef>
        <a:fontRef idx="minor">
          <a:schemeClr val="dk1">
            <a:hueOff val="0"/>
            <a:satOff val="0"/>
            <a:lumOff val="0"/>
            <a:alphaOff val="0"/>
          </a:schemeClr>
        </a:fontRef>
      </a:style>
    </a:spDef>
  </a:objectDefaults>
  <a:extraClrSchemeLst/>
  <a:extLst>
    <a:ext uri="{05A4C25C-085E-4340-85A3-A5531E510DB2}">
      <thm15:themeFamily xmlns:thm15="http://schemas.microsoft.com/office/thememl/2012/main" name="Monoline" id="{080CB5C6-FA0A-40B0-8C1A-A4BA88D91EE0}" vid="{DC98E595-77B2-413A-A4EA-B47400BD13C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令人眼睛為之一亮的極簡風銷售宣傳</Template>
  <TotalTime>11842</TotalTime>
  <Words>1825</Words>
  <Application>Microsoft Office PowerPoint</Application>
  <PresentationFormat>寬螢幕</PresentationFormat>
  <Paragraphs>326</Paragraphs>
  <Slides>31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41" baseType="lpstr">
      <vt:lpstr>Microsoft JhengHei UI</vt:lpstr>
      <vt:lpstr>Tenorite</vt:lpstr>
      <vt:lpstr>新細明體</vt:lpstr>
      <vt:lpstr>標楷體</vt:lpstr>
      <vt:lpstr>Arial</vt:lpstr>
      <vt:lpstr>Arial Black</vt:lpstr>
      <vt:lpstr>Calibri</vt:lpstr>
      <vt:lpstr>Times New Roman</vt:lpstr>
      <vt:lpstr>Wingdings</vt:lpstr>
      <vt:lpstr>單線</vt:lpstr>
      <vt:lpstr>PowerPoint 簡報</vt:lpstr>
      <vt:lpstr>資訊系統設計程序</vt:lpstr>
      <vt:lpstr>電腦作業設計開發</vt:lpstr>
      <vt:lpstr>程式履歷建置目的及範圍</vt:lpstr>
      <vt:lpstr>應用軟體管理作業資料架構圖 </vt:lpstr>
      <vt:lpstr>應用軟體管理作業基礎資料er示意</vt:lpstr>
      <vt:lpstr>以增設「制度&amp;電腦作業」介紹應用軟體管理作業</vt:lpstr>
      <vt:lpstr>基礎建置-制度基礎資料建檔</vt:lpstr>
      <vt:lpstr>基礎建置-erp制度及程式人員對照建檔</vt:lpstr>
      <vt:lpstr>電腦作業使用申請-AIX系統使用申請單</vt:lpstr>
      <vt:lpstr>程式履歷-資料庫帳號/AIX帳號負責人員</vt:lpstr>
      <vt:lpstr>Erp制度及資料庫帳號對照建檔</vt:lpstr>
      <vt:lpstr>電腦作業使用申請-NT系統使用申請單</vt:lpstr>
      <vt:lpstr>ERP電腦設定管理</vt:lpstr>
      <vt:lpstr>程式開發設計-依據程式設計規範</vt:lpstr>
      <vt:lpstr>資料字典之重要性</vt:lpstr>
      <vt:lpstr>以資料字典建立資料庫檔案</vt:lpstr>
      <vt:lpstr>資料字典關鍵字建檔</vt:lpstr>
      <vt:lpstr>檔案留存異動人員資訊</vt:lpstr>
      <vt:lpstr>資料庫關聯物件申請輸入</vt:lpstr>
      <vt:lpstr>ERP制度及程式對照建檔</vt:lpstr>
      <vt:lpstr>程式設計規範</vt:lpstr>
      <vt:lpstr>程式設計規範內容</vt:lpstr>
      <vt:lpstr>程式設計規範目的與綱要</vt:lpstr>
      <vt:lpstr>系統設計命名原則</vt:lpstr>
      <vt:lpstr>作業別與帳號編碼範例</vt:lpstr>
      <vt:lpstr>程式設計規範-螢幕</vt:lpstr>
      <vt:lpstr>程式設計規範-螢幕規範範例</vt:lpstr>
      <vt:lpstr>程式設計規範-報表</vt:lpstr>
      <vt:lpstr>程式設計規範-報表規範範例</vt:lpstr>
      <vt:lpstr>以上報告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00RKD0/李靜媚</dc:creator>
  <cp:lastModifiedBy>00RKD0/李靜媚</cp:lastModifiedBy>
  <cp:revision>3450</cp:revision>
  <cp:lastPrinted>2025-03-15T02:52:48Z</cp:lastPrinted>
  <dcterms:created xsi:type="dcterms:W3CDTF">2025-01-10T07:02:16Z</dcterms:created>
  <dcterms:modified xsi:type="dcterms:W3CDTF">2025-04-25T06:21:26Z</dcterms:modified>
</cp:coreProperties>
</file>