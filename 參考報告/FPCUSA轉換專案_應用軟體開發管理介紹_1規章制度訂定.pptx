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98" r:id="rId1"/>
  </p:sldMasterIdLst>
  <p:notesMasterIdLst>
    <p:notesMasterId r:id="rId21"/>
  </p:notesMasterIdLst>
  <p:handoutMasterIdLst>
    <p:handoutMasterId r:id="rId22"/>
  </p:handoutMasterIdLst>
  <p:sldIdLst>
    <p:sldId id="477" r:id="rId2"/>
    <p:sldId id="558" r:id="rId3"/>
    <p:sldId id="559" r:id="rId4"/>
    <p:sldId id="560" r:id="rId5"/>
    <p:sldId id="551" r:id="rId6"/>
    <p:sldId id="552" r:id="rId7"/>
    <p:sldId id="553" r:id="rId8"/>
    <p:sldId id="554" r:id="rId9"/>
    <p:sldId id="555" r:id="rId10"/>
    <p:sldId id="490" r:id="rId11"/>
    <p:sldId id="534" r:id="rId12"/>
    <p:sldId id="499" r:id="rId13"/>
    <p:sldId id="500" r:id="rId14"/>
    <p:sldId id="512" r:id="rId15"/>
    <p:sldId id="536" r:id="rId16"/>
    <p:sldId id="535" r:id="rId17"/>
    <p:sldId id="562" r:id="rId18"/>
    <p:sldId id="561" r:id="rId19"/>
    <p:sldId id="563" r:id="rId20"/>
  </p:sldIdLst>
  <p:sldSz cx="12192000" cy="6858000"/>
  <p:notesSz cx="7099300" cy="10234613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EFEF"/>
    <a:srgbClr val="FFEBEB"/>
    <a:srgbClr val="FFE5E5"/>
    <a:srgbClr val="FF7D7D"/>
    <a:srgbClr val="ECA890"/>
    <a:srgbClr val="FFCCCC"/>
    <a:srgbClr val="CC0099"/>
    <a:srgbClr val="00FF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855" autoAdjust="0"/>
    <p:restoredTop sz="93834" autoAdjust="0"/>
  </p:normalViewPr>
  <p:slideViewPr>
    <p:cSldViewPr snapToGrid="0">
      <p:cViewPr varScale="1">
        <p:scale>
          <a:sx n="83" d="100"/>
          <a:sy n="83" d="100"/>
        </p:scale>
        <p:origin x="3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35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4021296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r">
              <a:defRPr sz="1300"/>
            </a:lvl1pPr>
          </a:lstStyle>
          <a:p>
            <a:fld id="{CD7244E6-A45F-460D-B8BE-008BF35B8B56}" type="datetimeFigureOut">
              <a:rPr lang="zh-TW" altLang="en-US" smtClean="0"/>
              <a:t>2025/4/24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1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4021296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r">
              <a:defRPr sz="1300"/>
            </a:lvl1pPr>
          </a:lstStyle>
          <a:p>
            <a:fld id="{47D59402-F725-4F0C-997F-82DBBA4FFCA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98554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6" y="1"/>
            <a:ext cx="3076363" cy="513507"/>
          </a:xfrm>
          <a:prstGeom prst="rect">
            <a:avLst/>
          </a:prstGeom>
        </p:spPr>
        <p:txBody>
          <a:bodyPr vert="horz" lIns="99035" tIns="49517" rIns="99035" bIns="49517" rtlCol="0"/>
          <a:lstStyle>
            <a:lvl1pPr algn="r">
              <a:defRPr sz="1300"/>
            </a:lvl1pPr>
          </a:lstStyle>
          <a:p>
            <a:fld id="{FFB4414E-9775-444A-BBDC-C9A7AB718EBA}" type="datetimeFigureOut">
              <a:rPr lang="zh-TW" altLang="en-US" smtClean="0"/>
              <a:t>2025/4/24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5" tIns="49517" rIns="99035" bIns="49517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1" y="4925407"/>
            <a:ext cx="5679440" cy="4029879"/>
          </a:xfrm>
          <a:prstGeom prst="rect">
            <a:avLst/>
          </a:prstGeom>
        </p:spPr>
        <p:txBody>
          <a:bodyPr vert="horz" lIns="99035" tIns="49517" rIns="99035" bIns="49517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6" y="9721108"/>
            <a:ext cx="3076363" cy="513506"/>
          </a:xfrm>
          <a:prstGeom prst="rect">
            <a:avLst/>
          </a:prstGeom>
        </p:spPr>
        <p:txBody>
          <a:bodyPr vert="horz" lIns="99035" tIns="49517" rIns="99035" bIns="49517" rtlCol="0" anchor="b"/>
          <a:lstStyle>
            <a:lvl1pPr algn="r">
              <a:defRPr sz="1300"/>
            </a:lvl1pPr>
          </a:lstStyle>
          <a:p>
            <a:fld id="{9A9FE17B-0309-43F4-A166-43322B09A8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3024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形 6">
            <a:extLst>
              <a:ext uri="{FF2B5EF4-FFF2-40B4-BE49-F238E27FC236}">
                <a16:creationId xmlns:a16="http://schemas.microsoft.com/office/drawing/2014/main" xmlns="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" y="0"/>
            <a:ext cx="5581651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xmlns="" id="{C2FF67A8-55FA-435D-A18C-96D63D22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368" y="1999072"/>
            <a:ext cx="7213773" cy="2344128"/>
          </a:xfrm>
        </p:spPr>
        <p:txBody>
          <a:bodyPr rtlCol="0" anchor="t">
            <a:normAutofit/>
          </a:bodyPr>
          <a:lstStyle>
            <a:lvl1pPr>
              <a:defRPr lang="en-US" sz="33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xmlns="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版面配置區 15">
            <a:extLst>
              <a:ext uri="{FF2B5EF4-FFF2-40B4-BE49-F238E27FC236}">
                <a16:creationId xmlns:a16="http://schemas.microsoft.com/office/drawing/2014/main" xmlns="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0595" y="4548557"/>
            <a:ext cx="5433204" cy="557949"/>
          </a:xfrm>
        </p:spPr>
        <p:txBody>
          <a:bodyPr rtlCol="0">
            <a:noAutofit/>
          </a:bodyPr>
          <a:lstStyle>
            <a:lvl1pPr marL="0" indent="0" algn="r">
              <a:buNone/>
              <a:defRPr lang="en-US" sz="24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12" name="文字版面配置區 18">
            <a:extLst>
              <a:ext uri="{FF2B5EF4-FFF2-40B4-BE49-F238E27FC236}">
                <a16:creationId xmlns:a16="http://schemas.microsoft.com/office/drawing/2014/main" xmlns="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0169" y="5070800"/>
            <a:ext cx="5431971" cy="557950"/>
          </a:xfrm>
        </p:spPr>
        <p:txBody>
          <a:bodyPr rtlCol="0">
            <a:normAutofit/>
          </a:bodyPr>
          <a:lstStyle>
            <a:lvl1pPr marL="0" indent="0" algn="r">
              <a:lnSpc>
                <a:spcPct val="100000"/>
              </a:lnSpc>
              <a:buFont typeface="Arial" panose="020B0604020202020204" pitchFamily="34" charset="0"/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 rtl="0"/>
            <a:r>
              <a:rPr lang="zh-TW" altLang="en-US" noProof="0"/>
              <a:t>按一下以新增文字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xmlns="" id="{6F23D57C-71E3-D301-678A-AF122B3AE575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xmlns="" id="{2E2F1B79-217A-1201-EB4E-E0DE79F6A1C2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zh-TW" altLang="en-US" noProof="0"/>
              <a:t>募資簡報</a:t>
            </a:r>
          </a:p>
        </p:txBody>
      </p:sp>
      <p:pic>
        <p:nvPicPr>
          <p:cNvPr id="6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9262" y="359491"/>
            <a:ext cx="2523960" cy="14391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4873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形 9">
            <a:extLst>
              <a:ext uri="{FF2B5EF4-FFF2-40B4-BE49-F238E27FC236}">
                <a16:creationId xmlns:a16="http://schemas.microsoft.com/office/drawing/2014/main" xmlns="" id="{B78E600B-75F0-914B-6801-EF32B73C9A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7"/>
            <a:ext cx="12192000" cy="130458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7" y="202300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xmlns="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2195" y="1310793"/>
            <a:ext cx="10309144" cy="4851468"/>
          </a:xfrm>
        </p:spPr>
        <p:txBody>
          <a:bodyPr rtlCol="0">
            <a:normAutofit/>
          </a:bodyPr>
          <a:lstStyle>
            <a:lvl1pPr marL="265113" indent="-265113">
              <a:lnSpc>
                <a:spcPct val="100000"/>
              </a:lnSpc>
              <a:buFont typeface="Arial" panose="020B0604020202020204" pitchFamily="34" charset="0"/>
              <a:buChar char="•"/>
              <a:defRPr sz="28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539750" indent="-198438">
              <a:lnSpc>
                <a:spcPct val="100000"/>
              </a:lnSpc>
              <a:buFont typeface="Arial" panose="020B0604020202020204" pitchFamily="34" charset="0"/>
              <a:buChar char="•"/>
              <a:defRPr sz="24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685783" indent="0">
              <a:lnSpc>
                <a:spcPct val="100000"/>
              </a:lnSpc>
              <a:buNone/>
              <a:defRPr sz="20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028675" indent="0">
              <a:lnSpc>
                <a:spcPct val="100000"/>
              </a:lnSpc>
              <a:buNone/>
              <a:defRPr sz="135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1371566" indent="0">
              <a:lnSpc>
                <a:spcPct val="100000"/>
              </a:lnSpc>
              <a:buNone/>
              <a:defRPr sz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cxnSp>
        <p:nvCxnSpPr>
          <p:cNvPr id="16" name="直線接點​​(S) 15">
            <a:extLst>
              <a:ext uri="{FF2B5EF4-FFF2-40B4-BE49-F238E27FC236}">
                <a16:creationId xmlns:a16="http://schemas.microsoft.com/office/drawing/2014/main" xmlns="" id="{463D7850-C2A6-43CE-BBE4-8E81A0A593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1" y="0"/>
            <a:ext cx="1238251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​​(S) 19">
            <a:extLst>
              <a:ext uri="{FF2B5EF4-FFF2-40B4-BE49-F238E27FC236}">
                <a16:creationId xmlns:a16="http://schemas.microsoft.com/office/drawing/2014/main" xmlns="" id="{EBAD3E03-2E3B-440C-9105-6F9D33006D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箭號: 五邊形 13">
            <a:extLst>
              <a:ext uri="{FF2B5EF4-FFF2-40B4-BE49-F238E27FC236}">
                <a16:creationId xmlns:a16="http://schemas.microsoft.com/office/drawing/2014/main" xmlns="" id="{3FC410D8-08EC-6B6C-CF9E-49566E7B2403}"/>
              </a:ext>
            </a:extLst>
          </p:cNvPr>
          <p:cNvSpPr/>
          <p:nvPr userDrawn="1"/>
        </p:nvSpPr>
        <p:spPr>
          <a:xfrm rot="10800000">
            <a:off x="11817670" y="1052902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投影片編號版面配置區 4">
            <a:extLst>
              <a:ext uri="{FF2B5EF4-FFF2-40B4-BE49-F238E27FC236}">
                <a16:creationId xmlns:a16="http://schemas.microsoft.com/office/drawing/2014/main" xmlns="" id="{21222846-DFB3-5578-082A-603B19D1EB9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43853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箭號: 五邊形 13">
            <a:extLst>
              <a:ext uri="{FF2B5EF4-FFF2-40B4-BE49-F238E27FC236}">
                <a16:creationId xmlns:a16="http://schemas.microsoft.com/office/drawing/2014/main" xmlns="" id="{3FC410D8-08EC-6B6C-CF9E-49566E7B2403}"/>
              </a:ext>
            </a:extLst>
          </p:cNvPr>
          <p:cNvSpPr/>
          <p:nvPr userDrawn="1"/>
        </p:nvSpPr>
        <p:spPr>
          <a:xfrm rot="10800000">
            <a:off x="11817670" y="1052902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形 9">
            <a:extLst>
              <a:ext uri="{FF2B5EF4-FFF2-40B4-BE49-F238E27FC236}">
                <a16:creationId xmlns:a16="http://schemas.microsoft.com/office/drawing/2014/main" xmlns="" id="{B78E600B-75F0-914B-6801-EF32B73C9A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7"/>
            <a:ext cx="12192000" cy="1304587"/>
          </a:xfrm>
          <a:prstGeom prst="rect">
            <a:avLst/>
          </a:prstGeom>
        </p:spPr>
      </p:pic>
      <p:cxnSp>
        <p:nvCxnSpPr>
          <p:cNvPr id="16" name="直線接點​​(S) 15">
            <a:extLst>
              <a:ext uri="{FF2B5EF4-FFF2-40B4-BE49-F238E27FC236}">
                <a16:creationId xmlns:a16="http://schemas.microsoft.com/office/drawing/2014/main" xmlns="" id="{463D7850-C2A6-43CE-BBE4-8E81A0A593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1" y="0"/>
            <a:ext cx="1238251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​​(S) 19">
            <a:extLst>
              <a:ext uri="{FF2B5EF4-FFF2-40B4-BE49-F238E27FC236}">
                <a16:creationId xmlns:a16="http://schemas.microsoft.com/office/drawing/2014/main" xmlns="" id="{EBAD3E03-2E3B-440C-9105-6F9D33006D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標題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7" y="202300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pic>
        <p:nvPicPr>
          <p:cNvPr id="11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投影片編號版面配置區 4">
            <a:extLst>
              <a:ext uri="{FF2B5EF4-FFF2-40B4-BE49-F238E27FC236}">
                <a16:creationId xmlns:a16="http://schemas.microsoft.com/office/drawing/2014/main" xmlns="" id="{21222846-DFB3-5578-082A-603B19D1EB9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631205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形 10">
            <a:extLst>
              <a:ext uri="{FF2B5EF4-FFF2-40B4-BE49-F238E27FC236}">
                <a16:creationId xmlns:a16="http://schemas.microsoft.com/office/drawing/2014/main" xmlns="" id="{D600C692-560F-EE93-3168-FE5CBBFD5C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7837716" y="0"/>
            <a:ext cx="4354288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350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21" name="直線接點​​(S) 22">
            <a:extLst>
              <a:ext uri="{FF2B5EF4-FFF2-40B4-BE49-F238E27FC236}">
                <a16:creationId xmlns:a16="http://schemas.microsoft.com/office/drawing/2014/main" xmlns="" id="{BB742DF6-4A43-B5CF-AEDA-4E379B6589E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4599432"/>
            <a:ext cx="1710216" cy="2258568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​​(S) 11">
            <a:extLst>
              <a:ext uri="{FF2B5EF4-FFF2-40B4-BE49-F238E27FC236}">
                <a16:creationId xmlns:a16="http://schemas.microsoft.com/office/drawing/2014/main" xmlns="" id="{EB864DD1-893C-9A69-1317-8403F03DC838}"/>
              </a:ext>
            </a:extLst>
          </p:cNvPr>
          <p:cNvCxnSpPr>
            <a:cxnSpLocks/>
          </p:cNvCxnSpPr>
          <p:nvPr userDrawn="1"/>
        </p:nvCxnSpPr>
        <p:spPr>
          <a:xfrm>
            <a:off x="0" y="5895413"/>
            <a:ext cx="12192003" cy="64350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F2B99E9-A78D-ABE6-EB34-A1AEF2CA3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7" y="202300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12" name="箭號: 五邊形 11">
            <a:extLst>
              <a:ext uri="{FF2B5EF4-FFF2-40B4-BE49-F238E27FC236}">
                <a16:creationId xmlns:a16="http://schemas.microsoft.com/office/drawing/2014/main" xmlns="" id="{A75AFB73-C2A6-6EB5-4195-7721E9AE2A30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投影片編號版面配置區 4">
            <a:extLst>
              <a:ext uri="{FF2B5EF4-FFF2-40B4-BE49-F238E27FC236}">
                <a16:creationId xmlns:a16="http://schemas.microsoft.com/office/drawing/2014/main" xmlns="" id="{6A8EBA31-886C-3E7F-9861-255D8A4535C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xmlns="" id="{0508D6D0-1AAC-252D-A6B0-59F6E9994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2195" y="1310793"/>
            <a:ext cx="10309144" cy="4851468"/>
          </a:xfrm>
        </p:spPr>
        <p:txBody>
          <a:bodyPr rtlCol="0">
            <a:normAutofit/>
          </a:bodyPr>
          <a:lstStyle>
            <a:lvl1pPr marL="265113" indent="-265113">
              <a:lnSpc>
                <a:spcPct val="100000"/>
              </a:lnSpc>
              <a:buFont typeface="Arial" panose="020B0604020202020204" pitchFamily="34" charset="0"/>
              <a:buChar char="•"/>
              <a:defRPr sz="28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539750" indent="-198438">
              <a:lnSpc>
                <a:spcPct val="100000"/>
              </a:lnSpc>
              <a:buFont typeface="Arial" panose="020B0604020202020204" pitchFamily="34" charset="0"/>
              <a:buChar char="•"/>
              <a:defRPr sz="24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 marL="685783" indent="0">
              <a:lnSpc>
                <a:spcPct val="100000"/>
              </a:lnSpc>
              <a:buNone/>
              <a:defRPr sz="20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 marL="1028675" indent="0">
              <a:lnSpc>
                <a:spcPct val="100000"/>
              </a:lnSpc>
              <a:buNone/>
              <a:defRPr sz="135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 marL="1371566" indent="0">
              <a:lnSpc>
                <a:spcPct val="100000"/>
              </a:lnSpc>
              <a:buNone/>
              <a:defRPr sz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2165607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議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圖形 10">
            <a:extLst>
              <a:ext uri="{FF2B5EF4-FFF2-40B4-BE49-F238E27FC236}">
                <a16:creationId xmlns:a16="http://schemas.microsoft.com/office/drawing/2014/main" xmlns="" id="{D600C692-560F-EE93-3168-FE5CBBFD5C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7832944" y="-6479"/>
            <a:ext cx="4354288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350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3" y="404588"/>
            <a:ext cx="9324031" cy="900000"/>
          </a:xfrm>
        </p:spPr>
        <p:txBody>
          <a:bodyPr rtlCol="0">
            <a:normAutofit/>
          </a:bodyPr>
          <a:lstStyle>
            <a:lvl1pPr algn="l">
              <a:defRPr lang="en-US" sz="32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pic>
        <p:nvPicPr>
          <p:cNvPr id="16" name="圖形 10">
            <a:extLst>
              <a:ext uri="{FF2B5EF4-FFF2-40B4-BE49-F238E27FC236}">
                <a16:creationId xmlns:a16="http://schemas.microsoft.com/office/drawing/2014/main" xmlns="" id="{B38B0D13-BD5F-460B-B337-F4A9342026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70137" y="1638302"/>
            <a:ext cx="4320000" cy="2235356"/>
          </a:xfrm>
          <a:prstGeom prst="rect">
            <a:avLst/>
          </a:prstGeom>
        </p:spPr>
      </p:pic>
      <p:pic>
        <p:nvPicPr>
          <p:cNvPr id="17" name="圖形 12">
            <a:extLst>
              <a:ext uri="{FF2B5EF4-FFF2-40B4-BE49-F238E27FC236}">
                <a16:creationId xmlns:a16="http://schemas.microsoft.com/office/drawing/2014/main" xmlns="" id="{BE72876B-D3DA-4462-9E24-3354D8D02A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594493" y="4023138"/>
            <a:ext cx="4320000" cy="2201994"/>
          </a:xfrm>
          <a:prstGeom prst="rect">
            <a:avLst/>
          </a:prstGeom>
        </p:spPr>
      </p:pic>
      <p:pic>
        <p:nvPicPr>
          <p:cNvPr id="18" name="圖形 14">
            <a:extLst>
              <a:ext uri="{FF2B5EF4-FFF2-40B4-BE49-F238E27FC236}">
                <a16:creationId xmlns:a16="http://schemas.microsoft.com/office/drawing/2014/main" xmlns="" id="{14A539B6-6E3F-41BA-ACE2-76E8BB65163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450600" y="1914668"/>
            <a:ext cx="4320000" cy="2328378"/>
          </a:xfrm>
          <a:prstGeom prst="rect">
            <a:avLst/>
          </a:prstGeom>
        </p:spPr>
      </p:pic>
      <p:sp>
        <p:nvSpPr>
          <p:cNvPr id="19" name="文字版面配置區 15">
            <a:extLst>
              <a:ext uri="{FF2B5EF4-FFF2-40B4-BE49-F238E27FC236}">
                <a16:creationId xmlns:a16="http://schemas.microsoft.com/office/drawing/2014/main" xmlns="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165" y="2354501"/>
            <a:ext cx="4031945" cy="1013156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28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 dirty="0"/>
              <a:t>按一下以新增副標題</a:t>
            </a:r>
          </a:p>
        </p:txBody>
      </p:sp>
      <p:sp>
        <p:nvSpPr>
          <p:cNvPr id="20" name="文字版面配置區 15">
            <a:extLst>
              <a:ext uri="{FF2B5EF4-FFF2-40B4-BE49-F238E27FC236}">
                <a16:creationId xmlns:a16="http://schemas.microsoft.com/office/drawing/2014/main" xmlns="" id="{A1FB681F-A94D-4BF8-8290-0811E98D49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48098" y="2734647"/>
            <a:ext cx="4031945" cy="1013156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28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sp>
        <p:nvSpPr>
          <p:cNvPr id="23" name="文字版面配置區 15">
            <a:extLst>
              <a:ext uri="{FF2B5EF4-FFF2-40B4-BE49-F238E27FC236}">
                <a16:creationId xmlns:a16="http://schemas.microsoft.com/office/drawing/2014/main" xmlns="" id="{A1FB681F-A94D-4BF8-8290-0811E98D49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4384" y="4625936"/>
            <a:ext cx="4031945" cy="1013156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2800" kern="1200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lvl="0" rtl="0"/>
            <a:r>
              <a:rPr lang="zh-TW" altLang="en-US" noProof="0"/>
              <a:t>按一下以新增副標題</a:t>
            </a:r>
          </a:p>
        </p:txBody>
      </p:sp>
      <p:pic>
        <p:nvPicPr>
          <p:cNvPr id="12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箭號: 五邊形 8">
            <a:extLst>
              <a:ext uri="{FF2B5EF4-FFF2-40B4-BE49-F238E27FC236}">
                <a16:creationId xmlns:a16="http://schemas.microsoft.com/office/drawing/2014/main" xmlns="" id="{14EC25D0-5BFF-566A-4303-54297340FDBC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投影片編號版面配置區 4">
            <a:extLst>
              <a:ext uri="{FF2B5EF4-FFF2-40B4-BE49-F238E27FC236}">
                <a16:creationId xmlns:a16="http://schemas.microsoft.com/office/drawing/2014/main" xmlns="" id="{57E60439-B1D7-7CF0-6AA9-3177BE19ABF4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30337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形 6">
            <a:extLst>
              <a:ext uri="{FF2B5EF4-FFF2-40B4-BE49-F238E27FC236}">
                <a16:creationId xmlns:a16="http://schemas.microsoft.com/office/drawing/2014/main" xmlns="" id="{AEE644D4-F9A4-4237-BD5C-4B97ABA933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16200000" flipH="1">
            <a:off x="4141694" y="-4141694"/>
            <a:ext cx="3908612" cy="12192000"/>
          </a:xfrm>
          <a:prstGeom prst="rect">
            <a:avLst/>
          </a:prstGeom>
        </p:spPr>
      </p:pic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xmlns="" id="{BDAC7E4E-FE06-4E90-8107-6B543E5515ED}"/>
              </a:ext>
            </a:extLst>
          </p:cNvPr>
          <p:cNvCxnSpPr>
            <a:cxnSpLocks/>
          </p:cNvCxnSpPr>
          <p:nvPr/>
        </p:nvCxnSpPr>
        <p:spPr>
          <a:xfrm flipV="1">
            <a:off x="0" y="2133600"/>
            <a:ext cx="12192000" cy="900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標題 1">
            <a:extLst>
              <a:ext uri="{FF2B5EF4-FFF2-40B4-BE49-F238E27FC236}">
                <a16:creationId xmlns:a16="http://schemas.microsoft.com/office/drawing/2014/main" xmlns="" id="{C2FF67A8-55FA-435D-A18C-96D63D22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9072"/>
            <a:ext cx="10515600" cy="2344128"/>
          </a:xfrm>
        </p:spPr>
        <p:txBody>
          <a:bodyPr rtlCol="0" anchor="t">
            <a:normAutofit/>
          </a:bodyPr>
          <a:lstStyle>
            <a:lvl1pPr>
              <a:defRPr lang="en-US" sz="33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pic>
        <p:nvPicPr>
          <p:cNvPr id="11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202300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箭號: 五邊形 16">
            <a:extLst>
              <a:ext uri="{FF2B5EF4-FFF2-40B4-BE49-F238E27FC236}">
                <a16:creationId xmlns:a16="http://schemas.microsoft.com/office/drawing/2014/main" xmlns="" id="{A977A8B1-C07C-5122-EB38-7788F1D1490C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投影片編號版面配置區 4">
            <a:extLst>
              <a:ext uri="{FF2B5EF4-FFF2-40B4-BE49-F238E27FC236}">
                <a16:creationId xmlns:a16="http://schemas.microsoft.com/office/drawing/2014/main" xmlns="" id="{D9C28D85-AAD2-B541-7D4B-0FC069C5C7A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509512" y="1045256"/>
            <a:ext cx="682487" cy="418712"/>
          </a:xfrm>
        </p:spPr>
        <p:txBody>
          <a:bodyPr/>
          <a:lstStyle>
            <a:lvl1pPr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01232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時間表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7D46070C-E825-43D0-99F4-8B4614131131}"/>
              </a:ext>
            </a:extLst>
          </p:cNvPr>
          <p:cNvSpPr/>
          <p:nvPr userDrawn="1"/>
        </p:nvSpPr>
        <p:spPr>
          <a:xfrm>
            <a:off x="3" y="2257583"/>
            <a:ext cx="12191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sz="1350" noProof="0">
              <a:solidFill>
                <a:schemeClr val="tx1">
                  <a:lumMod val="75000"/>
                  <a:lumOff val="2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FFA35437-CCDE-4D92-B879-F23B329C8EC3}"/>
              </a:ext>
            </a:extLst>
          </p:cNvPr>
          <p:cNvSpPr/>
          <p:nvPr userDrawn="1"/>
        </p:nvSpPr>
        <p:spPr>
          <a:xfrm>
            <a:off x="929640" y="3691886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ZA" sz="1350" noProof="0">
              <a:solidFill>
                <a:schemeClr val="tx1">
                  <a:lumMod val="75000"/>
                  <a:lumOff val="25000"/>
                </a:schemeClr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4" name="標題 1">
            <a:extLst>
              <a:ext uri="{FF2B5EF4-FFF2-40B4-BE49-F238E27FC236}">
                <a16:creationId xmlns:a16="http://schemas.microsoft.com/office/drawing/2014/main" xmlns="" id="{C2FF67A8-55FA-435D-A18C-96D63D22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3035300"/>
            <a:ext cx="10332720" cy="1142800"/>
          </a:xfrm>
        </p:spPr>
        <p:txBody>
          <a:bodyPr rtlCol="0" anchor="t">
            <a:normAutofit/>
          </a:bodyPr>
          <a:lstStyle>
            <a:lvl1pPr algn="ctr">
              <a:defRPr lang="en-US" sz="3600" kern="1200" cap="all" spc="113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j-cs"/>
              </a:defRPr>
            </a:lvl1pPr>
          </a:lstStyle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cxnSp>
        <p:nvCxnSpPr>
          <p:cNvPr id="39" name="直線接點​​(S) 22">
            <a:extLst>
              <a:ext uri="{FF2B5EF4-FFF2-40B4-BE49-F238E27FC236}">
                <a16:creationId xmlns:a16="http://schemas.microsoft.com/office/drawing/2014/main" xmlns="" id="{BB742DF6-4A43-B5CF-AEDA-4E379B6589E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1816344"/>
            <a:ext cx="1597152" cy="504165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​​(S) 22">
            <a:extLst>
              <a:ext uri="{FF2B5EF4-FFF2-40B4-BE49-F238E27FC236}">
                <a16:creationId xmlns:a16="http://schemas.microsoft.com/office/drawing/2014/main" xmlns="" id="{BB742DF6-4A43-B5CF-AEDA-4E379B6589E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2" y="6184902"/>
            <a:ext cx="6095999" cy="673099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">
            <a:extLst>
              <a:ext uri="{FF2B5EF4-FFF2-40B4-BE49-F238E27FC236}">
                <a16:creationId xmlns:a16="http://schemas.microsoft.com/office/drawing/2014/main" xmlns="" id="{20A40A12-8A0A-3DA4-CA2A-6D4058AE0F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16101" y="192361"/>
            <a:ext cx="1450641" cy="82715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箭號: 五邊形 9">
            <a:extLst>
              <a:ext uri="{FF2B5EF4-FFF2-40B4-BE49-F238E27FC236}">
                <a16:creationId xmlns:a16="http://schemas.microsoft.com/office/drawing/2014/main" xmlns="" id="{768BC038-D2EA-393E-AC3D-3F53314CE135}"/>
              </a:ext>
            </a:extLst>
          </p:cNvPr>
          <p:cNvSpPr/>
          <p:nvPr userDrawn="1"/>
        </p:nvSpPr>
        <p:spPr>
          <a:xfrm rot="10800000">
            <a:off x="11817670" y="1029456"/>
            <a:ext cx="377716" cy="395401"/>
          </a:xfrm>
          <a:prstGeom prst="homePlate">
            <a:avLst>
              <a:gd name="adj" fmla="val 4473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投影片編號版面配置區 4">
            <a:extLst>
              <a:ext uri="{FF2B5EF4-FFF2-40B4-BE49-F238E27FC236}">
                <a16:creationId xmlns:a16="http://schemas.microsoft.com/office/drawing/2014/main" xmlns="" id="{D5DE7AB3-3D40-2219-E4C6-6A8F62FF741F}"/>
              </a:ext>
            </a:extLst>
          </p:cNvPr>
          <p:cNvSpPr txBox="1">
            <a:spLocks/>
          </p:cNvSpPr>
          <p:nvPr userDrawn="1"/>
        </p:nvSpPr>
        <p:spPr>
          <a:xfrm>
            <a:off x="11509512" y="1045256"/>
            <a:ext cx="682487" cy="4187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zh-TW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Microsoft JhengHei UI" panose="020B0604030504040204" pitchFamily="34" charset="-120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CEABB6-07DC-46E8-9B57-56EC44A396E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47529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>
                <a:ea typeface="標楷體" panose="03000509000000000000" pitchFamily="65" charset="-120"/>
              </a:defRPr>
            </a:lvl1pPr>
            <a:lvl2pPr>
              <a:defRPr>
                <a:ea typeface="標楷體" panose="03000509000000000000" pitchFamily="65" charset="-120"/>
              </a:defRPr>
            </a:lvl2pPr>
            <a:lvl3pPr>
              <a:defRPr>
                <a:ea typeface="標楷體" panose="03000509000000000000" pitchFamily="65" charset="-120"/>
              </a:defRPr>
            </a:lvl3pPr>
            <a:lvl4pPr>
              <a:defRPr>
                <a:ea typeface="標楷體" panose="03000509000000000000" pitchFamily="65" charset="-120"/>
              </a:defRPr>
            </a:lvl4pPr>
            <a:lvl5pPr>
              <a:defRPr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8228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xmlns="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xmlns="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xmlns="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 </a:t>
            </a:r>
            <a:r>
              <a:rPr lang="zh-TW" altLang="en-US" noProof="0"/>
              <a:t>年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xmlns="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募資簡報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xmlns="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5CEABB6-07DC-46E8-9B57-56EC44A396E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0682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6" r:id="rId1"/>
    <p:sldLayoutId id="2147484307" r:id="rId2"/>
    <p:sldLayoutId id="2147484321" r:id="rId3"/>
    <p:sldLayoutId id="2147484300" r:id="rId4"/>
    <p:sldLayoutId id="2147484322" r:id="rId5"/>
    <p:sldLayoutId id="2147484320" r:id="rId6"/>
    <p:sldLayoutId id="2147484312" r:id="rId7"/>
    <p:sldLayoutId id="2147484323" r:id="rId8"/>
  </p:sldLayoutIdLst>
  <p:hf hd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 cap="all" baseline="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29640" y="3035300"/>
            <a:ext cx="10332720" cy="878332"/>
          </a:xfrm>
        </p:spPr>
        <p:txBody>
          <a:bodyPr/>
          <a:lstStyle/>
          <a:p>
            <a:r>
              <a:rPr lang="zh-TW" altLang="en-US" dirty="0"/>
              <a:t>規章制度訂定</a:t>
            </a:r>
            <a:r>
              <a:rPr lang="zh-TW" altLang="en-US" dirty="0" smtClean="0"/>
              <a:t>說明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CAB1B36F-E24D-4069-BCF5-2DCEE0D5CA81}"/>
              </a:ext>
            </a:extLst>
          </p:cNvPr>
          <p:cNvSpPr/>
          <p:nvPr/>
        </p:nvSpPr>
        <p:spPr>
          <a:xfrm>
            <a:off x="8005953" y="4275112"/>
            <a:ext cx="34291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kern="1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P00026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規章及表單管理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辦法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P00304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規章頒佈及講解作業要點</a:t>
            </a:r>
          </a:p>
        </p:txBody>
      </p:sp>
    </p:spTree>
    <p:extLst>
      <p:ext uri="{BB962C8B-B14F-4D97-AF65-F5344CB8AC3E}">
        <p14:creationId xmlns:p14="http://schemas.microsoft.com/office/powerpoint/2010/main" val="282077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標題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台塑企業「三化」</a:t>
            </a:r>
            <a:r>
              <a:rPr lang="zh-TW" altLang="en-US" dirty="0"/>
              <a:t>管理</a:t>
            </a:r>
          </a:p>
        </p:txBody>
      </p:sp>
      <p:sp>
        <p:nvSpPr>
          <p:cNvPr id="13" name="內容版面配置區 12"/>
          <p:cNvSpPr>
            <a:spLocks noGrp="1"/>
          </p:cNvSpPr>
          <p:nvPr>
            <p:ph sz="half" idx="2"/>
          </p:nvPr>
        </p:nvSpPr>
        <p:spPr>
          <a:xfrm>
            <a:off x="902196" y="1591055"/>
            <a:ext cx="6798848" cy="4571205"/>
          </a:xfrm>
        </p:spPr>
        <p:txBody>
          <a:bodyPr>
            <a:normAutofit/>
          </a:bodyPr>
          <a:lstStyle/>
          <a:p>
            <a:r>
              <a:rPr lang="zh-TW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台塑企業最</a:t>
            </a:r>
            <a:r>
              <a:rPr lang="zh-TW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有名的管理</a:t>
            </a:r>
            <a:r>
              <a:rPr lang="zh-TW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口訣</a:t>
            </a:r>
            <a:r>
              <a:rPr lang="en-US" altLang="zh-TW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-</a:t>
            </a:r>
            <a:r>
              <a:rPr lang="en-US" altLang="zh-TW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/>
            </a:r>
            <a:br>
              <a:rPr lang="en-US" altLang="zh-TW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zh-TW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「</a:t>
            </a:r>
            <a:r>
              <a:rPr lang="zh-TW" altLang="en-US" sz="2400" dirty="0">
                <a:solidFill>
                  <a:srgbClr val="C00000"/>
                </a:solidFill>
              </a:rPr>
              <a:t>管理靠制度，制度靠表單，表單靠電腦。</a:t>
            </a:r>
            <a:r>
              <a:rPr lang="zh-TW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」</a:t>
            </a:r>
            <a:endParaRPr lang="en-US" altLang="zh-TW" sz="24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TW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追求合理化流程，方能形成</a:t>
            </a:r>
            <a:r>
              <a:rPr lang="zh-TW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制度；建立完善制度為</a:t>
            </a:r>
            <a:r>
              <a:rPr lang="zh-TW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企業經營之</a:t>
            </a:r>
            <a:r>
              <a:rPr lang="zh-TW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準繩。</a:t>
            </a:r>
            <a:endParaRPr lang="en-US" altLang="zh-TW" sz="24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TW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為推動管理合理化的經營理念，企業在制訂</a:t>
            </a:r>
            <a:r>
              <a:rPr lang="zh-TW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完成規章</a:t>
            </a:r>
            <a:r>
              <a:rPr lang="zh-TW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或辦法之後，還要促成有效的實施與</a:t>
            </a:r>
            <a:r>
              <a:rPr lang="zh-TW" altLang="en-US" sz="24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落實。</a:t>
            </a:r>
            <a:endParaRPr lang="en-US" altLang="zh-TW" sz="2400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TW" altLang="en-US" sz="2400" dirty="0" smtClean="0"/>
              <a:t>制</a:t>
            </a:r>
            <a:r>
              <a:rPr lang="zh-TW" altLang="en-US" sz="2400" dirty="0"/>
              <a:t>度</a:t>
            </a:r>
            <a:r>
              <a:rPr lang="zh-TW" altLang="en-US" sz="2400" dirty="0" smtClean="0"/>
              <a:t>實施後仍需持續追求合理性、止於至善。制度執行人員亦須充分發揮工作機能，主動發掘反應異常，為管理機能發揮之關鍵。</a:t>
            </a:r>
            <a:endParaRPr lang="en-US" altLang="zh-TW" sz="2400" dirty="0" smtClean="0"/>
          </a:p>
          <a:p>
            <a:r>
              <a:rPr lang="zh-TW" altLang="en-US" sz="2400" dirty="0" smtClean="0">
                <a:solidFill>
                  <a:srgbClr val="C00000"/>
                </a:solidFill>
              </a:rPr>
              <a:t>完善的制度文件為「智識傳承」重要工具</a:t>
            </a:r>
            <a:r>
              <a:rPr lang="zh-TW" altLang="en-US" sz="2400" dirty="0" smtClean="0"/>
              <a:t>。</a:t>
            </a:r>
            <a:endParaRPr lang="en-US" altLang="zh-TW" sz="2400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2</a:t>
            </a:fld>
            <a:endParaRPr lang="zh-TW" altLang="en-US" dirty="0"/>
          </a:p>
        </p:txBody>
      </p:sp>
      <p:grpSp>
        <p:nvGrpSpPr>
          <p:cNvPr id="5" name="群組 4"/>
          <p:cNvGrpSpPr/>
          <p:nvPr/>
        </p:nvGrpSpPr>
        <p:grpSpPr>
          <a:xfrm>
            <a:off x="7701044" y="1421741"/>
            <a:ext cx="2851133" cy="4629572"/>
            <a:chOff x="4134883" y="1234440"/>
            <a:chExt cx="3015960" cy="4903892"/>
          </a:xfrm>
        </p:grpSpPr>
        <p:sp>
          <p:nvSpPr>
            <p:cNvPr id="6" name="圓形箭號 5"/>
            <p:cNvSpPr/>
            <p:nvPr/>
          </p:nvSpPr>
          <p:spPr>
            <a:xfrm>
              <a:off x="4790469" y="1234440"/>
              <a:ext cx="2360374" cy="2360734"/>
            </a:xfrm>
            <a:prstGeom prst="circularArrow">
              <a:avLst>
                <a:gd name="adj1" fmla="val 10980"/>
                <a:gd name="adj2" fmla="val 1142322"/>
                <a:gd name="adj3" fmla="val 4500000"/>
                <a:gd name="adj4" fmla="val 10800000"/>
                <a:gd name="adj5" fmla="val 12500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手繪多邊形 6"/>
            <p:cNvSpPr/>
            <p:nvPr/>
          </p:nvSpPr>
          <p:spPr>
            <a:xfrm>
              <a:off x="5314849" y="1903034"/>
              <a:ext cx="1311614" cy="898815"/>
            </a:xfrm>
            <a:custGeom>
              <a:avLst/>
              <a:gdLst>
                <a:gd name="connsiteX0" fmla="*/ 0 w 1311614"/>
                <a:gd name="connsiteY0" fmla="*/ 0 h 655650"/>
                <a:gd name="connsiteX1" fmla="*/ 1311614 w 1311614"/>
                <a:gd name="connsiteY1" fmla="*/ 0 h 655650"/>
                <a:gd name="connsiteX2" fmla="*/ 1311614 w 1311614"/>
                <a:gd name="connsiteY2" fmla="*/ 655650 h 655650"/>
                <a:gd name="connsiteX3" fmla="*/ 0 w 1311614"/>
                <a:gd name="connsiteY3" fmla="*/ 655650 h 655650"/>
                <a:gd name="connsiteX4" fmla="*/ 0 w 1311614"/>
                <a:gd name="connsiteY4" fmla="*/ 0 h 6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1614" h="655650">
                  <a:moveTo>
                    <a:pt x="0" y="0"/>
                  </a:moveTo>
                  <a:lnTo>
                    <a:pt x="1311614" y="0"/>
                  </a:lnTo>
                  <a:lnTo>
                    <a:pt x="1311614" y="655650"/>
                  </a:lnTo>
                  <a:lnTo>
                    <a:pt x="0" y="6556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065" tIns="12065" rIns="12065" bIns="12065" numCol="1" spcCol="1270" anchor="ctr" anchorCtr="0">
              <a:noAutofit/>
            </a:bodyPr>
            <a:lstStyle/>
            <a:p>
              <a:pPr lvl="0" algn="ctr" defTabSz="844550">
                <a:lnSpc>
                  <a:spcPts val="2800"/>
                </a:lnSpc>
                <a:spcBef>
                  <a:spcPct val="0"/>
                </a:spcBef>
              </a:pPr>
              <a:r>
                <a:rPr lang="zh-TW" altLang="en-US" sz="2800" kern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Aharoni" panose="02010803020104030203" pitchFamily="2" charset="-79"/>
                </a:rPr>
                <a:t>管理</a:t>
              </a:r>
              <a:endParaRPr lang="en-US" altLang="zh-TW" sz="2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haroni" panose="02010803020104030203" pitchFamily="2" charset="-79"/>
              </a:endParaRPr>
            </a:p>
            <a:p>
              <a:pPr lvl="0" algn="ctr" defTabSz="844550">
                <a:lnSpc>
                  <a:spcPts val="3000"/>
                </a:lnSpc>
                <a:spcBef>
                  <a:spcPct val="0"/>
                </a:spcBef>
              </a:pPr>
              <a:r>
                <a:rPr lang="zh-TW" altLang="en-US" sz="2800" kern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Aharoni" panose="02010803020104030203" pitchFamily="2" charset="-79"/>
                </a:rPr>
                <a:t>制度化</a:t>
              </a:r>
              <a:endParaRPr lang="zh-TW" altLang="en-US" sz="2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haroni" panose="02010803020104030203" pitchFamily="2" charset="-79"/>
              </a:endParaRPr>
            </a:p>
          </p:txBody>
        </p:sp>
        <p:sp>
          <p:nvSpPr>
            <p:cNvPr id="8" name="圖案 7"/>
            <p:cNvSpPr/>
            <p:nvPr/>
          </p:nvSpPr>
          <p:spPr>
            <a:xfrm>
              <a:off x="4134883" y="2590856"/>
              <a:ext cx="2360374" cy="2360734"/>
            </a:xfrm>
            <a:prstGeom prst="leftCircularArrow">
              <a:avLst>
                <a:gd name="adj1" fmla="val 10980"/>
                <a:gd name="adj2" fmla="val 1142322"/>
                <a:gd name="adj3" fmla="val 6300000"/>
                <a:gd name="adj4" fmla="val 18900000"/>
                <a:gd name="adj5" fmla="val 12500"/>
              </a:avLst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手繪多邊形 8"/>
            <p:cNvSpPr/>
            <p:nvPr/>
          </p:nvSpPr>
          <p:spPr>
            <a:xfrm>
              <a:off x="4610900" y="3345325"/>
              <a:ext cx="1311614" cy="790381"/>
            </a:xfrm>
            <a:custGeom>
              <a:avLst/>
              <a:gdLst>
                <a:gd name="connsiteX0" fmla="*/ 0 w 1311614"/>
                <a:gd name="connsiteY0" fmla="*/ 0 h 655650"/>
                <a:gd name="connsiteX1" fmla="*/ 1311614 w 1311614"/>
                <a:gd name="connsiteY1" fmla="*/ 0 h 655650"/>
                <a:gd name="connsiteX2" fmla="*/ 1311614 w 1311614"/>
                <a:gd name="connsiteY2" fmla="*/ 655650 h 655650"/>
                <a:gd name="connsiteX3" fmla="*/ 0 w 1311614"/>
                <a:gd name="connsiteY3" fmla="*/ 655650 h 655650"/>
                <a:gd name="connsiteX4" fmla="*/ 0 w 1311614"/>
                <a:gd name="connsiteY4" fmla="*/ 0 h 6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1614" h="655650">
                  <a:moveTo>
                    <a:pt x="0" y="0"/>
                  </a:moveTo>
                  <a:lnTo>
                    <a:pt x="1311614" y="0"/>
                  </a:lnTo>
                  <a:lnTo>
                    <a:pt x="1311614" y="655650"/>
                  </a:lnTo>
                  <a:lnTo>
                    <a:pt x="0" y="6556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065" tIns="12065" rIns="12065" bIns="12065" numCol="1" spcCol="1270" anchor="ctr" anchorCtr="0">
              <a:noAutofit/>
            </a:bodyPr>
            <a:lstStyle/>
            <a:p>
              <a:pPr algn="ctr" defTabSz="844550">
                <a:lnSpc>
                  <a:spcPts val="2800"/>
                </a:lnSpc>
                <a:spcBef>
                  <a:spcPct val="0"/>
                </a:spcBef>
              </a:pPr>
              <a:r>
                <a:rPr lang="zh-TW" alt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Aharoni" panose="02010803020104030203" pitchFamily="2" charset="-79"/>
                </a:rPr>
                <a:t>制度</a:t>
              </a:r>
              <a:endParaRPr lang="en-US" altLang="zh-TW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haroni" panose="02010803020104030203" pitchFamily="2" charset="-79"/>
              </a:endParaRPr>
            </a:p>
            <a:p>
              <a:pPr algn="ctr" defTabSz="844550">
                <a:lnSpc>
                  <a:spcPts val="2800"/>
                </a:lnSpc>
                <a:spcBef>
                  <a:spcPct val="0"/>
                </a:spcBef>
              </a:pPr>
              <a:r>
                <a:rPr lang="zh-TW" alt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Aharoni" panose="02010803020104030203" pitchFamily="2" charset="-79"/>
                </a:rPr>
                <a:t>表單化</a:t>
              </a:r>
            </a:p>
          </p:txBody>
        </p:sp>
        <p:sp>
          <p:nvSpPr>
            <p:cNvPr id="10" name="拱形 9"/>
            <p:cNvSpPr/>
            <p:nvPr/>
          </p:nvSpPr>
          <p:spPr>
            <a:xfrm>
              <a:off x="4958466" y="4109592"/>
              <a:ext cx="2027927" cy="2028740"/>
            </a:xfrm>
            <a:prstGeom prst="blockArc">
              <a:avLst>
                <a:gd name="adj1" fmla="val 13500000"/>
                <a:gd name="adj2" fmla="val 10800000"/>
                <a:gd name="adj3" fmla="val 1274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手繪多邊形 10"/>
            <p:cNvSpPr/>
            <p:nvPr/>
          </p:nvSpPr>
          <p:spPr>
            <a:xfrm>
              <a:off x="5314849" y="4726823"/>
              <a:ext cx="1311614" cy="822188"/>
            </a:xfrm>
            <a:custGeom>
              <a:avLst/>
              <a:gdLst>
                <a:gd name="connsiteX0" fmla="*/ 0 w 1311614"/>
                <a:gd name="connsiteY0" fmla="*/ 0 h 655650"/>
                <a:gd name="connsiteX1" fmla="*/ 1311614 w 1311614"/>
                <a:gd name="connsiteY1" fmla="*/ 0 h 655650"/>
                <a:gd name="connsiteX2" fmla="*/ 1311614 w 1311614"/>
                <a:gd name="connsiteY2" fmla="*/ 655650 h 655650"/>
                <a:gd name="connsiteX3" fmla="*/ 0 w 1311614"/>
                <a:gd name="connsiteY3" fmla="*/ 655650 h 655650"/>
                <a:gd name="connsiteX4" fmla="*/ 0 w 1311614"/>
                <a:gd name="connsiteY4" fmla="*/ 0 h 655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1614" h="655650">
                  <a:moveTo>
                    <a:pt x="0" y="0"/>
                  </a:moveTo>
                  <a:lnTo>
                    <a:pt x="1311614" y="0"/>
                  </a:lnTo>
                  <a:lnTo>
                    <a:pt x="1311614" y="655650"/>
                  </a:lnTo>
                  <a:lnTo>
                    <a:pt x="0" y="65565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065" tIns="12065" rIns="12065" bIns="12065" numCol="1" spcCol="1270" anchor="ctr" anchorCtr="0">
              <a:noAutofit/>
            </a:bodyPr>
            <a:lstStyle/>
            <a:p>
              <a:pPr lvl="0" algn="ctr" defTabSz="844550">
                <a:lnSpc>
                  <a:spcPts val="2800"/>
                </a:lnSpc>
                <a:spcBef>
                  <a:spcPct val="0"/>
                </a:spcBef>
              </a:pPr>
              <a:r>
                <a:rPr lang="zh-TW" alt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Aharoni" panose="02010803020104030203" pitchFamily="2" charset="-79"/>
                </a:rPr>
                <a:t>表單</a:t>
              </a:r>
              <a:endParaRPr lang="en-US" altLang="zh-TW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Aharoni" panose="02010803020104030203" pitchFamily="2" charset="-79"/>
              </a:endParaRPr>
            </a:p>
            <a:p>
              <a:pPr lvl="0" algn="ctr" defTabSz="844550">
                <a:lnSpc>
                  <a:spcPts val="2800"/>
                </a:lnSpc>
                <a:spcBef>
                  <a:spcPct val="0"/>
                </a:spcBef>
              </a:pPr>
              <a:r>
                <a:rPr lang="zh-TW" altLang="en-US" sz="28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Aharoni" panose="02010803020104030203" pitchFamily="2" charset="-79"/>
                </a:rPr>
                <a:t>電腦化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639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3DFCE19B-CFB9-C685-10D8-CDB805E5B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規章定義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9252686F-B090-FD63-02A2-DF6FC7E1D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2195" y="1274217"/>
            <a:ext cx="10309144" cy="711047"/>
          </a:xfrm>
        </p:spPr>
        <p:txBody>
          <a:bodyPr>
            <a:normAutofit/>
          </a:bodyPr>
          <a:lstStyle/>
          <a:p>
            <a:r>
              <a:rPr lang="zh-TW" altLang="zh-TW" sz="2400" dirty="0">
                <a:effectLst/>
                <a:cs typeface="Arial" panose="020B0604020202020204" pitchFamily="34" charset="0"/>
              </a:rPr>
              <a:t>凡為經營管理上之需要而制定</a:t>
            </a:r>
            <a:r>
              <a:rPr lang="zh-TW" altLang="en-US" sz="2400" dirty="0">
                <a:effectLst/>
                <a:cs typeface="Arial" panose="020B0604020202020204" pitchFamily="34" charset="0"/>
              </a:rPr>
              <a:t>者</a:t>
            </a:r>
            <a:r>
              <a:rPr lang="zh-TW" altLang="zh-TW" sz="2400" dirty="0">
                <a:effectLst/>
                <a:cs typeface="Arial" panose="020B0604020202020204" pitchFamily="34" charset="0"/>
              </a:rPr>
              <a:t>通稱為規章</a:t>
            </a:r>
            <a:r>
              <a:rPr lang="zh-TW" altLang="en-US" sz="2400" dirty="0">
                <a:solidFill>
                  <a:schemeClr val="tx1"/>
                </a:solidFill>
                <a:cs typeface="Arial" panose="020B0604020202020204" pitchFamily="34" charset="0"/>
              </a:rPr>
              <a:t>。</a:t>
            </a:r>
            <a:endParaRPr lang="zh-TW" altLang="en-US" sz="2400" dirty="0">
              <a:solidFill>
                <a:schemeClr val="tx1"/>
              </a:solidFill>
            </a:endParaRPr>
          </a:p>
          <a:p>
            <a:endParaRPr lang="zh-TW" alt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E306E65F-D6B8-32AD-472E-B1DD82DE86E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3</a:t>
            </a:fld>
            <a:endParaRPr lang="zh-TW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B53E0732-D347-1C60-0D7C-4773EB999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418499"/>
              </p:ext>
            </p:extLst>
          </p:nvPr>
        </p:nvGraphicFramePr>
        <p:xfrm>
          <a:off x="1237017" y="1837944"/>
          <a:ext cx="9360879" cy="3778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3655">
                  <a:extLst>
                    <a:ext uri="{9D8B030D-6E8A-4147-A177-3AD203B41FA5}">
                      <a16:colId xmlns:a16="http://schemas.microsoft.com/office/drawing/2014/main" xmlns="" val="1567549699"/>
                    </a:ext>
                  </a:extLst>
                </a:gridCol>
                <a:gridCol w="7507224">
                  <a:extLst>
                    <a:ext uri="{9D8B030D-6E8A-4147-A177-3AD203B41FA5}">
                      <a16:colId xmlns:a16="http://schemas.microsoft.com/office/drawing/2014/main" xmlns="" val="3680786491"/>
                    </a:ext>
                  </a:extLst>
                </a:gridCol>
              </a:tblGrid>
              <a:tr h="39129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類別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定義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5192854"/>
                  </a:ext>
                </a:extLst>
              </a:tr>
              <a:tr h="499642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規則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有關經營管理</a:t>
                      </a:r>
                      <a:r>
                        <a:rPr lang="zh-TW" altLang="zh-TW" sz="2400" u="sng" kern="1200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原則性規定</a:t>
                      </a:r>
                      <a:r>
                        <a:rPr lang="zh-TW" altLang="zh-TW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者</a:t>
                      </a:r>
                      <a:r>
                        <a:rPr lang="zh-TW" altLang="en-US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19461967"/>
                  </a:ext>
                </a:extLst>
              </a:tr>
              <a:tr h="499642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辦法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依據規則或特定需要訂定執行細則</a:t>
                      </a:r>
                      <a:r>
                        <a:rPr lang="zh-TW" altLang="zh-TW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者</a:t>
                      </a:r>
                      <a:r>
                        <a:rPr lang="zh-TW" altLang="en-US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0019727"/>
                  </a:ext>
                </a:extLst>
              </a:tr>
              <a:tr h="499642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準則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依據辦法或特定需要訂定執行細節</a:t>
                      </a:r>
                      <a:r>
                        <a:rPr lang="zh-TW" altLang="zh-TW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者</a:t>
                      </a:r>
                      <a:r>
                        <a:rPr lang="zh-TW" altLang="en-US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05688786"/>
                  </a:ext>
                </a:extLst>
              </a:tr>
              <a:tr h="499642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細則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依據準則或特定需要訂定執行細則</a:t>
                      </a:r>
                      <a:r>
                        <a:rPr lang="zh-TW" altLang="zh-TW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者</a:t>
                      </a:r>
                      <a:r>
                        <a:rPr lang="zh-TW" altLang="en-US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904497444"/>
                  </a:ext>
                </a:extLst>
              </a:tr>
              <a:tr h="499642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作業要點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依據特定需要訂定執行細節</a:t>
                      </a:r>
                      <a:r>
                        <a:rPr lang="zh-TW" altLang="zh-TW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者</a:t>
                      </a:r>
                      <a:r>
                        <a:rPr lang="zh-TW" altLang="en-US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36577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電腦</a:t>
                      </a:r>
                      <a:r>
                        <a:rPr lang="zh-TW" altLang="zh-TW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作業</a:t>
                      </a:r>
                      <a:endParaRPr lang="en-US" altLang="zh-TW" sz="24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zh-TW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說明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依據規則、辦法、準則、細則或特定需要訂定電腦作業細節及操作規範</a:t>
                      </a:r>
                      <a:r>
                        <a:rPr lang="zh-TW" altLang="zh-TW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者</a:t>
                      </a:r>
                      <a:r>
                        <a:rPr lang="zh-TW" altLang="en-US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799580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xmlns="" id="{CAB1B36F-E24D-4069-BCF5-2DCEE0D5CA81}"/>
              </a:ext>
            </a:extLst>
          </p:cNvPr>
          <p:cNvSpPr/>
          <p:nvPr/>
        </p:nvSpPr>
        <p:spPr>
          <a:xfrm>
            <a:off x="7557897" y="467634"/>
            <a:ext cx="2967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kern="1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P00026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規章及表單管理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辦法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966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3DFCE19B-CFB9-C685-10D8-CDB805E5B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2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規章定義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9252686F-B090-FD63-02A2-DF6FC7E1D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2195" y="1274217"/>
            <a:ext cx="10309144" cy="711047"/>
          </a:xfrm>
        </p:spPr>
        <p:txBody>
          <a:bodyPr>
            <a:normAutofit/>
          </a:bodyPr>
          <a:lstStyle/>
          <a:p>
            <a:r>
              <a:rPr lang="zh-TW" altLang="zh-TW" sz="2400" dirty="0">
                <a:effectLst/>
                <a:cs typeface="Arial" panose="020B0604020202020204" pitchFamily="34" charset="0"/>
              </a:rPr>
              <a:t>凡為經營管理上之需要而制定</a:t>
            </a:r>
            <a:r>
              <a:rPr lang="zh-TW" altLang="en-US" sz="2400" dirty="0">
                <a:effectLst/>
                <a:cs typeface="Arial" panose="020B0604020202020204" pitchFamily="34" charset="0"/>
              </a:rPr>
              <a:t>者</a:t>
            </a:r>
            <a:r>
              <a:rPr lang="zh-TW" altLang="zh-TW" sz="2400" dirty="0">
                <a:effectLst/>
                <a:cs typeface="Arial" panose="020B0604020202020204" pitchFamily="34" charset="0"/>
              </a:rPr>
              <a:t>通稱為規章</a:t>
            </a:r>
            <a:r>
              <a:rPr lang="zh-TW" altLang="en-US" sz="2400" dirty="0">
                <a:solidFill>
                  <a:schemeClr val="tx1"/>
                </a:solidFill>
                <a:cs typeface="Arial" panose="020B0604020202020204" pitchFamily="34" charset="0"/>
              </a:rPr>
              <a:t>。</a:t>
            </a:r>
            <a:endParaRPr lang="zh-TW" altLang="en-US" sz="2400" dirty="0">
              <a:solidFill>
                <a:schemeClr val="tx1"/>
              </a:solidFill>
            </a:endParaRPr>
          </a:p>
          <a:p>
            <a:endParaRPr lang="zh-TW" alt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E306E65F-D6B8-32AD-472E-B1DD82DE86E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4</a:t>
            </a:fld>
            <a:endParaRPr lang="zh-TW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xmlns="" id="{B53E0732-D347-1C60-0D7C-4773EB999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217714"/>
              </p:ext>
            </p:extLst>
          </p:nvPr>
        </p:nvGraphicFramePr>
        <p:xfrm>
          <a:off x="1237017" y="1772039"/>
          <a:ext cx="10330143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7271">
                  <a:extLst>
                    <a:ext uri="{9D8B030D-6E8A-4147-A177-3AD203B41FA5}">
                      <a16:colId xmlns:a16="http://schemas.microsoft.com/office/drawing/2014/main" xmlns="" val="1567549699"/>
                    </a:ext>
                  </a:extLst>
                </a:gridCol>
                <a:gridCol w="2779776">
                  <a:extLst>
                    <a:ext uri="{9D8B030D-6E8A-4147-A177-3AD203B41FA5}">
                      <a16:colId xmlns:a16="http://schemas.microsoft.com/office/drawing/2014/main" xmlns="" val="1574441318"/>
                    </a:ext>
                  </a:extLst>
                </a:gridCol>
                <a:gridCol w="3831336"/>
                <a:gridCol w="2651760"/>
              </a:tblGrid>
              <a:tr h="286139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類別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財務機能範例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產銷機能範例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0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資安範例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5192854"/>
                  </a:ext>
                </a:extLst>
              </a:tr>
              <a:tr h="513961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規則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F00001</a:t>
                      </a:r>
                    </a:p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財務管理規則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S00001</a:t>
                      </a:r>
                    </a:p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台塑企業營業管理規則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C00002</a:t>
                      </a:r>
                    </a:p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資訊安全管理規則 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19461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辦法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F00002</a:t>
                      </a:r>
                    </a:p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固定資產管理辦法 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S00003</a:t>
                      </a:r>
                    </a:p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台塑企業外銷佣金匯付管理辦法 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C00102</a:t>
                      </a:r>
                    </a:p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資訊安全管理辦法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0019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準則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</a:pP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S10001</a:t>
                      </a:r>
                    </a:p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台塑營業管理準則 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C00202</a:t>
                      </a:r>
                    </a:p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資安管理準則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05688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細則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F00408</a:t>
                      </a:r>
                    </a:p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固定資產及成本管理項目自主檢查外部稽核辦事細則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</a:pP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</a:pP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904497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0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作業</a:t>
                      </a:r>
                      <a:endParaRPr lang="en-US" altLang="zh-TW" sz="20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zh-TW" sz="20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要點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F00131</a:t>
                      </a:r>
                    </a:p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固定資產編號作業要點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Y00002</a:t>
                      </a:r>
                    </a:p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台塑企業產銷、保養、資材類自主檢查作業要點 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</a:pP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936577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0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電腦作業說明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F00109</a:t>
                      </a:r>
                    </a:p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固定資產管理電腦作業說明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S00006</a:t>
                      </a:r>
                    </a:p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台塑企業營業目標管理電腦作業說明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C00573</a:t>
                      </a:r>
                    </a:p>
                    <a:p>
                      <a:pPr algn="l">
                        <a:lnSpc>
                          <a:spcPct val="80000"/>
                        </a:lnSpc>
                      </a:pPr>
                      <a:r>
                        <a:rPr lang="zh-TW" altLang="en-US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資通安全事件通報單傳簽電腦作業說明 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1799580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xmlns="" id="{CAB1B36F-E24D-4069-BCF5-2DCEE0D5CA81}"/>
              </a:ext>
            </a:extLst>
          </p:cNvPr>
          <p:cNvSpPr/>
          <p:nvPr/>
        </p:nvSpPr>
        <p:spPr>
          <a:xfrm>
            <a:off x="7557897" y="467634"/>
            <a:ext cx="2967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kern="1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P00026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規章及表單管理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辦法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983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規章案例</a:t>
            </a:r>
            <a:r>
              <a:rPr lang="en-US" altLang="zh-TW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  <a:r>
              <a:rPr lang="zh-TW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財務</a:t>
            </a:r>
            <a:r>
              <a:rPr lang="zh-TW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管理規則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458422" y="1783683"/>
            <a:ext cx="5014163" cy="497680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zh-TW" altLang="zh-TW" sz="2000" dirty="0"/>
              <a:t>第一章</a:t>
            </a:r>
            <a:r>
              <a:rPr lang="en-US" altLang="zh-TW" sz="2000" dirty="0"/>
              <a:t>  </a:t>
            </a:r>
            <a:r>
              <a:rPr lang="zh-TW" altLang="zh-TW" sz="2000" dirty="0" smtClean="0"/>
              <a:t>總則</a:t>
            </a:r>
            <a:endParaRPr lang="en-US" altLang="zh-TW" sz="2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TW" altLang="zh-TW" sz="2000" dirty="0"/>
              <a:t>第二章</a:t>
            </a:r>
            <a:r>
              <a:rPr lang="en-US" altLang="zh-TW" sz="2000" dirty="0"/>
              <a:t>  </a:t>
            </a:r>
            <a:r>
              <a:rPr lang="zh-TW" altLang="zh-TW" sz="2000" dirty="0"/>
              <a:t>出納</a:t>
            </a:r>
            <a:r>
              <a:rPr lang="zh-TW" altLang="zh-TW" sz="2000" dirty="0" smtClean="0"/>
              <a:t>收支</a:t>
            </a:r>
            <a:endParaRPr lang="en-US" altLang="zh-TW" sz="2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TW" altLang="zh-TW" sz="2000" dirty="0"/>
              <a:t>第三章</a:t>
            </a:r>
            <a:r>
              <a:rPr lang="en-US" altLang="zh-TW" sz="2000" dirty="0"/>
              <a:t>  </a:t>
            </a:r>
            <a:r>
              <a:rPr lang="zh-TW" altLang="zh-TW" sz="2000" dirty="0"/>
              <a:t>資金</a:t>
            </a:r>
            <a:r>
              <a:rPr lang="zh-TW" altLang="zh-TW" sz="2000" dirty="0" smtClean="0"/>
              <a:t>調度</a:t>
            </a:r>
            <a:endParaRPr lang="en-US" altLang="zh-TW" sz="2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TW" altLang="zh-TW" sz="2000" dirty="0"/>
              <a:t>第四章</a:t>
            </a:r>
            <a:r>
              <a:rPr lang="en-US" altLang="zh-TW" sz="2000" dirty="0"/>
              <a:t>  </a:t>
            </a:r>
            <a:r>
              <a:rPr lang="zh-TW" altLang="zh-TW" sz="2000" dirty="0"/>
              <a:t>週轉</a:t>
            </a:r>
            <a:r>
              <a:rPr lang="zh-TW" altLang="zh-TW" sz="2000" dirty="0" smtClean="0"/>
              <a:t>金</a:t>
            </a:r>
            <a:endParaRPr lang="en-US" altLang="zh-TW" sz="2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TW" altLang="zh-TW" sz="2000" dirty="0"/>
              <a:t>第五章</a:t>
            </a:r>
            <a:r>
              <a:rPr lang="en-US" altLang="zh-TW" sz="2000" dirty="0"/>
              <a:t>  </a:t>
            </a:r>
            <a:r>
              <a:rPr lang="zh-TW" altLang="zh-TW" sz="2000" dirty="0" smtClean="0"/>
              <a:t>有價證券</a:t>
            </a:r>
            <a:endParaRPr lang="en-US" altLang="zh-TW" sz="2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TW" altLang="zh-TW" sz="2000" dirty="0"/>
              <a:t>第六章</a:t>
            </a:r>
            <a:r>
              <a:rPr lang="en-US" altLang="zh-TW" sz="2000" dirty="0"/>
              <a:t>  </a:t>
            </a:r>
            <a:r>
              <a:rPr lang="zh-TW" altLang="zh-TW" sz="2000" dirty="0" smtClean="0"/>
              <a:t>郵票</a:t>
            </a:r>
            <a:endParaRPr lang="en-US" altLang="zh-TW" sz="2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TW" altLang="zh-TW" sz="2000" dirty="0"/>
              <a:t>第七章</a:t>
            </a:r>
            <a:r>
              <a:rPr lang="en-US" altLang="zh-TW" sz="2000" dirty="0"/>
              <a:t>  </a:t>
            </a:r>
            <a:r>
              <a:rPr lang="zh-TW" altLang="zh-TW" sz="2000" dirty="0"/>
              <a:t>保證事務</a:t>
            </a:r>
            <a:r>
              <a:rPr lang="zh-TW" altLang="zh-TW" sz="2000" dirty="0" smtClean="0"/>
              <a:t>處理</a:t>
            </a:r>
            <a:endParaRPr lang="en-US" altLang="zh-TW" sz="2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TW" altLang="zh-TW" sz="2000" dirty="0"/>
              <a:t>第八章</a:t>
            </a:r>
            <a:r>
              <a:rPr lang="en-US" altLang="zh-TW" sz="2000" dirty="0"/>
              <a:t>  </a:t>
            </a:r>
            <a:r>
              <a:rPr lang="zh-TW" altLang="zh-TW" sz="2000" dirty="0"/>
              <a:t>現金及票券</a:t>
            </a:r>
            <a:r>
              <a:rPr lang="zh-TW" altLang="zh-TW" sz="2000" dirty="0" smtClean="0"/>
              <a:t>盤點</a:t>
            </a:r>
            <a:endParaRPr lang="en-US" altLang="zh-TW" sz="2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TW" altLang="zh-TW" sz="2000" dirty="0"/>
              <a:t>第九章</a:t>
            </a:r>
            <a:r>
              <a:rPr lang="en-US" altLang="zh-TW" sz="2000" dirty="0"/>
              <a:t>  </a:t>
            </a:r>
            <a:r>
              <a:rPr lang="zh-TW" altLang="zh-TW" sz="2000" dirty="0"/>
              <a:t>資本籌資作業</a:t>
            </a:r>
            <a:r>
              <a:rPr lang="zh-TW" altLang="zh-TW" sz="2000" dirty="0" smtClean="0"/>
              <a:t>程序</a:t>
            </a:r>
            <a:endParaRPr lang="en-US" altLang="zh-TW" sz="2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TW" altLang="zh-TW" sz="2000" dirty="0"/>
              <a:t>第十章</a:t>
            </a:r>
            <a:r>
              <a:rPr lang="en-US" altLang="zh-TW" sz="2000" dirty="0"/>
              <a:t>  </a:t>
            </a:r>
            <a:r>
              <a:rPr lang="zh-TW" altLang="zh-TW" sz="2000" dirty="0"/>
              <a:t>經營資訊</a:t>
            </a:r>
            <a:r>
              <a:rPr lang="zh-TW" altLang="zh-TW" sz="2000" dirty="0" smtClean="0"/>
              <a:t>提供</a:t>
            </a:r>
            <a:endParaRPr lang="en-US" altLang="zh-TW" sz="2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TW" altLang="zh-TW" sz="2000" dirty="0"/>
              <a:t>第十一章</a:t>
            </a:r>
            <a:r>
              <a:rPr lang="en-US" altLang="zh-TW" sz="2000" dirty="0"/>
              <a:t>  </a:t>
            </a:r>
            <a:r>
              <a:rPr lang="zh-TW" altLang="zh-TW" sz="2000" dirty="0"/>
              <a:t>股務事務</a:t>
            </a:r>
            <a:r>
              <a:rPr lang="zh-TW" altLang="zh-TW" sz="2000" dirty="0" smtClean="0"/>
              <a:t>處理</a:t>
            </a:r>
            <a:endParaRPr lang="en-US" altLang="zh-TW" sz="2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TW" altLang="zh-TW" sz="2000" dirty="0"/>
              <a:t>第十二章</a:t>
            </a:r>
            <a:r>
              <a:rPr lang="en-US" altLang="zh-TW" sz="2000" dirty="0"/>
              <a:t>  </a:t>
            </a:r>
            <a:r>
              <a:rPr lang="zh-TW" altLang="zh-TW" sz="2000" dirty="0"/>
              <a:t>財物保險</a:t>
            </a:r>
            <a:r>
              <a:rPr lang="zh-TW" altLang="zh-TW" sz="2000" dirty="0" smtClean="0"/>
              <a:t>管理</a:t>
            </a:r>
            <a:endParaRPr lang="en-US" altLang="zh-TW" sz="2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TW" altLang="zh-TW" sz="2000" u="sng" dirty="0">
                <a:solidFill>
                  <a:srgbClr val="C00000"/>
                </a:solidFill>
              </a:rPr>
              <a:t>第十三章</a:t>
            </a:r>
            <a:r>
              <a:rPr lang="en-US" altLang="zh-TW" sz="2000" u="sng" dirty="0">
                <a:solidFill>
                  <a:srgbClr val="C00000"/>
                </a:solidFill>
              </a:rPr>
              <a:t>  </a:t>
            </a:r>
            <a:r>
              <a:rPr lang="zh-TW" altLang="zh-TW" sz="2000" u="sng" dirty="0">
                <a:solidFill>
                  <a:srgbClr val="C00000"/>
                </a:solidFill>
              </a:rPr>
              <a:t>固定資產</a:t>
            </a:r>
            <a:r>
              <a:rPr lang="zh-TW" altLang="zh-TW" sz="2000" u="sng" dirty="0" smtClean="0">
                <a:solidFill>
                  <a:srgbClr val="C00000"/>
                </a:solidFill>
              </a:rPr>
              <a:t>管理</a:t>
            </a:r>
            <a:endParaRPr lang="en-US" altLang="zh-TW" sz="2000" u="sng" dirty="0" smtClean="0">
              <a:solidFill>
                <a:srgbClr val="C00000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zh-TW" altLang="zh-TW" sz="2000" dirty="0"/>
              <a:t>第十四章</a:t>
            </a:r>
            <a:r>
              <a:rPr lang="en-US" altLang="zh-TW" sz="2000" dirty="0"/>
              <a:t>  </a:t>
            </a:r>
            <a:r>
              <a:rPr lang="zh-TW" altLang="zh-TW" sz="2000" dirty="0"/>
              <a:t>會計事務</a:t>
            </a:r>
            <a:r>
              <a:rPr lang="zh-TW" altLang="zh-TW" sz="2000" dirty="0" smtClean="0"/>
              <a:t>處理</a:t>
            </a:r>
            <a:endParaRPr lang="en-US" altLang="zh-TW" sz="2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TW" altLang="zh-TW" sz="2000" dirty="0"/>
              <a:t>第十五章</a:t>
            </a:r>
            <a:r>
              <a:rPr lang="en-US" altLang="zh-TW" sz="2000" dirty="0"/>
              <a:t>  </a:t>
            </a:r>
            <a:r>
              <a:rPr lang="zh-TW" altLang="zh-TW" sz="2000" dirty="0"/>
              <a:t>重大投資計劃資金籌措</a:t>
            </a:r>
            <a:r>
              <a:rPr lang="zh-TW" altLang="zh-TW" sz="2000" dirty="0" smtClean="0"/>
              <a:t>規劃</a:t>
            </a:r>
            <a:endParaRPr lang="en-US" altLang="zh-TW" sz="2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TW" altLang="zh-TW" sz="2000" dirty="0" smtClean="0"/>
              <a:t>第十六</a:t>
            </a:r>
            <a:r>
              <a:rPr lang="zh-TW" altLang="zh-TW" sz="2000" dirty="0"/>
              <a:t>章</a:t>
            </a:r>
            <a:r>
              <a:rPr lang="en-US" altLang="zh-TW" sz="2000" dirty="0"/>
              <a:t>  </a:t>
            </a:r>
            <a:r>
              <a:rPr lang="zh-TW" altLang="zh-TW" sz="2000" dirty="0"/>
              <a:t>附則</a:t>
            </a:r>
            <a:endParaRPr lang="zh-TW" altLang="en-US" sz="2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5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1868074"/>
            <a:ext cx="3211716" cy="489241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5324" y="3840480"/>
            <a:ext cx="4175028" cy="2195322"/>
          </a:xfrm>
          <a:prstGeom prst="rect">
            <a:avLst/>
          </a:prstGeom>
        </p:spPr>
      </p:pic>
      <p:sp>
        <p:nvSpPr>
          <p:cNvPr id="7" name="內容版面配置區 2"/>
          <p:cNvSpPr txBox="1">
            <a:spLocks/>
          </p:cNvSpPr>
          <p:nvPr/>
        </p:nvSpPr>
        <p:spPr>
          <a:xfrm>
            <a:off x="902195" y="1310793"/>
            <a:ext cx="10309144" cy="737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l" defTabSz="685783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8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1pPr>
            <a:lvl2pPr marL="539750" indent="-198438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2pPr>
            <a:lvl3pPr marL="685783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20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3pPr>
            <a:lvl4pPr marL="1028675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4pPr>
            <a:lvl5pPr marL="1371566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dirty="0" smtClean="0"/>
              <a:t>制訂</a:t>
            </a:r>
            <a:r>
              <a:rPr lang="zh-TW" altLang="zh-TW" sz="2400" dirty="0" smtClean="0"/>
              <a:t>本</a:t>
            </a:r>
            <a:r>
              <a:rPr lang="zh-TW" altLang="zh-TW" sz="2400" dirty="0"/>
              <a:t>企業各項財務管理</a:t>
            </a:r>
            <a:r>
              <a:rPr lang="zh-TW" altLang="zh-TW" sz="2400" dirty="0" smtClean="0"/>
              <a:t>事務</a:t>
            </a:r>
            <a:r>
              <a:rPr lang="zh-TW" altLang="en-US" sz="2400" dirty="0" smtClean="0"/>
              <a:t>應遵循之規則。</a:t>
            </a:r>
            <a:endParaRPr lang="zh-TW" altLang="en-US" sz="2400" dirty="0"/>
          </a:p>
        </p:txBody>
      </p:sp>
      <p:cxnSp>
        <p:nvCxnSpPr>
          <p:cNvPr id="9" name="直線單箭頭接點 8"/>
          <p:cNvCxnSpPr/>
          <p:nvPr/>
        </p:nvCxnSpPr>
        <p:spPr>
          <a:xfrm flipV="1">
            <a:off x="7430947" y="5231758"/>
            <a:ext cx="354377" cy="405113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流程圖: 換頁接點 10"/>
          <p:cNvSpPr/>
          <p:nvPr/>
        </p:nvSpPr>
        <p:spPr>
          <a:xfrm>
            <a:off x="275208" y="-1"/>
            <a:ext cx="405114" cy="1310793"/>
          </a:xfrm>
          <a:prstGeom prst="flowChartOffpageConnector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r>
              <a:rPr lang="zh-TW" altLang="en-US" sz="24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案例</a:t>
            </a:r>
            <a:endParaRPr lang="zh-TW" altLang="en-US" sz="2400" kern="1200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007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</a:rPr>
              <a:t>規章案例</a:t>
            </a:r>
            <a:r>
              <a:rPr lang="en-US" altLang="zh-TW" dirty="0">
                <a:solidFill>
                  <a:schemeClr val="tx1"/>
                </a:solidFill>
              </a:rPr>
              <a:t>-</a:t>
            </a:r>
            <a:r>
              <a:rPr lang="zh-TW" altLang="en-US" dirty="0" smtClean="0"/>
              <a:t>固定資產管理辦法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4653038" y="1811440"/>
            <a:ext cx="5478051" cy="503741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zh-TW" altLang="zh-TW" sz="1800" dirty="0"/>
              <a:t>第一章</a:t>
            </a:r>
            <a:r>
              <a:rPr lang="en-US" altLang="zh-TW" sz="1800" dirty="0"/>
              <a:t>  </a:t>
            </a:r>
            <a:r>
              <a:rPr lang="zh-TW" altLang="zh-TW" sz="1800" dirty="0"/>
              <a:t>總</a:t>
            </a:r>
            <a:r>
              <a:rPr lang="en-US" altLang="zh-TW" sz="1800" dirty="0"/>
              <a:t>    </a:t>
            </a:r>
            <a:r>
              <a:rPr lang="zh-TW" altLang="zh-TW" sz="1800" dirty="0" smtClean="0"/>
              <a:t>則</a:t>
            </a:r>
            <a:endParaRPr lang="en-US" altLang="zh-TW" sz="1800" dirty="0" smtClean="0"/>
          </a:p>
          <a:p>
            <a:pPr marL="420670" lvl="2">
              <a:spcBef>
                <a:spcPts val="300"/>
              </a:spcBef>
            </a:pPr>
            <a:r>
              <a:rPr lang="en-US" altLang="zh-TW" sz="1800" dirty="0"/>
              <a:t>1.1  </a:t>
            </a:r>
            <a:r>
              <a:rPr lang="zh-TW" altLang="zh-TW" sz="1800" dirty="0"/>
              <a:t>目</a:t>
            </a:r>
            <a:r>
              <a:rPr lang="en-US" altLang="zh-TW" sz="1800" dirty="0"/>
              <a:t>  </a:t>
            </a:r>
            <a:r>
              <a:rPr lang="zh-TW" altLang="zh-TW" sz="1800" dirty="0" smtClean="0"/>
              <a:t>的</a:t>
            </a:r>
            <a:endParaRPr lang="en-US" altLang="zh-TW" sz="1800" dirty="0" smtClean="0"/>
          </a:p>
          <a:p>
            <a:pPr marL="420670" lvl="2">
              <a:spcBef>
                <a:spcPts val="300"/>
              </a:spcBef>
            </a:pPr>
            <a:r>
              <a:rPr lang="en-US" altLang="zh-TW" sz="1800" dirty="0"/>
              <a:t>1.2  </a:t>
            </a:r>
            <a:r>
              <a:rPr lang="zh-TW" altLang="zh-TW" sz="1800" dirty="0" smtClean="0"/>
              <a:t>適用範圍</a:t>
            </a:r>
            <a:endParaRPr lang="en-US" altLang="zh-TW" sz="1800" dirty="0" smtClean="0"/>
          </a:p>
          <a:p>
            <a:pPr marL="420670" lvl="2">
              <a:spcBef>
                <a:spcPts val="300"/>
              </a:spcBef>
            </a:pPr>
            <a:r>
              <a:rPr lang="en-US" altLang="zh-TW" sz="1800" dirty="0"/>
              <a:t>1.3  </a:t>
            </a:r>
            <a:r>
              <a:rPr lang="zh-TW" altLang="zh-TW" sz="1800" dirty="0"/>
              <a:t>管理</a:t>
            </a:r>
            <a:r>
              <a:rPr lang="zh-TW" altLang="zh-TW" sz="1800" dirty="0" smtClean="0"/>
              <a:t>部門</a:t>
            </a:r>
            <a:endParaRPr lang="en-US" altLang="zh-TW" sz="1800" dirty="0" smtClean="0"/>
          </a:p>
          <a:p>
            <a:pPr marL="420670" lvl="2">
              <a:spcBef>
                <a:spcPts val="300"/>
              </a:spcBef>
            </a:pPr>
            <a:r>
              <a:rPr lang="en-US" altLang="zh-TW" sz="1800" u="sng" dirty="0">
                <a:solidFill>
                  <a:srgbClr val="C00000"/>
                </a:solidFill>
              </a:rPr>
              <a:t>1.4  </a:t>
            </a:r>
            <a:r>
              <a:rPr lang="zh-TW" altLang="zh-TW" sz="1800" u="sng" dirty="0">
                <a:solidFill>
                  <a:srgbClr val="C00000"/>
                </a:solidFill>
              </a:rPr>
              <a:t>工作</a:t>
            </a:r>
            <a:r>
              <a:rPr lang="zh-TW" altLang="zh-TW" sz="1800" u="sng" dirty="0" smtClean="0">
                <a:solidFill>
                  <a:srgbClr val="C00000"/>
                </a:solidFill>
              </a:rPr>
              <a:t>職掌</a:t>
            </a:r>
            <a:endParaRPr lang="en-US" altLang="zh-TW" sz="1800" u="sng" dirty="0" smtClean="0">
              <a:solidFill>
                <a:srgbClr val="C00000"/>
              </a:solidFill>
            </a:endParaRPr>
          </a:p>
          <a:p>
            <a:pPr marL="420670" lvl="2">
              <a:spcBef>
                <a:spcPts val="300"/>
              </a:spcBef>
            </a:pPr>
            <a:r>
              <a:rPr lang="en-US" altLang="zh-TW" sz="1800" u="sng" dirty="0" smtClean="0">
                <a:solidFill>
                  <a:srgbClr val="C00000"/>
                </a:solidFill>
              </a:rPr>
              <a:t>1.5  </a:t>
            </a:r>
            <a:r>
              <a:rPr lang="zh-TW" altLang="zh-TW" sz="1800" u="sng" dirty="0">
                <a:solidFill>
                  <a:srgbClr val="C00000"/>
                </a:solidFill>
              </a:rPr>
              <a:t>分類編號及</a:t>
            </a:r>
            <a:r>
              <a:rPr lang="zh-TW" altLang="zh-TW" sz="1800" u="sng" dirty="0" smtClean="0">
                <a:solidFill>
                  <a:srgbClr val="C00000"/>
                </a:solidFill>
              </a:rPr>
              <a:t>標示</a:t>
            </a:r>
            <a:endParaRPr lang="en-US" altLang="zh-TW" sz="1800" u="sng" dirty="0" smtClean="0"/>
          </a:p>
          <a:p>
            <a:pPr marL="420670" lvl="2">
              <a:spcBef>
                <a:spcPts val="300"/>
              </a:spcBef>
            </a:pPr>
            <a:r>
              <a:rPr lang="en-US" altLang="zh-TW" sz="1800" dirty="0"/>
              <a:t>1.6  </a:t>
            </a:r>
            <a:r>
              <a:rPr lang="zh-TW" altLang="zh-TW" sz="1800" dirty="0"/>
              <a:t>列</a:t>
            </a:r>
            <a:r>
              <a:rPr lang="zh-TW" altLang="zh-TW" sz="1800" b="1" dirty="0"/>
              <a:t>管</a:t>
            </a:r>
            <a:r>
              <a:rPr lang="zh-TW" altLang="zh-TW" sz="1800" dirty="0" smtClean="0"/>
              <a:t>原則</a:t>
            </a:r>
            <a:endParaRPr lang="en-US" altLang="zh-TW" sz="1800" dirty="0" smtClean="0"/>
          </a:p>
          <a:p>
            <a:pPr marL="420670" lvl="2">
              <a:spcBef>
                <a:spcPts val="300"/>
              </a:spcBef>
            </a:pPr>
            <a:r>
              <a:rPr lang="en-US" altLang="zh-TW" sz="1800" dirty="0"/>
              <a:t>1.7  </a:t>
            </a:r>
            <a:r>
              <a:rPr lang="zh-TW" altLang="zh-TW" sz="1800" dirty="0"/>
              <a:t>核決權限</a:t>
            </a:r>
            <a:endParaRPr lang="en-US" altLang="zh-TW" sz="18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zh-TW" altLang="zh-TW" sz="1800" dirty="0" smtClean="0"/>
              <a:t>第二</a:t>
            </a:r>
            <a:r>
              <a:rPr lang="zh-TW" altLang="zh-TW" sz="1800" dirty="0"/>
              <a:t>章</a:t>
            </a:r>
            <a:r>
              <a:rPr lang="en-US" altLang="zh-TW" sz="1800" dirty="0"/>
              <a:t>  </a:t>
            </a:r>
            <a:r>
              <a:rPr lang="zh-TW" altLang="zh-TW" sz="1800" dirty="0"/>
              <a:t>資產異動及帳務</a:t>
            </a:r>
            <a:r>
              <a:rPr lang="zh-TW" altLang="zh-TW" sz="1800" dirty="0" smtClean="0"/>
              <a:t>處理</a:t>
            </a:r>
            <a:endParaRPr lang="en-US" altLang="zh-TW" sz="18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zh-TW" altLang="zh-TW" sz="1800" dirty="0"/>
              <a:t>第三章</a:t>
            </a:r>
            <a:r>
              <a:rPr lang="en-US" altLang="zh-TW" sz="1800" dirty="0"/>
              <a:t>  </a:t>
            </a:r>
            <a:r>
              <a:rPr lang="zh-TW" altLang="zh-TW" sz="1800" dirty="0"/>
              <a:t>固定資產讓</a:t>
            </a:r>
            <a:r>
              <a:rPr lang="zh-TW" altLang="zh-TW" sz="1800" dirty="0" smtClean="0"/>
              <a:t>售</a:t>
            </a:r>
            <a:endParaRPr lang="en-US" altLang="zh-TW" sz="18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zh-TW" altLang="zh-TW" sz="1800" dirty="0"/>
              <a:t>第四章</a:t>
            </a:r>
            <a:r>
              <a:rPr lang="en-US" altLang="zh-TW" sz="1800" dirty="0"/>
              <a:t>  </a:t>
            </a:r>
            <a:r>
              <a:rPr lang="zh-TW" altLang="zh-TW" sz="1800" dirty="0"/>
              <a:t>資產盤、抽</a:t>
            </a:r>
            <a:r>
              <a:rPr lang="zh-TW" altLang="zh-TW" sz="1800" dirty="0" smtClean="0"/>
              <a:t>點</a:t>
            </a:r>
            <a:endParaRPr lang="en-US" altLang="zh-TW" sz="18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zh-TW" altLang="zh-TW" sz="1800" dirty="0"/>
              <a:t>第五章</a:t>
            </a:r>
            <a:r>
              <a:rPr lang="en-US" altLang="zh-TW" sz="1800" dirty="0"/>
              <a:t>  </a:t>
            </a:r>
            <a:r>
              <a:rPr lang="zh-TW" altLang="zh-TW" sz="1800" dirty="0"/>
              <a:t>資產抵押及</a:t>
            </a:r>
            <a:r>
              <a:rPr lang="zh-TW" altLang="zh-TW" sz="1800" dirty="0" smtClean="0"/>
              <a:t>保險</a:t>
            </a:r>
            <a:endParaRPr lang="en-US" altLang="zh-TW" sz="1800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zh-TW" altLang="zh-TW" sz="1800" dirty="0"/>
              <a:t>第六章</a:t>
            </a:r>
            <a:r>
              <a:rPr lang="en-US" altLang="zh-TW" sz="1800" dirty="0"/>
              <a:t>  </a:t>
            </a:r>
            <a:r>
              <a:rPr lang="zh-TW" altLang="zh-TW" sz="1800" dirty="0"/>
              <a:t>其</a:t>
            </a:r>
            <a:r>
              <a:rPr lang="en-US" altLang="zh-TW" sz="1800" dirty="0"/>
              <a:t>    </a:t>
            </a:r>
            <a:r>
              <a:rPr lang="zh-TW" altLang="zh-TW" sz="1800" dirty="0" smtClean="0"/>
              <a:t>他</a:t>
            </a:r>
            <a:endParaRPr lang="en-US" altLang="zh-TW" sz="180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6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590" y="1837944"/>
            <a:ext cx="3302163" cy="469087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441" y="3095845"/>
            <a:ext cx="4258448" cy="1242503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440" y="2020824"/>
            <a:ext cx="4258449" cy="1047589"/>
          </a:xfrm>
          <a:prstGeom prst="rect">
            <a:avLst/>
          </a:prstGeom>
        </p:spPr>
      </p:pic>
      <p:sp>
        <p:nvSpPr>
          <p:cNvPr id="10" name="內容版面配置區 2"/>
          <p:cNvSpPr txBox="1">
            <a:spLocks/>
          </p:cNvSpPr>
          <p:nvPr/>
        </p:nvSpPr>
        <p:spPr>
          <a:xfrm>
            <a:off x="902195" y="1310793"/>
            <a:ext cx="10309144" cy="737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l" defTabSz="685783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8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1pPr>
            <a:lvl2pPr marL="539750" indent="-198438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2pPr>
            <a:lvl3pPr marL="685783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20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3pPr>
            <a:lvl4pPr marL="1028675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4pPr>
            <a:lvl5pPr marL="1371566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dirty="0" smtClean="0"/>
              <a:t>依</a:t>
            </a:r>
            <a:r>
              <a:rPr lang="zh-TW" altLang="en-US" sz="2400" dirty="0"/>
              <a:t>財務管理</a:t>
            </a:r>
            <a:r>
              <a:rPr lang="zh-TW" altLang="en-US" sz="2400" dirty="0" smtClean="0"/>
              <a:t>規則，制訂固定資產管理</a:t>
            </a:r>
            <a:r>
              <a:rPr lang="zh-TW" altLang="en-US" sz="2400" dirty="0"/>
              <a:t>辦法</a:t>
            </a:r>
            <a:r>
              <a:rPr lang="zh-TW" altLang="en-US" sz="2400" dirty="0" smtClean="0"/>
              <a:t>。</a:t>
            </a:r>
            <a:endParaRPr lang="zh-TW" altLang="en-US" sz="2400" dirty="0"/>
          </a:p>
        </p:txBody>
      </p:sp>
      <p:sp>
        <p:nvSpPr>
          <p:cNvPr id="11" name="流程圖: 換頁接點 10"/>
          <p:cNvSpPr/>
          <p:nvPr/>
        </p:nvSpPr>
        <p:spPr>
          <a:xfrm>
            <a:off x="275208" y="-1"/>
            <a:ext cx="405114" cy="1310793"/>
          </a:xfrm>
          <a:prstGeom prst="flowChartOffpageConnector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r>
              <a:rPr lang="zh-TW" altLang="en-US" sz="24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案例</a:t>
            </a:r>
            <a:endParaRPr lang="zh-TW" altLang="en-US" sz="2400" kern="1200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8" name="直線接點 7"/>
          <p:cNvCxnSpPr/>
          <p:nvPr/>
        </p:nvCxnSpPr>
        <p:spPr>
          <a:xfrm flipV="1">
            <a:off x="6785079" y="2546430"/>
            <a:ext cx="795921" cy="717631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6785079" y="3762235"/>
            <a:ext cx="846495" cy="224549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1638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規章案例</a:t>
            </a:r>
            <a:r>
              <a:rPr lang="en-US" altLang="zh-TW" dirty="0" smtClean="0">
                <a:solidFill>
                  <a:schemeClr val="tx1"/>
                </a:solidFill>
              </a:rPr>
              <a:t>-</a:t>
            </a:r>
            <a:br>
              <a:rPr lang="en-US" altLang="zh-TW" dirty="0" smtClean="0">
                <a:solidFill>
                  <a:schemeClr val="tx1"/>
                </a:solidFill>
              </a:rPr>
            </a:br>
            <a:r>
              <a:rPr lang="zh-TW" altLang="zh-TW" dirty="0" smtClean="0"/>
              <a:t>固定資產</a:t>
            </a:r>
            <a:r>
              <a:rPr lang="zh-TW" altLang="zh-TW" dirty="0"/>
              <a:t>及成本管理項目自主</a:t>
            </a:r>
            <a:r>
              <a:rPr lang="zh-TW" altLang="zh-TW" dirty="0" smtClean="0"/>
              <a:t>檢查外部</a:t>
            </a:r>
            <a:r>
              <a:rPr lang="zh-TW" altLang="zh-TW" dirty="0"/>
              <a:t>稽核辦事細則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902195" y="1310793"/>
            <a:ext cx="10309144" cy="737463"/>
          </a:xfrm>
        </p:spPr>
        <p:txBody>
          <a:bodyPr>
            <a:normAutofit/>
          </a:bodyPr>
          <a:lstStyle/>
          <a:p>
            <a:r>
              <a:rPr lang="zh-TW" altLang="en-US" sz="2400" dirty="0" smtClean="0"/>
              <a:t>依</a:t>
            </a:r>
            <a:r>
              <a:rPr lang="zh-TW" altLang="en-US" sz="2400" dirty="0"/>
              <a:t>固定資產管理辦法「工作職掌</a:t>
            </a:r>
            <a:r>
              <a:rPr lang="zh-TW" altLang="en-US" sz="2400" dirty="0" smtClean="0"/>
              <a:t>」規定，制定外部稽核辦事細則。</a:t>
            </a:r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7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323" y="1875476"/>
            <a:ext cx="4009970" cy="2943412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3"/>
          <a:srcRect b="31055"/>
          <a:stretch/>
        </p:blipFill>
        <p:spPr>
          <a:xfrm>
            <a:off x="5312032" y="3913632"/>
            <a:ext cx="6121181" cy="269748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5529" y="1867096"/>
            <a:ext cx="6107684" cy="1922612"/>
          </a:xfrm>
          <a:prstGeom prst="rect">
            <a:avLst/>
          </a:prstGeom>
        </p:spPr>
      </p:pic>
      <p:sp>
        <p:nvSpPr>
          <p:cNvPr id="8" name="流程圖: 換頁接點 7"/>
          <p:cNvSpPr/>
          <p:nvPr/>
        </p:nvSpPr>
        <p:spPr>
          <a:xfrm>
            <a:off x="275208" y="-1"/>
            <a:ext cx="405114" cy="1310793"/>
          </a:xfrm>
          <a:prstGeom prst="flowChartOffpageConnector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r>
              <a:rPr lang="zh-TW" altLang="en-US" sz="24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案例</a:t>
            </a:r>
            <a:endParaRPr lang="zh-TW" altLang="en-US" sz="2400" kern="1200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65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</a:rPr>
              <a:t>規章案例</a:t>
            </a:r>
            <a:r>
              <a:rPr lang="en-US" altLang="zh-TW" dirty="0">
                <a:solidFill>
                  <a:schemeClr val="tx1"/>
                </a:solidFill>
              </a:rPr>
              <a:t>-</a:t>
            </a:r>
            <a:r>
              <a:rPr lang="zh-TW" altLang="en-US" dirty="0" smtClean="0"/>
              <a:t>固定資產編號作業要點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8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44" y="1768992"/>
            <a:ext cx="3325601" cy="4870273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997" y="1768992"/>
            <a:ext cx="3001131" cy="4229471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2153" y="3264061"/>
            <a:ext cx="4451037" cy="3375204"/>
          </a:xfrm>
          <a:prstGeom prst="rect">
            <a:avLst/>
          </a:prstGeom>
        </p:spPr>
      </p:pic>
      <p:sp>
        <p:nvSpPr>
          <p:cNvPr id="9" name="內容版面配置區 2"/>
          <p:cNvSpPr>
            <a:spLocks noGrp="1"/>
          </p:cNvSpPr>
          <p:nvPr>
            <p:ph sz="half" idx="2"/>
          </p:nvPr>
        </p:nvSpPr>
        <p:spPr>
          <a:xfrm>
            <a:off x="902195" y="1319937"/>
            <a:ext cx="10309144" cy="737463"/>
          </a:xfrm>
        </p:spPr>
        <p:txBody>
          <a:bodyPr>
            <a:normAutofit/>
          </a:bodyPr>
          <a:lstStyle/>
          <a:p>
            <a:r>
              <a:rPr lang="zh-TW" altLang="en-US" sz="2400" dirty="0" smtClean="0"/>
              <a:t>依</a:t>
            </a:r>
            <a:r>
              <a:rPr lang="zh-TW" altLang="en-US" sz="2400" dirty="0"/>
              <a:t>固定資產管理辦法「分類編號」規定</a:t>
            </a:r>
            <a:r>
              <a:rPr lang="zh-TW" altLang="en-US" sz="2400" dirty="0" smtClean="0"/>
              <a:t>，制定固定資產編號作業要點。</a:t>
            </a:r>
            <a:endParaRPr lang="zh-TW" altLang="en-US" sz="2400" dirty="0"/>
          </a:p>
        </p:txBody>
      </p:sp>
      <p:sp>
        <p:nvSpPr>
          <p:cNvPr id="10" name="流程圖: 換頁接點 9"/>
          <p:cNvSpPr/>
          <p:nvPr/>
        </p:nvSpPr>
        <p:spPr>
          <a:xfrm>
            <a:off x="275208" y="-1"/>
            <a:ext cx="405114" cy="1310793"/>
          </a:xfrm>
          <a:prstGeom prst="flowChartOffpageConnector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r>
              <a:rPr lang="zh-TW" altLang="en-US" sz="24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案例</a:t>
            </a:r>
            <a:endParaRPr lang="zh-TW" altLang="en-US" sz="2400" kern="1200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357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</a:rPr>
              <a:t>規章案例</a:t>
            </a:r>
            <a:r>
              <a:rPr lang="en-US" altLang="zh-TW" dirty="0">
                <a:solidFill>
                  <a:schemeClr val="tx1"/>
                </a:solidFill>
              </a:rPr>
              <a:t>-</a:t>
            </a:r>
            <a:r>
              <a:rPr lang="zh-TW" altLang="en-US" dirty="0" smtClean="0"/>
              <a:t>固定資產管理電腦作業說明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9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044" y="1822786"/>
            <a:ext cx="4490975" cy="249299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700" y="1822787"/>
            <a:ext cx="5460045" cy="108834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4"/>
          <a:srcRect b="20562"/>
          <a:stretch/>
        </p:blipFill>
        <p:spPr>
          <a:xfrm>
            <a:off x="5809728" y="3004870"/>
            <a:ext cx="5463958" cy="1428238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9728" y="4537723"/>
            <a:ext cx="5463958" cy="2005711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9044" y="4443984"/>
            <a:ext cx="4490975" cy="2099450"/>
          </a:xfrm>
          <a:prstGeom prst="rect">
            <a:avLst/>
          </a:prstGeom>
        </p:spPr>
      </p:pic>
      <p:sp>
        <p:nvSpPr>
          <p:cNvPr id="10" name="流程圖: 換頁接點 9"/>
          <p:cNvSpPr/>
          <p:nvPr/>
        </p:nvSpPr>
        <p:spPr>
          <a:xfrm>
            <a:off x="275208" y="-1"/>
            <a:ext cx="405114" cy="1310793"/>
          </a:xfrm>
          <a:prstGeom prst="flowChartOffpageConnector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r>
              <a:rPr lang="zh-TW" altLang="en-US" sz="24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案例</a:t>
            </a:r>
            <a:endParaRPr lang="zh-TW" altLang="en-US" sz="2400" kern="1200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內容版面配置區 2"/>
          <p:cNvSpPr txBox="1">
            <a:spLocks/>
          </p:cNvSpPr>
          <p:nvPr/>
        </p:nvSpPr>
        <p:spPr>
          <a:xfrm>
            <a:off x="902195" y="1319937"/>
            <a:ext cx="10309144" cy="737463"/>
          </a:xfrm>
          <a:prstGeom prst="rect">
            <a:avLst/>
          </a:prstGeom>
        </p:spPr>
        <p:txBody>
          <a:bodyPr>
            <a:norm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4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因為需要設置電腦作業，制定固定資產管理電腦作業說明。</a:t>
            </a:r>
            <a:endParaRPr lang="zh-TW" altLang="en-US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47173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規章制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修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定</a:t>
            </a:r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4894961"/>
              </p:ext>
            </p:extLst>
          </p:nvPr>
        </p:nvGraphicFramePr>
        <p:xfrm>
          <a:off x="1923004" y="3429001"/>
          <a:ext cx="8294093" cy="3205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542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9225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6810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96804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735842">
                <a:tc>
                  <a:txBody>
                    <a:bodyPr/>
                    <a:lstStyle/>
                    <a:p>
                      <a:pPr algn="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作業項目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制定部門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審</a:t>
                      </a:r>
                      <a:r>
                        <a:rPr lang="en-US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     </a:t>
                      </a: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查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核</a:t>
                      </a:r>
                      <a:r>
                        <a:rPr lang="en-US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     </a:t>
                      </a: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決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頒</a:t>
                      </a:r>
                      <a:r>
                        <a:rPr lang="en-US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   </a:t>
                      </a: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佈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17355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總管理處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總經理室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總管理處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總經理室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制定</a:t>
                      </a:r>
                      <a:r>
                        <a:rPr lang="en-US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層峰 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marL="439420" indent="-43942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修訂</a:t>
                      </a:r>
                      <a:r>
                        <a:rPr lang="en-US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-</a:t>
                      </a: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總管理處總經理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總管理處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總經理室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17355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公</a:t>
                      </a:r>
                      <a:r>
                        <a:rPr lang="en-US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   </a:t>
                      </a:r>
                      <a:r>
                        <a:rPr lang="zh-TW" sz="2000" kern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司</a:t>
                      </a:r>
                      <a:endParaRPr lang="zh-TW" sz="20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總經理室</a:t>
                      </a:r>
                      <a:endParaRPr lang="zh-TW" sz="20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總管理處</a:t>
                      </a:r>
                      <a:endParaRPr lang="zh-TW" sz="20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總經理室</a:t>
                      </a:r>
                      <a:endParaRPr lang="zh-TW" sz="20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公</a:t>
                      </a:r>
                      <a:r>
                        <a:rPr lang="en-US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   </a:t>
                      </a: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司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董 事 長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公</a:t>
                      </a:r>
                      <a:r>
                        <a:rPr lang="en-US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   </a:t>
                      </a: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司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總經理室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17355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 業 部</a:t>
                      </a:r>
                      <a:endParaRPr lang="zh-TW" sz="20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經 理 室</a:t>
                      </a:r>
                      <a:endParaRPr lang="zh-TW" sz="20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公</a:t>
                      </a:r>
                      <a:r>
                        <a:rPr lang="en-US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   </a:t>
                      </a:r>
                      <a:r>
                        <a:rPr lang="zh-TW" sz="2000" kern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司</a:t>
                      </a:r>
                      <a:endParaRPr lang="zh-TW" sz="20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總經理室</a:t>
                      </a:r>
                      <a:endParaRPr lang="zh-TW" sz="20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經營主管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副總經理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事 業 部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經 理 室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17355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廠</a:t>
                      </a:r>
                      <a:r>
                        <a:rPr lang="en-US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   </a:t>
                      </a: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處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公</a:t>
                      </a:r>
                      <a:r>
                        <a:rPr lang="en-US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   </a:t>
                      </a:r>
                      <a:r>
                        <a:rPr lang="zh-TW" sz="2000" kern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司</a:t>
                      </a:r>
                      <a:endParaRPr lang="zh-TW" sz="20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總經理室</a:t>
                      </a:r>
                      <a:endParaRPr lang="zh-TW" sz="20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經營主管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副總經理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廠</a:t>
                      </a:r>
                      <a:r>
                        <a:rPr lang="en-US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   </a:t>
                      </a:r>
                      <a:r>
                        <a:rPr lang="zh-TW" sz="2000" kern="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處</a:t>
                      </a:r>
                      <a:endParaRPr lang="zh-TW" sz="20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10</a:t>
            </a:fld>
            <a:endParaRPr lang="zh-TW" altLang="en-US" dirty="0"/>
          </a:p>
        </p:txBody>
      </p:sp>
      <p:sp>
        <p:nvSpPr>
          <p:cNvPr id="6" name="內容版面配置區 2"/>
          <p:cNvSpPr txBox="1">
            <a:spLocks/>
          </p:cNvSpPr>
          <p:nvPr/>
        </p:nvSpPr>
        <p:spPr>
          <a:xfrm>
            <a:off x="902195" y="1310793"/>
            <a:ext cx="10309144" cy="21182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l" defTabSz="685783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8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1pPr>
            <a:lvl2pPr marL="539750" indent="-198438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24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2pPr>
            <a:lvl3pPr marL="685783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20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3pPr>
            <a:lvl4pPr marL="1028675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4pPr>
            <a:lvl5pPr marL="1371566" indent="0" algn="l" defTabSz="685783" rtl="0" eaLnBrk="1" latinLnBrk="0" hangingPunct="1">
              <a:lnSpc>
                <a:spcPct val="10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 spc="38" baseline="0">
                <a:solidFill>
                  <a:schemeClr val="tx1">
                    <a:lumMod val="75000"/>
                    <a:lumOff val="2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規章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制定時以頒佈生效日為該規章之「原訂日期」，制定後若條文內容有修訂之需要時，應隨時檢討修訂。</a:t>
            </a:r>
          </a:p>
          <a:p>
            <a:r>
              <a:rPr lang="zh-TW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各類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規章之制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定，</a:t>
            </a:r>
            <a:r>
              <a:rPr lang="zh-TW" altLang="zh-TW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除</a:t>
            </a:r>
            <a:r>
              <a:rPr lang="zh-TW" altLang="zh-TW" sz="24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「規則」應由總管理處或公司總經理室制定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及</a:t>
            </a:r>
            <a:r>
              <a:rPr lang="zh-TW" altLang="zh-TW" sz="2400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「電腦作業說明」一律由經營主管</a:t>
            </a:r>
            <a:r>
              <a:rPr lang="zh-TW" altLang="zh-TW" sz="2400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副總經理主管核決</a:t>
            </a:r>
            <a:r>
              <a:rPr lang="zh-TW" altLang="zh-TW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外</a:t>
            </a:r>
            <a:r>
              <a:rPr lang="zh-TW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其餘規章由各部門視作業管理上之需要制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定之，並依據下表</a:t>
            </a:r>
            <a:r>
              <a:rPr lang="zh-TW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作業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流程呈核後實施。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0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 smtClean="0"/>
              <a:t>規章定期</a:t>
            </a:r>
            <a:r>
              <a:rPr lang="zh-TW" altLang="zh-TW" dirty="0"/>
              <a:t>總檢討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>
          <a:xfrm>
            <a:off x="902195" y="1310793"/>
            <a:ext cx="10309144" cy="2230075"/>
          </a:xfrm>
        </p:spPr>
        <p:txBody>
          <a:bodyPr>
            <a:normAutofit/>
          </a:bodyPr>
          <a:lstStyle/>
          <a:p>
            <a:r>
              <a:rPr lang="zh-TW" altLang="zh-TW" sz="2400" dirty="0"/>
              <a:t>各類規章除隨時配合實際需要隨時檢討修訂外，亦應定期進行總</a:t>
            </a:r>
            <a:r>
              <a:rPr lang="zh-TW" altLang="zh-TW" sz="2400" dirty="0" smtClean="0"/>
              <a:t>檢討</a:t>
            </a:r>
            <a:r>
              <a:rPr lang="zh-TW" altLang="zh-TW" sz="2400" dirty="0"/>
              <a:t>，以確認規章是否繼續延用或有修改之必要</a:t>
            </a:r>
            <a:r>
              <a:rPr lang="zh-TW" altLang="zh-TW" sz="2400" dirty="0" smtClean="0"/>
              <a:t>。</a:t>
            </a:r>
            <a:endParaRPr lang="en-US" altLang="zh-TW" sz="2400" dirty="0" smtClean="0"/>
          </a:p>
          <a:p>
            <a:r>
              <a:rPr lang="zh-TW" altLang="zh-TW" sz="2400" dirty="0"/>
              <a:t>規章制定頒佈後，於置入知識庫時，維護人員應一併將定期總檢討週期建檔，設定原則如下：</a:t>
            </a:r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11</a:t>
            </a:fld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397340"/>
              </p:ext>
            </p:extLst>
          </p:nvPr>
        </p:nvGraphicFramePr>
        <p:xfrm>
          <a:off x="1266218" y="3044758"/>
          <a:ext cx="9625559" cy="29171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5429"/>
                <a:gridCol w="7790130"/>
              </a:tblGrid>
              <a:tr h="462064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2400" kern="10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類別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2400" kern="10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檢  討  週  期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2258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altLang="zh-TW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新制定頒佈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altLang="zh-TW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定期總檢討週期均為</a:t>
                      </a:r>
                      <a:r>
                        <a:rPr lang="zh-TW" altLang="en-US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zh-TW" altLang="zh-TW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zh-TW" altLang="en-US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92808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TW" altLang="en-US" sz="2400" kern="10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已經實施者</a:t>
                      </a:r>
                      <a:endParaRPr lang="zh-TW" sz="2400" kern="100" dirty="0"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4625" marR="0" indent="-174625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2400" kern="100" dirty="0" smtClean="0"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實施二年以上</a:t>
                      </a:r>
                      <a:r>
                        <a:rPr lang="zh-TW" altLang="zh-TW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未修訂且條文內容確較穩定者，得於定期總檢討時，將週期修訂為</a:t>
                      </a:r>
                      <a:r>
                        <a:rPr lang="zh-TW" altLang="en-US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zh-TW" altLang="zh-TW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年。</a:t>
                      </a:r>
                      <a:endParaRPr lang="en-US" altLang="zh-TW" sz="2400" kern="1200" dirty="0" smtClean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174625" marR="0" indent="-174625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zh-TW" sz="2400" kern="1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定期總檢討週期已定為</a:t>
                      </a:r>
                      <a:r>
                        <a:rPr lang="zh-TW" altLang="en-US" sz="2400" kern="1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二</a:t>
                      </a:r>
                      <a:r>
                        <a:rPr lang="zh-TW" altLang="zh-TW" sz="2400" kern="1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年之規章，若再經大幅度檢討修訂，應於簽報修訂規章時，將總檢討週期回復為</a:t>
                      </a:r>
                      <a:r>
                        <a:rPr lang="zh-TW" altLang="en-US" sz="2400" kern="1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zh-TW" altLang="zh-TW" sz="2400" kern="1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年</a:t>
                      </a:r>
                      <a:r>
                        <a:rPr lang="zh-TW" altLang="en-US" sz="2400" kern="1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zh-TW" sz="2400" kern="1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204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679A3B4-C1EF-88A3-EDC8-137B766C5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規章分類</a:t>
            </a:r>
            <a:r>
              <a:rPr lang="zh-TW" altLang="en-US" dirty="0"/>
              <a:t>及編號原則</a:t>
            </a:r>
            <a:r>
              <a:rPr lang="en-US" altLang="zh-TW" dirty="0"/>
              <a:t>	</a:t>
            </a:r>
            <a:endParaRPr lang="zh-TW" altLang="en-US" dirty="0"/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xmlns="" id="{8E857314-C9FC-D544-5DA5-F9AC159B66D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3490424"/>
              </p:ext>
            </p:extLst>
          </p:nvPr>
        </p:nvGraphicFramePr>
        <p:xfrm>
          <a:off x="1048515" y="1522276"/>
          <a:ext cx="10125453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637">
                  <a:extLst>
                    <a:ext uri="{9D8B030D-6E8A-4147-A177-3AD203B41FA5}">
                      <a16:colId xmlns:a16="http://schemas.microsoft.com/office/drawing/2014/main" xmlns="" val="902786931"/>
                    </a:ext>
                  </a:extLst>
                </a:gridCol>
                <a:gridCol w="1430552">
                  <a:extLst>
                    <a:ext uri="{9D8B030D-6E8A-4147-A177-3AD203B41FA5}">
                      <a16:colId xmlns:a16="http://schemas.microsoft.com/office/drawing/2014/main" xmlns="" val="3164126619"/>
                    </a:ext>
                  </a:extLst>
                </a:gridCol>
                <a:gridCol w="1743910">
                  <a:extLst>
                    <a:ext uri="{9D8B030D-6E8A-4147-A177-3AD203B41FA5}">
                      <a16:colId xmlns:a16="http://schemas.microsoft.com/office/drawing/2014/main" xmlns="" val="2987343484"/>
                    </a:ext>
                  </a:extLst>
                </a:gridCol>
                <a:gridCol w="1812587">
                  <a:extLst>
                    <a:ext uri="{9D8B030D-6E8A-4147-A177-3AD203B41FA5}">
                      <a16:colId xmlns:a16="http://schemas.microsoft.com/office/drawing/2014/main" xmlns="" val="3681030403"/>
                    </a:ext>
                  </a:extLst>
                </a:gridCol>
                <a:gridCol w="1812587">
                  <a:extLst>
                    <a:ext uri="{9D8B030D-6E8A-4147-A177-3AD203B41FA5}">
                      <a16:colId xmlns:a16="http://schemas.microsoft.com/office/drawing/2014/main" xmlns="" val="2780749393"/>
                    </a:ext>
                  </a:extLst>
                </a:gridCol>
                <a:gridCol w="2458180">
                  <a:extLst>
                    <a:ext uri="{9D8B030D-6E8A-4147-A177-3AD203B41FA5}">
                      <a16:colId xmlns:a16="http://schemas.microsoft.com/office/drawing/2014/main" xmlns="" val="2892682779"/>
                    </a:ext>
                  </a:extLst>
                </a:gridCol>
              </a:tblGrid>
              <a:tr h="39133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位數</a:t>
                      </a:r>
                      <a:endParaRPr lang="zh-TW" altLang="en-US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意義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定   義</a:t>
                      </a:r>
                      <a:endParaRPr lang="zh-TW" altLang="en-US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06987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機能別</a:t>
                      </a:r>
                      <a:endParaRPr lang="zh-TW" altLang="en-US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zh-TW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：人事類　</a:t>
                      </a:r>
                      <a:endParaRPr lang="en-US" altLang="zh-TW" sz="2400" kern="1200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TW" sz="240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zh-TW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：財務類　</a:t>
                      </a:r>
                      <a:r>
                        <a:rPr lang="en-US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zh-TW" altLang="en-US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zh-TW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：資材類　</a:t>
                      </a:r>
                      <a:r>
                        <a:rPr lang="en-US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E</a:t>
                      </a:r>
                      <a:r>
                        <a:rPr lang="zh-TW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：工程類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zh-TW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：營業類</a:t>
                      </a:r>
                      <a:endParaRPr lang="en-US" altLang="zh-TW" sz="24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zh-TW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：電腦類</a:t>
                      </a:r>
                      <a:endParaRPr lang="en-US" altLang="zh-TW" sz="24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zh-TW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：總務類</a:t>
                      </a:r>
                      <a:endParaRPr lang="en-US" altLang="zh-TW" sz="24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zh-TW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：生產類</a:t>
                      </a:r>
                      <a:endParaRPr lang="zh-TW" altLang="en-US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zh-TW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：土地類</a:t>
                      </a:r>
                      <a:r>
                        <a:rPr lang="en-US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r>
                        <a:rPr lang="en-US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lang="zh-TW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：警務類</a:t>
                      </a:r>
                      <a:endParaRPr lang="en-US" altLang="zh-TW" sz="24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zh-TW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：規範類</a:t>
                      </a:r>
                      <a:endParaRPr lang="en-US" altLang="zh-TW" sz="24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zh-TW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：共通類</a:t>
                      </a:r>
                      <a:endParaRPr lang="zh-TW" altLang="en-US" sz="2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zh-TW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：經營分析類</a:t>
                      </a:r>
                      <a:endParaRPr lang="en-US" altLang="zh-TW" sz="24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lang="zh-TW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：工安環保類</a:t>
                      </a:r>
                      <a:endParaRPr lang="en-US" altLang="zh-TW" sz="24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Z</a:t>
                      </a:r>
                      <a:r>
                        <a:rPr lang="zh-TW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：其他類</a:t>
                      </a: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24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655759478"/>
                  </a:ext>
                </a:extLst>
              </a:tr>
              <a:tr h="785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2~3</a:t>
                      </a:r>
                      <a:endParaRPr lang="zh-TW" altLang="en-US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40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適用範圍</a:t>
                      </a:r>
                      <a:endParaRPr lang="zh-TW" altLang="en-US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182563" indent="-182563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適用地區：</a:t>
                      </a:r>
                      <a:r>
                        <a:rPr lang="en-US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00</a:t>
                      </a:r>
                      <a:r>
                        <a:rPr lang="zh-TW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台灣各</a:t>
                      </a:r>
                      <a:r>
                        <a:rPr lang="zh-TW" altLang="zh-TW" sz="240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公司</a:t>
                      </a:r>
                      <a:r>
                        <a:rPr lang="zh-TW" altLang="en-US" sz="240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CN</a:t>
                      </a:r>
                      <a:r>
                        <a:rPr lang="zh-TW" altLang="en-US" sz="240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大陸適用，</a:t>
                      </a:r>
                      <a:r>
                        <a:rPr lang="en-US" altLang="zh-TW" sz="240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VN</a:t>
                      </a:r>
                      <a:r>
                        <a:rPr lang="zh-TW" altLang="en-US" sz="2400" kern="120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越南適用。</a:t>
                      </a:r>
                      <a:endParaRPr lang="en-US" altLang="zh-TW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182563" indent="-182563">
                        <a:buFont typeface="Arial" panose="020B0604020202020204" pitchFamily="34" charset="0"/>
                        <a:buChar char="•"/>
                      </a:pPr>
                      <a:r>
                        <a:rPr lang="zh-TW" altLang="en-US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適用公司</a:t>
                      </a:r>
                      <a:r>
                        <a:rPr lang="en-US" altLang="zh-TW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事業部</a:t>
                      </a:r>
                      <a:r>
                        <a:rPr lang="en-US" altLang="zh-TW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29405143"/>
                  </a:ext>
                </a:extLst>
              </a:tr>
              <a:tr h="78567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4~6</a:t>
                      </a:r>
                      <a:endParaRPr lang="zh-TW" altLang="en-US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流水號碼</a:t>
                      </a:r>
                      <a:endParaRPr lang="zh-TW" altLang="en-US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182563" indent="-182563" algn="l" defTabSz="685783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由規章制定部門自行依序編定</a:t>
                      </a:r>
                      <a:endParaRPr lang="en-US" altLang="zh-TW" sz="240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182563" indent="-182563" algn="l" defTabSz="685783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各事業部如需區分制定廠處別可取第四位編定</a:t>
                      </a:r>
                      <a:r>
                        <a:rPr lang="zh-TW" altLang="en-US" sz="24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6235739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D37CDD8D-13E4-1013-0300-36E82BBDC5BC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12</a:t>
            </a:fld>
            <a:endParaRPr lang="zh-TW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68EAA0E4-FE68-6264-1C27-0DD90F0E697F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893067" y="5224668"/>
            <a:ext cx="10838489" cy="1253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spcBef>
                <a:spcPct val="0"/>
              </a:spcBef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  <a:ea typeface="新細明體" panose="02020500000000000000" pitchFamily="18" charset="-120"/>
              </a:defRPr>
            </a:lvl1pPr>
            <a:lvl2pPr algn="ctr">
              <a:spcBef>
                <a:spcPct val="0"/>
              </a:spcBef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  <a:ea typeface="新細明體" panose="02020500000000000000" pitchFamily="18" charset="-120"/>
              </a:defRPr>
            </a:lvl2pPr>
            <a:lvl3pPr algn="ctr">
              <a:spcBef>
                <a:spcPct val="0"/>
              </a:spcBef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  <a:ea typeface="新細明體" panose="02020500000000000000" pitchFamily="18" charset="-120"/>
              </a:defRPr>
            </a:lvl3pPr>
            <a:lvl4pPr algn="ctr">
              <a:spcBef>
                <a:spcPct val="0"/>
              </a:spcBef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  <a:ea typeface="新細明體" panose="02020500000000000000" pitchFamily="18" charset="-120"/>
              </a:defRPr>
            </a:lvl4pPr>
            <a:lvl5pPr algn="ctr">
              <a:spcBef>
                <a:spcPct val="0"/>
              </a:spcBef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  <a:ea typeface="新細明體" panose="02020500000000000000" pitchFamily="18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  <a:ea typeface="新細明體" panose="02020500000000000000" pitchFamily="18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  <a:ea typeface="新細明體" panose="02020500000000000000" pitchFamily="18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  <a:ea typeface="新細明體" panose="02020500000000000000" pitchFamily="18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Garamond" panose="02020404030301010803" pitchFamily="18" charset="0"/>
                <a:ea typeface="新細明體" panose="02020500000000000000" pitchFamily="18" charset="-120"/>
              </a:defRPr>
            </a:lvl9pPr>
          </a:lstStyle>
          <a:p>
            <a:pPr algn="l">
              <a:spcBef>
                <a:spcPts val="0"/>
              </a:spcBef>
              <a:defRPr/>
            </a:pPr>
            <a:r>
              <a:rPr lang="zh-TW" altLang="en-US" sz="24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範例</a:t>
            </a:r>
            <a:r>
              <a:rPr lang="en-US" altLang="zh-TW" sz="24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algn="l">
              <a:spcBef>
                <a:spcPts val="0"/>
              </a:spcBef>
              <a:defRPr/>
            </a:pPr>
            <a:r>
              <a:rPr lang="zh-TW" altLang="en-US" sz="24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24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P</a:t>
            </a:r>
            <a:r>
              <a:rPr lang="en-US" altLang="zh-TW" sz="2400" b="0" u="sng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00</a:t>
            </a:r>
            <a:r>
              <a:rPr lang="en-US" altLang="zh-TW" sz="24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026</a:t>
            </a:r>
            <a:r>
              <a:rPr lang="zh-TW" altLang="zh-TW" sz="2400" b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規章及表單管理</a:t>
            </a:r>
            <a:r>
              <a:rPr lang="zh-TW" altLang="zh-TW" sz="24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辦法</a:t>
            </a:r>
            <a:r>
              <a:rPr lang="zh-TW" altLang="en-US" sz="24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en-US" altLang="zh-TW" sz="24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P</a:t>
            </a:r>
            <a:r>
              <a:rPr lang="zh-TW" altLang="en-US" sz="2400" b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表人事類、</a:t>
            </a:r>
            <a:r>
              <a:rPr lang="en-US" altLang="zh-TW" sz="2400" b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00</a:t>
            </a:r>
            <a:r>
              <a:rPr lang="zh-TW" altLang="en-US" sz="2400" b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表適用台灣地區、</a:t>
            </a:r>
            <a:r>
              <a:rPr lang="en-US" altLang="zh-TW" sz="2400" b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026</a:t>
            </a:r>
            <a:r>
              <a:rPr lang="zh-TW" altLang="en-US" sz="2400" b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為</a:t>
            </a:r>
            <a:r>
              <a:rPr lang="zh-TW" altLang="en-US" sz="24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流水號。</a:t>
            </a:r>
            <a:endParaRPr lang="en-US" altLang="zh-TW" sz="2400" b="0" dirty="0" smtClean="0"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l">
              <a:spcBef>
                <a:spcPts val="0"/>
              </a:spcBef>
              <a:defRPr/>
            </a:pPr>
            <a:r>
              <a:rPr lang="zh-TW" altLang="en-US" sz="24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24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S</a:t>
            </a:r>
            <a:r>
              <a:rPr lang="en-US" altLang="zh-TW" sz="2400" b="0" u="sng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10</a:t>
            </a:r>
            <a:r>
              <a:rPr lang="en-US" altLang="zh-TW" sz="24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001</a:t>
            </a:r>
            <a:r>
              <a:rPr lang="zh-TW" altLang="en-US" sz="2400" b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台塑營業管理</a:t>
            </a:r>
            <a:r>
              <a:rPr lang="zh-TW" altLang="en-US" sz="24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準則  ：</a:t>
            </a:r>
            <a:r>
              <a:rPr lang="en-US" altLang="zh-TW" sz="24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S</a:t>
            </a:r>
            <a:r>
              <a:rPr lang="zh-TW" altLang="en-US" sz="24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表營業類、</a:t>
            </a:r>
            <a:r>
              <a:rPr lang="en-US" altLang="zh-TW" sz="24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10</a:t>
            </a:r>
            <a:r>
              <a:rPr lang="zh-TW" altLang="en-US" sz="24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表適用台塑公司、</a:t>
            </a:r>
            <a:r>
              <a:rPr lang="en-US" altLang="zh-TW" sz="24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001</a:t>
            </a:r>
            <a:r>
              <a:rPr lang="zh-TW" altLang="en-US" sz="2400" b="0" dirty="0" smtClean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為流水號。</a:t>
            </a:r>
            <a:endParaRPr lang="zh-TW" altLang="en-US" sz="2400" b="0" dirty="0"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122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77AF91B8-ABF8-3D54-62A7-5E21A9E52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 smtClean="0"/>
              <a:t>規章</a:t>
            </a:r>
            <a:r>
              <a:rPr lang="zh-TW" altLang="en-US" dirty="0" smtClean="0"/>
              <a:t>編</a:t>
            </a:r>
            <a:r>
              <a:rPr lang="zh-TW" altLang="en-US" dirty="0"/>
              <a:t>定</a:t>
            </a:r>
            <a:r>
              <a:rPr lang="zh-TW" altLang="zh-TW" dirty="0" smtClean="0"/>
              <a:t>規範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0C147CD6-D936-CFF5-FAE2-21908FB7D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2195" y="1310793"/>
            <a:ext cx="10309144" cy="1055335"/>
          </a:xfrm>
        </p:spPr>
        <p:txBody>
          <a:bodyPr>
            <a:normAutofit/>
          </a:bodyPr>
          <a:lstStyle/>
          <a:p>
            <a:r>
              <a:rPr lang="zh-TW" altLang="zh-TW" sz="2400" dirty="0">
                <a:effectLst/>
                <a:cs typeface="Arial" panose="020B0604020202020204" pitchFamily="34" charset="0"/>
              </a:rPr>
              <a:t>為使本企業規章之制定及內容格式、編排能夠達於分明一致，俾</a:t>
            </a:r>
            <a:r>
              <a:rPr lang="zh-TW" altLang="zh-TW" sz="2400" dirty="0" smtClean="0">
                <a:effectLst/>
                <a:cs typeface="Arial" panose="020B0604020202020204" pitchFamily="34" charset="0"/>
              </a:rPr>
              <a:t>利</a:t>
            </a:r>
            <a:r>
              <a:rPr lang="zh-TW" altLang="en-US" sz="2400" b="1" u="sng" dirty="0" smtClean="0"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所有</a:t>
            </a:r>
            <a:r>
              <a:rPr lang="zh-TW" altLang="zh-TW" sz="2400" b="1" u="sng" dirty="0" smtClean="0">
                <a:solidFill>
                  <a:srgbClr val="C00000"/>
                </a:solidFill>
                <a:effectLst/>
                <a:cs typeface="Arial" panose="020B0604020202020204" pitchFamily="34" charset="0"/>
              </a:rPr>
              <a:t>從業人員</a:t>
            </a:r>
            <a:r>
              <a:rPr lang="zh-TW" altLang="zh-TW" sz="2400" dirty="0">
                <a:effectLst/>
                <a:cs typeface="Arial" panose="020B0604020202020204" pitchFamily="34" charset="0"/>
              </a:rPr>
              <a:t>充分瞭解遵守。</a:t>
            </a:r>
            <a:endParaRPr lang="en-US" altLang="zh-TW" sz="2400" dirty="0">
              <a:effectLst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xmlns="" id="{7D5F54CF-2B94-4B71-9222-BD6BE9E92652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13</a:t>
            </a:fld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xmlns="" id="{F1243447-4C86-617F-3B0F-E728D9C60B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979301"/>
              </p:ext>
            </p:extLst>
          </p:nvPr>
        </p:nvGraphicFramePr>
        <p:xfrm>
          <a:off x="1267989" y="2271860"/>
          <a:ext cx="979907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773">
                  <a:extLst>
                    <a:ext uri="{9D8B030D-6E8A-4147-A177-3AD203B41FA5}">
                      <a16:colId xmlns:a16="http://schemas.microsoft.com/office/drawing/2014/main" xmlns="" val="2488321563"/>
                    </a:ext>
                  </a:extLst>
                </a:gridCol>
                <a:gridCol w="7915306">
                  <a:extLst>
                    <a:ext uri="{9D8B030D-6E8A-4147-A177-3AD203B41FA5}">
                      <a16:colId xmlns:a16="http://schemas.microsoft.com/office/drawing/2014/main" xmlns="" val="35898388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項目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zh-TW" altLang="en-US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規範內容</a:t>
                      </a:r>
                      <a:endParaRPr lang="en-US" altLang="zh-TW" sz="24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895253545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編定內容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-182563" algn="l" defTabSz="685783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規章規格及編寫方式</a:t>
                      </a:r>
                      <a:r>
                        <a:rPr lang="zh-TW" altLang="en-US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頁次編定</a:t>
                      </a:r>
                      <a:r>
                        <a:rPr lang="zh-TW" altLang="en-US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封面及目錄</a:t>
                      </a:r>
                      <a:r>
                        <a:rPr lang="zh-TW" altLang="en-US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制</a:t>
                      </a: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</a:t>
                      </a: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定記錄</a:t>
                      </a:r>
                      <a:r>
                        <a:rPr lang="zh-TW" altLang="zh-TW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標示</a:t>
                      </a:r>
                      <a:r>
                        <a:rPr lang="zh-TW" altLang="en-US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434479439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編號、用字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-182563" algn="l" defTabSz="685783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規章編號</a:t>
                      </a:r>
                      <a:r>
                        <a:rPr lang="zh-TW" altLang="zh-TW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原則</a:t>
                      </a:r>
                      <a:r>
                        <a:rPr lang="zh-TW" altLang="en-US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en-US" altLang="zh-TW" sz="2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182563" indent="-182563" algn="l" defTabSz="685783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規章之用字</a:t>
                      </a:r>
                      <a:r>
                        <a:rPr lang="zh-TW" altLang="en-US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，包含字體</a:t>
                      </a:r>
                      <a:r>
                        <a:rPr lang="zh-TW" altLang="en-US" sz="24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、大小、行距、</a:t>
                      </a:r>
                      <a:r>
                        <a:rPr lang="zh-TW" altLang="en-US" sz="240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間距。</a:t>
                      </a:r>
                      <a:endParaRPr lang="en-US" altLang="zh-TW" sz="24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27363944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ctr"/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規章</a:t>
                      </a:r>
                      <a:r>
                        <a:rPr lang="zh-TW" altLang="zh-TW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公佈</a:t>
                      </a:r>
                      <a:r>
                        <a:rPr lang="en-US" altLang="zh-TW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/>
                      </a:r>
                      <a:br>
                        <a:rPr lang="en-US" altLang="zh-TW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zh-TW" altLang="zh-TW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及</a:t>
                      </a:r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查閱</a:t>
                      </a:r>
                      <a:endParaRPr lang="zh-TW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563" indent="-182563" algn="l" defTabSz="685783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規章制定</a:t>
                      </a: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修訂</a:t>
                      </a:r>
                      <a:r>
                        <a:rPr lang="en-US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TW" altLang="en-US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由制修訂部門</a:t>
                      </a:r>
                      <a:r>
                        <a:rPr lang="zh-TW" altLang="zh-TW" sz="2400" kern="1200" dirty="0" smtClean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以公佈</a:t>
                      </a:r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函針對適用部門發佈</a:t>
                      </a:r>
                      <a:r>
                        <a:rPr lang="zh-TW" altLang="en-US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en-US" altLang="zh-TW" sz="2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182563" indent="-182563" algn="l" defTabSz="685783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企業內規章一律納入企業知識庫內</a:t>
                      </a:r>
                      <a:r>
                        <a:rPr lang="zh-TW" altLang="en-US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。</a:t>
                      </a:r>
                      <a:endParaRPr lang="en-US" altLang="zh-TW" sz="2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182563" indent="-182563" algn="l" defTabSz="685783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zh-TW" altLang="zh-TW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若修訂規章之部份條文，經辦人員於公佈時應將修訂之頁次或修訂前後條文對照</a:t>
                      </a:r>
                      <a:r>
                        <a:rPr lang="zh-TW" altLang="en-US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設為附件供查閱。</a:t>
                      </a:r>
                      <a:endParaRPr lang="zh-TW" altLang="en-US" sz="24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243146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1301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832" y="1450960"/>
            <a:ext cx="3952320" cy="4998478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規章樣式</a:t>
            </a:r>
            <a:r>
              <a:rPr lang="en-US" altLang="zh-TW" dirty="0"/>
              <a:t>-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範例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14</a:t>
            </a:fld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509" y="1463968"/>
            <a:ext cx="3914273" cy="4985470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2438695" y="4376354"/>
            <a:ext cx="2954655" cy="36933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正面中間位置標示規章名稱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244144" y="2388896"/>
            <a:ext cx="2954655" cy="36933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正上方標示該規章適用範圍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8214509" y="2389008"/>
            <a:ext cx="3185487" cy="36933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封面右上方標示「規章編號」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231730" y="5114408"/>
            <a:ext cx="5075428" cy="36933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右下方標示「制定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部門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原訂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日期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新訂</a:t>
            </a:r>
            <a:r>
              <a:rPr lang="zh-TW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日期」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向上箭號 12"/>
          <p:cNvSpPr/>
          <p:nvPr/>
        </p:nvSpPr>
        <p:spPr>
          <a:xfrm>
            <a:off x="3770107" y="4111080"/>
            <a:ext cx="291830" cy="26691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向上箭號 13"/>
          <p:cNvSpPr/>
          <p:nvPr/>
        </p:nvSpPr>
        <p:spPr>
          <a:xfrm>
            <a:off x="3575556" y="2121984"/>
            <a:ext cx="291830" cy="26691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向上箭號 14"/>
          <p:cNvSpPr/>
          <p:nvPr/>
        </p:nvSpPr>
        <p:spPr>
          <a:xfrm>
            <a:off x="9661337" y="2122096"/>
            <a:ext cx="291830" cy="26691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向上箭號 15"/>
          <p:cNvSpPr/>
          <p:nvPr/>
        </p:nvSpPr>
        <p:spPr>
          <a:xfrm rot="10800000">
            <a:off x="9029036" y="5483740"/>
            <a:ext cx="291830" cy="26691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流程圖: 換頁接點 16"/>
          <p:cNvSpPr/>
          <p:nvPr/>
        </p:nvSpPr>
        <p:spPr>
          <a:xfrm>
            <a:off x="275208" y="-1"/>
            <a:ext cx="405114" cy="1310793"/>
          </a:xfrm>
          <a:prstGeom prst="flowChartOffpageConnector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r>
              <a:rPr lang="zh-TW" altLang="en-US" sz="24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案例</a:t>
            </a:r>
            <a:endParaRPr lang="zh-TW" altLang="en-US" sz="2400" kern="1200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051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規章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樣式</a:t>
            </a:r>
            <a:r>
              <a:rPr lang="en-US" altLang="zh-TW" dirty="0"/>
              <a:t>-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範例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15</a:t>
            </a:fld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711" y="1370952"/>
            <a:ext cx="4307757" cy="5409224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6497299" y="1370952"/>
            <a:ext cx="4914413" cy="3139321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174625" indent="-174625" algn="just">
              <a:buFont typeface="Arial" panose="020B0604020202020204" pitchFamily="34" charset="0"/>
              <a:buChar char="•"/>
            </a:pP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規章條文應分條書寫，標明題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要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60363" lvl="1" indent="-165100" algn="just">
              <a:buFont typeface="Arial" panose="020B0604020202020204" pitchFamily="34" charset="0"/>
              <a:buChar char="•"/>
            </a:pP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不分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章節者，各條冠以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2.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字樣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60363" lvl="1" indent="-165100" algn="just">
              <a:buFont typeface="Arial" panose="020B0604020202020204" pitchFamily="34" charset="0"/>
              <a:buChar char="•"/>
            </a:pP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分章未分節者，各條冠以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1.1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1.2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字樣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60363" lvl="1" indent="-165100" algn="just">
              <a:buFont typeface="Arial" panose="020B0604020202020204" pitchFamily="34" charset="0"/>
              <a:buChar char="•"/>
            </a:pP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分章且分節者，各條冠以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1.1.1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1.1.2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字樣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60363" lvl="1" indent="-165100" algn="just">
              <a:buFont typeface="Arial" panose="020B0604020202020204" pitchFamily="34" charset="0"/>
              <a:buChar char="•"/>
            </a:pP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各條內依需要得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細分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並冠以字樣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為項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(1)(2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、款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A.B.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、目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a.b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74625" indent="-174625" algn="just">
              <a:buFont typeface="Arial" panose="020B0604020202020204" pitchFamily="34" charset="0"/>
              <a:buChar char="•"/>
            </a:pP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規章一律以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A4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之規格編定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除電腦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作業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說明以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橫式橫寫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方式編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定外，其餘規章一律以直式橫寫方式編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74625" indent="-174625" algn="just">
              <a:buFont typeface="Arial" panose="020B0604020202020204" pitchFamily="34" charset="0"/>
              <a:buChar char="•"/>
            </a:pP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規章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及表單所用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中文字體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一律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使用標楷體，大小以</a:t>
            </a:r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14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號為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準</a:t>
            </a:r>
            <a:r>
              <a:rPr lang="zh-TW" altLang="en-US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向上箭號 7"/>
          <p:cNvSpPr/>
          <p:nvPr/>
        </p:nvSpPr>
        <p:spPr>
          <a:xfrm rot="-5400000">
            <a:off x="6217928" y="2807157"/>
            <a:ext cx="291830" cy="26691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298" y="4570252"/>
            <a:ext cx="3378222" cy="2172911"/>
          </a:xfrm>
          <a:prstGeom prst="rect">
            <a:avLst/>
          </a:prstGeom>
        </p:spPr>
      </p:pic>
      <p:sp>
        <p:nvSpPr>
          <p:cNvPr id="10" name="流程圖: 換頁接點 9"/>
          <p:cNvSpPr/>
          <p:nvPr/>
        </p:nvSpPr>
        <p:spPr>
          <a:xfrm>
            <a:off x="275208" y="-1"/>
            <a:ext cx="405114" cy="1310793"/>
          </a:xfrm>
          <a:prstGeom prst="flowChartOffpageConnector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r>
              <a:rPr lang="zh-TW" altLang="en-US" sz="24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案例</a:t>
            </a:r>
            <a:endParaRPr lang="zh-TW" altLang="en-US" sz="2400" kern="1200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9149554" y="5981424"/>
            <a:ext cx="2262158" cy="646331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電腦作業說明</a:t>
            </a:r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以橫式</a:t>
            </a:r>
            <a:endParaRPr lang="en-US" altLang="zh-TW" dirty="0" smtClean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橫</a:t>
            </a:r>
            <a:r>
              <a:rPr lang="zh-TW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寫方式編定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9548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602" y="1391902"/>
            <a:ext cx="5859925" cy="3568827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規章公佈</a:t>
            </a:r>
            <a:r>
              <a:rPr lang="zh-TW" altLang="en-US" dirty="0"/>
              <a:t>與</a:t>
            </a:r>
            <a:r>
              <a:rPr lang="zh-TW" altLang="en-US" dirty="0" smtClean="0"/>
              <a:t>查閱</a:t>
            </a:r>
            <a:r>
              <a:rPr lang="en-US" altLang="zh-TW" dirty="0" smtClean="0"/>
              <a:t>-</a:t>
            </a:r>
            <a:r>
              <a:rPr lang="zh-TW" altLang="en-US" dirty="0" smtClean="0"/>
              <a:t>範例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16</a:t>
            </a:fld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378" y="1391902"/>
            <a:ext cx="4251704" cy="5320601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8750560" y="4964591"/>
            <a:ext cx="2723823" cy="36933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TW" altLang="zh-TW" dirty="0" smtClean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企業規章納入</a:t>
            </a:r>
            <a:r>
              <a:rPr lang="zh-TW" altLang="zh-TW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企業</a:t>
            </a:r>
            <a:r>
              <a:rPr lang="zh-TW" altLang="zh-TW" dirty="0" smtClean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知識庫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" name="向上箭號 8"/>
          <p:cNvSpPr/>
          <p:nvPr/>
        </p:nvSpPr>
        <p:spPr>
          <a:xfrm>
            <a:off x="9962266" y="4700136"/>
            <a:ext cx="291830" cy="26691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958074" y="5164488"/>
            <a:ext cx="2031325" cy="92333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zh-TW" altLang="zh-TW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</a:t>
            </a:r>
            <a:r>
              <a:rPr lang="zh-TW" altLang="zh-TW" dirty="0" smtClean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修訂頁次</a:t>
            </a:r>
            <a:r>
              <a:rPr lang="zh-TW" altLang="zh-TW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</a:t>
            </a:r>
            <a:r>
              <a:rPr lang="zh-TW" altLang="zh-TW" dirty="0" smtClean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修訂</a:t>
            </a:r>
            <a:endParaRPr lang="en-US" altLang="zh-TW" dirty="0" smtClean="0">
              <a:solidFill>
                <a:schemeClr val="dk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zh-TW" dirty="0" smtClean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前後</a:t>
            </a:r>
            <a:r>
              <a:rPr lang="zh-TW" altLang="zh-TW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條文對照</a:t>
            </a:r>
            <a:r>
              <a:rPr lang="zh-TW" altLang="en-US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</a:t>
            </a:r>
            <a:r>
              <a:rPr lang="zh-TW" altLang="en-US" dirty="0" smtClean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</a:t>
            </a:r>
            <a:endParaRPr lang="en-US" altLang="zh-TW" dirty="0" smtClean="0">
              <a:solidFill>
                <a:schemeClr val="dk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附件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" name="向上箭號 10"/>
          <p:cNvSpPr/>
          <p:nvPr/>
        </p:nvSpPr>
        <p:spPr>
          <a:xfrm>
            <a:off x="1839575" y="4882345"/>
            <a:ext cx="291830" cy="26691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流程圖: 換頁接點 12"/>
          <p:cNvSpPr/>
          <p:nvPr/>
        </p:nvSpPr>
        <p:spPr>
          <a:xfrm>
            <a:off x="275208" y="-1"/>
            <a:ext cx="405114" cy="1310793"/>
          </a:xfrm>
          <a:prstGeom prst="flowChartOffpageConnector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0">
            <a:scrgbClr r="0" g="0" b="0"/>
          </a:lnRef>
          <a:fillRef idx="1">
            <a:schemeClr val="accent2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37160" tIns="137160" rIns="137160" bIns="136800" numCol="1" spcCol="1270" rtlCol="0" anchor="t" anchorCtr="0">
            <a:noAutofit/>
          </a:bodyPr>
          <a:lstStyle/>
          <a:p>
            <a:pPr algn="ctr" defTabSz="1600200">
              <a:spcBef>
                <a:spcPct val="0"/>
              </a:spcBef>
            </a:pPr>
            <a:r>
              <a:rPr lang="zh-TW" altLang="en-US" sz="24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案例</a:t>
            </a:r>
            <a:endParaRPr lang="zh-TW" altLang="en-US" sz="2400" kern="1200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73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規章頒</a:t>
            </a:r>
            <a:r>
              <a:rPr lang="zh-TW" altLang="zh-TW" dirty="0" smtClean="0"/>
              <a:t>佈</a:t>
            </a:r>
            <a:r>
              <a:rPr lang="zh-TW" altLang="zh-TW" dirty="0"/>
              <a:t>作業</a:t>
            </a:r>
            <a:r>
              <a:rPr lang="zh-TW" altLang="zh-TW" dirty="0" smtClean="0"/>
              <a:t>要點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TW" altLang="zh-TW" sz="2400" dirty="0"/>
              <a:t>凡總管理處總經理室、各公司總經理室、各事業部經理室及總管理處各部室頒佈「規則」、「辦法」、「準則」、「細則」、「作業</a:t>
            </a:r>
            <a:r>
              <a:rPr lang="zh-TW" altLang="zh-TW" sz="2400" dirty="0" smtClean="0"/>
              <a:t>要點」</a:t>
            </a:r>
            <a:r>
              <a:rPr lang="zh-TW" altLang="zh-TW" sz="2400" dirty="0"/>
              <a:t>及「電腦作業說明」時</a:t>
            </a:r>
            <a:r>
              <a:rPr lang="zh-TW" altLang="zh-TW" sz="2400" dirty="0" smtClean="0"/>
              <a:t>，</a:t>
            </a:r>
            <a:r>
              <a:rPr lang="zh-TW" altLang="zh-TW" sz="2400" dirty="0"/>
              <a:t>均依本作業要點辦理</a:t>
            </a:r>
            <a:r>
              <a:rPr lang="zh-TW" altLang="zh-TW" sz="2400" dirty="0" smtClean="0"/>
              <a:t>。</a:t>
            </a:r>
            <a:endParaRPr lang="en-US" altLang="zh-TW" sz="2400" dirty="0" smtClean="0"/>
          </a:p>
          <a:p>
            <a:r>
              <a:rPr lang="zh-TW" altLang="zh-TW" sz="2400" dirty="0"/>
              <a:t>公佈函</a:t>
            </a:r>
            <a:r>
              <a:rPr lang="zh-TW" altLang="zh-TW" sz="2400" dirty="0" smtClean="0"/>
              <a:t>內容</a:t>
            </a:r>
            <a:r>
              <a:rPr lang="en-US" altLang="zh-TW" sz="2400" dirty="0" smtClean="0"/>
              <a:t>:</a:t>
            </a:r>
          </a:p>
          <a:p>
            <a:pPr lvl="1"/>
            <a:r>
              <a:rPr lang="zh-TW" altLang="zh-TW" dirty="0" smtClean="0"/>
              <a:t>規章</a:t>
            </a:r>
            <a:r>
              <a:rPr lang="zh-TW" altLang="zh-TW" dirty="0"/>
              <a:t>頒佈之公佈函內，除「發文日期」外，</a:t>
            </a:r>
            <a:r>
              <a:rPr lang="zh-TW" altLang="zh-TW" dirty="0">
                <a:solidFill>
                  <a:srgbClr val="C00000"/>
                </a:solidFill>
              </a:rPr>
              <a:t>應將「生效日期」明確標示</a:t>
            </a:r>
            <a:r>
              <a:rPr lang="zh-TW" altLang="zh-TW" dirty="0"/>
              <a:t>，若為新制定規章，封面所列之「原訂日期」應與公佈函內之「生效日期」相同。另除特殊狀況需往前追溯「生效日期」外，一般應以「生效日期」訂於「發文日期」七日後為原則</a:t>
            </a:r>
            <a:r>
              <a:rPr lang="zh-TW" altLang="zh-TW" dirty="0" smtClean="0"/>
              <a:t>。</a:t>
            </a:r>
            <a:endParaRPr lang="en-US" altLang="zh-TW" dirty="0" smtClean="0"/>
          </a:p>
          <a:p>
            <a:pPr lvl="1"/>
            <a:r>
              <a:rPr lang="zh-TW" altLang="zh-TW" dirty="0"/>
              <a:t>公佈函內應</a:t>
            </a:r>
            <a:r>
              <a:rPr lang="zh-TW" altLang="zh-TW" dirty="0">
                <a:solidFill>
                  <a:srgbClr val="C00000"/>
                </a:solidFill>
              </a:rPr>
              <a:t>將制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zh-TW" altLang="zh-TW" dirty="0">
                <a:solidFill>
                  <a:srgbClr val="C00000"/>
                </a:solidFill>
              </a:rPr>
              <a:t>修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zh-TW" dirty="0">
                <a:solidFill>
                  <a:srgbClr val="C00000"/>
                </a:solidFill>
              </a:rPr>
              <a:t>訂之原因扼要說明</a:t>
            </a:r>
            <a:r>
              <a:rPr lang="zh-TW" altLang="zh-TW" dirty="0"/>
              <a:t>，並將制</a:t>
            </a:r>
            <a:r>
              <a:rPr lang="en-US" altLang="zh-TW" dirty="0"/>
              <a:t>(</a:t>
            </a:r>
            <a:r>
              <a:rPr lang="zh-TW" altLang="zh-TW" dirty="0"/>
              <a:t>修</a:t>
            </a:r>
            <a:r>
              <a:rPr lang="en-US" altLang="zh-TW" dirty="0"/>
              <a:t>)</a:t>
            </a:r>
            <a:r>
              <a:rPr lang="zh-TW" altLang="zh-TW" dirty="0"/>
              <a:t>訂</a:t>
            </a:r>
            <a:r>
              <a:rPr lang="zh-TW" altLang="zh-TW" dirty="0" smtClean="0"/>
              <a:t>重點一一</a:t>
            </a:r>
            <a:r>
              <a:rPr lang="zh-TW" altLang="zh-TW" dirty="0"/>
              <a:t>列示。</a:t>
            </a:r>
          </a:p>
          <a:p>
            <a:pPr lvl="1"/>
            <a:r>
              <a:rPr lang="zh-TW" altLang="zh-TW" dirty="0" smtClean="0"/>
              <a:t>若</a:t>
            </a:r>
            <a:r>
              <a:rPr lang="zh-TW" altLang="zh-TW" dirty="0"/>
              <a:t>需講解，則應於公佈函內將講解之對象、時間、地點及</a:t>
            </a:r>
            <a:r>
              <a:rPr lang="zh-TW" altLang="zh-TW" dirty="0" smtClean="0"/>
              <a:t>場所</a:t>
            </a:r>
            <a:r>
              <a:rPr lang="zh-TW" altLang="zh-TW" dirty="0"/>
              <a:t>明確列示，且應於「生效日期」前講解完畢。</a:t>
            </a:r>
          </a:p>
          <a:p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17</a:t>
            </a:fld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CAB1B36F-E24D-4069-BCF5-2DCEE0D5CA81}"/>
              </a:ext>
            </a:extLst>
          </p:cNvPr>
          <p:cNvSpPr/>
          <p:nvPr/>
        </p:nvSpPr>
        <p:spPr>
          <a:xfrm>
            <a:off x="6981825" y="467634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P00304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規章頒佈及講解作業要點</a:t>
            </a:r>
          </a:p>
        </p:txBody>
      </p:sp>
    </p:spTree>
    <p:extLst>
      <p:ext uri="{BB962C8B-B14F-4D97-AF65-F5344CB8AC3E}">
        <p14:creationId xmlns:p14="http://schemas.microsoft.com/office/powerpoint/2010/main" val="436694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 smtClean="0"/>
              <a:t>規章講解</a:t>
            </a:r>
            <a:r>
              <a:rPr lang="zh-TW" altLang="zh-TW" dirty="0"/>
              <a:t>作業要點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除</a:t>
            </a:r>
            <a:r>
              <a:rPr lang="zh-TW" altLang="zh-TW" sz="2400" dirty="0"/>
              <a:t>配合</a:t>
            </a:r>
            <a:r>
              <a:rPr lang="zh-TW" altLang="zh-TW" sz="2400" dirty="0">
                <a:solidFill>
                  <a:srgbClr val="C00000"/>
                </a:solidFill>
              </a:rPr>
              <a:t>規章頒佈</a:t>
            </a:r>
            <a:r>
              <a:rPr lang="zh-TW" altLang="zh-TW" sz="2400" dirty="0"/>
              <a:t>之講解</a:t>
            </a:r>
            <a:r>
              <a:rPr lang="zh-TW" altLang="en-US" sz="2400" dirty="0"/>
              <a:t>，亦應</a:t>
            </a:r>
            <a:r>
              <a:rPr lang="zh-TW" altLang="zh-TW" sz="2400" dirty="0"/>
              <a:t>落實規章作業之</a:t>
            </a:r>
            <a:r>
              <a:rPr lang="zh-TW" altLang="zh-TW" sz="2400" dirty="0">
                <a:solidFill>
                  <a:srgbClr val="C00000"/>
                </a:solidFill>
              </a:rPr>
              <a:t>定期性講解</a:t>
            </a:r>
            <a:r>
              <a:rPr lang="zh-TW" altLang="en-US" sz="2400" dirty="0"/>
              <a:t>。</a:t>
            </a:r>
            <a:endParaRPr lang="en-US" altLang="zh-TW" sz="2400" dirty="0"/>
          </a:p>
          <a:p>
            <a:r>
              <a:rPr lang="zh-TW" altLang="zh-TW" sz="2400" dirty="0" smtClean="0"/>
              <a:t>規章</a:t>
            </a:r>
            <a:r>
              <a:rPr lang="zh-TW" altLang="zh-TW" sz="2400" dirty="0"/>
              <a:t>講解之講師應指定由制定或維護該規章之經辦人員擔任</a:t>
            </a:r>
            <a:r>
              <a:rPr lang="zh-TW" altLang="en-US" sz="2400" dirty="0"/>
              <a:t>。</a:t>
            </a:r>
            <a:endParaRPr lang="en-US" altLang="zh-TW" sz="2400" dirty="0"/>
          </a:p>
          <a:p>
            <a:r>
              <a:rPr lang="zh-TW" altLang="zh-TW" sz="2400" dirty="0" smtClean="0"/>
              <a:t>為</a:t>
            </a:r>
            <a:r>
              <a:rPr lang="zh-TW" altLang="zh-TW" sz="2400" dirty="0"/>
              <a:t>加強受訓人員之切身</a:t>
            </a:r>
            <a:r>
              <a:rPr lang="zh-TW" altLang="zh-TW" sz="2400" dirty="0" smtClean="0"/>
              <a:t>感</a:t>
            </a:r>
            <a:r>
              <a:rPr lang="zh-TW" altLang="en-US" sz="2400" dirty="0"/>
              <a:t>、</a:t>
            </a:r>
            <a:r>
              <a:rPr lang="zh-TW" altLang="zh-TW" sz="2400" dirty="0" smtClean="0"/>
              <a:t>落實</a:t>
            </a:r>
            <a:r>
              <a:rPr lang="zh-TW" altLang="zh-TW" sz="2400" dirty="0"/>
              <a:t>辦理講解之功能</a:t>
            </a:r>
            <a:r>
              <a:rPr lang="zh-TW" altLang="zh-TW" sz="2400" dirty="0" smtClean="0"/>
              <a:t>，於規章</a:t>
            </a:r>
            <a:r>
              <a:rPr lang="zh-TW" altLang="zh-TW" sz="2400" dirty="0"/>
              <a:t>講解後，應就該次講解內容進行</a:t>
            </a:r>
            <a:r>
              <a:rPr lang="zh-TW" altLang="zh-TW" sz="2400" dirty="0" smtClean="0"/>
              <a:t>測驗</a:t>
            </a:r>
            <a:r>
              <a:rPr lang="zh-TW" altLang="en-US" sz="2400" dirty="0" smtClean="0"/>
              <a:t>。</a:t>
            </a:r>
            <a:r>
              <a:rPr lang="zh-TW" altLang="zh-TW" sz="2400" dirty="0" smtClean="0"/>
              <a:t>缺席、遲到早退</a:t>
            </a:r>
            <a:r>
              <a:rPr lang="zh-TW" altLang="zh-TW" sz="2400" dirty="0"/>
              <a:t>及測驗不及格</a:t>
            </a:r>
            <a:r>
              <a:rPr lang="zh-TW" altLang="zh-TW" sz="2400" dirty="0" smtClean="0"/>
              <a:t>人員</a:t>
            </a:r>
            <a:r>
              <a:rPr lang="zh-TW" altLang="en-US" sz="2400" dirty="0" smtClean="0"/>
              <a:t>，需納入個人考核、並進行</a:t>
            </a:r>
            <a:r>
              <a:rPr lang="zh-TW" altLang="zh-TW" sz="2400" dirty="0"/>
              <a:t>複</a:t>
            </a:r>
            <a:r>
              <a:rPr lang="zh-TW" altLang="zh-TW" sz="2400" dirty="0" smtClean="0"/>
              <a:t>測</a:t>
            </a:r>
            <a:r>
              <a:rPr lang="zh-TW" altLang="en-US" sz="2400" dirty="0" smtClean="0"/>
              <a:t>。</a:t>
            </a:r>
            <a:endParaRPr lang="en-US" altLang="zh-TW" sz="2400" dirty="0" smtClean="0"/>
          </a:p>
          <a:p>
            <a:r>
              <a:rPr lang="zh-TW" altLang="zh-TW" sz="2400" dirty="0"/>
              <a:t>各規章制定部門前往各部門進行檢核作業時，應事先整理</a:t>
            </a:r>
            <a:r>
              <a:rPr lang="zh-TW" altLang="zh-TW" sz="2400" dirty="0" smtClean="0"/>
              <a:t>近期辦理</a:t>
            </a:r>
            <a:r>
              <a:rPr lang="zh-TW" altLang="zh-TW" sz="2400" dirty="0"/>
              <a:t>之規章講解資料</a:t>
            </a:r>
            <a:r>
              <a:rPr lang="zh-TW" altLang="zh-TW" sz="2400" dirty="0" smtClean="0"/>
              <a:t>，</a:t>
            </a:r>
            <a:r>
              <a:rPr lang="zh-TW" altLang="zh-TW" sz="2400" dirty="0"/>
              <a:t>於檢核</a:t>
            </a:r>
            <a:r>
              <a:rPr lang="zh-TW" altLang="zh-TW" sz="2400" dirty="0" smtClean="0"/>
              <a:t>時</a:t>
            </a:r>
            <a:r>
              <a:rPr lang="zh-TW" altLang="en-US" sz="2400" dirty="0" smtClean="0"/>
              <a:t>對</a:t>
            </a:r>
            <a:r>
              <a:rPr lang="zh-TW" altLang="zh-TW" sz="2400" dirty="0"/>
              <a:t>「規章</a:t>
            </a:r>
            <a:r>
              <a:rPr lang="zh-TW" altLang="zh-TW" sz="2400" dirty="0" smtClean="0"/>
              <a:t>制度推行</a:t>
            </a:r>
            <a:r>
              <a:rPr lang="zh-TW" altLang="zh-TW" sz="2400" dirty="0"/>
              <a:t>負責人」，進行瞭解其對講解內容之吸收及推行</a:t>
            </a:r>
            <a:r>
              <a:rPr lang="zh-TW" altLang="zh-TW" sz="2400" dirty="0" smtClean="0"/>
              <a:t>狀況</a:t>
            </a:r>
            <a:r>
              <a:rPr lang="zh-TW" altLang="en-US" sz="2400" dirty="0" smtClean="0"/>
              <a:t>，瞭解結果</a:t>
            </a:r>
            <a:r>
              <a:rPr lang="zh-TW" altLang="zh-TW" sz="2400" dirty="0"/>
              <a:t>應併入檢核報告</a:t>
            </a:r>
            <a:r>
              <a:rPr lang="zh-TW" altLang="zh-TW" sz="2400" dirty="0" smtClean="0"/>
              <a:t>內</a:t>
            </a:r>
            <a:r>
              <a:rPr lang="zh-TW" altLang="en-US" sz="2400" dirty="0" smtClean="0"/>
              <a:t>。</a:t>
            </a:r>
            <a:endParaRPr lang="zh-TW" altLang="en-US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B5CEABB6-07DC-46E8-9B57-56EC44A396E5}" type="slidenum">
              <a:rPr lang="en-US" altLang="zh-TW" smtClean="0"/>
              <a:pPr/>
              <a:t>18</a:t>
            </a:fld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CAB1B36F-E24D-4069-BCF5-2DCEE0D5CA81}"/>
              </a:ext>
            </a:extLst>
          </p:cNvPr>
          <p:cNvSpPr/>
          <p:nvPr/>
        </p:nvSpPr>
        <p:spPr>
          <a:xfrm>
            <a:off x="6981825" y="467634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P00304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規章頒佈及講解作業要點</a:t>
            </a:r>
          </a:p>
        </p:txBody>
      </p:sp>
    </p:spTree>
    <p:extLst>
      <p:ext uri="{BB962C8B-B14F-4D97-AF65-F5344CB8AC3E}">
        <p14:creationId xmlns:p14="http://schemas.microsoft.com/office/powerpoint/2010/main" val="3369572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字版面配置區 5">
            <a:extLst>
              <a:ext uri="{FF2B5EF4-FFF2-40B4-BE49-F238E27FC236}">
                <a16:creationId xmlns:a16="http://schemas.microsoft.com/office/drawing/2014/main" xmlns="" id="{BA3CF485-C6C6-E6C8-6545-51AADA8BC744}"/>
              </a:ext>
            </a:extLst>
          </p:cNvPr>
          <p:cNvSpPr txBox="1">
            <a:spLocks/>
          </p:cNvSpPr>
          <p:nvPr/>
        </p:nvSpPr>
        <p:spPr>
          <a:xfrm>
            <a:off x="9161228" y="4041328"/>
            <a:ext cx="2715087" cy="454472"/>
          </a:xfrm>
          <a:prstGeom prst="rect">
            <a:avLst/>
          </a:prstGeom>
        </p:spPr>
        <p:txBody>
          <a:bodyPr>
            <a:no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800" dirty="0">
                <a:solidFill>
                  <a:schemeClr val="accent2">
                    <a:lumMod val="90000"/>
                  </a:schemeClr>
                </a:solidFill>
                <a:latin typeface="Arial Black" panose="020B0A04020102020204" pitchFamily="34" charset="0"/>
                <a:ea typeface="標楷體" panose="03000509000000000000" pitchFamily="65" charset="-120"/>
              </a:rPr>
              <a:t>Thank You</a:t>
            </a:r>
            <a:endParaRPr lang="zh-TW" altLang="en-US" sz="2800" dirty="0">
              <a:solidFill>
                <a:schemeClr val="accent2">
                  <a:lumMod val="90000"/>
                </a:schemeClr>
              </a:solidFill>
              <a:latin typeface="Arial Black" panose="020B0A040201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1A6D12F-1428-79A2-8A5E-0BAC7C5E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2165" y="3021496"/>
            <a:ext cx="10087669" cy="695176"/>
          </a:xfrm>
        </p:spPr>
        <p:txBody>
          <a:bodyPr>
            <a:normAutofit/>
          </a:bodyPr>
          <a:lstStyle/>
          <a:p>
            <a:r>
              <a:rPr lang="zh-TW" alt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以上報告</a:t>
            </a:r>
          </a:p>
        </p:txBody>
      </p:sp>
    </p:spTree>
    <p:extLst>
      <p:ext uri="{BB962C8B-B14F-4D97-AF65-F5344CB8AC3E}">
        <p14:creationId xmlns:p14="http://schemas.microsoft.com/office/powerpoint/2010/main" val="1531976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單線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6">
              <a:lumMod val="75000"/>
            </a:schemeClr>
          </a:solidFill>
        </a:ln>
      </a:spPr>
      <a:bodyPr spcFirstLastPara="0" vert="horz" wrap="square" lIns="137160" tIns="137160" rIns="137160" bIns="136800" numCol="1" spcCol="1270" anchor="t" anchorCtr="0">
        <a:noAutofit/>
      </a:bodyPr>
      <a:lstStyle>
        <a:defPPr algn="ctr" defTabSz="1600200">
          <a:spcBef>
            <a:spcPct val="0"/>
          </a:spcBef>
          <a:defRPr sz="3600" kern="1200" dirty="0" smtClean="0">
            <a:latin typeface="Times New Roman" panose="02020603050405020304" pitchFamily="18" charset="0"/>
            <a:ea typeface="標楷體" panose="03000509000000000000" pitchFamily="65" charset="-120"/>
            <a:cs typeface="Times New Roman" panose="02020603050405020304" pitchFamily="18" charset="0"/>
          </a:defRPr>
        </a:defPPr>
      </a:lstStyle>
      <a:style>
        <a:lnRef idx="0">
          <a:scrgbClr r="0" g="0" b="0"/>
        </a:lnRef>
        <a:fillRef idx="1">
          <a:schemeClr val="accent2">
            <a:tint val="40000"/>
            <a:hueOff val="0"/>
            <a:satOff val="0"/>
            <a:lumOff val="0"/>
            <a:alphaOff val="0"/>
          </a:schemeClr>
        </a:fillRef>
        <a:effectRef idx="0">
          <a:schemeClr val="accent2">
            <a:tint val="40000"/>
            <a:hueOff val="0"/>
            <a:satOff val="0"/>
            <a:lumOff val="0"/>
            <a:alphaOff val="0"/>
          </a:schemeClr>
        </a:effectRef>
        <a:fontRef idx="minor">
          <a:schemeClr val="dk1">
            <a:hueOff val="0"/>
            <a:satOff val="0"/>
            <a:lumOff val="0"/>
            <a:alphaOff val="0"/>
          </a:schemeClr>
        </a:fontRef>
      </a:style>
    </a:spDef>
  </a:objectDefaults>
  <a:extraClrSchemeLst/>
  <a:extLst>
    <a:ext uri="{05A4C25C-085E-4340-85A3-A5531E510DB2}">
      <thm15:themeFamily xmlns:thm15="http://schemas.microsoft.com/office/thememl/2012/main" name="Monoline" id="{080CB5C6-FA0A-40B0-8C1A-A4BA88D91EE0}" vid="{DC98E595-77B2-413A-A4EA-B47400BD13C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令人眼睛為之一亮的極簡風銷售宣傳</Template>
  <TotalTime>11797</TotalTime>
  <Words>1748</Words>
  <Application>Microsoft Office PowerPoint</Application>
  <PresentationFormat>寬螢幕</PresentationFormat>
  <Paragraphs>265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9" baseType="lpstr">
      <vt:lpstr>Microsoft JhengHei UI</vt:lpstr>
      <vt:lpstr>Tenorite</vt:lpstr>
      <vt:lpstr>新細明體</vt:lpstr>
      <vt:lpstr>標楷體</vt:lpstr>
      <vt:lpstr>Aharoni</vt:lpstr>
      <vt:lpstr>Arial</vt:lpstr>
      <vt:lpstr>Arial Black</vt:lpstr>
      <vt:lpstr>Calibri</vt:lpstr>
      <vt:lpstr>Times New Roman</vt:lpstr>
      <vt:lpstr>單線</vt:lpstr>
      <vt:lpstr>規章制度訂定說明</vt:lpstr>
      <vt:lpstr>台塑企業「三化」管理</vt:lpstr>
      <vt:lpstr>規章定義</vt:lpstr>
      <vt:lpstr>規章定義</vt:lpstr>
      <vt:lpstr>規章案例-財務管理規則</vt:lpstr>
      <vt:lpstr>規章案例-固定資產管理辦法</vt:lpstr>
      <vt:lpstr>規章案例- 固定資產及成本管理項目自主檢查外部稽核辦事細則</vt:lpstr>
      <vt:lpstr>規章案例-固定資產編號作業要點</vt:lpstr>
      <vt:lpstr>規章案例-固定資產管理電腦作業說明</vt:lpstr>
      <vt:lpstr>規章制(修)定</vt:lpstr>
      <vt:lpstr>規章定期總檢討</vt:lpstr>
      <vt:lpstr>規章分類及編號原則 </vt:lpstr>
      <vt:lpstr>規章編定規範</vt:lpstr>
      <vt:lpstr>規章樣式-範例</vt:lpstr>
      <vt:lpstr>規章樣式-範例</vt:lpstr>
      <vt:lpstr>規章公佈與查閱-範例</vt:lpstr>
      <vt:lpstr>規章頒佈作業要點</vt:lpstr>
      <vt:lpstr>規章講解作業要點</vt:lpstr>
      <vt:lpstr>以上報告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00RKD0/李靜媚</dc:creator>
  <cp:lastModifiedBy>00RKD0/李靜媚</cp:lastModifiedBy>
  <cp:revision>3421</cp:revision>
  <cp:lastPrinted>2025-03-15T02:52:48Z</cp:lastPrinted>
  <dcterms:created xsi:type="dcterms:W3CDTF">2025-01-10T07:02:16Z</dcterms:created>
  <dcterms:modified xsi:type="dcterms:W3CDTF">2025-04-24T09:57:50Z</dcterms:modified>
</cp:coreProperties>
</file>