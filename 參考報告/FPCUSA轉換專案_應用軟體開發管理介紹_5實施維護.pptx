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98" r:id="rId1"/>
  </p:sldMasterIdLst>
  <p:notesMasterIdLst>
    <p:notesMasterId r:id="rId37"/>
  </p:notesMasterIdLst>
  <p:handoutMasterIdLst>
    <p:handoutMasterId r:id="rId38"/>
  </p:handoutMasterIdLst>
  <p:sldIdLst>
    <p:sldId id="610" r:id="rId2"/>
    <p:sldId id="619" r:id="rId3"/>
    <p:sldId id="612" r:id="rId4"/>
    <p:sldId id="613" r:id="rId5"/>
    <p:sldId id="614" r:id="rId6"/>
    <p:sldId id="615" r:id="rId7"/>
    <p:sldId id="616" r:id="rId8"/>
    <p:sldId id="617" r:id="rId9"/>
    <p:sldId id="618" r:id="rId10"/>
    <p:sldId id="620" r:id="rId11"/>
    <p:sldId id="621" r:id="rId12"/>
    <p:sldId id="622" r:id="rId13"/>
    <p:sldId id="522" r:id="rId14"/>
    <p:sldId id="523" r:id="rId15"/>
    <p:sldId id="525" r:id="rId16"/>
    <p:sldId id="605" r:id="rId17"/>
    <p:sldId id="571" r:id="rId18"/>
    <p:sldId id="572" r:id="rId19"/>
    <p:sldId id="629" r:id="rId20"/>
    <p:sldId id="602" r:id="rId21"/>
    <p:sldId id="573" r:id="rId22"/>
    <p:sldId id="575" r:id="rId23"/>
    <p:sldId id="574" r:id="rId24"/>
    <p:sldId id="624" r:id="rId25"/>
    <p:sldId id="625" r:id="rId26"/>
    <p:sldId id="626" r:id="rId27"/>
    <p:sldId id="627" r:id="rId28"/>
    <p:sldId id="601" r:id="rId29"/>
    <p:sldId id="564" r:id="rId30"/>
    <p:sldId id="576" r:id="rId31"/>
    <p:sldId id="578" r:id="rId32"/>
    <p:sldId id="577" r:id="rId33"/>
    <p:sldId id="579" r:id="rId34"/>
    <p:sldId id="580" r:id="rId35"/>
    <p:sldId id="628" r:id="rId36"/>
  </p:sldIdLst>
  <p:sldSz cx="12192000" cy="6858000"/>
  <p:notesSz cx="7099300" cy="10234613"/>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EF"/>
    <a:srgbClr val="FFEBEB"/>
    <a:srgbClr val="FFE5E5"/>
    <a:srgbClr val="FF7D7D"/>
    <a:srgbClr val="ECA890"/>
    <a:srgbClr val="FFCCCC"/>
    <a:srgbClr val="0000FF"/>
    <a:srgbClr val="CC0099"/>
    <a:srgbClr val="00FF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25E5076-3810-47DD-B79F-674D7AD40C01}" styleName="深色樣式 1 - 輔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855" autoAdjust="0"/>
    <p:restoredTop sz="93834" autoAdjust="0"/>
  </p:normalViewPr>
  <p:slideViewPr>
    <p:cSldViewPr snapToGrid="0">
      <p:cViewPr varScale="1">
        <p:scale>
          <a:sx n="83" d="100"/>
          <a:sy n="83" d="100"/>
        </p:scale>
        <p:origin x="38" y="4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8" d="100"/>
          <a:sy n="58" d="100"/>
        </p:scale>
        <p:origin x="3235"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1"/>
            <a:ext cx="3076363" cy="513507"/>
          </a:xfrm>
          <a:prstGeom prst="rect">
            <a:avLst/>
          </a:prstGeom>
        </p:spPr>
        <p:txBody>
          <a:bodyPr vert="horz" lIns="99035" tIns="49517" rIns="99035" bIns="49517" rtlCol="0"/>
          <a:lstStyle>
            <a:lvl1pPr algn="l">
              <a:defRPr sz="1300"/>
            </a:lvl1pPr>
          </a:lstStyle>
          <a:p>
            <a:endParaRPr lang="zh-TW" altLang="en-US"/>
          </a:p>
        </p:txBody>
      </p:sp>
      <p:sp>
        <p:nvSpPr>
          <p:cNvPr id="3" name="日期版面配置區 2"/>
          <p:cNvSpPr>
            <a:spLocks noGrp="1"/>
          </p:cNvSpPr>
          <p:nvPr>
            <p:ph type="dt" sz="quarter" idx="1"/>
          </p:nvPr>
        </p:nvSpPr>
        <p:spPr>
          <a:xfrm>
            <a:off x="4021296" y="1"/>
            <a:ext cx="3076363" cy="513507"/>
          </a:xfrm>
          <a:prstGeom prst="rect">
            <a:avLst/>
          </a:prstGeom>
        </p:spPr>
        <p:txBody>
          <a:bodyPr vert="horz" lIns="99035" tIns="49517" rIns="99035" bIns="49517" rtlCol="0"/>
          <a:lstStyle>
            <a:lvl1pPr algn="r">
              <a:defRPr sz="1300"/>
            </a:lvl1pPr>
          </a:lstStyle>
          <a:p>
            <a:fld id="{CD7244E6-A45F-460D-B8BE-008BF35B8B56}" type="datetimeFigureOut">
              <a:rPr lang="zh-TW" altLang="en-US" smtClean="0"/>
              <a:t>2025/4/25</a:t>
            </a:fld>
            <a:endParaRPr lang="zh-TW" altLang="en-US"/>
          </a:p>
        </p:txBody>
      </p:sp>
      <p:sp>
        <p:nvSpPr>
          <p:cNvPr id="4" name="頁尾版面配置區 3"/>
          <p:cNvSpPr>
            <a:spLocks noGrp="1"/>
          </p:cNvSpPr>
          <p:nvPr>
            <p:ph type="ftr" sz="quarter" idx="2"/>
          </p:nvPr>
        </p:nvSpPr>
        <p:spPr>
          <a:xfrm>
            <a:off x="1" y="9721108"/>
            <a:ext cx="3076363" cy="513506"/>
          </a:xfrm>
          <a:prstGeom prst="rect">
            <a:avLst/>
          </a:prstGeom>
        </p:spPr>
        <p:txBody>
          <a:bodyPr vert="horz" lIns="99035" tIns="49517" rIns="99035" bIns="49517" rtlCol="0" anchor="b"/>
          <a:lstStyle>
            <a:lvl1pPr algn="l">
              <a:defRPr sz="1300"/>
            </a:lvl1pPr>
          </a:lstStyle>
          <a:p>
            <a:endParaRPr lang="zh-TW" altLang="en-US"/>
          </a:p>
        </p:txBody>
      </p:sp>
      <p:sp>
        <p:nvSpPr>
          <p:cNvPr id="5" name="投影片編號版面配置區 4"/>
          <p:cNvSpPr>
            <a:spLocks noGrp="1"/>
          </p:cNvSpPr>
          <p:nvPr>
            <p:ph type="sldNum" sz="quarter" idx="3"/>
          </p:nvPr>
        </p:nvSpPr>
        <p:spPr>
          <a:xfrm>
            <a:off x="4021296" y="9721108"/>
            <a:ext cx="3076363" cy="513506"/>
          </a:xfrm>
          <a:prstGeom prst="rect">
            <a:avLst/>
          </a:prstGeom>
        </p:spPr>
        <p:txBody>
          <a:bodyPr vert="horz" lIns="99035" tIns="49517" rIns="99035" bIns="49517" rtlCol="0" anchor="b"/>
          <a:lstStyle>
            <a:lvl1pPr algn="r">
              <a:defRPr sz="1300"/>
            </a:lvl1pPr>
          </a:lstStyle>
          <a:p>
            <a:fld id="{47D59402-F725-4F0C-997F-82DBBA4FFCA1}" type="slidenum">
              <a:rPr lang="zh-TW" altLang="en-US" smtClean="0"/>
              <a:t>‹#›</a:t>
            </a:fld>
            <a:endParaRPr lang="zh-TW" altLang="en-US"/>
          </a:p>
        </p:txBody>
      </p:sp>
    </p:spTree>
    <p:extLst>
      <p:ext uri="{BB962C8B-B14F-4D97-AF65-F5344CB8AC3E}">
        <p14:creationId xmlns:p14="http://schemas.microsoft.com/office/powerpoint/2010/main" val="2399855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1"/>
            <a:ext cx="3076363" cy="513507"/>
          </a:xfrm>
          <a:prstGeom prst="rect">
            <a:avLst/>
          </a:prstGeom>
        </p:spPr>
        <p:txBody>
          <a:bodyPr vert="horz" lIns="99035" tIns="49517" rIns="99035" bIns="49517" rtlCol="0"/>
          <a:lstStyle>
            <a:lvl1pPr algn="l">
              <a:defRPr sz="1300"/>
            </a:lvl1pPr>
          </a:lstStyle>
          <a:p>
            <a:endParaRPr lang="zh-TW" altLang="en-US"/>
          </a:p>
        </p:txBody>
      </p:sp>
      <p:sp>
        <p:nvSpPr>
          <p:cNvPr id="3" name="日期版面配置區 2"/>
          <p:cNvSpPr>
            <a:spLocks noGrp="1"/>
          </p:cNvSpPr>
          <p:nvPr>
            <p:ph type="dt" idx="1"/>
          </p:nvPr>
        </p:nvSpPr>
        <p:spPr>
          <a:xfrm>
            <a:off x="4021296" y="1"/>
            <a:ext cx="3076363" cy="513507"/>
          </a:xfrm>
          <a:prstGeom prst="rect">
            <a:avLst/>
          </a:prstGeom>
        </p:spPr>
        <p:txBody>
          <a:bodyPr vert="horz" lIns="99035" tIns="49517" rIns="99035" bIns="49517" rtlCol="0"/>
          <a:lstStyle>
            <a:lvl1pPr algn="r">
              <a:defRPr sz="1300"/>
            </a:lvl1pPr>
          </a:lstStyle>
          <a:p>
            <a:fld id="{FFB4414E-9775-444A-BBDC-C9A7AB718EBA}" type="datetimeFigureOut">
              <a:rPr lang="zh-TW" altLang="en-US" smtClean="0"/>
              <a:t>2025/4/25</a:t>
            </a:fld>
            <a:endParaRPr lang="zh-TW" altLang="en-US"/>
          </a:p>
        </p:txBody>
      </p:sp>
      <p:sp>
        <p:nvSpPr>
          <p:cNvPr id="4" name="投影片圖像版面配置區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35" tIns="49517" rIns="99035" bIns="49517" rtlCol="0" anchor="ctr"/>
          <a:lstStyle/>
          <a:p>
            <a:endParaRPr lang="zh-TW" altLang="en-US"/>
          </a:p>
        </p:txBody>
      </p:sp>
      <p:sp>
        <p:nvSpPr>
          <p:cNvPr id="5" name="備忘稿版面配置區 4"/>
          <p:cNvSpPr>
            <a:spLocks noGrp="1"/>
          </p:cNvSpPr>
          <p:nvPr>
            <p:ph type="body" sz="quarter" idx="3"/>
          </p:nvPr>
        </p:nvSpPr>
        <p:spPr>
          <a:xfrm>
            <a:off x="709931" y="4925407"/>
            <a:ext cx="5679440" cy="4029879"/>
          </a:xfrm>
          <a:prstGeom prst="rect">
            <a:avLst/>
          </a:prstGeom>
        </p:spPr>
        <p:txBody>
          <a:bodyPr vert="horz" lIns="99035" tIns="49517" rIns="99035" bIns="49517"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1" y="9721108"/>
            <a:ext cx="3076363" cy="513506"/>
          </a:xfrm>
          <a:prstGeom prst="rect">
            <a:avLst/>
          </a:prstGeom>
        </p:spPr>
        <p:txBody>
          <a:bodyPr vert="horz" lIns="99035" tIns="49517" rIns="99035" bIns="49517" rtlCol="0" anchor="b"/>
          <a:lstStyle>
            <a:lvl1pPr algn="l">
              <a:defRPr sz="1300"/>
            </a:lvl1pPr>
          </a:lstStyle>
          <a:p>
            <a:endParaRPr lang="zh-TW" altLang="en-US"/>
          </a:p>
        </p:txBody>
      </p:sp>
      <p:sp>
        <p:nvSpPr>
          <p:cNvPr id="7" name="投影片編號版面配置區 6"/>
          <p:cNvSpPr>
            <a:spLocks noGrp="1"/>
          </p:cNvSpPr>
          <p:nvPr>
            <p:ph type="sldNum" sz="quarter" idx="5"/>
          </p:nvPr>
        </p:nvSpPr>
        <p:spPr>
          <a:xfrm>
            <a:off x="4021296" y="9721108"/>
            <a:ext cx="3076363" cy="513506"/>
          </a:xfrm>
          <a:prstGeom prst="rect">
            <a:avLst/>
          </a:prstGeom>
        </p:spPr>
        <p:txBody>
          <a:bodyPr vert="horz" lIns="99035" tIns="49517" rIns="99035" bIns="49517" rtlCol="0" anchor="b"/>
          <a:lstStyle>
            <a:lvl1pPr algn="r">
              <a:defRPr sz="1300"/>
            </a:lvl1pPr>
          </a:lstStyle>
          <a:p>
            <a:fld id="{9A9FE17B-0309-43F4-A166-43322B09A81A}" type="slidenum">
              <a:rPr lang="zh-TW" altLang="en-US" smtClean="0"/>
              <a:t>‹#›</a:t>
            </a:fld>
            <a:endParaRPr lang="zh-TW" altLang="en-US"/>
          </a:p>
        </p:txBody>
      </p:sp>
    </p:spTree>
    <p:extLst>
      <p:ext uri="{BB962C8B-B14F-4D97-AF65-F5344CB8AC3E}">
        <p14:creationId xmlns:p14="http://schemas.microsoft.com/office/powerpoint/2010/main" val="4073024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8.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引述">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xmlns="" id="{AEE644D4-F9A4-4237-BD5C-4B97ABA9337E}"/>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 y="0"/>
            <a:ext cx="5581651" cy="6858000"/>
          </a:xfrm>
          <a:prstGeom prst="rect">
            <a:avLst/>
          </a:prstGeom>
        </p:spPr>
      </p:pic>
      <p:sp>
        <p:nvSpPr>
          <p:cNvPr id="2" name="標題 1">
            <a:extLst>
              <a:ext uri="{FF2B5EF4-FFF2-40B4-BE49-F238E27FC236}">
                <a16:creationId xmlns:a16="http://schemas.microsoft.com/office/drawing/2014/main" xmlns="" id="{C2FF67A8-55FA-435D-A18C-96D63D22B53E}"/>
              </a:ext>
            </a:extLst>
          </p:cNvPr>
          <p:cNvSpPr>
            <a:spLocks noGrp="1"/>
          </p:cNvSpPr>
          <p:nvPr>
            <p:ph type="title"/>
          </p:nvPr>
        </p:nvSpPr>
        <p:spPr>
          <a:xfrm>
            <a:off x="4138368" y="1999072"/>
            <a:ext cx="7213773" cy="2344128"/>
          </a:xfrm>
        </p:spPr>
        <p:txBody>
          <a:bodyPr rtlCol="0" anchor="t">
            <a:normAutofit/>
          </a:bodyPr>
          <a:lstStyle>
            <a:lvl1pPr>
              <a:defRPr lang="en-US" sz="33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cxnSp>
        <p:nvCxnSpPr>
          <p:cNvPr id="9" name="直線接點​​(S) 8">
            <a:extLst>
              <a:ext uri="{FF2B5EF4-FFF2-40B4-BE49-F238E27FC236}">
                <a16:creationId xmlns:a16="http://schemas.microsoft.com/office/drawing/2014/main" xmlns=""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字版面配置區 15">
            <a:extLst>
              <a:ext uri="{FF2B5EF4-FFF2-40B4-BE49-F238E27FC236}">
                <a16:creationId xmlns:a16="http://schemas.microsoft.com/office/drawing/2014/main" xmlns="" id="{3864668D-D640-4ABF-BB9A-D60176660F07}"/>
              </a:ext>
            </a:extLst>
          </p:cNvPr>
          <p:cNvSpPr>
            <a:spLocks noGrp="1"/>
          </p:cNvSpPr>
          <p:nvPr>
            <p:ph type="body" sz="quarter" idx="13" hasCustomPrompt="1"/>
          </p:nvPr>
        </p:nvSpPr>
        <p:spPr>
          <a:xfrm>
            <a:off x="5920595" y="4548557"/>
            <a:ext cx="5433204" cy="557949"/>
          </a:xfrm>
        </p:spPr>
        <p:txBody>
          <a:bodyPr rtlCol="0">
            <a:noAutofit/>
          </a:bodyPr>
          <a:lstStyle>
            <a:lvl1pPr marL="0" indent="0" algn="r">
              <a:buNone/>
              <a:defRPr lang="en-US" sz="24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lvl="0" rtl="0"/>
            <a:r>
              <a:rPr lang="zh-TW" altLang="en-US" noProof="0"/>
              <a:t>按一下以新增副標題</a:t>
            </a:r>
          </a:p>
        </p:txBody>
      </p:sp>
      <p:sp>
        <p:nvSpPr>
          <p:cNvPr id="12" name="文字版面配置區 18">
            <a:extLst>
              <a:ext uri="{FF2B5EF4-FFF2-40B4-BE49-F238E27FC236}">
                <a16:creationId xmlns:a16="http://schemas.microsoft.com/office/drawing/2014/main" xmlns="" id="{2E289D5A-B06B-43D4-A3CA-3B06C4D49FDD}"/>
              </a:ext>
            </a:extLst>
          </p:cNvPr>
          <p:cNvSpPr>
            <a:spLocks noGrp="1"/>
          </p:cNvSpPr>
          <p:nvPr>
            <p:ph type="body" sz="quarter" idx="15" hasCustomPrompt="1"/>
          </p:nvPr>
        </p:nvSpPr>
        <p:spPr>
          <a:xfrm>
            <a:off x="5920169" y="5070800"/>
            <a:ext cx="5431971" cy="557950"/>
          </a:xfrm>
        </p:spPr>
        <p:txBody>
          <a:bodyPr rtlCol="0">
            <a:normAutofit/>
          </a:bodyPr>
          <a:lstStyle>
            <a:lvl1pPr marL="0" indent="0" algn="r">
              <a:lnSpc>
                <a:spcPct val="100000"/>
              </a:lnSpc>
              <a:buFont typeface="Arial" panose="020B0604020202020204" pitchFamily="34" charset="0"/>
              <a:buNone/>
              <a:defRPr sz="1500">
                <a:solidFill>
                  <a:schemeClr val="tx1">
                    <a:lumMod val="75000"/>
                    <a:lumOff val="25000"/>
                  </a:schemeClr>
                </a:solidFill>
                <a:latin typeface="標楷體" panose="03000509000000000000" pitchFamily="65" charset="-120"/>
                <a:ea typeface="標楷體" panose="03000509000000000000" pitchFamily="65" charset="-120"/>
              </a:defRPr>
            </a:lvl1pPr>
          </a:lstStyle>
          <a:p>
            <a:pPr lvl="0" rtl="0"/>
            <a:r>
              <a:rPr lang="zh-TW" altLang="en-US" noProof="0"/>
              <a:t>按一下以新增文字</a:t>
            </a:r>
          </a:p>
        </p:txBody>
      </p:sp>
      <p:sp>
        <p:nvSpPr>
          <p:cNvPr id="3" name="日期版面配置區 2">
            <a:extLst>
              <a:ext uri="{FF2B5EF4-FFF2-40B4-BE49-F238E27FC236}">
                <a16:creationId xmlns:a16="http://schemas.microsoft.com/office/drawing/2014/main" xmlns="" id="{6F23D57C-71E3-D301-678A-AF122B3AE575}"/>
              </a:ext>
            </a:extLst>
          </p:cNvPr>
          <p:cNvSpPr>
            <a:spLocks noGrp="1"/>
          </p:cNvSpPr>
          <p:nvPr>
            <p:ph type="dt" sz="half" idx="27"/>
          </p:nvPr>
        </p:nvSpPr>
        <p:spPr/>
        <p:txBody>
          <a:bodyPr/>
          <a:lstStyle/>
          <a:p>
            <a:r>
              <a:rPr lang="en-US" altLang="zh-TW" noProof="0"/>
              <a:t>20XX </a:t>
            </a:r>
            <a:r>
              <a:rPr lang="zh-TW" altLang="en-US" noProof="0"/>
              <a:t>年</a:t>
            </a:r>
          </a:p>
        </p:txBody>
      </p:sp>
      <p:sp>
        <p:nvSpPr>
          <p:cNvPr id="4" name="頁尾版面配置區 3">
            <a:extLst>
              <a:ext uri="{FF2B5EF4-FFF2-40B4-BE49-F238E27FC236}">
                <a16:creationId xmlns:a16="http://schemas.microsoft.com/office/drawing/2014/main" xmlns="" id="{2E2F1B79-217A-1201-EB4E-E0DE79F6A1C2}"/>
              </a:ext>
            </a:extLst>
          </p:cNvPr>
          <p:cNvSpPr>
            <a:spLocks noGrp="1"/>
          </p:cNvSpPr>
          <p:nvPr>
            <p:ph type="ftr" sz="quarter" idx="28"/>
          </p:nvPr>
        </p:nvSpPr>
        <p:spPr/>
        <p:txBody>
          <a:bodyPr/>
          <a:lstStyle/>
          <a:p>
            <a:r>
              <a:rPr lang="zh-TW" altLang="en-US" noProof="0"/>
              <a:t>募資簡報</a:t>
            </a:r>
          </a:p>
        </p:txBody>
      </p:sp>
      <p:pic>
        <p:nvPicPr>
          <p:cNvPr id="6"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4"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489262" y="359491"/>
            <a:ext cx="2523960" cy="1439163"/>
          </a:xfrm>
          <a:prstGeom prst="rect">
            <a:avLst/>
          </a:prstGeom>
          <a:noFill/>
          <a:ln>
            <a:noFill/>
          </a:ln>
        </p:spPr>
      </p:pic>
    </p:spTree>
    <p:extLst>
      <p:ext uri="{BB962C8B-B14F-4D97-AF65-F5344CB8AC3E}">
        <p14:creationId xmlns:p14="http://schemas.microsoft.com/office/powerpoint/2010/main" val="151487344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三個內容">
    <p:spTree>
      <p:nvGrpSpPr>
        <p:cNvPr id="1" name=""/>
        <p:cNvGrpSpPr/>
        <p:nvPr/>
      </p:nvGrpSpPr>
      <p:grpSpPr>
        <a:xfrm>
          <a:off x="0" y="0"/>
          <a:ext cx="0" cy="0"/>
          <a:chOff x="0" y="0"/>
          <a:chExt cx="0" cy="0"/>
        </a:xfrm>
      </p:grpSpPr>
      <p:pic>
        <p:nvPicPr>
          <p:cNvPr id="10" name="圖形 9">
            <a:extLst>
              <a:ext uri="{FF2B5EF4-FFF2-40B4-BE49-F238E27FC236}">
                <a16:creationId xmlns:a16="http://schemas.microsoft.com/office/drawing/2014/main" xmlns="" id="{B78E600B-75F0-914B-6801-EF32B73C9A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0" y="7"/>
            <a:ext cx="12192000" cy="1304587"/>
          </a:xfrm>
          <a:prstGeom prst="rect">
            <a:avLst/>
          </a:prstGeom>
        </p:spPr>
      </p:pic>
      <p:sp>
        <p:nvSpPr>
          <p:cNvPr id="2" name="標題 1">
            <a:extLst>
              <a:ext uri="{FF2B5EF4-FFF2-40B4-BE49-F238E27FC236}">
                <a16:creationId xmlns:a16="http://schemas.microsoft.com/office/drawing/2014/main" xmlns="" id="{81CF3B5C-31C4-46BA-9FAD-72DF917A84DA}"/>
              </a:ext>
            </a:extLst>
          </p:cNvPr>
          <p:cNvSpPr>
            <a:spLocks noGrp="1"/>
          </p:cNvSpPr>
          <p:nvPr>
            <p:ph type="title"/>
          </p:nvPr>
        </p:nvSpPr>
        <p:spPr>
          <a:xfrm>
            <a:off x="893067" y="202300"/>
            <a:ext cx="9324031" cy="900000"/>
          </a:xfrm>
        </p:spPr>
        <p:txBody>
          <a:bodyPr rtlCol="0">
            <a:normAutofit/>
          </a:bodyPr>
          <a:lstStyle>
            <a:lvl1pPr algn="l">
              <a:defRPr lang="en-US" sz="32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sp>
        <p:nvSpPr>
          <p:cNvPr id="4" name="內容版面配置區 3">
            <a:extLst>
              <a:ext uri="{FF2B5EF4-FFF2-40B4-BE49-F238E27FC236}">
                <a16:creationId xmlns:a16="http://schemas.microsoft.com/office/drawing/2014/main" xmlns="" id="{AC9B20CF-6B91-4562-B799-0ABDAEBC0D2A}"/>
              </a:ext>
            </a:extLst>
          </p:cNvPr>
          <p:cNvSpPr>
            <a:spLocks noGrp="1"/>
          </p:cNvSpPr>
          <p:nvPr>
            <p:ph sz="half" idx="2"/>
          </p:nvPr>
        </p:nvSpPr>
        <p:spPr>
          <a:xfrm>
            <a:off x="902195" y="1310793"/>
            <a:ext cx="10309144" cy="4851468"/>
          </a:xfrm>
        </p:spPr>
        <p:txBody>
          <a:bodyPr rtlCol="0">
            <a:normAutofit/>
          </a:bodyPr>
          <a:lstStyle>
            <a:lvl1pPr marL="265113" indent="-265113">
              <a:lnSpc>
                <a:spcPct val="100000"/>
              </a:lnSpc>
              <a:buFont typeface="Arial" panose="020B0604020202020204" pitchFamily="34" charset="0"/>
              <a:buChar char="•"/>
              <a:defRPr sz="2800" spc="38" baseline="0">
                <a:solidFill>
                  <a:schemeClr val="tx1">
                    <a:lumMod val="75000"/>
                    <a:lumOff val="25000"/>
                  </a:schemeClr>
                </a:solidFill>
                <a:latin typeface="標楷體" panose="03000509000000000000" pitchFamily="65" charset="-120"/>
                <a:ea typeface="標楷體" panose="03000509000000000000" pitchFamily="65" charset="-120"/>
              </a:defRPr>
            </a:lvl1pPr>
            <a:lvl2pPr marL="539750" indent="-198438">
              <a:lnSpc>
                <a:spcPct val="100000"/>
              </a:lnSpc>
              <a:buFont typeface="Arial" panose="020B0604020202020204" pitchFamily="34" charset="0"/>
              <a:buChar char="•"/>
              <a:defRPr sz="2400" spc="38" baseline="0">
                <a:solidFill>
                  <a:schemeClr val="tx1">
                    <a:lumMod val="75000"/>
                    <a:lumOff val="25000"/>
                  </a:schemeClr>
                </a:solidFill>
                <a:latin typeface="標楷體" panose="03000509000000000000" pitchFamily="65" charset="-120"/>
                <a:ea typeface="標楷體" panose="03000509000000000000" pitchFamily="65" charset="-120"/>
              </a:defRPr>
            </a:lvl2pPr>
            <a:lvl3pPr marL="685783" indent="0">
              <a:lnSpc>
                <a:spcPct val="100000"/>
              </a:lnSpc>
              <a:buNone/>
              <a:defRPr sz="2000" spc="38" baseline="0">
                <a:solidFill>
                  <a:schemeClr val="tx1">
                    <a:lumMod val="75000"/>
                    <a:lumOff val="25000"/>
                  </a:schemeClr>
                </a:solidFill>
                <a:latin typeface="標楷體" panose="03000509000000000000" pitchFamily="65" charset="-120"/>
                <a:ea typeface="標楷體" panose="03000509000000000000" pitchFamily="65" charset="-120"/>
              </a:defRPr>
            </a:lvl3pPr>
            <a:lvl4pPr marL="1028675" indent="0">
              <a:lnSpc>
                <a:spcPct val="100000"/>
              </a:lnSpc>
              <a:buNone/>
              <a:defRPr sz="1350" spc="38" baseline="0">
                <a:solidFill>
                  <a:schemeClr val="tx1">
                    <a:lumMod val="75000"/>
                    <a:lumOff val="25000"/>
                  </a:schemeClr>
                </a:solidFill>
                <a:latin typeface="標楷體" panose="03000509000000000000" pitchFamily="65" charset="-120"/>
                <a:ea typeface="標楷體" panose="03000509000000000000" pitchFamily="65" charset="-120"/>
              </a:defRPr>
            </a:lvl4pPr>
            <a:lvl5pPr marL="1371566" indent="0">
              <a:lnSpc>
                <a:spcPct val="100000"/>
              </a:lnSpc>
              <a:buNone/>
              <a:defRPr sz="1200" spc="38" baseline="0">
                <a:solidFill>
                  <a:schemeClr val="tx1">
                    <a:lumMod val="75000"/>
                    <a:lumOff val="25000"/>
                  </a:schemeClr>
                </a:solidFill>
                <a:latin typeface="標楷體" panose="03000509000000000000" pitchFamily="65" charset="-120"/>
                <a:ea typeface="標楷體" panose="03000509000000000000" pitchFamily="65" charset="-120"/>
              </a:defRPr>
            </a:lvl5pPr>
          </a:lstStyle>
          <a:p>
            <a:pPr lvl="0" rtl="0"/>
            <a:r>
              <a:rPr lang="zh-TW" altLang="en-US" noProof="0" dirty="0"/>
              <a:t>按一下以編輯母片文字樣式</a:t>
            </a:r>
          </a:p>
          <a:p>
            <a:pPr lvl="1" rtl="0"/>
            <a:r>
              <a:rPr lang="zh-TW" altLang="en-US" noProof="0" dirty="0"/>
              <a:t>第二層</a:t>
            </a:r>
          </a:p>
          <a:p>
            <a:pPr lvl="2" rtl="0"/>
            <a:r>
              <a:rPr lang="zh-TW" altLang="en-US" noProof="0" dirty="0"/>
              <a:t>第三層</a:t>
            </a:r>
          </a:p>
          <a:p>
            <a:pPr lvl="3" rtl="0"/>
            <a:r>
              <a:rPr lang="zh-TW" altLang="en-US" noProof="0" dirty="0"/>
              <a:t>第四層</a:t>
            </a:r>
          </a:p>
          <a:p>
            <a:pPr lvl="4" rtl="0"/>
            <a:r>
              <a:rPr lang="zh-TW" altLang="en-US" noProof="0" dirty="0"/>
              <a:t>第五層</a:t>
            </a:r>
          </a:p>
        </p:txBody>
      </p:sp>
      <p:cxnSp>
        <p:nvCxnSpPr>
          <p:cNvPr id="16" name="直線接點​​(S) 15">
            <a:extLst>
              <a:ext uri="{FF2B5EF4-FFF2-40B4-BE49-F238E27FC236}">
                <a16:creationId xmlns:a16="http://schemas.microsoft.com/office/drawing/2014/main" xmlns="" id="{463D7850-C2A6-43CE-BBE4-8E81A0A593BF}"/>
              </a:ext>
              <a:ext uri="{C183D7F6-B498-43B3-948B-1728B52AA6E4}">
                <adec:decorative xmlns:adec="http://schemas.microsoft.com/office/drawing/2017/decorative" xmlns="" val="1"/>
              </a:ext>
            </a:extLst>
          </p:cNvPr>
          <p:cNvCxnSpPr>
            <a:cxnSpLocks/>
          </p:cNvCxnSpPr>
          <p:nvPr/>
        </p:nvCxnSpPr>
        <p:spPr>
          <a:xfrm flipH="1">
            <a:off x="1" y="0"/>
            <a:ext cx="1238251"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線接點​​(S) 19">
            <a:extLst>
              <a:ext uri="{FF2B5EF4-FFF2-40B4-BE49-F238E27FC236}">
                <a16:creationId xmlns:a16="http://schemas.microsoft.com/office/drawing/2014/main" xmlns="" id="{EBAD3E03-2E3B-440C-9105-6F9D33006D66}"/>
              </a:ext>
              <a:ext uri="{C183D7F6-B498-43B3-948B-1728B52AA6E4}">
                <adec:decorative xmlns:adec="http://schemas.microsoft.com/office/drawing/2017/decorative" xmlns=""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4"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10516101" y="202300"/>
            <a:ext cx="1450641" cy="827156"/>
          </a:xfrm>
          <a:prstGeom prst="rect">
            <a:avLst/>
          </a:prstGeom>
          <a:noFill/>
          <a:ln>
            <a:noFill/>
          </a:ln>
        </p:spPr>
      </p:pic>
      <p:sp>
        <p:nvSpPr>
          <p:cNvPr id="17" name="箭號: 五邊形 13">
            <a:extLst>
              <a:ext uri="{FF2B5EF4-FFF2-40B4-BE49-F238E27FC236}">
                <a16:creationId xmlns:a16="http://schemas.microsoft.com/office/drawing/2014/main" xmlns="" id="{3FC410D8-08EC-6B6C-CF9E-49566E7B2403}"/>
              </a:ext>
            </a:extLst>
          </p:cNvPr>
          <p:cNvSpPr/>
          <p:nvPr userDrawn="1"/>
        </p:nvSpPr>
        <p:spPr>
          <a:xfrm rot="10800000">
            <a:off x="11817670" y="1052902"/>
            <a:ext cx="377716" cy="395401"/>
          </a:xfrm>
          <a:prstGeom prst="homePlate">
            <a:avLst>
              <a:gd name="adj" fmla="val 4473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投影片編號版面配置區 4">
            <a:extLst>
              <a:ext uri="{FF2B5EF4-FFF2-40B4-BE49-F238E27FC236}">
                <a16:creationId xmlns:a16="http://schemas.microsoft.com/office/drawing/2014/main" xmlns="" id="{21222846-DFB3-5578-082A-603B19D1EB90}"/>
              </a:ext>
            </a:extLst>
          </p:cNvPr>
          <p:cNvSpPr>
            <a:spLocks noGrp="1"/>
          </p:cNvSpPr>
          <p:nvPr>
            <p:ph type="sldNum" sz="quarter" idx="29"/>
          </p:nvPr>
        </p:nvSpPr>
        <p:spPr>
          <a:xfrm>
            <a:off x="11509512" y="1045256"/>
            <a:ext cx="682487" cy="418712"/>
          </a:xfrm>
        </p:spPr>
        <p:txBody>
          <a:bodyPr/>
          <a:lstStyle>
            <a:lvl1pPr>
              <a:defRPr sz="1200">
                <a:latin typeface="Times New Roman" panose="02020603050405020304" pitchFamily="18" charset="0"/>
                <a:cs typeface="Times New Roman" panose="02020603050405020304" pitchFamily="18" charset="0"/>
              </a:defRPr>
            </a:lvl1pPr>
          </a:lstStyle>
          <a:p>
            <a:fld id="{B5CEABB6-07DC-46E8-9B57-56EC44A396E5}" type="slidenum">
              <a:rPr lang="en-US" altLang="zh-TW" smtClean="0"/>
              <a:pPr/>
              <a:t>‹#›</a:t>
            </a:fld>
            <a:endParaRPr lang="zh-TW" altLang="en-US" dirty="0"/>
          </a:p>
        </p:txBody>
      </p:sp>
    </p:spTree>
    <p:extLst>
      <p:ext uri="{BB962C8B-B14F-4D97-AF65-F5344CB8AC3E}">
        <p14:creationId xmlns:p14="http://schemas.microsoft.com/office/powerpoint/2010/main" val="354438536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14" name="箭號: 五邊形 13">
            <a:extLst>
              <a:ext uri="{FF2B5EF4-FFF2-40B4-BE49-F238E27FC236}">
                <a16:creationId xmlns:a16="http://schemas.microsoft.com/office/drawing/2014/main" xmlns="" id="{3FC410D8-08EC-6B6C-CF9E-49566E7B2403}"/>
              </a:ext>
            </a:extLst>
          </p:cNvPr>
          <p:cNvSpPr/>
          <p:nvPr userDrawn="1"/>
        </p:nvSpPr>
        <p:spPr>
          <a:xfrm rot="10800000">
            <a:off x="11817670" y="1052902"/>
            <a:ext cx="377716" cy="395401"/>
          </a:xfrm>
          <a:prstGeom prst="homePlate">
            <a:avLst>
              <a:gd name="adj" fmla="val 4473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形 9">
            <a:extLst>
              <a:ext uri="{FF2B5EF4-FFF2-40B4-BE49-F238E27FC236}">
                <a16:creationId xmlns:a16="http://schemas.microsoft.com/office/drawing/2014/main" xmlns="" id="{B78E600B-75F0-914B-6801-EF32B73C9A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0" y="7"/>
            <a:ext cx="12192000" cy="1304587"/>
          </a:xfrm>
          <a:prstGeom prst="rect">
            <a:avLst/>
          </a:prstGeom>
        </p:spPr>
      </p:pic>
      <p:cxnSp>
        <p:nvCxnSpPr>
          <p:cNvPr id="16" name="直線接點​​(S) 15">
            <a:extLst>
              <a:ext uri="{FF2B5EF4-FFF2-40B4-BE49-F238E27FC236}">
                <a16:creationId xmlns:a16="http://schemas.microsoft.com/office/drawing/2014/main" xmlns="" id="{463D7850-C2A6-43CE-BBE4-8E81A0A593BF}"/>
              </a:ext>
              <a:ext uri="{C183D7F6-B498-43B3-948B-1728B52AA6E4}">
                <adec:decorative xmlns:adec="http://schemas.microsoft.com/office/drawing/2017/decorative" xmlns="" val="1"/>
              </a:ext>
            </a:extLst>
          </p:cNvPr>
          <p:cNvCxnSpPr>
            <a:cxnSpLocks/>
          </p:cNvCxnSpPr>
          <p:nvPr/>
        </p:nvCxnSpPr>
        <p:spPr>
          <a:xfrm flipH="1">
            <a:off x="1" y="0"/>
            <a:ext cx="1238251"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線接點​​(S) 19">
            <a:extLst>
              <a:ext uri="{FF2B5EF4-FFF2-40B4-BE49-F238E27FC236}">
                <a16:creationId xmlns:a16="http://schemas.microsoft.com/office/drawing/2014/main" xmlns="" id="{EBAD3E03-2E3B-440C-9105-6F9D33006D66}"/>
              </a:ext>
              <a:ext uri="{C183D7F6-B498-43B3-948B-1728B52AA6E4}">
                <adec:decorative xmlns:adec="http://schemas.microsoft.com/office/drawing/2017/decorative" xmlns=""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標題 1">
            <a:extLst>
              <a:ext uri="{FF2B5EF4-FFF2-40B4-BE49-F238E27FC236}">
                <a16:creationId xmlns:a16="http://schemas.microsoft.com/office/drawing/2014/main" xmlns="" id="{81CF3B5C-31C4-46BA-9FAD-72DF917A84DA}"/>
              </a:ext>
            </a:extLst>
          </p:cNvPr>
          <p:cNvSpPr>
            <a:spLocks noGrp="1"/>
          </p:cNvSpPr>
          <p:nvPr>
            <p:ph type="title"/>
          </p:nvPr>
        </p:nvSpPr>
        <p:spPr>
          <a:xfrm>
            <a:off x="893067" y="202300"/>
            <a:ext cx="9324031" cy="900000"/>
          </a:xfrm>
        </p:spPr>
        <p:txBody>
          <a:bodyPr rtlCol="0">
            <a:normAutofit/>
          </a:bodyPr>
          <a:lstStyle>
            <a:lvl1pPr algn="l">
              <a:defRPr lang="en-US" sz="32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pic>
        <p:nvPicPr>
          <p:cNvPr id="11"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4"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10516101" y="202300"/>
            <a:ext cx="1450641" cy="827156"/>
          </a:xfrm>
          <a:prstGeom prst="rect">
            <a:avLst/>
          </a:prstGeom>
          <a:noFill/>
          <a:ln>
            <a:noFill/>
          </a:ln>
        </p:spPr>
      </p:pic>
      <p:sp>
        <p:nvSpPr>
          <p:cNvPr id="15" name="投影片編號版面配置區 4">
            <a:extLst>
              <a:ext uri="{FF2B5EF4-FFF2-40B4-BE49-F238E27FC236}">
                <a16:creationId xmlns:a16="http://schemas.microsoft.com/office/drawing/2014/main" xmlns="" id="{21222846-DFB3-5578-082A-603B19D1EB90}"/>
              </a:ext>
            </a:extLst>
          </p:cNvPr>
          <p:cNvSpPr>
            <a:spLocks noGrp="1"/>
          </p:cNvSpPr>
          <p:nvPr>
            <p:ph type="sldNum" sz="quarter" idx="29"/>
          </p:nvPr>
        </p:nvSpPr>
        <p:spPr>
          <a:xfrm>
            <a:off x="11509512" y="1045256"/>
            <a:ext cx="682487" cy="418712"/>
          </a:xfrm>
        </p:spPr>
        <p:txBody>
          <a:bodyPr/>
          <a:lstStyle>
            <a:lvl1pPr>
              <a:defRPr sz="1200">
                <a:latin typeface="Times New Roman" panose="02020603050405020304" pitchFamily="18" charset="0"/>
                <a:cs typeface="Times New Roman" panose="02020603050405020304" pitchFamily="18" charset="0"/>
              </a:defRPr>
            </a:lvl1pPr>
          </a:lstStyle>
          <a:p>
            <a:fld id="{B5CEABB6-07DC-46E8-9B57-56EC44A396E5}" type="slidenum">
              <a:rPr lang="en-US" altLang="zh-TW" smtClean="0"/>
              <a:pPr/>
              <a:t>‹#›</a:t>
            </a:fld>
            <a:endParaRPr lang="zh-TW" altLang="en-US" dirty="0"/>
          </a:p>
        </p:txBody>
      </p:sp>
    </p:spTree>
    <p:extLst>
      <p:ext uri="{BB962C8B-B14F-4D97-AF65-F5344CB8AC3E}">
        <p14:creationId xmlns:p14="http://schemas.microsoft.com/office/powerpoint/2010/main" val="86312056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議程">
    <p:spTree>
      <p:nvGrpSpPr>
        <p:cNvPr id="1" name=""/>
        <p:cNvGrpSpPr/>
        <p:nvPr/>
      </p:nvGrpSpPr>
      <p:grpSpPr>
        <a:xfrm>
          <a:off x="0" y="0"/>
          <a:ext cx="0" cy="0"/>
          <a:chOff x="0" y="0"/>
          <a:chExt cx="0" cy="0"/>
        </a:xfrm>
      </p:grpSpPr>
      <p:sp>
        <p:nvSpPr>
          <p:cNvPr id="7" name="圖形 10">
            <a:extLst>
              <a:ext uri="{FF2B5EF4-FFF2-40B4-BE49-F238E27FC236}">
                <a16:creationId xmlns:a16="http://schemas.microsoft.com/office/drawing/2014/main" xmlns="" id="{D600C692-560F-EE93-3168-FE5CBBFD5CE7}"/>
              </a:ext>
              <a:ext uri="{C183D7F6-B498-43B3-948B-1728B52AA6E4}">
                <adec:decorative xmlns:adec="http://schemas.microsoft.com/office/drawing/2017/decorative" xmlns="" val="1"/>
              </a:ext>
            </a:extLst>
          </p:cNvPr>
          <p:cNvSpPr/>
          <p:nvPr userDrawn="1"/>
        </p:nvSpPr>
        <p:spPr>
          <a:xfrm>
            <a:off x="7837716" y="0"/>
            <a:ext cx="4354288"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zh-TW" altLang="en-US" sz="1350" noProof="0">
              <a:latin typeface="Microsoft JhengHei UI" panose="020B0604030504040204" pitchFamily="34" charset="-120"/>
              <a:ea typeface="Microsoft JhengHei UI" panose="020B0604030504040204" pitchFamily="34" charset="-120"/>
            </a:endParaRPr>
          </a:p>
        </p:txBody>
      </p:sp>
      <p:cxnSp>
        <p:nvCxnSpPr>
          <p:cNvPr id="21" name="直線接點​​(S) 22">
            <a:extLst>
              <a:ext uri="{FF2B5EF4-FFF2-40B4-BE49-F238E27FC236}">
                <a16:creationId xmlns:a16="http://schemas.microsoft.com/office/drawing/2014/main" xmlns="" id="{BB742DF6-4A43-B5CF-AEDA-4E379B6589EC}"/>
              </a:ext>
            </a:extLst>
          </p:cNvPr>
          <p:cNvCxnSpPr>
            <a:cxnSpLocks/>
          </p:cNvCxnSpPr>
          <p:nvPr userDrawn="1"/>
        </p:nvCxnSpPr>
        <p:spPr>
          <a:xfrm flipH="1" flipV="1">
            <a:off x="0" y="4599432"/>
            <a:ext cx="1710216" cy="2258568"/>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線接點​​(S) 11">
            <a:extLst>
              <a:ext uri="{FF2B5EF4-FFF2-40B4-BE49-F238E27FC236}">
                <a16:creationId xmlns:a16="http://schemas.microsoft.com/office/drawing/2014/main" xmlns="" id="{EB864DD1-893C-9A69-1317-8403F03DC838}"/>
              </a:ext>
            </a:extLst>
          </p:cNvPr>
          <p:cNvCxnSpPr>
            <a:cxnSpLocks/>
          </p:cNvCxnSpPr>
          <p:nvPr userDrawn="1"/>
        </p:nvCxnSpPr>
        <p:spPr>
          <a:xfrm>
            <a:off x="0" y="5895413"/>
            <a:ext cx="12192003" cy="64350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10516101" y="202300"/>
            <a:ext cx="1450641" cy="827156"/>
          </a:xfrm>
          <a:prstGeom prst="rect">
            <a:avLst/>
          </a:prstGeom>
          <a:noFill/>
          <a:ln>
            <a:noFill/>
          </a:ln>
        </p:spPr>
      </p:pic>
      <p:sp>
        <p:nvSpPr>
          <p:cNvPr id="2" name="標題 1">
            <a:extLst>
              <a:ext uri="{FF2B5EF4-FFF2-40B4-BE49-F238E27FC236}">
                <a16:creationId xmlns:a16="http://schemas.microsoft.com/office/drawing/2014/main" xmlns="" id="{5F2B99E9-A78D-ABE6-EB34-A1AEF2CA353B}"/>
              </a:ext>
            </a:extLst>
          </p:cNvPr>
          <p:cNvSpPr>
            <a:spLocks noGrp="1"/>
          </p:cNvSpPr>
          <p:nvPr>
            <p:ph type="title"/>
          </p:nvPr>
        </p:nvSpPr>
        <p:spPr>
          <a:xfrm>
            <a:off x="893067" y="202300"/>
            <a:ext cx="9324031" cy="900000"/>
          </a:xfrm>
        </p:spPr>
        <p:txBody>
          <a:bodyPr rtlCol="0">
            <a:normAutofit/>
          </a:bodyPr>
          <a:lstStyle>
            <a:lvl1pPr algn="l">
              <a:defRPr lang="en-US" sz="32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sp>
        <p:nvSpPr>
          <p:cNvPr id="12" name="箭號: 五邊形 11">
            <a:extLst>
              <a:ext uri="{FF2B5EF4-FFF2-40B4-BE49-F238E27FC236}">
                <a16:creationId xmlns:a16="http://schemas.microsoft.com/office/drawing/2014/main" xmlns="" id="{A75AFB73-C2A6-6EB5-4195-7721E9AE2A30}"/>
              </a:ext>
            </a:extLst>
          </p:cNvPr>
          <p:cNvSpPr/>
          <p:nvPr userDrawn="1"/>
        </p:nvSpPr>
        <p:spPr>
          <a:xfrm rot="10800000">
            <a:off x="11817670" y="1029456"/>
            <a:ext cx="377716" cy="395401"/>
          </a:xfrm>
          <a:prstGeom prst="homePlate">
            <a:avLst>
              <a:gd name="adj" fmla="val 4473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投影片編號版面配置區 4">
            <a:extLst>
              <a:ext uri="{FF2B5EF4-FFF2-40B4-BE49-F238E27FC236}">
                <a16:creationId xmlns:a16="http://schemas.microsoft.com/office/drawing/2014/main" xmlns="" id="{6A8EBA31-886C-3E7F-9861-255D8A4535C2}"/>
              </a:ext>
            </a:extLst>
          </p:cNvPr>
          <p:cNvSpPr>
            <a:spLocks noGrp="1"/>
          </p:cNvSpPr>
          <p:nvPr>
            <p:ph type="sldNum" sz="quarter" idx="29"/>
          </p:nvPr>
        </p:nvSpPr>
        <p:spPr>
          <a:xfrm>
            <a:off x="11509512" y="1045256"/>
            <a:ext cx="682487" cy="418712"/>
          </a:xfrm>
        </p:spPr>
        <p:txBody>
          <a:bodyPr/>
          <a:lstStyle>
            <a:lvl1pPr>
              <a:defRPr sz="1200">
                <a:latin typeface="Times New Roman" panose="02020603050405020304" pitchFamily="18" charset="0"/>
                <a:cs typeface="Times New Roman" panose="02020603050405020304" pitchFamily="18" charset="0"/>
              </a:defRPr>
            </a:lvl1pPr>
          </a:lstStyle>
          <a:p>
            <a:fld id="{B5CEABB6-07DC-46E8-9B57-56EC44A396E5}" type="slidenum">
              <a:rPr lang="en-US" altLang="zh-TW" smtClean="0"/>
              <a:pPr/>
              <a:t>‹#›</a:t>
            </a:fld>
            <a:endParaRPr lang="zh-TW" altLang="en-US" dirty="0"/>
          </a:p>
        </p:txBody>
      </p:sp>
      <p:sp>
        <p:nvSpPr>
          <p:cNvPr id="3" name="內容版面配置區 3">
            <a:extLst>
              <a:ext uri="{FF2B5EF4-FFF2-40B4-BE49-F238E27FC236}">
                <a16:creationId xmlns:a16="http://schemas.microsoft.com/office/drawing/2014/main" xmlns="" id="{0508D6D0-1AAC-252D-A6B0-59F6E999443F}"/>
              </a:ext>
            </a:extLst>
          </p:cNvPr>
          <p:cNvSpPr>
            <a:spLocks noGrp="1"/>
          </p:cNvSpPr>
          <p:nvPr>
            <p:ph sz="half" idx="2"/>
          </p:nvPr>
        </p:nvSpPr>
        <p:spPr>
          <a:xfrm>
            <a:off x="902195" y="1310793"/>
            <a:ext cx="10309144" cy="4851468"/>
          </a:xfrm>
        </p:spPr>
        <p:txBody>
          <a:bodyPr rtlCol="0">
            <a:normAutofit/>
          </a:bodyPr>
          <a:lstStyle>
            <a:lvl1pPr marL="265113" indent="-265113">
              <a:lnSpc>
                <a:spcPct val="100000"/>
              </a:lnSpc>
              <a:buFont typeface="Arial" panose="020B0604020202020204" pitchFamily="34" charset="0"/>
              <a:buChar char="•"/>
              <a:defRPr sz="2800" spc="38" baseline="0">
                <a:solidFill>
                  <a:schemeClr val="tx1">
                    <a:lumMod val="75000"/>
                    <a:lumOff val="25000"/>
                  </a:schemeClr>
                </a:solidFill>
                <a:latin typeface="標楷體" panose="03000509000000000000" pitchFamily="65" charset="-120"/>
                <a:ea typeface="標楷體" panose="03000509000000000000" pitchFamily="65" charset="-120"/>
              </a:defRPr>
            </a:lvl1pPr>
            <a:lvl2pPr marL="539750" indent="-198438">
              <a:lnSpc>
                <a:spcPct val="100000"/>
              </a:lnSpc>
              <a:buFont typeface="Arial" panose="020B0604020202020204" pitchFamily="34" charset="0"/>
              <a:buChar char="•"/>
              <a:defRPr sz="2400" spc="38" baseline="0">
                <a:solidFill>
                  <a:schemeClr val="tx1">
                    <a:lumMod val="75000"/>
                    <a:lumOff val="25000"/>
                  </a:schemeClr>
                </a:solidFill>
                <a:latin typeface="標楷體" panose="03000509000000000000" pitchFamily="65" charset="-120"/>
                <a:ea typeface="標楷體" panose="03000509000000000000" pitchFamily="65" charset="-120"/>
              </a:defRPr>
            </a:lvl2pPr>
            <a:lvl3pPr marL="685783" indent="0">
              <a:lnSpc>
                <a:spcPct val="100000"/>
              </a:lnSpc>
              <a:buNone/>
              <a:defRPr sz="2000" spc="38" baseline="0">
                <a:solidFill>
                  <a:schemeClr val="tx1">
                    <a:lumMod val="75000"/>
                    <a:lumOff val="25000"/>
                  </a:schemeClr>
                </a:solidFill>
                <a:latin typeface="標楷體" panose="03000509000000000000" pitchFamily="65" charset="-120"/>
                <a:ea typeface="標楷體" panose="03000509000000000000" pitchFamily="65" charset="-120"/>
              </a:defRPr>
            </a:lvl3pPr>
            <a:lvl4pPr marL="1028675" indent="0">
              <a:lnSpc>
                <a:spcPct val="100000"/>
              </a:lnSpc>
              <a:buNone/>
              <a:defRPr sz="1350" spc="38" baseline="0">
                <a:solidFill>
                  <a:schemeClr val="tx1">
                    <a:lumMod val="75000"/>
                    <a:lumOff val="25000"/>
                  </a:schemeClr>
                </a:solidFill>
                <a:latin typeface="標楷體" panose="03000509000000000000" pitchFamily="65" charset="-120"/>
                <a:ea typeface="標楷體" panose="03000509000000000000" pitchFamily="65" charset="-120"/>
              </a:defRPr>
            </a:lvl4pPr>
            <a:lvl5pPr marL="1371566" indent="0">
              <a:lnSpc>
                <a:spcPct val="100000"/>
              </a:lnSpc>
              <a:buNone/>
              <a:defRPr sz="1200" spc="38" baseline="0">
                <a:solidFill>
                  <a:schemeClr val="tx1">
                    <a:lumMod val="75000"/>
                    <a:lumOff val="25000"/>
                  </a:schemeClr>
                </a:solidFill>
                <a:latin typeface="標楷體" panose="03000509000000000000" pitchFamily="65" charset="-120"/>
                <a:ea typeface="標楷體" panose="03000509000000000000" pitchFamily="65" charset="-120"/>
              </a:defRPr>
            </a:lvl5pPr>
          </a:lstStyle>
          <a:p>
            <a:pPr lvl="0" rtl="0"/>
            <a:r>
              <a:rPr lang="zh-TW" altLang="en-US" noProof="0" dirty="0"/>
              <a:t>按一下以編輯母片文字樣式</a:t>
            </a:r>
          </a:p>
          <a:p>
            <a:pPr lvl="1" rtl="0"/>
            <a:r>
              <a:rPr lang="zh-TW" altLang="en-US" noProof="0" dirty="0"/>
              <a:t>第二層</a:t>
            </a:r>
          </a:p>
          <a:p>
            <a:pPr lvl="2" rtl="0"/>
            <a:r>
              <a:rPr lang="zh-TW" altLang="en-US" noProof="0" dirty="0"/>
              <a:t>第三層</a:t>
            </a:r>
          </a:p>
          <a:p>
            <a:pPr lvl="3" rtl="0"/>
            <a:r>
              <a:rPr lang="zh-TW" altLang="en-US" noProof="0" dirty="0"/>
              <a:t>第四層</a:t>
            </a:r>
          </a:p>
          <a:p>
            <a:pPr lvl="4" rtl="0"/>
            <a:r>
              <a:rPr lang="zh-TW" altLang="en-US" noProof="0" dirty="0"/>
              <a:t>第五層</a:t>
            </a:r>
          </a:p>
        </p:txBody>
      </p:sp>
    </p:spTree>
    <p:extLst>
      <p:ext uri="{BB962C8B-B14F-4D97-AF65-F5344CB8AC3E}">
        <p14:creationId xmlns:p14="http://schemas.microsoft.com/office/powerpoint/2010/main" val="321656073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議程">
    <p:spTree>
      <p:nvGrpSpPr>
        <p:cNvPr id="1" name=""/>
        <p:cNvGrpSpPr/>
        <p:nvPr/>
      </p:nvGrpSpPr>
      <p:grpSpPr>
        <a:xfrm>
          <a:off x="0" y="0"/>
          <a:ext cx="0" cy="0"/>
          <a:chOff x="0" y="0"/>
          <a:chExt cx="0" cy="0"/>
        </a:xfrm>
      </p:grpSpPr>
      <p:sp>
        <p:nvSpPr>
          <p:cNvPr id="7" name="圖形 10">
            <a:extLst>
              <a:ext uri="{FF2B5EF4-FFF2-40B4-BE49-F238E27FC236}">
                <a16:creationId xmlns:a16="http://schemas.microsoft.com/office/drawing/2014/main" xmlns="" id="{D600C692-560F-EE93-3168-FE5CBBFD5CE7}"/>
              </a:ext>
              <a:ext uri="{C183D7F6-B498-43B3-948B-1728B52AA6E4}">
                <adec:decorative xmlns:adec="http://schemas.microsoft.com/office/drawing/2017/decorative" xmlns="" val="1"/>
              </a:ext>
            </a:extLst>
          </p:cNvPr>
          <p:cNvSpPr/>
          <p:nvPr userDrawn="1"/>
        </p:nvSpPr>
        <p:spPr>
          <a:xfrm>
            <a:off x="7832944" y="-6479"/>
            <a:ext cx="4354288"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zh-TW" altLang="en-US" sz="1350" noProof="0">
              <a:latin typeface="Microsoft JhengHei UI" panose="020B0604030504040204" pitchFamily="34" charset="-120"/>
              <a:ea typeface="Microsoft JhengHei UI" panose="020B0604030504040204" pitchFamily="34" charset="-120"/>
            </a:endParaRPr>
          </a:p>
        </p:txBody>
      </p:sp>
      <p:sp>
        <p:nvSpPr>
          <p:cNvPr id="13" name="標題 1">
            <a:extLst>
              <a:ext uri="{FF2B5EF4-FFF2-40B4-BE49-F238E27FC236}">
                <a16:creationId xmlns:a16="http://schemas.microsoft.com/office/drawing/2014/main" xmlns="" id="{81CF3B5C-31C4-46BA-9FAD-72DF917A84DA}"/>
              </a:ext>
            </a:extLst>
          </p:cNvPr>
          <p:cNvSpPr>
            <a:spLocks noGrp="1"/>
          </p:cNvSpPr>
          <p:nvPr>
            <p:ph type="title"/>
          </p:nvPr>
        </p:nvSpPr>
        <p:spPr>
          <a:xfrm>
            <a:off x="838203" y="404588"/>
            <a:ext cx="9324031" cy="900000"/>
          </a:xfrm>
        </p:spPr>
        <p:txBody>
          <a:bodyPr rtlCol="0">
            <a:normAutofit/>
          </a:bodyPr>
          <a:lstStyle>
            <a:lvl1pPr algn="l">
              <a:defRPr lang="en-US" sz="32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pic>
        <p:nvPicPr>
          <p:cNvPr id="16" name="圖形 10">
            <a:extLst>
              <a:ext uri="{FF2B5EF4-FFF2-40B4-BE49-F238E27FC236}">
                <a16:creationId xmlns:a16="http://schemas.microsoft.com/office/drawing/2014/main" xmlns="" id="{B38B0D13-BD5F-460B-B337-F4A9342026D0}"/>
              </a:ext>
              <a:ext uri="{C183D7F6-B498-43B3-948B-1728B52AA6E4}">
                <adec:decorative xmlns:adec="http://schemas.microsoft.com/office/drawing/2017/decorative" xmlns="" val="1"/>
              </a:ext>
            </a:extLst>
          </p:cNvPr>
          <p:cNvPicPr>
            <a:picLocks noChangeAspect="1"/>
          </p:cNvPicPr>
          <p:nvPr userDrawn="1"/>
        </p:nvPicPr>
        <p:blipFill>
          <a:blip r:embed="rId2" cstate="email">
            <a:duotone>
              <a:schemeClr val="accent3">
                <a:shade val="45000"/>
                <a:satMod val="135000"/>
              </a:schemeClr>
              <a:prstClr val="white"/>
            </a:duotone>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970137" y="1638302"/>
            <a:ext cx="4320000" cy="2235356"/>
          </a:xfrm>
          <a:prstGeom prst="rect">
            <a:avLst/>
          </a:prstGeom>
        </p:spPr>
      </p:pic>
      <p:pic>
        <p:nvPicPr>
          <p:cNvPr id="17" name="圖形 12">
            <a:extLst>
              <a:ext uri="{FF2B5EF4-FFF2-40B4-BE49-F238E27FC236}">
                <a16:creationId xmlns:a16="http://schemas.microsoft.com/office/drawing/2014/main" xmlns="" id="{BE72876B-D3DA-4462-9E24-3354D8D02A27}"/>
              </a:ext>
              <a:ext uri="{C183D7F6-B498-43B3-948B-1728B52AA6E4}">
                <adec:decorative xmlns:adec="http://schemas.microsoft.com/office/drawing/2017/decorative" xmlns="" val="1"/>
              </a:ext>
            </a:extLst>
          </p:cNvPr>
          <p:cNvPicPr>
            <a:picLocks noChangeAspect="1"/>
          </p:cNvPicPr>
          <p:nvPr userDrawn="1"/>
        </p:nvPicPr>
        <p:blipFill>
          <a:blip r:embed="rId4" cstate="email">
            <a:duotone>
              <a:schemeClr val="accent5">
                <a:shade val="45000"/>
                <a:satMod val="135000"/>
              </a:schemeClr>
              <a:prstClr val="white"/>
            </a:duotone>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3594493" y="4023138"/>
            <a:ext cx="4320000" cy="2201994"/>
          </a:xfrm>
          <a:prstGeom prst="rect">
            <a:avLst/>
          </a:prstGeom>
        </p:spPr>
      </p:pic>
      <p:pic>
        <p:nvPicPr>
          <p:cNvPr id="18" name="圖形 14">
            <a:extLst>
              <a:ext uri="{FF2B5EF4-FFF2-40B4-BE49-F238E27FC236}">
                <a16:creationId xmlns:a16="http://schemas.microsoft.com/office/drawing/2014/main" xmlns="" id="{14A539B6-6E3F-41BA-ACE2-76E8BB651636}"/>
              </a:ext>
              <a:ext uri="{C183D7F6-B498-43B3-948B-1728B52AA6E4}">
                <adec:decorative xmlns:adec="http://schemas.microsoft.com/office/drawing/2017/decorative" xmlns="" val="1"/>
              </a:ext>
            </a:extLst>
          </p:cNvPr>
          <p:cNvPicPr>
            <a:picLocks noChangeAspect="1"/>
          </p:cNvPicPr>
          <p:nvPr userDrawn="1"/>
        </p:nvPicPr>
        <p:blipFill>
          <a:blip r:embed="rId6" cstate="email">
            <a:duotone>
              <a:schemeClr val="accent4">
                <a:shade val="45000"/>
                <a:satMod val="135000"/>
              </a:schemeClr>
              <a:prstClr val="white"/>
            </a:duotone>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6450600" y="1914668"/>
            <a:ext cx="4320000" cy="2328378"/>
          </a:xfrm>
          <a:prstGeom prst="rect">
            <a:avLst/>
          </a:prstGeom>
        </p:spPr>
      </p:pic>
      <p:sp>
        <p:nvSpPr>
          <p:cNvPr id="19" name="文字版面配置區 15">
            <a:extLst>
              <a:ext uri="{FF2B5EF4-FFF2-40B4-BE49-F238E27FC236}">
                <a16:creationId xmlns:a16="http://schemas.microsoft.com/office/drawing/2014/main" xmlns="" id="{A1FB681F-A94D-4BF8-8290-0811E98D49D4}"/>
              </a:ext>
            </a:extLst>
          </p:cNvPr>
          <p:cNvSpPr>
            <a:spLocks noGrp="1"/>
          </p:cNvSpPr>
          <p:nvPr>
            <p:ph type="body" sz="quarter" idx="13" hasCustomPrompt="1"/>
          </p:nvPr>
        </p:nvSpPr>
        <p:spPr>
          <a:xfrm>
            <a:off x="1114165" y="2354501"/>
            <a:ext cx="4031945" cy="1013156"/>
          </a:xfrm>
        </p:spPr>
        <p:txBody>
          <a:bodyPr rtlCol="0">
            <a:noAutofit/>
          </a:bodyPr>
          <a:lstStyle>
            <a:lvl1pPr marL="0" indent="0" algn="ctr">
              <a:buNone/>
              <a:defRPr lang="en-US" sz="2800" kern="1200"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lvl="0" rtl="0"/>
            <a:r>
              <a:rPr lang="zh-TW" altLang="en-US" noProof="0" dirty="0"/>
              <a:t>按一下以新增副標題</a:t>
            </a:r>
          </a:p>
        </p:txBody>
      </p:sp>
      <p:sp>
        <p:nvSpPr>
          <p:cNvPr id="20" name="文字版面配置區 15">
            <a:extLst>
              <a:ext uri="{FF2B5EF4-FFF2-40B4-BE49-F238E27FC236}">
                <a16:creationId xmlns:a16="http://schemas.microsoft.com/office/drawing/2014/main" xmlns="" id="{A1FB681F-A94D-4BF8-8290-0811E98D49D4}"/>
              </a:ext>
            </a:extLst>
          </p:cNvPr>
          <p:cNvSpPr>
            <a:spLocks noGrp="1"/>
          </p:cNvSpPr>
          <p:nvPr>
            <p:ph type="body" sz="quarter" idx="14" hasCustomPrompt="1"/>
          </p:nvPr>
        </p:nvSpPr>
        <p:spPr>
          <a:xfrm>
            <a:off x="6648098" y="2734647"/>
            <a:ext cx="4031945" cy="1013156"/>
          </a:xfrm>
        </p:spPr>
        <p:txBody>
          <a:bodyPr rtlCol="0">
            <a:noAutofit/>
          </a:bodyPr>
          <a:lstStyle>
            <a:lvl1pPr marL="0" indent="0" algn="ctr">
              <a:buNone/>
              <a:defRPr lang="en-US" sz="2800" kern="1200"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lvl="0" rtl="0"/>
            <a:r>
              <a:rPr lang="zh-TW" altLang="en-US" noProof="0"/>
              <a:t>按一下以新增副標題</a:t>
            </a:r>
          </a:p>
        </p:txBody>
      </p:sp>
      <p:sp>
        <p:nvSpPr>
          <p:cNvPr id="23" name="文字版面配置區 15">
            <a:extLst>
              <a:ext uri="{FF2B5EF4-FFF2-40B4-BE49-F238E27FC236}">
                <a16:creationId xmlns:a16="http://schemas.microsoft.com/office/drawing/2014/main" xmlns="" id="{A1FB681F-A94D-4BF8-8290-0811E98D49D4}"/>
              </a:ext>
            </a:extLst>
          </p:cNvPr>
          <p:cNvSpPr>
            <a:spLocks noGrp="1"/>
          </p:cNvSpPr>
          <p:nvPr>
            <p:ph type="body" sz="quarter" idx="15" hasCustomPrompt="1"/>
          </p:nvPr>
        </p:nvSpPr>
        <p:spPr>
          <a:xfrm>
            <a:off x="3714384" y="4625936"/>
            <a:ext cx="4031945" cy="1013156"/>
          </a:xfrm>
        </p:spPr>
        <p:txBody>
          <a:bodyPr rtlCol="0">
            <a:noAutofit/>
          </a:bodyPr>
          <a:lstStyle>
            <a:lvl1pPr marL="0" indent="0" algn="ctr">
              <a:buNone/>
              <a:defRPr lang="en-US" sz="2800" kern="1200"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lvl="0" rtl="0"/>
            <a:r>
              <a:rPr lang="zh-TW" altLang="en-US" noProof="0"/>
              <a:t>按一下以新增副標題</a:t>
            </a:r>
          </a:p>
        </p:txBody>
      </p:sp>
      <p:pic>
        <p:nvPicPr>
          <p:cNvPr id="12"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8"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10516101" y="202300"/>
            <a:ext cx="1450641" cy="827156"/>
          </a:xfrm>
          <a:prstGeom prst="rect">
            <a:avLst/>
          </a:prstGeom>
          <a:noFill/>
          <a:ln>
            <a:noFill/>
          </a:ln>
        </p:spPr>
      </p:pic>
      <p:sp>
        <p:nvSpPr>
          <p:cNvPr id="9" name="箭號: 五邊形 8">
            <a:extLst>
              <a:ext uri="{FF2B5EF4-FFF2-40B4-BE49-F238E27FC236}">
                <a16:creationId xmlns:a16="http://schemas.microsoft.com/office/drawing/2014/main" xmlns="" id="{14EC25D0-5BFF-566A-4303-54297340FDBC}"/>
              </a:ext>
            </a:extLst>
          </p:cNvPr>
          <p:cNvSpPr/>
          <p:nvPr userDrawn="1"/>
        </p:nvSpPr>
        <p:spPr>
          <a:xfrm rot="10800000">
            <a:off x="11817670" y="1029456"/>
            <a:ext cx="377716" cy="395401"/>
          </a:xfrm>
          <a:prstGeom prst="homePlate">
            <a:avLst>
              <a:gd name="adj" fmla="val 4473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投影片編號版面配置區 4">
            <a:extLst>
              <a:ext uri="{FF2B5EF4-FFF2-40B4-BE49-F238E27FC236}">
                <a16:creationId xmlns:a16="http://schemas.microsoft.com/office/drawing/2014/main" xmlns="" id="{57E60439-B1D7-7CF0-6AA9-3177BE19ABF4}"/>
              </a:ext>
            </a:extLst>
          </p:cNvPr>
          <p:cNvSpPr>
            <a:spLocks noGrp="1"/>
          </p:cNvSpPr>
          <p:nvPr>
            <p:ph type="sldNum" sz="quarter" idx="29"/>
          </p:nvPr>
        </p:nvSpPr>
        <p:spPr>
          <a:xfrm>
            <a:off x="11509512" y="1045256"/>
            <a:ext cx="682487" cy="418712"/>
          </a:xfrm>
        </p:spPr>
        <p:txBody>
          <a:bodyPr/>
          <a:lstStyle>
            <a:lvl1pPr>
              <a:defRPr sz="1200">
                <a:latin typeface="Times New Roman" panose="02020603050405020304" pitchFamily="18" charset="0"/>
                <a:cs typeface="Times New Roman" panose="02020603050405020304" pitchFamily="18" charset="0"/>
              </a:defRPr>
            </a:lvl1pPr>
          </a:lstStyle>
          <a:p>
            <a:fld id="{B5CEABB6-07DC-46E8-9B57-56EC44A396E5}" type="slidenum">
              <a:rPr lang="en-US" altLang="zh-TW" smtClean="0"/>
              <a:pPr/>
              <a:t>‹#›</a:t>
            </a:fld>
            <a:endParaRPr lang="zh-TW" altLang="en-US" dirty="0"/>
          </a:p>
        </p:txBody>
      </p:sp>
    </p:spTree>
    <p:extLst>
      <p:ext uri="{BB962C8B-B14F-4D97-AF65-F5344CB8AC3E}">
        <p14:creationId xmlns:p14="http://schemas.microsoft.com/office/powerpoint/2010/main" val="338303371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引述">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xmlns="" id="{AEE644D4-F9A4-4237-BD5C-4B97ABA9337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rot="16200000" flipH="1">
            <a:off x="4141694" y="-4141694"/>
            <a:ext cx="3908612" cy="12192000"/>
          </a:xfrm>
          <a:prstGeom prst="rect">
            <a:avLst/>
          </a:prstGeom>
        </p:spPr>
      </p:pic>
      <p:cxnSp>
        <p:nvCxnSpPr>
          <p:cNvPr id="9" name="直線接點​​(S) 8">
            <a:extLst>
              <a:ext uri="{FF2B5EF4-FFF2-40B4-BE49-F238E27FC236}">
                <a16:creationId xmlns:a16="http://schemas.microsoft.com/office/drawing/2014/main" xmlns="" id="{BDAC7E4E-FE06-4E90-8107-6B543E5515ED}"/>
              </a:ext>
            </a:extLst>
          </p:cNvPr>
          <p:cNvCxnSpPr>
            <a:cxnSpLocks/>
          </p:cNvCxnSpPr>
          <p:nvPr/>
        </p:nvCxnSpPr>
        <p:spPr>
          <a:xfrm flipV="1">
            <a:off x="0" y="2133600"/>
            <a:ext cx="12192000" cy="900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標題 1">
            <a:extLst>
              <a:ext uri="{FF2B5EF4-FFF2-40B4-BE49-F238E27FC236}">
                <a16:creationId xmlns:a16="http://schemas.microsoft.com/office/drawing/2014/main" xmlns="" id="{C2FF67A8-55FA-435D-A18C-96D63D22B53E}"/>
              </a:ext>
            </a:extLst>
          </p:cNvPr>
          <p:cNvSpPr>
            <a:spLocks noGrp="1"/>
          </p:cNvSpPr>
          <p:nvPr>
            <p:ph type="title"/>
          </p:nvPr>
        </p:nvSpPr>
        <p:spPr>
          <a:xfrm>
            <a:off x="838200" y="1999072"/>
            <a:ext cx="10515600" cy="2344128"/>
          </a:xfrm>
        </p:spPr>
        <p:txBody>
          <a:bodyPr rtlCol="0" anchor="t">
            <a:normAutofit/>
          </a:bodyPr>
          <a:lstStyle>
            <a:lvl1pPr>
              <a:defRPr lang="en-US" sz="33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pic>
        <p:nvPicPr>
          <p:cNvPr id="11"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4"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10516101" y="202300"/>
            <a:ext cx="1450641" cy="827156"/>
          </a:xfrm>
          <a:prstGeom prst="rect">
            <a:avLst/>
          </a:prstGeom>
          <a:noFill/>
          <a:ln>
            <a:noFill/>
          </a:ln>
        </p:spPr>
      </p:pic>
      <p:sp>
        <p:nvSpPr>
          <p:cNvPr id="17" name="箭號: 五邊形 16">
            <a:extLst>
              <a:ext uri="{FF2B5EF4-FFF2-40B4-BE49-F238E27FC236}">
                <a16:creationId xmlns:a16="http://schemas.microsoft.com/office/drawing/2014/main" xmlns="" id="{A977A8B1-C07C-5122-EB38-7788F1D1490C}"/>
              </a:ext>
            </a:extLst>
          </p:cNvPr>
          <p:cNvSpPr/>
          <p:nvPr userDrawn="1"/>
        </p:nvSpPr>
        <p:spPr>
          <a:xfrm rot="10800000">
            <a:off x="11817670" y="1029456"/>
            <a:ext cx="377716" cy="395401"/>
          </a:xfrm>
          <a:prstGeom prst="homePlate">
            <a:avLst>
              <a:gd name="adj" fmla="val 4473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投影片編號版面配置區 4">
            <a:extLst>
              <a:ext uri="{FF2B5EF4-FFF2-40B4-BE49-F238E27FC236}">
                <a16:creationId xmlns:a16="http://schemas.microsoft.com/office/drawing/2014/main" xmlns="" id="{D9C28D85-AAD2-B541-7D4B-0FC069C5C7A5}"/>
              </a:ext>
            </a:extLst>
          </p:cNvPr>
          <p:cNvSpPr>
            <a:spLocks noGrp="1"/>
          </p:cNvSpPr>
          <p:nvPr>
            <p:ph type="sldNum" sz="quarter" idx="29"/>
          </p:nvPr>
        </p:nvSpPr>
        <p:spPr>
          <a:xfrm>
            <a:off x="11509512" y="1045256"/>
            <a:ext cx="682487" cy="418712"/>
          </a:xfrm>
        </p:spPr>
        <p:txBody>
          <a:bodyPr/>
          <a:lstStyle>
            <a:lvl1pPr>
              <a:defRPr sz="1200">
                <a:latin typeface="Times New Roman" panose="02020603050405020304" pitchFamily="18" charset="0"/>
                <a:cs typeface="Times New Roman" panose="02020603050405020304" pitchFamily="18" charset="0"/>
              </a:defRPr>
            </a:lvl1pPr>
          </a:lstStyle>
          <a:p>
            <a:fld id="{B5CEABB6-07DC-46E8-9B57-56EC44A396E5}" type="slidenum">
              <a:rPr lang="en-US" altLang="zh-TW" smtClean="0"/>
              <a:pPr/>
              <a:t>‹#›</a:t>
            </a:fld>
            <a:endParaRPr lang="zh-TW" altLang="en-US" dirty="0"/>
          </a:p>
        </p:txBody>
      </p:sp>
    </p:spTree>
    <p:extLst>
      <p:ext uri="{BB962C8B-B14F-4D97-AF65-F5344CB8AC3E}">
        <p14:creationId xmlns:p14="http://schemas.microsoft.com/office/powerpoint/2010/main" val="408012329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時間表 2">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7D46070C-E825-43D0-99F4-8B4614131131}"/>
              </a:ext>
            </a:extLst>
          </p:cNvPr>
          <p:cNvSpPr/>
          <p:nvPr userDrawn="1"/>
        </p:nvSpPr>
        <p:spPr>
          <a:xfrm>
            <a:off x="3" y="2257583"/>
            <a:ext cx="12191999"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sz="1350" noProof="0">
              <a:solidFill>
                <a:schemeClr val="tx1">
                  <a:lumMod val="75000"/>
                  <a:lumOff val="25000"/>
                </a:schemeClr>
              </a:solidFill>
              <a:latin typeface="Microsoft JhengHei UI" panose="020B0604030504040204" pitchFamily="34" charset="-120"/>
              <a:ea typeface="Microsoft JhengHei UI" panose="020B0604030504040204" pitchFamily="34" charset="-120"/>
            </a:endParaRPr>
          </a:p>
        </p:txBody>
      </p:sp>
      <p:sp>
        <p:nvSpPr>
          <p:cNvPr id="32" name="矩形 31">
            <a:extLst>
              <a:ext uri="{FF2B5EF4-FFF2-40B4-BE49-F238E27FC236}">
                <a16:creationId xmlns:a16="http://schemas.microsoft.com/office/drawing/2014/main" xmlns="" id="{FFA35437-CCDE-4D92-B879-F23B329C8EC3}"/>
              </a:ext>
            </a:extLst>
          </p:cNvPr>
          <p:cNvSpPr/>
          <p:nvPr userDrawn="1"/>
        </p:nvSpPr>
        <p:spPr>
          <a:xfrm>
            <a:off x="929640" y="3691886"/>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ZA" sz="1350" noProof="0">
              <a:solidFill>
                <a:schemeClr val="tx1">
                  <a:lumMod val="75000"/>
                  <a:lumOff val="25000"/>
                </a:schemeClr>
              </a:solidFill>
              <a:latin typeface="Microsoft JhengHei UI" panose="020B0604030504040204" pitchFamily="34" charset="-120"/>
              <a:ea typeface="Microsoft JhengHei UI" panose="020B0604030504040204" pitchFamily="34" charset="-120"/>
            </a:endParaRPr>
          </a:p>
        </p:txBody>
      </p:sp>
      <p:sp>
        <p:nvSpPr>
          <p:cNvPr id="34" name="標題 1">
            <a:extLst>
              <a:ext uri="{FF2B5EF4-FFF2-40B4-BE49-F238E27FC236}">
                <a16:creationId xmlns:a16="http://schemas.microsoft.com/office/drawing/2014/main" xmlns="" id="{C2FF67A8-55FA-435D-A18C-96D63D22B53E}"/>
              </a:ext>
            </a:extLst>
          </p:cNvPr>
          <p:cNvSpPr>
            <a:spLocks noGrp="1"/>
          </p:cNvSpPr>
          <p:nvPr>
            <p:ph type="title"/>
          </p:nvPr>
        </p:nvSpPr>
        <p:spPr>
          <a:xfrm>
            <a:off x="929640" y="3035300"/>
            <a:ext cx="10332720" cy="1142800"/>
          </a:xfrm>
        </p:spPr>
        <p:txBody>
          <a:bodyPr rtlCol="0" anchor="t">
            <a:normAutofit/>
          </a:bodyPr>
          <a:lstStyle>
            <a:lvl1pPr algn="ctr">
              <a:defRPr lang="en-US" sz="36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rtl="0"/>
            <a:r>
              <a:rPr lang="zh-TW" altLang="en-US" noProof="0" dirty="0"/>
              <a:t>按一下以編輯母片標題樣式</a:t>
            </a:r>
          </a:p>
        </p:txBody>
      </p:sp>
      <p:cxnSp>
        <p:nvCxnSpPr>
          <p:cNvPr id="39" name="直線接點​​(S) 22">
            <a:extLst>
              <a:ext uri="{FF2B5EF4-FFF2-40B4-BE49-F238E27FC236}">
                <a16:creationId xmlns:a16="http://schemas.microsoft.com/office/drawing/2014/main" xmlns="" id="{BB742DF6-4A43-B5CF-AEDA-4E379B6589EC}"/>
              </a:ext>
            </a:extLst>
          </p:cNvPr>
          <p:cNvCxnSpPr>
            <a:cxnSpLocks/>
          </p:cNvCxnSpPr>
          <p:nvPr userDrawn="1"/>
        </p:nvCxnSpPr>
        <p:spPr>
          <a:xfrm flipH="1" flipV="1">
            <a:off x="0" y="1816344"/>
            <a:ext cx="1597152" cy="504165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線接點​​(S) 22">
            <a:extLst>
              <a:ext uri="{FF2B5EF4-FFF2-40B4-BE49-F238E27FC236}">
                <a16:creationId xmlns:a16="http://schemas.microsoft.com/office/drawing/2014/main" xmlns="" id="{BB742DF6-4A43-B5CF-AEDA-4E379B6589EC}"/>
              </a:ext>
            </a:extLst>
          </p:cNvPr>
          <p:cNvCxnSpPr>
            <a:cxnSpLocks/>
          </p:cNvCxnSpPr>
          <p:nvPr userDrawn="1"/>
        </p:nvCxnSpPr>
        <p:spPr>
          <a:xfrm flipH="1" flipV="1">
            <a:off x="2" y="6184902"/>
            <a:ext cx="6095999" cy="67309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
            <a:extLst>
              <a:ext uri="{FF2B5EF4-FFF2-40B4-BE49-F238E27FC236}">
                <a16:creationId xmlns:a16="http://schemas.microsoft.com/office/drawing/2014/main" xmlns="" id="{20A40A12-8A0A-3DA4-CA2A-6D4058AE0F5A}"/>
              </a:ext>
            </a:extLst>
          </p:cNvPr>
          <p:cNvPicPr>
            <a:picLocks noChangeAspect="1"/>
          </p:cNvPicPr>
          <p:nvPr userDrawn="1"/>
        </p:nvPicPr>
        <p:blipFill>
          <a:blip r:embed="rId2"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10516101" y="192361"/>
            <a:ext cx="1450641" cy="827156"/>
          </a:xfrm>
          <a:prstGeom prst="rect">
            <a:avLst/>
          </a:prstGeom>
          <a:noFill/>
          <a:ln>
            <a:noFill/>
          </a:ln>
        </p:spPr>
      </p:pic>
      <p:sp>
        <p:nvSpPr>
          <p:cNvPr id="10" name="箭號: 五邊形 9">
            <a:extLst>
              <a:ext uri="{FF2B5EF4-FFF2-40B4-BE49-F238E27FC236}">
                <a16:creationId xmlns:a16="http://schemas.microsoft.com/office/drawing/2014/main" xmlns="" id="{768BC038-D2EA-393E-AC3D-3F53314CE135}"/>
              </a:ext>
            </a:extLst>
          </p:cNvPr>
          <p:cNvSpPr/>
          <p:nvPr userDrawn="1"/>
        </p:nvSpPr>
        <p:spPr>
          <a:xfrm rot="10800000">
            <a:off x="11817670" y="1029456"/>
            <a:ext cx="377716" cy="395401"/>
          </a:xfrm>
          <a:prstGeom prst="homePlate">
            <a:avLst>
              <a:gd name="adj" fmla="val 4473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投影片編號版面配置區 4">
            <a:extLst>
              <a:ext uri="{FF2B5EF4-FFF2-40B4-BE49-F238E27FC236}">
                <a16:creationId xmlns:a16="http://schemas.microsoft.com/office/drawing/2014/main" xmlns="" id="{D5DE7AB3-3D40-2219-E4C6-6A8F62FF741F}"/>
              </a:ext>
            </a:extLst>
          </p:cNvPr>
          <p:cNvSpPr txBox="1">
            <a:spLocks/>
          </p:cNvSpPr>
          <p:nvPr userDrawn="1"/>
        </p:nvSpPr>
        <p:spPr>
          <a:xfrm>
            <a:off x="11509512" y="1045256"/>
            <a:ext cx="682487" cy="418712"/>
          </a:xfrm>
          <a:prstGeom prst="rect">
            <a:avLst/>
          </a:prstGeom>
        </p:spPr>
        <p:txBody>
          <a:bodyPr vert="horz" lIns="91440" tIns="45720" rIns="91440" bIns="45720" rtlCol="0" anchor="ctr"/>
          <a:lstStyle>
            <a:defPPr rtl="0">
              <a:defRPr lang="zh-TW"/>
            </a:defPPr>
            <a:lvl1pPr marL="0" algn="r" defTabSz="914400" rtl="0" eaLnBrk="1" latinLnBrk="0" hangingPunct="1">
              <a:defRPr sz="1200" kern="1200">
                <a:solidFill>
                  <a:schemeClr val="tx1">
                    <a:tint val="75000"/>
                  </a:schemeClr>
                </a:solidFill>
                <a:latin typeface="Times New Roman" panose="02020603050405020304" pitchFamily="18" charset="0"/>
                <a:ea typeface="Microsoft JhengHei UI" panose="020B0604030504040204" pitchFamily="34" charset="-120"/>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CEABB6-07DC-46E8-9B57-56EC44A396E5}" type="slidenum">
              <a:rPr lang="en-US" altLang="zh-TW" smtClean="0"/>
              <a:pPr/>
              <a:t>‹#›</a:t>
            </a:fld>
            <a:endParaRPr lang="zh-TW" altLang="en-US" dirty="0"/>
          </a:p>
        </p:txBody>
      </p:sp>
    </p:spTree>
    <p:extLst>
      <p:ext uri="{BB962C8B-B14F-4D97-AF65-F5344CB8AC3E}">
        <p14:creationId xmlns:p14="http://schemas.microsoft.com/office/powerpoint/2010/main" val="208475291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325563"/>
          </a:xfrm>
          <a:prstGeom prst="rect">
            <a:avLst/>
          </a:prstGeom>
        </p:spPr>
        <p:txBody>
          <a:bodyPr/>
          <a:lstStyle>
            <a:lvl1pPr>
              <a:defRPr>
                <a:latin typeface="標楷體" panose="03000509000000000000" pitchFamily="65" charset="-120"/>
                <a:ea typeface="標楷體" panose="03000509000000000000" pitchFamily="65"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838200" y="1825625"/>
            <a:ext cx="10515600" cy="4351338"/>
          </a:xfrm>
          <a:prstGeom prst="rect">
            <a:avLst/>
          </a:prstGeom>
        </p:spPr>
        <p:txBody>
          <a:bodyPr/>
          <a:lstStyle>
            <a:lvl1pPr>
              <a:defRPr>
                <a:ea typeface="標楷體" panose="03000509000000000000" pitchFamily="65" charset="-120"/>
              </a:defRPr>
            </a:lvl1pPr>
            <a:lvl2pPr>
              <a:defRPr>
                <a:ea typeface="標楷體" panose="03000509000000000000" pitchFamily="65" charset="-120"/>
              </a:defRPr>
            </a:lvl2pPr>
            <a:lvl3pPr>
              <a:defRPr>
                <a:ea typeface="標楷體" panose="03000509000000000000" pitchFamily="65" charset="-120"/>
              </a:defRPr>
            </a:lvl3pPr>
            <a:lvl4pPr>
              <a:defRPr>
                <a:ea typeface="標楷體" panose="03000509000000000000" pitchFamily="65" charset="-120"/>
              </a:defRPr>
            </a:lvl4pPr>
            <a:lvl5pPr>
              <a:defRPr>
                <a:ea typeface="標楷體" panose="03000509000000000000" pitchFamily="65" charset="-120"/>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extLst>
      <p:ext uri="{BB962C8B-B14F-4D97-AF65-F5344CB8AC3E}">
        <p14:creationId xmlns:p14="http://schemas.microsoft.com/office/powerpoint/2010/main" val="1838228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F4C17E5-24ED-44BC-BA50-02EF903552E1}"/>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pPr rtl="0"/>
            <a:r>
              <a:rPr lang="zh-TW" altLang="en-US" noProof="0"/>
              <a:t>按一下以編輯母片標題樣式</a:t>
            </a:r>
          </a:p>
        </p:txBody>
      </p:sp>
      <p:sp>
        <p:nvSpPr>
          <p:cNvPr id="3" name="文字版面配置區 2">
            <a:extLst>
              <a:ext uri="{FF2B5EF4-FFF2-40B4-BE49-F238E27FC236}">
                <a16:creationId xmlns:a16="http://schemas.microsoft.com/office/drawing/2014/main" xmlns=""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zh-TW" altLang="en-US" noProof="0"/>
              <a:t>按一下以編輯母片文字樣式</a:t>
            </a:r>
          </a:p>
          <a:p>
            <a:pPr lvl="1" rtl="0"/>
            <a:r>
              <a:rPr lang="zh-TW" altLang="en-US" noProof="0"/>
              <a:t>第二層</a:t>
            </a:r>
          </a:p>
          <a:p>
            <a:pPr lvl="2" rtl="0"/>
            <a:r>
              <a:rPr lang="zh-TW" altLang="en-US" noProof="0"/>
              <a:t>第三層</a:t>
            </a:r>
          </a:p>
          <a:p>
            <a:pPr lvl="3" rtl="0"/>
            <a:r>
              <a:rPr lang="zh-TW" altLang="en-US" noProof="0"/>
              <a:t>第四層</a:t>
            </a:r>
          </a:p>
          <a:p>
            <a:pPr lvl="4" rtl="0"/>
            <a:r>
              <a:rPr lang="zh-TW" altLang="en-US" noProof="0"/>
              <a:t>第五層</a:t>
            </a:r>
          </a:p>
        </p:txBody>
      </p:sp>
      <p:sp>
        <p:nvSpPr>
          <p:cNvPr id="4" name="日期版面配置區 3">
            <a:extLst>
              <a:ext uri="{FF2B5EF4-FFF2-40B4-BE49-F238E27FC236}">
                <a16:creationId xmlns:a16="http://schemas.microsoft.com/office/drawing/2014/main" xmlns="" id="{C2AE9FDE-AF95-49F8-A927-35A23C9E6532}"/>
              </a:ext>
            </a:extLst>
          </p:cNvPr>
          <p:cNvSpPr>
            <a:spLocks noGrp="1"/>
          </p:cNvSpPr>
          <p:nvPr>
            <p:ph type="dt" sz="half" idx="2"/>
          </p:nvPr>
        </p:nvSpPr>
        <p:spPr>
          <a:xfrm>
            <a:off x="838200" y="6356356"/>
            <a:ext cx="2743200" cy="365125"/>
          </a:xfrm>
          <a:prstGeom prst="rect">
            <a:avLst/>
          </a:prstGeom>
        </p:spPr>
        <p:txBody>
          <a:bodyPr vert="horz" lIns="91440" tIns="45720" rIns="91440" bIns="45720" rtlCol="0" anchor="ctr"/>
          <a:lstStyle>
            <a:lvl1pPr algn="l">
              <a:defRPr sz="675">
                <a:solidFill>
                  <a:schemeClr val="tx1">
                    <a:tint val="75000"/>
                  </a:schemeClr>
                </a:solidFill>
                <a:latin typeface="Microsoft JhengHei UI" panose="020B0604030504040204" pitchFamily="34" charset="-120"/>
                <a:ea typeface="Microsoft JhengHei UI" panose="020B0604030504040204" pitchFamily="34" charset="-120"/>
              </a:defRPr>
            </a:lvl1pPr>
          </a:lstStyle>
          <a:p>
            <a:r>
              <a:rPr lang="en-US" altLang="zh-TW" noProof="0"/>
              <a:t>20XX </a:t>
            </a:r>
            <a:r>
              <a:rPr lang="zh-TW" altLang="en-US" noProof="0"/>
              <a:t>年</a:t>
            </a:r>
          </a:p>
        </p:txBody>
      </p:sp>
      <p:sp>
        <p:nvSpPr>
          <p:cNvPr id="5" name="頁尾版面配置區 4">
            <a:extLst>
              <a:ext uri="{FF2B5EF4-FFF2-40B4-BE49-F238E27FC236}">
                <a16:creationId xmlns:a16="http://schemas.microsoft.com/office/drawing/2014/main" xmlns="" id="{CC2E900D-8FF9-4E80-860D-89C2D3B4E4E1}"/>
              </a:ext>
            </a:extLst>
          </p:cNvPr>
          <p:cNvSpPr>
            <a:spLocks noGrp="1"/>
          </p:cNvSpPr>
          <p:nvPr>
            <p:ph type="ftr" sz="quarter" idx="3"/>
          </p:nvPr>
        </p:nvSpPr>
        <p:spPr>
          <a:xfrm>
            <a:off x="4038600" y="6356356"/>
            <a:ext cx="4114800" cy="365125"/>
          </a:xfrm>
          <a:prstGeom prst="rect">
            <a:avLst/>
          </a:prstGeom>
        </p:spPr>
        <p:txBody>
          <a:bodyPr vert="horz" lIns="91440" tIns="45720" rIns="91440" bIns="45720" rtlCol="0" anchor="ctr"/>
          <a:lstStyle>
            <a:lvl1pPr algn="ctr">
              <a:defRPr sz="675">
                <a:solidFill>
                  <a:schemeClr val="tx1">
                    <a:tint val="75000"/>
                  </a:schemeClr>
                </a:solidFill>
                <a:latin typeface="Microsoft JhengHei UI" panose="020B0604030504040204" pitchFamily="34" charset="-120"/>
                <a:ea typeface="Microsoft JhengHei UI" panose="020B0604030504040204" pitchFamily="34" charset="-120"/>
              </a:defRPr>
            </a:lvl1pPr>
          </a:lstStyle>
          <a:p>
            <a:r>
              <a:rPr lang="zh-TW" altLang="en-US" noProof="0"/>
              <a:t>募資簡報</a:t>
            </a:r>
          </a:p>
        </p:txBody>
      </p:sp>
      <p:sp>
        <p:nvSpPr>
          <p:cNvPr id="6" name="投影片編號版面配置區 5">
            <a:extLst>
              <a:ext uri="{FF2B5EF4-FFF2-40B4-BE49-F238E27FC236}">
                <a16:creationId xmlns:a16="http://schemas.microsoft.com/office/drawing/2014/main" xmlns="" id="{F1A66A0C-1415-46A3-A1FF-BE18C70873E3}"/>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675">
                <a:solidFill>
                  <a:schemeClr val="tx1">
                    <a:tint val="75000"/>
                  </a:schemeClr>
                </a:solidFill>
                <a:latin typeface="Microsoft JhengHei UI" panose="020B0604030504040204" pitchFamily="34" charset="-120"/>
                <a:ea typeface="Microsoft JhengHei UI" panose="020B0604030504040204" pitchFamily="34" charset="-120"/>
              </a:defRPr>
            </a:lvl1pPr>
          </a:lstStyle>
          <a:p>
            <a:fld id="{B5CEABB6-07DC-46E8-9B57-56EC44A396E5}" type="slidenum">
              <a:rPr lang="en-US" altLang="zh-TW" noProof="0" smtClean="0"/>
              <a:pPr/>
              <a:t>‹#›</a:t>
            </a:fld>
            <a:endParaRPr lang="zh-TW" altLang="en-US" noProof="0"/>
          </a:p>
        </p:txBody>
      </p:sp>
    </p:spTree>
    <p:extLst>
      <p:ext uri="{BB962C8B-B14F-4D97-AF65-F5344CB8AC3E}">
        <p14:creationId xmlns:p14="http://schemas.microsoft.com/office/powerpoint/2010/main" val="306820812"/>
      </p:ext>
    </p:extLst>
  </p:cSld>
  <p:clrMap bg1="lt1" tx1="dk1" bg2="lt2" tx2="dk2" accent1="accent1" accent2="accent2" accent3="accent3" accent4="accent4" accent5="accent5" accent6="accent6" hlink="hlink" folHlink="folHlink"/>
  <p:sldLayoutIdLst>
    <p:sldLayoutId id="2147484306" r:id="rId1"/>
    <p:sldLayoutId id="2147484307" r:id="rId2"/>
    <p:sldLayoutId id="2147484321" r:id="rId3"/>
    <p:sldLayoutId id="2147484300" r:id="rId4"/>
    <p:sldLayoutId id="2147484322" r:id="rId5"/>
    <p:sldLayoutId id="2147484320" r:id="rId6"/>
    <p:sldLayoutId id="2147484312" r:id="rId7"/>
    <p:sldLayoutId id="2147484323" r:id="rId8"/>
  </p:sldLayoutIdLst>
  <p:hf hdr="0" dt="0"/>
  <p:txStyles>
    <p:titleStyle>
      <a:lvl1pPr algn="l" defTabSz="685783" rtl="0" eaLnBrk="1" latinLnBrk="0" hangingPunct="1">
        <a:lnSpc>
          <a:spcPct val="90000"/>
        </a:lnSpc>
        <a:spcBef>
          <a:spcPct val="0"/>
        </a:spcBef>
        <a:buNone/>
        <a:defRPr sz="3300" kern="1200" cap="all" baseline="0">
          <a:solidFill>
            <a:schemeClr val="tx1">
              <a:lumMod val="75000"/>
              <a:lumOff val="25000"/>
            </a:schemeClr>
          </a:solidFill>
          <a:latin typeface="Microsoft JhengHei UI" panose="020B0604030504040204" pitchFamily="34" charset="-120"/>
          <a:ea typeface="Microsoft JhengHei UI" panose="020B0604030504040204" pitchFamily="34" charset="-120"/>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032239-453A-96FF-6623-C7688B7FD56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xmlns="" id="{CAB1B36F-E24D-4069-BCF5-2DCEE0D5CA81}"/>
              </a:ext>
            </a:extLst>
          </p:cNvPr>
          <p:cNvSpPr/>
          <p:nvPr/>
        </p:nvSpPr>
        <p:spPr>
          <a:xfrm>
            <a:off x="7675143" y="3933012"/>
            <a:ext cx="3685624" cy="646331"/>
          </a:xfrm>
          <a:prstGeom prst="rect">
            <a:avLst/>
          </a:prstGeom>
        </p:spPr>
        <p:txBody>
          <a:bodyPr wrap="none">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C00559</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應用軟體管理電腦作業</a:t>
            </a:r>
            <a:r>
              <a:rPr lang="zh-TW" altLang="en-US" dirty="0" smtClean="0">
                <a:latin typeface="Times New Roman" panose="02020603050405020304" pitchFamily="18" charset="0"/>
                <a:ea typeface="標楷體" panose="03000509000000000000" pitchFamily="65" charset="-120"/>
                <a:cs typeface="Times New Roman" panose="02020603050405020304" pitchFamily="18" charset="0"/>
              </a:rPr>
              <a:t>說明</a:t>
            </a:r>
            <a:endParaRPr lang="en-US" altLang="zh-TW" dirty="0" smtClean="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dirty="0" smtClean="0">
                <a:latin typeface="Times New Roman" panose="02020603050405020304" pitchFamily="18" charset="0"/>
                <a:ea typeface="標楷體" panose="03000509000000000000" pitchFamily="65" charset="-120"/>
                <a:cs typeface="Times New Roman" panose="02020603050405020304" pitchFamily="18" charset="0"/>
              </a:rPr>
              <a:t>C00103</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電腦作業實施維護辦法</a:t>
            </a:r>
          </a:p>
        </p:txBody>
      </p:sp>
      <p:sp>
        <p:nvSpPr>
          <p:cNvPr id="5" name="標題 3"/>
          <p:cNvSpPr>
            <a:spLocks noGrp="1"/>
          </p:cNvSpPr>
          <p:nvPr/>
        </p:nvSpPr>
        <p:spPr>
          <a:xfrm>
            <a:off x="929640" y="2441448"/>
            <a:ext cx="10332720" cy="1814730"/>
          </a:xfrm>
          <a:prstGeom prst="rect">
            <a:avLst/>
          </a:prstGeom>
        </p:spPr>
        <p:txBody>
          <a:bodyPr vert="horz" lIns="91440" tIns="45720" rIns="91440" bIns="45720" rtlCol="0" anchor="t">
            <a:normAutofit/>
          </a:bodyPr>
          <a:lstStyle>
            <a:lvl1pPr algn="ctr" defTabSz="685783" rtl="0" eaLnBrk="1" latinLnBrk="0" hangingPunct="1">
              <a:lnSpc>
                <a:spcPct val="90000"/>
              </a:lnSpc>
              <a:spcBef>
                <a:spcPct val="0"/>
              </a:spcBef>
              <a:buNone/>
              <a:defRPr lang="en-US" sz="3600" kern="1200" cap="all" spc="113" baseline="0" dirty="0">
                <a:solidFill>
                  <a:schemeClr val="tx1">
                    <a:lumMod val="75000"/>
                    <a:lumOff val="25000"/>
                  </a:schemeClr>
                </a:solidFill>
                <a:latin typeface="標楷體" panose="03000509000000000000" pitchFamily="65" charset="-120"/>
                <a:ea typeface="標楷體" panose="03000509000000000000" pitchFamily="65" charset="-120"/>
                <a:cs typeface="+mj-cs"/>
              </a:defRPr>
            </a:lvl1pPr>
          </a:lstStyle>
          <a:p>
            <a:pPr>
              <a:lnSpc>
                <a:spcPct val="100000"/>
              </a:lnSpc>
              <a:spcBef>
                <a:spcPts val="0"/>
              </a:spcBef>
            </a:pPr>
            <a:r>
              <a:rPr lang="zh-TW" altLang="en-US" dirty="0"/>
              <a:t>資訊系統設計</a:t>
            </a:r>
            <a:r>
              <a:rPr lang="zh-TW" altLang="en-US" dirty="0" smtClean="0"/>
              <a:t>程序</a:t>
            </a:r>
            <a:r>
              <a:rPr lang="en-US" altLang="zh-TW" dirty="0" smtClean="0"/>
              <a:t>/</a:t>
            </a:r>
            <a:r>
              <a:rPr lang="zh-TW" altLang="en-US" dirty="0" smtClean="0"/>
              <a:t>實施</a:t>
            </a:r>
            <a:r>
              <a:rPr lang="zh-TW" altLang="en-US" dirty="0">
                <a:latin typeface="Times New Roman" panose="02020603050405020304" pitchFamily="18" charset="0"/>
                <a:cs typeface="Times New Roman" panose="02020603050405020304" pitchFamily="18" charset="0"/>
              </a:rPr>
              <a:t>維護</a:t>
            </a:r>
            <a:r>
              <a:rPr lang="en-US" altLang="zh-TW" dirty="0" smtClean="0">
                <a:latin typeface="Times New Roman" panose="02020603050405020304" pitchFamily="18" charset="0"/>
                <a:cs typeface="Times New Roman" panose="02020603050405020304" pitchFamily="18" charset="0"/>
              </a:rPr>
              <a:t/>
            </a:r>
            <a:br>
              <a:rPr lang="en-US" altLang="zh-TW" dirty="0" smtClean="0">
                <a:latin typeface="Times New Roman" panose="02020603050405020304" pitchFamily="18" charset="0"/>
                <a:cs typeface="Times New Roman" panose="02020603050405020304" pitchFamily="18" charset="0"/>
              </a:rPr>
            </a:br>
            <a:r>
              <a:rPr lang="zh-TW" altLang="en-US" dirty="0">
                <a:latin typeface="Times New Roman" panose="02020603050405020304" pitchFamily="18" charset="0"/>
                <a:cs typeface="Times New Roman" panose="02020603050405020304" pitchFamily="18" charset="0"/>
              </a:rPr>
              <a:t>電腦作業相關維護工作</a:t>
            </a:r>
            <a:endParaRPr lang="zh-TW" altLang="en-US" dirty="0"/>
          </a:p>
        </p:txBody>
      </p:sp>
    </p:spTree>
    <p:extLst>
      <p:ext uri="{BB962C8B-B14F-4D97-AF65-F5344CB8AC3E}">
        <p14:creationId xmlns:p14="http://schemas.microsoft.com/office/powerpoint/2010/main" val="22786318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實施</a:t>
            </a:r>
            <a:r>
              <a:rPr lang="zh-TW" altLang="en-US" dirty="0" smtClean="0">
                <a:latin typeface="Times New Roman" panose="02020603050405020304" pitchFamily="18" charset="0"/>
                <a:cs typeface="Times New Roman" panose="02020603050405020304" pitchFamily="18" charset="0"/>
              </a:rPr>
              <a:t>維護</a:t>
            </a:r>
            <a:r>
              <a:rPr lang="en-US" altLang="zh-TW" dirty="0" smtClean="0">
                <a:latin typeface="Times New Roman" panose="02020603050405020304" pitchFamily="18" charset="0"/>
                <a:cs typeface="Times New Roman" panose="02020603050405020304" pitchFamily="18" charset="0"/>
              </a:rPr>
              <a:t>/</a:t>
            </a:r>
            <a:r>
              <a:rPr lang="zh-TW" altLang="en-US" dirty="0" smtClean="0"/>
              <a:t>作業實施</a:t>
            </a:r>
            <a:endParaRPr lang="zh-TW" altLang="en-US" dirty="0"/>
          </a:p>
        </p:txBody>
      </p:sp>
    </p:spTree>
    <p:extLst>
      <p:ext uri="{BB962C8B-B14F-4D97-AF65-F5344CB8AC3E}">
        <p14:creationId xmlns:p14="http://schemas.microsoft.com/office/powerpoint/2010/main" val="25169019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資訊系統設計</a:t>
            </a:r>
            <a:r>
              <a:rPr lang="zh-TW" altLang="en-US" dirty="0" smtClean="0"/>
              <a:t>程序</a:t>
            </a:r>
            <a:endParaRPr lang="zh-TW" altLang="en-US"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3</a:t>
            </a:fld>
            <a:endParaRPr lang="zh-TW" altLang="en-US" dirty="0"/>
          </a:p>
        </p:txBody>
      </p:sp>
      <p:grpSp>
        <p:nvGrpSpPr>
          <p:cNvPr id="40" name="群組 39"/>
          <p:cNvGrpSpPr/>
          <p:nvPr/>
        </p:nvGrpSpPr>
        <p:grpSpPr>
          <a:xfrm>
            <a:off x="1301768" y="1600442"/>
            <a:ext cx="2880000" cy="2020582"/>
            <a:chOff x="1330011" y="2219559"/>
            <a:chExt cx="2880000" cy="1334296"/>
          </a:xfrm>
        </p:grpSpPr>
        <p:sp>
          <p:nvSpPr>
            <p:cNvPr id="41" name="圓角矩形 40"/>
            <p:cNvSpPr/>
            <p:nvPr/>
          </p:nvSpPr>
          <p:spPr>
            <a:xfrm>
              <a:off x="1330011" y="2219559"/>
              <a:ext cx="2880000" cy="1334296"/>
            </a:xfrm>
            <a:prstGeom prst="roundRect">
              <a:avLst>
                <a:gd name="adj" fmla="val 9215"/>
              </a:avLst>
            </a:prstGeom>
            <a:no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0" rIns="137160" bIns="136800" numCol="1" spcCol="1270" rtlCol="0" anchor="t" anchorCtr="0">
              <a:noAutofit/>
            </a:bodyPr>
            <a:lstStyle/>
            <a:p>
              <a:pPr lvl="0" algn="ctr" defTabSz="1600200">
                <a:spcBef>
                  <a:spcPct val="0"/>
                </a:spcBef>
              </a:pPr>
              <a:r>
                <a:rPr lang="zh-TW" altLang="en-US" sz="28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制度設計</a:t>
              </a:r>
            </a:p>
            <a:p>
              <a:pPr algn="ctr" defTabSz="1600200">
                <a:spcBef>
                  <a:spcPct val="0"/>
                </a:spcBef>
              </a:pPr>
              <a:endParaRPr lang="zh-TW" altLang="en-US" sz="3600" kern="12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2" name="手繪多邊形 41"/>
            <p:cNvSpPr/>
            <p:nvPr/>
          </p:nvSpPr>
          <p:spPr>
            <a:xfrm>
              <a:off x="1427307" y="2654477"/>
              <a:ext cx="2700000" cy="645262"/>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lumMod val="95000"/>
              </a:schemeClr>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4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編寫原則</a:t>
              </a:r>
              <a:endParaRPr lang="zh-TW" altLang="en-US" sz="24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grpSp>
        <p:nvGrpSpPr>
          <p:cNvPr id="43" name="群組 42"/>
          <p:cNvGrpSpPr/>
          <p:nvPr/>
        </p:nvGrpSpPr>
        <p:grpSpPr>
          <a:xfrm>
            <a:off x="4493738" y="1577650"/>
            <a:ext cx="2880000" cy="4752000"/>
            <a:chOff x="4408551" y="1647100"/>
            <a:chExt cx="2880000" cy="4752000"/>
          </a:xfrm>
        </p:grpSpPr>
        <p:sp>
          <p:nvSpPr>
            <p:cNvPr id="44" name="圓角矩形 43"/>
            <p:cNvSpPr/>
            <p:nvPr/>
          </p:nvSpPr>
          <p:spPr>
            <a:xfrm>
              <a:off x="4408551" y="1647100"/>
              <a:ext cx="2880000" cy="4752000"/>
            </a:xfrm>
            <a:prstGeom prst="roundRect">
              <a:avLst>
                <a:gd name="adj" fmla="val 4276"/>
              </a:avLst>
            </a:prstGeom>
            <a:noFill/>
            <a:ln w="19050">
              <a:solidFill>
                <a:schemeClr val="accent1"/>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0" rIns="137160" bIns="136800" numCol="1" spcCol="1270" rtlCol="0" anchor="t" anchorCtr="0">
              <a:noAutofit/>
            </a:bodyPr>
            <a:lstStyle/>
            <a:p>
              <a:pPr lvl="0" algn="ctr" defTabSz="1600200">
                <a:lnSpc>
                  <a:spcPct val="90000"/>
                </a:lnSpc>
                <a:spcBef>
                  <a:spcPct val="0"/>
                </a:spcBef>
                <a:spcAft>
                  <a:spcPct val="35000"/>
                </a:spcAft>
              </a:pPr>
              <a:r>
                <a:rPr lang="zh-TW" altLang="en-US" sz="28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程式設計</a:t>
              </a:r>
              <a:endParaRPr lang="en-US" altLang="zh-TW" sz="28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5" name="手繪多邊形 44"/>
            <p:cNvSpPr/>
            <p:nvPr/>
          </p:nvSpPr>
          <p:spPr>
            <a:xfrm>
              <a:off x="4494720" y="2140271"/>
              <a:ext cx="2700000" cy="2004992"/>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lumMod val="95000"/>
              </a:schemeClr>
            </a:solidFill>
            <a:ln>
              <a:no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13963" tIns="96183" rIns="113963" bIns="96183" numCol="1" spcCol="1270" anchor="t" anchorCtr="0">
              <a:noAutofit/>
            </a:bodyPr>
            <a:lstStyle/>
            <a:p>
              <a:pPr lvl="0" algn="ctr" defTabSz="1244600">
                <a:lnSpc>
                  <a:spcPct val="90000"/>
                </a:lnSpc>
                <a:spcBef>
                  <a:spcPct val="0"/>
                </a:spcBef>
                <a:spcAft>
                  <a:spcPct val="35000"/>
                </a:spcAft>
              </a:pPr>
              <a:r>
                <a:rPr lang="zh-TW" altLang="en-US" sz="24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履歷建立</a:t>
              </a:r>
              <a:endParaRPr lang="zh-TW" altLang="en-US" sz="24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6" name="手繪多邊形 45"/>
            <p:cNvSpPr/>
            <p:nvPr/>
          </p:nvSpPr>
          <p:spPr>
            <a:xfrm>
              <a:off x="4494720" y="4206931"/>
              <a:ext cx="2700000" cy="2031823"/>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3963" tIns="96183" rIns="113963" bIns="96183" numCol="1" spcCol="1270" anchor="t" anchorCtr="0">
              <a:noAutofit/>
            </a:bodyPr>
            <a:lstStyle/>
            <a:p>
              <a:pPr lvl="0" algn="ctr" defTabSz="1244600">
                <a:lnSpc>
                  <a:spcPct val="90000"/>
                </a:lnSpc>
                <a:spcBef>
                  <a:spcPct val="0"/>
                </a:spcBef>
                <a:spcAft>
                  <a:spcPct val="35000"/>
                </a:spcAft>
              </a:pPr>
              <a:r>
                <a:rPr lang="zh-TW" altLang="en-US" sz="24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程式開發</a:t>
              </a:r>
              <a:endParaRPr lang="zh-TW" altLang="en-US" sz="24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7" name="手繪多邊形 46"/>
            <p:cNvSpPr/>
            <p:nvPr/>
          </p:nvSpPr>
          <p:spPr>
            <a:xfrm>
              <a:off x="5083157" y="2565978"/>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w="12700">
              <a:solidFill>
                <a:schemeClr val="bg1">
                  <a:lumMod val="85000"/>
                </a:schemeClr>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基礎建檔</a:t>
              </a:r>
              <a:endParaRPr lang="zh-TW" altLang="en-US" sz="20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8" name="手繪多邊形 47"/>
            <p:cNvSpPr/>
            <p:nvPr/>
          </p:nvSpPr>
          <p:spPr>
            <a:xfrm>
              <a:off x="5083157" y="3048911"/>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w="12700">
              <a:solidFill>
                <a:schemeClr val="bg1">
                  <a:lumMod val="85000"/>
                </a:schemeClr>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帳號申請</a:t>
              </a:r>
              <a:endParaRPr lang="zh-TW" altLang="en-US" sz="20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9" name="手繪多邊形 48"/>
            <p:cNvSpPr/>
            <p:nvPr/>
          </p:nvSpPr>
          <p:spPr>
            <a:xfrm>
              <a:off x="5135974" y="5719081"/>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w="12700">
              <a:solidFill>
                <a:schemeClr val="bg1">
                  <a:lumMod val="85000"/>
                </a:schemeClr>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設計規範</a:t>
              </a:r>
              <a:endParaRPr lang="zh-TW" altLang="en-US" sz="20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0" name="手繪多邊形 49"/>
            <p:cNvSpPr/>
            <p:nvPr/>
          </p:nvSpPr>
          <p:spPr>
            <a:xfrm>
              <a:off x="5124720" y="4708679"/>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w="12700">
              <a:solidFill>
                <a:schemeClr val="bg1">
                  <a:lumMod val="85000"/>
                </a:schemeClr>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資料字典</a:t>
              </a:r>
              <a:endParaRPr lang="zh-TW" altLang="en-US" sz="20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51" name="圓角矩形 50"/>
          <p:cNvSpPr/>
          <p:nvPr/>
        </p:nvSpPr>
        <p:spPr>
          <a:xfrm>
            <a:off x="7697884" y="1579445"/>
            <a:ext cx="2880000" cy="4750205"/>
          </a:xfrm>
          <a:prstGeom prst="roundRect">
            <a:avLst>
              <a:gd name="adj" fmla="val 4276"/>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0" rIns="137160" bIns="136800" numCol="1" spcCol="1270" rtlCol="0" anchor="t" anchorCtr="0">
            <a:noAutofit/>
          </a:bodyPr>
          <a:lstStyle/>
          <a:p>
            <a:pPr lvl="0" algn="ctr" defTabSz="1600200">
              <a:lnSpc>
                <a:spcPct val="90000"/>
              </a:lnSpc>
              <a:spcBef>
                <a:spcPct val="0"/>
              </a:spcBef>
              <a:spcAft>
                <a:spcPct val="35000"/>
              </a:spcAft>
            </a:pPr>
            <a:r>
              <a:rPr lang="zh-TW" altLang="en-US" sz="28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endParaRPr lang="en-US" altLang="zh-TW" sz="28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52" name="群組 51"/>
          <p:cNvGrpSpPr/>
          <p:nvPr/>
        </p:nvGrpSpPr>
        <p:grpSpPr>
          <a:xfrm>
            <a:off x="7787884" y="2070821"/>
            <a:ext cx="2700000" cy="2004992"/>
            <a:chOff x="7739739" y="2140271"/>
            <a:chExt cx="2700000" cy="2004992"/>
          </a:xfrm>
        </p:grpSpPr>
        <p:sp>
          <p:nvSpPr>
            <p:cNvPr id="53" name="手繪多邊形 52"/>
            <p:cNvSpPr/>
            <p:nvPr/>
          </p:nvSpPr>
          <p:spPr>
            <a:xfrm>
              <a:off x="7739739" y="2140271"/>
              <a:ext cx="2700000" cy="2004992"/>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accent4">
                <a:lumMod val="20000"/>
                <a:lumOff val="80000"/>
              </a:schemeClr>
            </a:solidFill>
            <a:ln>
              <a:noFill/>
            </a:ln>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13963" tIns="96183" rIns="113963" bIns="96183" numCol="1" spcCol="1270" anchor="t" anchorCtr="0">
              <a:noAutofit/>
            </a:bodyPr>
            <a:lstStyle/>
            <a:p>
              <a:pPr lvl="0" algn="ctr" defTabSz="1244600">
                <a:lnSpc>
                  <a:spcPct val="90000"/>
                </a:lnSpc>
                <a:spcBef>
                  <a:spcPct val="0"/>
                </a:spcBef>
                <a:spcAft>
                  <a:spcPct val="35000"/>
                </a:spcAft>
              </a:pPr>
              <a:r>
                <a:rPr lang="zh-TW" altLang="en-US" sz="24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作業實施</a:t>
              </a:r>
              <a:endParaRPr lang="zh-TW" altLang="en-US" sz="24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4" name="手繪多邊形 53"/>
            <p:cNvSpPr/>
            <p:nvPr/>
          </p:nvSpPr>
          <p:spPr>
            <a:xfrm>
              <a:off x="8369739" y="2570083"/>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程式派送</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5" name="手繪多邊形 54"/>
            <p:cNvSpPr/>
            <p:nvPr/>
          </p:nvSpPr>
          <p:spPr>
            <a:xfrm>
              <a:off x="8369739" y="3067361"/>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排程申請</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6" name="手繪多邊形 55"/>
            <p:cNvSpPr/>
            <p:nvPr/>
          </p:nvSpPr>
          <p:spPr>
            <a:xfrm>
              <a:off x="8369739" y="3562999"/>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安裝確認</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grpSp>
        <p:nvGrpSpPr>
          <p:cNvPr id="57" name="群組 56"/>
          <p:cNvGrpSpPr/>
          <p:nvPr/>
        </p:nvGrpSpPr>
        <p:grpSpPr>
          <a:xfrm>
            <a:off x="7787884" y="4137481"/>
            <a:ext cx="2700000" cy="2031823"/>
            <a:chOff x="7739739" y="4206931"/>
            <a:chExt cx="2700000" cy="2031823"/>
          </a:xfrm>
        </p:grpSpPr>
        <p:sp>
          <p:nvSpPr>
            <p:cNvPr id="58" name="手繪多邊形 57"/>
            <p:cNvSpPr/>
            <p:nvPr/>
          </p:nvSpPr>
          <p:spPr>
            <a:xfrm>
              <a:off x="7739739" y="4206931"/>
              <a:ext cx="2700000" cy="2031823"/>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accent4">
                <a:lumMod val="20000"/>
                <a:lumOff val="80000"/>
              </a:schemeClr>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t" anchorCtr="0">
              <a:noAutofit/>
            </a:bodyPr>
            <a:lstStyle/>
            <a:p>
              <a:pPr lvl="0" algn="ctr" defTabSz="1244600">
                <a:lnSpc>
                  <a:spcPct val="90000"/>
                </a:lnSpc>
                <a:spcBef>
                  <a:spcPct val="0"/>
                </a:spcBef>
                <a:spcAft>
                  <a:spcPct val="35000"/>
                </a:spcAft>
              </a:pPr>
              <a:r>
                <a:rPr lang="zh-TW" altLang="en-US" sz="24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作業維護</a:t>
              </a:r>
              <a:endParaRPr lang="zh-TW" altLang="en-US" sz="24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9" name="手繪多邊形 58"/>
            <p:cNvSpPr/>
            <p:nvPr/>
          </p:nvSpPr>
          <p:spPr>
            <a:xfrm>
              <a:off x="7809793" y="4680000"/>
              <a:ext cx="126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異常管理</a:t>
              </a:r>
            </a:p>
          </p:txBody>
        </p:sp>
        <p:sp>
          <p:nvSpPr>
            <p:cNvPr id="60" name="手繪多邊形 59"/>
            <p:cNvSpPr/>
            <p:nvPr/>
          </p:nvSpPr>
          <p:spPr>
            <a:xfrm>
              <a:off x="7808400" y="5176267"/>
              <a:ext cx="126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欄位異動</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1" name="手繪多邊形 60"/>
            <p:cNvSpPr/>
            <p:nvPr/>
          </p:nvSpPr>
          <p:spPr>
            <a:xfrm>
              <a:off x="7808400" y="5667416"/>
              <a:ext cx="126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自主檢查</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2" name="手繪多邊形 61"/>
            <p:cNvSpPr/>
            <p:nvPr/>
          </p:nvSpPr>
          <p:spPr>
            <a:xfrm>
              <a:off x="9108000" y="4680000"/>
              <a:ext cx="126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帳號管理</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3" name="手繪多邊形 62"/>
            <p:cNvSpPr/>
            <p:nvPr/>
          </p:nvSpPr>
          <p:spPr>
            <a:xfrm>
              <a:off x="9108000" y="5176267"/>
              <a:ext cx="126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磁碟</a:t>
              </a: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管理</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4" name="手繪多邊形 63"/>
            <p:cNvSpPr/>
            <p:nvPr/>
          </p:nvSpPr>
          <p:spPr>
            <a:xfrm>
              <a:off x="9108000" y="5670828"/>
              <a:ext cx="126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a:solidFill>
                <a:schemeClr val="accent4"/>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endParaRPr lang="zh-TW" altLang="en-US" sz="2000" kern="12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grpSp>
        <p:nvGrpSpPr>
          <p:cNvPr id="65" name="群組 64"/>
          <p:cNvGrpSpPr/>
          <p:nvPr/>
        </p:nvGrpSpPr>
        <p:grpSpPr>
          <a:xfrm>
            <a:off x="1298542" y="3937084"/>
            <a:ext cx="2880000" cy="2392566"/>
            <a:chOff x="1326785" y="3643049"/>
            <a:chExt cx="2880000" cy="1334296"/>
          </a:xfrm>
        </p:grpSpPr>
        <p:sp>
          <p:nvSpPr>
            <p:cNvPr id="66" name="圓角矩形 65"/>
            <p:cNvSpPr/>
            <p:nvPr/>
          </p:nvSpPr>
          <p:spPr>
            <a:xfrm>
              <a:off x="1326785" y="3643049"/>
              <a:ext cx="2880000" cy="1334296"/>
            </a:xfrm>
            <a:prstGeom prst="roundRect">
              <a:avLst>
                <a:gd name="adj" fmla="val 9215"/>
              </a:avLst>
            </a:prstGeom>
            <a:no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0" rIns="137160" bIns="136800" numCol="1" spcCol="1270" rtlCol="0" anchor="t" anchorCtr="0">
              <a:noAutofit/>
            </a:bodyPr>
            <a:lstStyle/>
            <a:p>
              <a:pPr lvl="0" algn="ctr" defTabSz="1600200">
                <a:spcBef>
                  <a:spcPct val="0"/>
                </a:spcBef>
              </a:pPr>
              <a:r>
                <a:rPr lang="zh-TW" altLang="en-US" sz="28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a:t>
              </a:r>
              <a:r>
                <a:rPr lang="zh-TW" altLang="en-US" sz="28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sz="28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a:p>
              <a:pPr algn="ctr" defTabSz="1600200">
                <a:spcBef>
                  <a:spcPct val="0"/>
                </a:spcBef>
              </a:pPr>
              <a:endParaRPr lang="zh-TW" altLang="en-US" sz="3600" kern="12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7" name="手繪多邊形 66"/>
            <p:cNvSpPr/>
            <p:nvPr/>
          </p:nvSpPr>
          <p:spPr>
            <a:xfrm>
              <a:off x="1424081" y="4034624"/>
              <a:ext cx="2700000" cy="645262"/>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lumMod val="95000"/>
              </a:schemeClr>
            </a:solidFill>
            <a:ln>
              <a:solidFill>
                <a:schemeClr val="bg1">
                  <a:lumMod val="95000"/>
                </a:schemeClr>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4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系統文件</a:t>
              </a:r>
              <a:endParaRPr lang="zh-TW" altLang="en-US" sz="2400" kern="1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68" name="向下箭號 67"/>
          <p:cNvSpPr/>
          <p:nvPr/>
        </p:nvSpPr>
        <p:spPr>
          <a:xfrm>
            <a:off x="2483899" y="3632840"/>
            <a:ext cx="509286" cy="299535"/>
          </a:xfrm>
          <a:prstGeom prst="downArrow">
            <a:avLst/>
          </a:prstGeom>
          <a:solidFill>
            <a:schemeClr val="bg1">
              <a:lumMod val="95000"/>
            </a:schemeClr>
          </a:solidFill>
          <a:ln>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p>
            <a:pPr algn="ctr" defTabSz="1600200">
              <a:spcBef>
                <a:spcPct val="0"/>
              </a:spcBef>
            </a:pPr>
            <a:endParaRPr lang="zh-TW" altLang="en-US" sz="3600" kern="1200" dirty="0" smtClean="0">
              <a:ln>
                <a:solidFill>
                  <a:schemeClr val="accent6"/>
                </a:solidFill>
              </a:ln>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9" name="向下箭號 68"/>
          <p:cNvSpPr/>
          <p:nvPr/>
        </p:nvSpPr>
        <p:spPr>
          <a:xfrm rot="-5400000">
            <a:off x="4077731" y="3961095"/>
            <a:ext cx="509286" cy="299535"/>
          </a:xfrm>
          <a:prstGeom prst="downArrow">
            <a:avLst/>
          </a:prstGeom>
          <a:solidFill>
            <a:schemeClr val="bg1">
              <a:lumMod val="95000"/>
            </a:schemeClr>
          </a:solidFill>
          <a:ln>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p>
            <a:pPr algn="ctr" defTabSz="1600200">
              <a:spcBef>
                <a:spcPct val="0"/>
              </a:spcBef>
            </a:pPr>
            <a:endParaRPr lang="zh-TW" altLang="en-US" sz="3600" kern="1200" dirty="0" smtClean="0">
              <a:ln>
                <a:solidFill>
                  <a:schemeClr val="accent6"/>
                </a:solidFill>
              </a:ln>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0" name="向下箭號 69"/>
          <p:cNvSpPr/>
          <p:nvPr/>
        </p:nvSpPr>
        <p:spPr>
          <a:xfrm rot="-5400000">
            <a:off x="7275191" y="3961095"/>
            <a:ext cx="509286" cy="299535"/>
          </a:xfrm>
          <a:prstGeom prst="downArrow">
            <a:avLst/>
          </a:prstGeom>
          <a:solidFill>
            <a:schemeClr val="bg1">
              <a:lumMod val="95000"/>
            </a:schemeClr>
          </a:solidFill>
          <a:ln>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p>
            <a:pPr algn="ctr" defTabSz="1600200">
              <a:spcBef>
                <a:spcPct val="0"/>
              </a:spcBef>
            </a:pPr>
            <a:endParaRPr lang="zh-TW" altLang="en-US" sz="3600" kern="1200" dirty="0" smtClean="0">
              <a:ln>
                <a:solidFill>
                  <a:schemeClr val="accent6"/>
                </a:solidFill>
              </a:ln>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5" name="手繪多邊形 34"/>
          <p:cNvSpPr/>
          <p:nvPr/>
        </p:nvSpPr>
        <p:spPr>
          <a:xfrm>
            <a:off x="5225427" y="5147883"/>
            <a:ext cx="1440000" cy="452679"/>
          </a:xfrm>
          <a:custGeom>
            <a:avLst/>
            <a:gdLst>
              <a:gd name="connsiteX0" fmla="*/ 0 w 2617576"/>
              <a:gd name="connsiteY0" fmla="*/ 146276 h 1462763"/>
              <a:gd name="connsiteX1" fmla="*/ 146276 w 2617576"/>
              <a:gd name="connsiteY1" fmla="*/ 0 h 1462763"/>
              <a:gd name="connsiteX2" fmla="*/ 2471300 w 2617576"/>
              <a:gd name="connsiteY2" fmla="*/ 0 h 1462763"/>
              <a:gd name="connsiteX3" fmla="*/ 2617576 w 2617576"/>
              <a:gd name="connsiteY3" fmla="*/ 146276 h 1462763"/>
              <a:gd name="connsiteX4" fmla="*/ 2617576 w 2617576"/>
              <a:gd name="connsiteY4" fmla="*/ 1316487 h 1462763"/>
              <a:gd name="connsiteX5" fmla="*/ 2471300 w 2617576"/>
              <a:gd name="connsiteY5" fmla="*/ 1462763 h 1462763"/>
              <a:gd name="connsiteX6" fmla="*/ 146276 w 2617576"/>
              <a:gd name="connsiteY6" fmla="*/ 1462763 h 1462763"/>
              <a:gd name="connsiteX7" fmla="*/ 0 w 2617576"/>
              <a:gd name="connsiteY7" fmla="*/ 1316487 h 1462763"/>
              <a:gd name="connsiteX8" fmla="*/ 0 w 2617576"/>
              <a:gd name="connsiteY8" fmla="*/ 146276 h 146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7576" h="1462763">
                <a:moveTo>
                  <a:pt x="0" y="146276"/>
                </a:moveTo>
                <a:cubicBezTo>
                  <a:pt x="0" y="65490"/>
                  <a:pt x="65490" y="0"/>
                  <a:pt x="146276" y="0"/>
                </a:cubicBezTo>
                <a:lnTo>
                  <a:pt x="2471300" y="0"/>
                </a:lnTo>
                <a:cubicBezTo>
                  <a:pt x="2552086" y="0"/>
                  <a:pt x="2617576" y="65490"/>
                  <a:pt x="2617576" y="146276"/>
                </a:cubicBezTo>
                <a:lnTo>
                  <a:pt x="2617576" y="1316487"/>
                </a:lnTo>
                <a:cubicBezTo>
                  <a:pt x="2617576" y="1397273"/>
                  <a:pt x="2552086" y="1462763"/>
                  <a:pt x="2471300" y="1462763"/>
                </a:cubicBezTo>
                <a:lnTo>
                  <a:pt x="146276" y="1462763"/>
                </a:lnTo>
                <a:cubicBezTo>
                  <a:pt x="65490" y="1462763"/>
                  <a:pt x="0" y="1397273"/>
                  <a:pt x="0" y="1316487"/>
                </a:cubicBezTo>
                <a:lnTo>
                  <a:pt x="0" y="146276"/>
                </a:lnTo>
                <a:close/>
              </a:path>
            </a:pathLst>
          </a:custGeom>
          <a:solidFill>
            <a:schemeClr val="bg1"/>
          </a:solidFill>
          <a:ln w="12700">
            <a:solidFill>
              <a:schemeClr val="bg1">
                <a:lumMod val="85000"/>
              </a:schemeClr>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13963" tIns="96183" rIns="113963" bIns="96183" numCol="1" spcCol="1270" anchor="ctr" anchorCtr="0">
            <a:noAutofit/>
          </a:bodyPr>
          <a:lstStyle/>
          <a:p>
            <a:pPr lvl="0" algn="ctr" defTabSz="1244600">
              <a:lnSpc>
                <a:spcPct val="90000"/>
              </a:lnSpc>
              <a:spcBef>
                <a:spcPct val="0"/>
              </a:spcBef>
              <a:spcAft>
                <a:spcPct val="35000"/>
              </a:spcAft>
            </a:pPr>
            <a:r>
              <a:rPr lang="zh-TW" altLang="en-US" sz="20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授權申請</a:t>
            </a:r>
            <a:endParaRPr lang="en-US" altLang="zh-TW" sz="20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4558695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應用程式修改派送申請單</a:t>
            </a:r>
            <a:endParaRPr lang="zh-TW" altLang="en-US" dirty="0"/>
          </a:p>
        </p:txBody>
      </p:sp>
      <p:sp>
        <p:nvSpPr>
          <p:cNvPr id="5" name="內容版面配置區 4"/>
          <p:cNvSpPr>
            <a:spLocks noGrp="1"/>
          </p:cNvSpPr>
          <p:nvPr>
            <p:ph sz="half" idx="2"/>
          </p:nvPr>
        </p:nvSpPr>
        <p:spPr/>
        <p:txBody>
          <a:bodyPr>
            <a:normAutofit/>
          </a:bodyPr>
          <a:lstStyle/>
          <a:p>
            <a:pPr>
              <a:spcBef>
                <a:spcPts val="0"/>
              </a:spcBef>
            </a:pPr>
            <a:r>
              <a:rPr lang="zh-TW" altLang="en-US" sz="2400" dirty="0" smtClean="0"/>
              <a:t>程式人員填寫派送申請單，經主管覆核後將增修後程式派送上線。</a:t>
            </a:r>
            <a:endParaRPr lang="en-US" altLang="zh-TW" sz="2400" dirty="0" smtClean="0"/>
          </a:p>
          <a:p>
            <a:pPr>
              <a:spcBef>
                <a:spcPts val="0"/>
              </a:spcBef>
            </a:pPr>
            <a:r>
              <a:rPr lang="zh-TW" altLang="en-US" sz="2400" dirty="0" smtClean="0"/>
              <a:t>可配合制度人員發送公佈函指定上線日期申請派送</a:t>
            </a:r>
            <a:r>
              <a:rPr lang="zh-TW" altLang="en-US" sz="2400" dirty="0"/>
              <a:t>上線</a:t>
            </a:r>
            <a:r>
              <a:rPr lang="zh-TW" altLang="en-US" sz="2400" dirty="0" smtClean="0"/>
              <a:t>。</a:t>
            </a:r>
            <a:endParaRPr lang="en-US" altLang="zh-TW" sz="2400" dirty="0" smtClean="0"/>
          </a:p>
          <a:p>
            <a:pPr>
              <a:spcBef>
                <a:spcPts val="0"/>
              </a:spcBef>
            </a:pPr>
            <a:r>
              <a:rPr lang="zh-TW" altLang="en-US" sz="2400" dirty="0" smtClean="0"/>
              <a:t>程式人員當月派送結果會連結程式人員工作評核。</a:t>
            </a:r>
            <a:endParaRPr lang="en-US" altLang="zh-TW" sz="2400" dirty="0" smtClean="0"/>
          </a:p>
          <a:p>
            <a:endParaRPr lang="zh-TW" altLang="en-US" sz="2400" dirty="0"/>
          </a:p>
        </p:txBody>
      </p:sp>
      <p:sp>
        <p:nvSpPr>
          <p:cNvPr id="3" name="投影片編號版面配置區 2"/>
          <p:cNvSpPr>
            <a:spLocks noGrp="1"/>
          </p:cNvSpPr>
          <p:nvPr>
            <p:ph type="sldNum" sz="quarter" idx="29"/>
          </p:nvPr>
        </p:nvSpPr>
        <p:spPr/>
        <p:txBody>
          <a:bodyPr/>
          <a:lstStyle/>
          <a:p>
            <a:fld id="{B5CEABB6-07DC-46E8-9B57-56EC44A396E5}" type="slidenum">
              <a:rPr lang="en-US" altLang="zh-TW" smtClean="0"/>
              <a:pPr/>
              <a:t>4</a:t>
            </a:fld>
            <a:endParaRPr lang="zh-TW" altLang="en-US" dirty="0"/>
          </a:p>
        </p:txBody>
      </p:sp>
      <p:pic>
        <p:nvPicPr>
          <p:cNvPr id="4" name="圖片 3"/>
          <p:cNvPicPr>
            <a:picLocks noChangeAspect="1"/>
          </p:cNvPicPr>
          <p:nvPr/>
        </p:nvPicPr>
        <p:blipFill rotWithShape="1">
          <a:blip r:embed="rId2"/>
          <a:srcRect b="10387"/>
          <a:stretch/>
        </p:blipFill>
        <p:spPr>
          <a:xfrm>
            <a:off x="1277115" y="2528328"/>
            <a:ext cx="8324085" cy="4101072"/>
          </a:xfrm>
          <a:prstGeom prst="rect">
            <a:avLst/>
          </a:prstGeom>
        </p:spPr>
      </p:pic>
      <p:grpSp>
        <p:nvGrpSpPr>
          <p:cNvPr id="12" name="群組 11"/>
          <p:cNvGrpSpPr/>
          <p:nvPr/>
        </p:nvGrpSpPr>
        <p:grpSpPr>
          <a:xfrm>
            <a:off x="1509918" y="943716"/>
            <a:ext cx="8861267" cy="310896"/>
            <a:chOff x="1554480" y="2160000"/>
            <a:chExt cx="8861267" cy="310896"/>
          </a:xfrm>
          <a:solidFill>
            <a:schemeClr val="bg1"/>
          </a:solidFill>
        </p:grpSpPr>
        <p:sp>
          <p:nvSpPr>
            <p:cNvPr id="13" name="圓角矩形 12"/>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圓角矩形 13"/>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5" name="圓角矩形 14"/>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圓角矩形 15"/>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程式派送</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向右箭號 16"/>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向右箭號 17"/>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向右箭號 18"/>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15697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ERP</a:t>
            </a:r>
            <a:r>
              <a:rPr lang="zh-TW" altLang="en-US" dirty="0">
                <a:latin typeface="Times New Roman" panose="02020603050405020304" pitchFamily="18" charset="0"/>
                <a:cs typeface="Times New Roman" panose="02020603050405020304" pitchFamily="18" charset="0"/>
              </a:rPr>
              <a:t>作業原始程式版本查詢及下載</a:t>
            </a:r>
          </a:p>
        </p:txBody>
      </p:sp>
      <p:sp>
        <p:nvSpPr>
          <p:cNvPr id="3" name="內容版面配置區 2"/>
          <p:cNvSpPr>
            <a:spLocks noGrp="1"/>
          </p:cNvSpPr>
          <p:nvPr>
            <p:ph sz="half" idx="2"/>
          </p:nvPr>
        </p:nvSpPr>
        <p:spPr>
          <a:xfrm>
            <a:off x="902195" y="1310793"/>
            <a:ext cx="10309144" cy="984351"/>
          </a:xfrm>
        </p:spPr>
        <p:txBody>
          <a:bodyPr>
            <a:normAutofit/>
          </a:bodyPr>
          <a:lstStyle/>
          <a:p>
            <a:r>
              <a:rPr lang="zh-TW" altLang="en-US" sz="2400" dirty="0" smtClean="0"/>
              <a:t>可依不同需求，包含依作業代號、制度代號、修改依據等，</a:t>
            </a:r>
            <a:r>
              <a:rPr lang="zh-TW" altLang="en-US" sz="2400" dirty="0"/>
              <a:t>查詢</a:t>
            </a:r>
            <a:r>
              <a:rPr lang="zh-TW" altLang="en-US" sz="2400" dirty="0" smtClean="0"/>
              <a:t>程式修改歷程，並能下載各次程式版本。</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5</a:t>
            </a:fld>
            <a:endParaRPr lang="zh-TW" altLang="en-US" dirty="0"/>
          </a:p>
        </p:txBody>
      </p:sp>
      <p:pic>
        <p:nvPicPr>
          <p:cNvPr id="5" name="圖片 4"/>
          <p:cNvPicPr>
            <a:picLocks noChangeAspect="1"/>
          </p:cNvPicPr>
          <p:nvPr/>
        </p:nvPicPr>
        <p:blipFill>
          <a:blip r:embed="rId2"/>
          <a:stretch>
            <a:fillRect/>
          </a:stretch>
        </p:blipFill>
        <p:spPr>
          <a:xfrm>
            <a:off x="1292655" y="2194598"/>
            <a:ext cx="9735010" cy="3739857"/>
          </a:xfrm>
          <a:prstGeom prst="rect">
            <a:avLst/>
          </a:prstGeom>
        </p:spPr>
      </p:pic>
      <p:grpSp>
        <p:nvGrpSpPr>
          <p:cNvPr id="12" name="群組 11"/>
          <p:cNvGrpSpPr/>
          <p:nvPr/>
        </p:nvGrpSpPr>
        <p:grpSpPr>
          <a:xfrm>
            <a:off x="1509918" y="943716"/>
            <a:ext cx="8861267" cy="310896"/>
            <a:chOff x="1554480" y="2160000"/>
            <a:chExt cx="8861267" cy="310896"/>
          </a:xfrm>
          <a:solidFill>
            <a:schemeClr val="bg1"/>
          </a:solidFill>
        </p:grpSpPr>
        <p:sp>
          <p:nvSpPr>
            <p:cNvPr id="13" name="圓角矩形 12"/>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圓角矩形 13"/>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5" name="圓角矩形 14"/>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圓角矩形 15"/>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程式派送</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向右箭號 16"/>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向右箭號 17"/>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向右箭號 18"/>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6680065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電腦作業批次異動申請</a:t>
            </a:r>
            <a:r>
              <a:rPr lang="en-US" altLang="zh-TW" dirty="0"/>
              <a:t>-</a:t>
            </a:r>
            <a:r>
              <a:rPr lang="zh-TW" altLang="en-US" dirty="0"/>
              <a:t>填單</a:t>
            </a:r>
          </a:p>
        </p:txBody>
      </p:sp>
      <p:sp>
        <p:nvSpPr>
          <p:cNvPr id="5" name="內容版面配置區 4"/>
          <p:cNvSpPr>
            <a:spLocks noGrp="1"/>
          </p:cNvSpPr>
          <p:nvPr>
            <p:ph sz="half" idx="2"/>
          </p:nvPr>
        </p:nvSpPr>
        <p:spPr/>
        <p:txBody>
          <a:bodyPr/>
          <a:lstStyle/>
          <a:p>
            <a:pPr>
              <a:spcBef>
                <a:spcPts val="600"/>
              </a:spcBef>
            </a:pPr>
            <a:r>
              <a:rPr lang="zh-TW" altLang="en-US" sz="2400" dirty="0" smtClean="0"/>
              <a:t>電腦作業若需安排自動排程，填寫電腦作業批次申請向</a:t>
            </a:r>
            <a:r>
              <a:rPr lang="zh-TW" altLang="en-US" sz="2400" dirty="0"/>
              <a:t>運轉組</a:t>
            </a:r>
            <a:r>
              <a:rPr lang="zh-TW" altLang="en-US" sz="2400" dirty="0" smtClean="0"/>
              <a:t>申請安排</a:t>
            </a:r>
            <a:r>
              <a:rPr lang="en-US" altLang="zh-TW" sz="2400" dirty="0" smtClean="0"/>
              <a:t>CA</a:t>
            </a:r>
            <a:r>
              <a:rPr lang="zh-TW" altLang="en-US" sz="2400" dirty="0" smtClean="0"/>
              <a:t>自動排程。需註明作業執行時間、週期與結算註記，以及作業關聯。</a:t>
            </a:r>
            <a:endParaRPr lang="en-US" altLang="zh-TW" sz="2400" dirty="0" smtClean="0"/>
          </a:p>
          <a:p>
            <a:pPr>
              <a:spcBef>
                <a:spcPts val="600"/>
              </a:spcBef>
            </a:pPr>
            <a:r>
              <a:rPr lang="zh-TW" altLang="en-US" sz="2400" dirty="0"/>
              <a:t>批次申請傳簽予運轉組，若為結算排程，運轉組需配合修改結算關聯圖。</a:t>
            </a:r>
            <a:endParaRPr lang="en-US" altLang="zh-TW" sz="2400" dirty="0"/>
          </a:p>
          <a:p>
            <a:pPr>
              <a:spcBef>
                <a:spcPts val="600"/>
              </a:spcBef>
            </a:pPr>
            <a:endParaRPr lang="en-US" altLang="zh-TW" sz="2400" dirty="0" smtClean="0"/>
          </a:p>
          <a:p>
            <a:endParaRPr lang="zh-TW" altLang="en-US" dirty="0"/>
          </a:p>
        </p:txBody>
      </p:sp>
      <p:sp>
        <p:nvSpPr>
          <p:cNvPr id="3" name="投影片編號版面配置區 2"/>
          <p:cNvSpPr>
            <a:spLocks noGrp="1"/>
          </p:cNvSpPr>
          <p:nvPr>
            <p:ph type="sldNum" sz="quarter" idx="29"/>
          </p:nvPr>
        </p:nvSpPr>
        <p:spPr/>
        <p:txBody>
          <a:bodyPr/>
          <a:lstStyle/>
          <a:p>
            <a:fld id="{B5CEABB6-07DC-46E8-9B57-56EC44A396E5}" type="slidenum">
              <a:rPr lang="en-US" altLang="zh-TW" smtClean="0"/>
              <a:pPr/>
              <a:t>6</a:t>
            </a:fld>
            <a:endParaRPr lang="zh-TW" altLang="en-US" dirty="0"/>
          </a:p>
        </p:txBody>
      </p:sp>
      <p:pic>
        <p:nvPicPr>
          <p:cNvPr id="4" name="圖片 3"/>
          <p:cNvPicPr>
            <a:picLocks noChangeAspect="1"/>
          </p:cNvPicPr>
          <p:nvPr/>
        </p:nvPicPr>
        <p:blipFill>
          <a:blip r:embed="rId2"/>
          <a:stretch>
            <a:fillRect/>
          </a:stretch>
        </p:blipFill>
        <p:spPr>
          <a:xfrm>
            <a:off x="1263191" y="2743738"/>
            <a:ext cx="6653624" cy="3792114"/>
          </a:xfrm>
          <a:prstGeom prst="rect">
            <a:avLst/>
          </a:prstGeom>
        </p:spPr>
      </p:pic>
      <p:pic>
        <p:nvPicPr>
          <p:cNvPr id="12" name="圖片 11"/>
          <p:cNvPicPr>
            <a:picLocks noChangeAspect="1"/>
          </p:cNvPicPr>
          <p:nvPr/>
        </p:nvPicPr>
        <p:blipFill rotWithShape="1">
          <a:blip r:embed="rId3"/>
          <a:srcRect l="2043" r="2587"/>
          <a:stretch/>
        </p:blipFill>
        <p:spPr>
          <a:xfrm>
            <a:off x="8032830" y="2743738"/>
            <a:ext cx="3981692" cy="3792114"/>
          </a:xfrm>
          <a:prstGeom prst="rect">
            <a:avLst/>
          </a:prstGeom>
        </p:spPr>
      </p:pic>
      <p:grpSp>
        <p:nvGrpSpPr>
          <p:cNvPr id="13" name="群組 12"/>
          <p:cNvGrpSpPr/>
          <p:nvPr/>
        </p:nvGrpSpPr>
        <p:grpSpPr>
          <a:xfrm>
            <a:off x="1509918" y="943716"/>
            <a:ext cx="8861267" cy="310896"/>
            <a:chOff x="1554480" y="2160000"/>
            <a:chExt cx="8861267" cy="310896"/>
          </a:xfrm>
          <a:solidFill>
            <a:schemeClr val="bg1"/>
          </a:solidFill>
        </p:grpSpPr>
        <p:sp>
          <p:nvSpPr>
            <p:cNvPr id="14" name="圓角矩形 13"/>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圓角矩形 14"/>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6" name="圓角矩形 15"/>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圓角矩形 16"/>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排程申請</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向右箭號 17"/>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向右箭號 18"/>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向右箭號 19"/>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37515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結算月報關聯變更</a:t>
            </a:r>
            <a:endParaRPr lang="zh-TW" altLang="en-US" dirty="0"/>
          </a:p>
        </p:txBody>
      </p:sp>
      <p:sp>
        <p:nvSpPr>
          <p:cNvPr id="3" name="內容版面配置區 2"/>
          <p:cNvSpPr>
            <a:spLocks noGrp="1"/>
          </p:cNvSpPr>
          <p:nvPr>
            <p:ph sz="half" idx="2"/>
          </p:nvPr>
        </p:nvSpPr>
        <p:spPr>
          <a:xfrm>
            <a:off x="902195" y="1310793"/>
            <a:ext cx="10309144" cy="1075791"/>
          </a:xfrm>
        </p:spPr>
        <p:txBody>
          <a:bodyPr>
            <a:normAutofit/>
          </a:bodyPr>
          <a:lstStyle/>
          <a:p>
            <a:r>
              <a:rPr lang="zh-TW" altLang="en-US" sz="2400" dirty="0" smtClean="0"/>
              <a:t>納入月報結算排程者，若有增修訂</a:t>
            </a:r>
            <a:r>
              <a:rPr lang="en-US" altLang="zh-TW" sz="2400" dirty="0" smtClean="0"/>
              <a:t>(</a:t>
            </a:r>
            <a:r>
              <a:rPr lang="zh-TW" altLang="en-US" sz="2400" dirty="0" smtClean="0"/>
              <a:t>包含負責人員異動</a:t>
            </a:r>
            <a:r>
              <a:rPr lang="en-US" altLang="zh-TW" sz="2400" dirty="0" smtClean="0"/>
              <a:t>)</a:t>
            </a:r>
            <a:r>
              <a:rPr lang="zh-TW" altLang="en-US" sz="2400" dirty="0" smtClean="0"/>
              <a:t>，運轉組皆需修改關聯圖，並呈報公告週知。</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7</a:t>
            </a:fld>
            <a:endParaRPr lang="zh-TW" altLang="en-US" dirty="0"/>
          </a:p>
        </p:txBody>
      </p:sp>
      <p:pic>
        <p:nvPicPr>
          <p:cNvPr id="8" name="圖片 7"/>
          <p:cNvPicPr>
            <a:picLocks noChangeAspect="1"/>
          </p:cNvPicPr>
          <p:nvPr/>
        </p:nvPicPr>
        <p:blipFill>
          <a:blip r:embed="rId2"/>
          <a:stretch>
            <a:fillRect/>
          </a:stretch>
        </p:blipFill>
        <p:spPr>
          <a:xfrm>
            <a:off x="1257123" y="2211649"/>
            <a:ext cx="5340446" cy="3742715"/>
          </a:xfrm>
          <a:prstGeom prst="rect">
            <a:avLst/>
          </a:prstGeom>
        </p:spPr>
      </p:pic>
      <p:pic>
        <p:nvPicPr>
          <p:cNvPr id="9" name="圖片 8"/>
          <p:cNvPicPr>
            <a:picLocks noChangeAspect="1"/>
          </p:cNvPicPr>
          <p:nvPr/>
        </p:nvPicPr>
        <p:blipFill>
          <a:blip r:embed="rId3"/>
          <a:stretch>
            <a:fillRect/>
          </a:stretch>
        </p:blipFill>
        <p:spPr>
          <a:xfrm>
            <a:off x="5928073" y="3102015"/>
            <a:ext cx="5500979" cy="3487861"/>
          </a:xfrm>
          <a:prstGeom prst="rect">
            <a:avLst/>
          </a:prstGeom>
        </p:spPr>
      </p:pic>
      <p:grpSp>
        <p:nvGrpSpPr>
          <p:cNvPr id="16" name="群組 15"/>
          <p:cNvGrpSpPr/>
          <p:nvPr/>
        </p:nvGrpSpPr>
        <p:grpSpPr>
          <a:xfrm>
            <a:off x="1509918" y="943716"/>
            <a:ext cx="8861267" cy="310896"/>
            <a:chOff x="1554480" y="2160000"/>
            <a:chExt cx="8861267" cy="310896"/>
          </a:xfrm>
          <a:solidFill>
            <a:schemeClr val="bg1"/>
          </a:solidFill>
        </p:grpSpPr>
        <p:sp>
          <p:nvSpPr>
            <p:cNvPr id="17" name="圓角矩形 1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圓角矩形 1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9" name="圓角矩形 1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圓角矩形 1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排程申請</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向右箭號 2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向右箭號 2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向右箭號 2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2774252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安裝確認管理</a:t>
            </a:r>
            <a:r>
              <a:rPr lang="en-US" altLang="zh-TW"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a:t>
            </a:r>
            <a:r>
              <a:rPr lang="zh-TW" altLang="en-US"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電腦</a:t>
            </a:r>
            <a:r>
              <a:rPr lang="zh-TW" altLang="en-US" dirty="0">
                <a:solidFill>
                  <a:schemeClr val="tx1"/>
                </a:solidFill>
                <a:latin typeface="台塑體" panose="02010500000000000000" pitchFamily="2" charset="-120"/>
                <a:ea typeface="台塑體" panose="02010500000000000000" pitchFamily="2" charset="-120"/>
                <a:cs typeface="台塑體" panose="02010500000000000000" pitchFamily="2" charset="-120"/>
              </a:rPr>
              <a:t>作業</a:t>
            </a:r>
            <a:r>
              <a:rPr lang="zh-TW" altLang="en-US"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上線安裝確認單</a:t>
            </a:r>
            <a:endParaRPr lang="zh-TW" altLang="en-US" dirty="0"/>
          </a:p>
        </p:txBody>
      </p:sp>
      <p:sp>
        <p:nvSpPr>
          <p:cNvPr id="3" name="內容版面配置區 2"/>
          <p:cNvSpPr>
            <a:spLocks noGrp="1"/>
          </p:cNvSpPr>
          <p:nvPr>
            <p:ph sz="half" idx="2"/>
          </p:nvPr>
        </p:nvSpPr>
        <p:spPr>
          <a:xfrm>
            <a:off x="7385423" y="1409104"/>
            <a:ext cx="3148465" cy="3126320"/>
          </a:xfrm>
        </p:spPr>
        <p:txBody>
          <a:bodyPr>
            <a:normAutofit/>
          </a:bodyPr>
          <a:lstStyle/>
          <a:p>
            <a:pPr>
              <a:lnSpc>
                <a:spcPct val="110000"/>
              </a:lnSpc>
              <a:spcBef>
                <a:spcPts val="600"/>
              </a:spcBef>
            </a:pPr>
            <a:r>
              <a:rPr lang="zh-TW" altLang="en-US" sz="2400" dirty="0"/>
              <a:t>為確保資訊部接續辦理案件於機能組驗收後，電腦作業確實安裝上線並追蹤執行情況，增設自主檢核機制，以提升程式</a:t>
            </a:r>
            <a:r>
              <a:rPr lang="zh-TW" altLang="en-US" sz="2400" dirty="0" smtClean="0"/>
              <a:t>品質。</a:t>
            </a:r>
            <a:endParaRPr lang="zh-TW" altLang="en-US" sz="2400" dirty="0"/>
          </a:p>
          <a:p>
            <a:pPr>
              <a:lnSpc>
                <a:spcPct val="110000"/>
              </a:lnSpc>
              <a:spcBef>
                <a:spcPts val="600"/>
              </a:spcBef>
            </a:pP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8</a:t>
            </a:fld>
            <a:endParaRPr lang="zh-TW" altLang="en-US" dirty="0"/>
          </a:p>
        </p:txBody>
      </p:sp>
      <p:pic>
        <p:nvPicPr>
          <p:cNvPr id="5" name="圖片 4"/>
          <p:cNvPicPr>
            <a:picLocks noChangeAspect="1"/>
          </p:cNvPicPr>
          <p:nvPr/>
        </p:nvPicPr>
        <p:blipFill rotWithShape="1">
          <a:blip r:embed="rId2"/>
          <a:srcRect l="4551" r="4904"/>
          <a:stretch/>
        </p:blipFill>
        <p:spPr>
          <a:xfrm>
            <a:off x="1051560" y="1409104"/>
            <a:ext cx="6144768" cy="5359336"/>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安裝確認</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608028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solidFill>
                  <a:schemeClr val="tx1"/>
                </a:solidFill>
                <a:latin typeface="台塑體" panose="02010500000000000000" pitchFamily="2" charset="-120"/>
                <a:ea typeface="台塑體" panose="02010500000000000000" pitchFamily="2" charset="-120"/>
                <a:cs typeface="台塑體" panose="02010500000000000000" pitchFamily="2" charset="-120"/>
              </a:rPr>
              <a:t>安裝確認管理</a:t>
            </a:r>
            <a:r>
              <a:rPr lang="en-US" altLang="zh-TW" dirty="0">
                <a:solidFill>
                  <a:schemeClr val="tx1"/>
                </a:solidFill>
                <a:latin typeface="台塑體" panose="02010500000000000000" pitchFamily="2" charset="-120"/>
                <a:ea typeface="台塑體" panose="02010500000000000000" pitchFamily="2" charset="-120"/>
                <a:cs typeface="台塑體" panose="02010500000000000000" pitchFamily="2" charset="-120"/>
              </a:rPr>
              <a:t>-</a:t>
            </a:r>
            <a:r>
              <a:rPr lang="zh-TW" altLang="en-US" dirty="0" smtClean="0"/>
              <a:t>電腦作業上線執行情況確認單</a:t>
            </a:r>
            <a:endParaRPr lang="zh-TW" altLang="en-US" dirty="0"/>
          </a:p>
        </p:txBody>
      </p:sp>
      <p:sp>
        <p:nvSpPr>
          <p:cNvPr id="3" name="內容版面配置區 2"/>
          <p:cNvSpPr>
            <a:spLocks noGrp="1"/>
          </p:cNvSpPr>
          <p:nvPr>
            <p:ph sz="half" idx="2"/>
          </p:nvPr>
        </p:nvSpPr>
        <p:spPr>
          <a:xfrm>
            <a:off x="902195" y="1310793"/>
            <a:ext cx="10309144" cy="946270"/>
          </a:xfrm>
        </p:spPr>
        <p:txBody>
          <a:bodyPr>
            <a:normAutofit/>
          </a:bodyPr>
          <a:lstStyle/>
          <a:p>
            <a:r>
              <a:rPr lang="zh-TW" altLang="en-US" sz="2400" dirty="0" smtClean="0"/>
              <a:t>電腦作業上線三個月後，由電腦自動出表提示程式人員檢查電腦作業有無實際資料及是否符合作業需求。</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9</a:t>
            </a:fld>
            <a:endParaRPr lang="zh-TW" altLang="en-US" dirty="0"/>
          </a:p>
        </p:txBody>
      </p:sp>
      <p:pic>
        <p:nvPicPr>
          <p:cNvPr id="5" name="圖片 4"/>
          <p:cNvPicPr>
            <a:picLocks noChangeAspect="1"/>
          </p:cNvPicPr>
          <p:nvPr/>
        </p:nvPicPr>
        <p:blipFill>
          <a:blip r:embed="rId2"/>
          <a:stretch>
            <a:fillRect/>
          </a:stretch>
        </p:blipFill>
        <p:spPr>
          <a:xfrm>
            <a:off x="1602067" y="2163424"/>
            <a:ext cx="8909399" cy="4553752"/>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安裝確認</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5489794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實施</a:t>
            </a:r>
            <a:r>
              <a:rPr lang="zh-TW" altLang="en-US" dirty="0">
                <a:latin typeface="Times New Roman" panose="02020603050405020304" pitchFamily="18" charset="0"/>
                <a:cs typeface="Times New Roman" panose="02020603050405020304" pitchFamily="18" charset="0"/>
              </a:rPr>
              <a:t>維護</a:t>
            </a:r>
            <a:r>
              <a:rPr lang="en-US" altLang="zh-TW" dirty="0">
                <a:latin typeface="Times New Roman" panose="02020603050405020304" pitchFamily="18" charset="0"/>
                <a:cs typeface="Times New Roman" panose="02020603050405020304" pitchFamily="18" charset="0"/>
              </a:rPr>
              <a:t>/</a:t>
            </a:r>
            <a:r>
              <a:rPr lang="zh-TW" altLang="en-US" dirty="0" smtClean="0"/>
              <a:t>作業維護</a:t>
            </a:r>
            <a:endParaRPr lang="zh-TW" altLang="en-US" dirty="0"/>
          </a:p>
        </p:txBody>
      </p:sp>
    </p:spTree>
    <p:extLst>
      <p:ext uri="{BB962C8B-B14F-4D97-AF65-F5344CB8AC3E}">
        <p14:creationId xmlns:p14="http://schemas.microsoft.com/office/powerpoint/2010/main" val="39619141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電腦作業</a:t>
            </a:r>
            <a:r>
              <a:rPr lang="zh-TW" altLang="en-US" dirty="0" smtClean="0"/>
              <a:t>批次異常反應</a:t>
            </a:r>
            <a:endParaRPr lang="zh-TW" altLang="en-US" dirty="0"/>
          </a:p>
        </p:txBody>
      </p:sp>
      <p:sp>
        <p:nvSpPr>
          <p:cNvPr id="4" name="內容版面配置區 3"/>
          <p:cNvSpPr>
            <a:spLocks noGrp="1"/>
          </p:cNvSpPr>
          <p:nvPr>
            <p:ph sz="half" idx="2"/>
          </p:nvPr>
        </p:nvSpPr>
        <p:spPr>
          <a:xfrm>
            <a:off x="984491" y="1439012"/>
            <a:ext cx="4227589" cy="4851468"/>
          </a:xfrm>
        </p:spPr>
        <p:txBody>
          <a:bodyPr>
            <a:normAutofit/>
          </a:bodyPr>
          <a:lstStyle/>
          <a:p>
            <a:r>
              <a:rPr lang="zh-TW" altLang="en-US" sz="2400" dirty="0"/>
              <a:t>電腦</a:t>
            </a:r>
            <a:r>
              <a:rPr lang="zh-TW" altLang="en-US" sz="2400" dirty="0" smtClean="0"/>
              <a:t>作業批次排程申請後，執行時若有批次異常、中段執行，電腦機房人員會立即電話通知維護人員進行處理。</a:t>
            </a:r>
            <a:endParaRPr lang="en-US" altLang="zh-TW" sz="2400" dirty="0" smtClean="0"/>
          </a:p>
          <a:p>
            <a:r>
              <a:rPr lang="zh-TW" altLang="en-US" sz="2400" dirty="0" smtClean="0"/>
              <a:t>排程系統會連結電腦作業產生電腦作業異常反應單，由程式人員說明異常原因及處理方式。若屬人為異常，納入程式人員評核扣減。</a:t>
            </a:r>
            <a:endParaRPr lang="en-US" altLang="zh-TW" sz="2400" dirty="0" smtClean="0"/>
          </a:p>
          <a:p>
            <a:pPr marL="0" indent="0">
              <a:buNone/>
            </a:pPr>
            <a:endParaRPr lang="zh-TW" altLang="en-US" sz="2400" dirty="0"/>
          </a:p>
        </p:txBody>
      </p:sp>
      <p:pic>
        <p:nvPicPr>
          <p:cNvPr id="5" name="圖片 4"/>
          <p:cNvPicPr>
            <a:picLocks noChangeAspect="1"/>
          </p:cNvPicPr>
          <p:nvPr/>
        </p:nvPicPr>
        <p:blipFill>
          <a:blip r:embed="rId2"/>
          <a:stretch>
            <a:fillRect/>
          </a:stretch>
        </p:blipFill>
        <p:spPr>
          <a:xfrm>
            <a:off x="5493043" y="1557884"/>
            <a:ext cx="4355045" cy="4269553"/>
          </a:xfrm>
          <a:prstGeom prst="rect">
            <a:avLst/>
          </a:prstGeom>
        </p:spPr>
      </p:pic>
      <p:pic>
        <p:nvPicPr>
          <p:cNvPr id="6" name="圖片 5"/>
          <p:cNvPicPr>
            <a:picLocks noChangeAspect="1"/>
          </p:cNvPicPr>
          <p:nvPr/>
        </p:nvPicPr>
        <p:blipFill>
          <a:blip r:embed="rId3"/>
          <a:stretch>
            <a:fillRect/>
          </a:stretch>
        </p:blipFill>
        <p:spPr>
          <a:xfrm>
            <a:off x="5493043" y="5889561"/>
            <a:ext cx="4355045" cy="496463"/>
          </a:xfrm>
          <a:prstGeom prst="rect">
            <a:avLst/>
          </a:prstGeom>
        </p:spPr>
      </p:pic>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異常管理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8265814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資料庫</a:t>
            </a:r>
            <a:r>
              <a:rPr lang="en-US" altLang="zh-TW" dirty="0" smtClean="0"/>
              <a:t>/</a:t>
            </a:r>
            <a:r>
              <a:rPr lang="en-US" altLang="zh-TW" dirty="0" err="1" smtClean="0"/>
              <a:t>aix</a:t>
            </a:r>
            <a:r>
              <a:rPr lang="zh-TW" altLang="en-US" dirty="0" smtClean="0"/>
              <a:t>系統帳號登入失敗記錄</a:t>
            </a:r>
            <a:endParaRPr lang="zh-TW" altLang="en-US" dirty="0"/>
          </a:p>
        </p:txBody>
      </p:sp>
      <p:sp>
        <p:nvSpPr>
          <p:cNvPr id="3" name="投影片編號版面配置區 2"/>
          <p:cNvSpPr>
            <a:spLocks noGrp="1"/>
          </p:cNvSpPr>
          <p:nvPr>
            <p:ph type="sldNum" sz="quarter" idx="29"/>
          </p:nvPr>
        </p:nvSpPr>
        <p:spPr/>
        <p:txBody>
          <a:bodyPr/>
          <a:lstStyle/>
          <a:p>
            <a:fld id="{B5CEABB6-07DC-46E8-9B57-56EC44A396E5}" type="slidenum">
              <a:rPr lang="en-US" altLang="zh-TW" smtClean="0"/>
              <a:pPr/>
              <a:t>12</a:t>
            </a:fld>
            <a:endParaRPr lang="zh-TW" altLang="en-US" dirty="0"/>
          </a:p>
        </p:txBody>
      </p:sp>
      <p:pic>
        <p:nvPicPr>
          <p:cNvPr id="4" name="圖片 3"/>
          <p:cNvPicPr>
            <a:picLocks noChangeAspect="1"/>
          </p:cNvPicPr>
          <p:nvPr/>
        </p:nvPicPr>
        <p:blipFill rotWithShape="1">
          <a:blip r:embed="rId2"/>
          <a:srcRect r="-121" b="45061"/>
          <a:stretch/>
        </p:blipFill>
        <p:spPr>
          <a:xfrm>
            <a:off x="2456503" y="4868352"/>
            <a:ext cx="6699123" cy="1742760"/>
          </a:xfrm>
          <a:prstGeom prst="rect">
            <a:avLst/>
          </a:prstGeom>
        </p:spPr>
      </p:pic>
      <p:sp>
        <p:nvSpPr>
          <p:cNvPr id="5" name="內容版面配置區 2"/>
          <p:cNvSpPr txBox="1">
            <a:spLocks/>
          </p:cNvSpPr>
          <p:nvPr/>
        </p:nvSpPr>
        <p:spPr>
          <a:xfrm>
            <a:off x="902195" y="1310792"/>
            <a:ext cx="10309144" cy="1935327"/>
          </a:xfrm>
          <a:prstGeom prst="rect">
            <a:avLst/>
          </a:prstGeom>
        </p:spPr>
        <p:txBody>
          <a:bodyPr>
            <a:normAutofit fontScale="55000" lnSpcReduction="20000"/>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20000"/>
              </a:lnSpc>
              <a:spcBef>
                <a:spcPts val="600"/>
              </a:spcBef>
            </a:pPr>
            <a:r>
              <a:rPr lang="zh-TW" altLang="en-US" sz="3800" dirty="0" smtClean="0">
                <a:latin typeface="標楷體" panose="03000509000000000000" pitchFamily="65" charset="-120"/>
                <a:ea typeface="標楷體" panose="03000509000000000000" pitchFamily="65" charset="-120"/>
              </a:rPr>
              <a:t>因管制</a:t>
            </a:r>
            <a:r>
              <a:rPr lang="en-US" altLang="zh-TW" sz="3800" dirty="0" smtClean="0">
                <a:latin typeface="標楷體" panose="03000509000000000000" pitchFamily="65" charset="-120"/>
                <a:ea typeface="標楷體" panose="03000509000000000000" pitchFamily="65" charset="-120"/>
              </a:rPr>
              <a:t>AIX</a:t>
            </a:r>
            <a:r>
              <a:rPr lang="zh-TW" altLang="en-US" sz="3800" dirty="0" smtClean="0">
                <a:latin typeface="標楷體" panose="03000509000000000000" pitchFamily="65" charset="-120"/>
                <a:ea typeface="標楷體" panose="03000509000000000000" pitchFamily="65" charset="-120"/>
              </a:rPr>
              <a:t>帳號、資料庫帳號連續</a:t>
            </a:r>
            <a:r>
              <a:rPr lang="en-US" altLang="zh-TW" sz="3800" dirty="0" smtClean="0">
                <a:latin typeface="標楷體" panose="03000509000000000000" pitchFamily="65" charset="-120"/>
                <a:ea typeface="標楷體" panose="03000509000000000000" pitchFamily="65" charset="-120"/>
              </a:rPr>
              <a:t>10</a:t>
            </a:r>
            <a:r>
              <a:rPr lang="zh-TW" altLang="en-US" sz="3800" dirty="0" smtClean="0">
                <a:latin typeface="標楷體" panose="03000509000000000000" pitchFamily="65" charset="-120"/>
                <a:ea typeface="標楷體" panose="03000509000000000000" pitchFamily="65" charset="-120"/>
              </a:rPr>
              <a:t>次登入失敗及鎖住該帳號，將影響正常運作，為防範惡意攻擊，提供追查管道，記錄登入異常訊息，包含登入時間、來源應用程式等，供程式人員查詢登入失敗記錄，以追查異常原因。</a:t>
            </a:r>
            <a:endParaRPr lang="en-US" altLang="zh-TW" sz="3800" dirty="0" smtClean="0">
              <a:latin typeface="標楷體" panose="03000509000000000000" pitchFamily="65" charset="-120"/>
              <a:ea typeface="標楷體" panose="03000509000000000000" pitchFamily="65" charset="-120"/>
            </a:endParaRPr>
          </a:p>
          <a:p>
            <a:pPr>
              <a:lnSpc>
                <a:spcPct val="120000"/>
              </a:lnSpc>
              <a:spcBef>
                <a:spcPts val="600"/>
              </a:spcBef>
            </a:pPr>
            <a:r>
              <a:rPr lang="zh-TW" altLang="en-US" sz="3800" dirty="0" smtClean="0">
                <a:latin typeface="標楷體" panose="03000509000000000000" pitchFamily="65" charset="-120"/>
                <a:ea typeface="標楷體" panose="03000509000000000000" pitchFamily="65" charset="-120"/>
              </a:rPr>
              <a:t>輸入</a:t>
            </a:r>
            <a:r>
              <a:rPr lang="zh-TW" altLang="en-US" sz="3800" dirty="0">
                <a:latin typeface="標楷體" panose="03000509000000000000" pitchFamily="65" charset="-120"/>
                <a:ea typeface="標楷體" panose="03000509000000000000" pitchFamily="65" charset="-120"/>
              </a:rPr>
              <a:t>異常發生</a:t>
            </a:r>
            <a:r>
              <a:rPr lang="zh-TW" altLang="en-US" sz="3800" dirty="0" smtClean="0">
                <a:latin typeface="標楷體" panose="03000509000000000000" pitchFamily="65" charset="-120"/>
                <a:ea typeface="標楷體" panose="03000509000000000000" pitchFamily="65" charset="-120"/>
              </a:rPr>
              <a:t>之主機</a:t>
            </a:r>
            <a:r>
              <a:rPr lang="en-US" altLang="zh-TW" sz="3800" dirty="0" smtClean="0">
                <a:latin typeface="標楷體" panose="03000509000000000000" pitchFamily="65" charset="-120"/>
                <a:ea typeface="標楷體" panose="03000509000000000000" pitchFamily="65" charset="-120"/>
              </a:rPr>
              <a:t>/</a:t>
            </a:r>
            <a:r>
              <a:rPr lang="zh-TW" altLang="en-US" sz="3800" dirty="0" smtClean="0">
                <a:latin typeface="標楷體" panose="03000509000000000000" pitchFamily="65" charset="-120"/>
                <a:ea typeface="標楷體" panose="03000509000000000000" pitchFamily="65" charset="-120"/>
              </a:rPr>
              <a:t>資料庫、帳號</a:t>
            </a:r>
            <a:r>
              <a:rPr lang="zh-TW" altLang="en-US" sz="3800" dirty="0">
                <a:latin typeface="標楷體" panose="03000509000000000000" pitchFamily="65" charset="-120"/>
                <a:ea typeface="標楷體" panose="03000509000000000000" pitchFamily="65" charset="-120"/>
              </a:rPr>
              <a:t>及異常發生起迄日，點擊查詢，顯示所有登入異常</a:t>
            </a:r>
            <a:r>
              <a:rPr lang="zh-TW" altLang="en-US" sz="3800" dirty="0" smtClean="0">
                <a:latin typeface="標楷體" panose="03000509000000000000" pitchFamily="65" charset="-120"/>
                <a:ea typeface="標楷體" panose="03000509000000000000" pitchFamily="65" charset="-120"/>
              </a:rPr>
              <a:t>記錄。</a:t>
            </a:r>
            <a:endParaRPr lang="zh-TW" altLang="en-US" sz="3800" dirty="0">
              <a:latin typeface="標楷體" panose="03000509000000000000" pitchFamily="65" charset="-120"/>
              <a:ea typeface="標楷體" panose="03000509000000000000" pitchFamily="65" charset="-120"/>
            </a:endParaRPr>
          </a:p>
          <a:p>
            <a:pPr marL="0" indent="0">
              <a:buFont typeface="Arial" panose="020B0604020202020204" pitchFamily="34" charset="0"/>
              <a:buNone/>
            </a:pPr>
            <a:endParaRPr lang="zh-TW" altLang="en-US" b="1" dirty="0"/>
          </a:p>
        </p:txBody>
      </p:sp>
      <p:pic>
        <p:nvPicPr>
          <p:cNvPr id="7" name="圖片 6"/>
          <p:cNvPicPr>
            <a:picLocks noChangeAspect="1"/>
          </p:cNvPicPr>
          <p:nvPr/>
        </p:nvPicPr>
        <p:blipFill rotWithShape="1">
          <a:blip r:embed="rId3"/>
          <a:srcRect b="49342"/>
          <a:stretch/>
        </p:blipFill>
        <p:spPr>
          <a:xfrm>
            <a:off x="2456503" y="3032293"/>
            <a:ext cx="6699123" cy="1735435"/>
          </a:xfrm>
          <a:prstGeom prst="rect">
            <a:avLst/>
          </a:prstGeom>
        </p:spPr>
      </p:pic>
      <p:grpSp>
        <p:nvGrpSpPr>
          <p:cNvPr id="8" name="群組 7"/>
          <p:cNvGrpSpPr/>
          <p:nvPr/>
        </p:nvGrpSpPr>
        <p:grpSpPr>
          <a:xfrm>
            <a:off x="1509918" y="943716"/>
            <a:ext cx="8861267" cy="310896"/>
            <a:chOff x="1554480" y="2160000"/>
            <a:chExt cx="8861267" cy="310896"/>
          </a:xfrm>
          <a:solidFill>
            <a:schemeClr val="bg1"/>
          </a:solidFill>
        </p:grpSpPr>
        <p:sp>
          <p:nvSpPr>
            <p:cNvPr id="9" name="圓角矩形 8"/>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1" name="圓角矩形 10"/>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圓角矩形 11"/>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異常管理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向右箭號 14"/>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7676982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zh-TW" altLang="en-US" dirty="0" smtClean="0"/>
              <a:t>電腦檔案欄位異動處理單</a:t>
            </a:r>
            <a:endParaRPr lang="zh-TW" altLang="en-US" dirty="0"/>
          </a:p>
        </p:txBody>
      </p:sp>
      <p:pic>
        <p:nvPicPr>
          <p:cNvPr id="6" name="內容版面配置區 5"/>
          <p:cNvPicPr>
            <a:picLocks noGrp="1" noChangeAspect="1"/>
          </p:cNvPicPr>
          <p:nvPr>
            <p:ph sz="half" idx="2"/>
          </p:nvPr>
        </p:nvPicPr>
        <p:blipFill>
          <a:blip r:embed="rId2"/>
          <a:stretch>
            <a:fillRect/>
          </a:stretch>
        </p:blipFill>
        <p:spPr>
          <a:xfrm>
            <a:off x="1303065" y="2913260"/>
            <a:ext cx="6597352" cy="3844156"/>
          </a:xfrm>
          <a:prstGeom prst="rect">
            <a:avLst/>
          </a:prstGeom>
        </p:spPr>
      </p:pic>
      <p:sp>
        <p:nvSpPr>
          <p:cNvPr id="4" name="投影片編號版面配置區 3"/>
          <p:cNvSpPr>
            <a:spLocks noGrp="1"/>
          </p:cNvSpPr>
          <p:nvPr>
            <p:ph type="sldNum" sz="quarter" idx="29"/>
          </p:nvPr>
        </p:nvSpPr>
        <p:spPr/>
        <p:txBody>
          <a:bodyPr/>
          <a:lstStyle/>
          <a:p>
            <a:fld id="{B5CEABB6-07DC-46E8-9B57-56EC44A396E5}" type="slidenum">
              <a:rPr lang="en-US" altLang="zh-TW" smtClean="0"/>
              <a:pPr/>
              <a:t>13</a:t>
            </a:fld>
            <a:endParaRPr lang="zh-TW" altLang="en-US" dirty="0"/>
          </a:p>
        </p:txBody>
      </p:sp>
      <p:pic>
        <p:nvPicPr>
          <p:cNvPr id="7" name="圖片 6"/>
          <p:cNvPicPr>
            <a:picLocks noChangeAspect="1"/>
          </p:cNvPicPr>
          <p:nvPr/>
        </p:nvPicPr>
        <p:blipFill rotWithShape="1">
          <a:blip r:embed="rId3"/>
          <a:srcRect b="15131"/>
          <a:stretch/>
        </p:blipFill>
        <p:spPr>
          <a:xfrm>
            <a:off x="5538347" y="4537756"/>
            <a:ext cx="6312408" cy="2082500"/>
          </a:xfrm>
          <a:prstGeom prst="rect">
            <a:avLst/>
          </a:prstGeom>
          <a:ln>
            <a:solidFill>
              <a:schemeClr val="accent2">
                <a:lumMod val="50000"/>
              </a:schemeClr>
            </a:solidFill>
          </a:ln>
        </p:spPr>
      </p:pic>
      <p:sp>
        <p:nvSpPr>
          <p:cNvPr id="8" name="內容版面配置區 5"/>
          <p:cNvSpPr txBox="1">
            <a:spLocks/>
          </p:cNvSpPr>
          <p:nvPr/>
        </p:nvSpPr>
        <p:spPr>
          <a:xfrm>
            <a:off x="902195" y="1411377"/>
            <a:ext cx="10309144" cy="1445702"/>
          </a:xfrm>
          <a:prstGeom prst="rect">
            <a:avLst/>
          </a:prstGeom>
        </p:spPr>
        <p:txBody>
          <a:bodyPr vert="horz" lIns="91440" tIns="45720" rIns="91440" bIns="45720" rtlCol="0">
            <a:normAutofit lnSpcReduction="10000"/>
          </a:bodyPr>
          <a:lstStyle>
            <a:lvl1pPr marL="265113" indent="-265113" algn="l" defTabSz="685783" rtl="0" eaLnBrk="1" latinLnBrk="0" hangingPunct="1">
              <a:lnSpc>
                <a:spcPct val="100000"/>
              </a:lnSpc>
              <a:spcBef>
                <a:spcPts val="750"/>
              </a:spcBef>
              <a:buFont typeface="Arial" panose="020B0604020202020204" pitchFamily="34" charset="0"/>
              <a:buChar char="•"/>
              <a:defRPr sz="28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1pPr>
            <a:lvl2pPr marL="539750" indent="-198438" algn="l" defTabSz="685783" rtl="0" eaLnBrk="1" latinLnBrk="0" hangingPunct="1">
              <a:lnSpc>
                <a:spcPct val="100000"/>
              </a:lnSpc>
              <a:spcBef>
                <a:spcPts val="375"/>
              </a:spcBef>
              <a:buFont typeface="Arial" panose="020B0604020202020204" pitchFamily="34" charset="0"/>
              <a:buChar char="•"/>
              <a:defRPr sz="24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2pPr>
            <a:lvl3pPr marL="685783" indent="0" algn="l" defTabSz="685783" rtl="0" eaLnBrk="1" latinLnBrk="0" hangingPunct="1">
              <a:lnSpc>
                <a:spcPct val="100000"/>
              </a:lnSpc>
              <a:spcBef>
                <a:spcPts val="375"/>
              </a:spcBef>
              <a:buFont typeface="Arial" panose="020B0604020202020204" pitchFamily="34" charset="0"/>
              <a:buNone/>
              <a:defRPr sz="20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3pPr>
            <a:lvl4pPr marL="1028675" indent="0" algn="l" defTabSz="685783" rtl="0" eaLnBrk="1" latinLnBrk="0" hangingPunct="1">
              <a:lnSpc>
                <a:spcPct val="100000"/>
              </a:lnSpc>
              <a:spcBef>
                <a:spcPts val="375"/>
              </a:spcBef>
              <a:buFont typeface="Arial" panose="020B0604020202020204" pitchFamily="34" charset="0"/>
              <a:buNone/>
              <a:defRPr sz="135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4pPr>
            <a:lvl5pPr marL="1371566" indent="0" algn="l" defTabSz="685783" rtl="0" eaLnBrk="1" latinLnBrk="0" hangingPunct="1">
              <a:lnSpc>
                <a:spcPct val="100000"/>
              </a:lnSpc>
              <a:spcBef>
                <a:spcPts val="375"/>
              </a:spcBef>
              <a:buFont typeface="Arial" panose="020B0604020202020204" pitchFamily="34" charset="0"/>
              <a:buNone/>
              <a:defRPr sz="12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spcBef>
                <a:spcPts val="0"/>
              </a:spcBef>
            </a:pPr>
            <a:r>
              <a:rPr lang="zh-TW" altLang="en-US" sz="2400" dirty="0">
                <a:latin typeface="Times New Roman" panose="02020603050405020304" pitchFamily="18" charset="0"/>
                <a:cs typeface="Times New Roman" panose="02020603050405020304" pitchFamily="18" charset="0"/>
              </a:rPr>
              <a:t>為確保電腦檔案欄位異動時能及時通知關聯</a:t>
            </a:r>
            <a:r>
              <a:rPr lang="zh-TW" altLang="en-US" sz="2400" dirty="0" smtClean="0">
                <a:latin typeface="Times New Roman" panose="02020603050405020304" pitchFamily="18" charset="0"/>
                <a:cs typeface="Times New Roman" panose="02020603050405020304" pitchFamily="18" charset="0"/>
              </a:rPr>
              <a:t>作業，</a:t>
            </a:r>
            <a:r>
              <a:rPr lang="zh-TW" altLang="en-US" sz="2400" dirty="0">
                <a:latin typeface="Times New Roman" panose="02020603050405020304" pitchFamily="18" charset="0"/>
                <a:cs typeface="Times New Roman" panose="02020603050405020304" pitchFamily="18" charset="0"/>
              </a:rPr>
              <a:t>避免</a:t>
            </a:r>
            <a:r>
              <a:rPr lang="zh-TW" altLang="en-US" sz="2400" dirty="0" smtClean="0">
                <a:latin typeface="Times New Roman" panose="02020603050405020304" pitchFamily="18" charset="0"/>
                <a:cs typeface="Times New Roman" panose="02020603050405020304" pitchFamily="18" charset="0"/>
              </a:rPr>
              <a:t>因為人為疏漏造成電腦作業</a:t>
            </a:r>
            <a:r>
              <a:rPr lang="zh-TW" altLang="en-US" sz="2400" dirty="0">
                <a:latin typeface="Times New Roman" panose="02020603050405020304" pitchFamily="18" charset="0"/>
                <a:cs typeface="Times New Roman" panose="02020603050405020304" pitchFamily="18" charset="0"/>
              </a:rPr>
              <a:t>異常，故於電腦欄位異動時自動產生欄位異動處理單通知程式</a:t>
            </a:r>
            <a:r>
              <a:rPr lang="zh-TW" altLang="en-US" sz="2400" dirty="0" smtClean="0">
                <a:latin typeface="Times New Roman" panose="02020603050405020304" pitchFamily="18" charset="0"/>
                <a:cs typeface="Times New Roman" panose="02020603050405020304" pitchFamily="18" charset="0"/>
              </a:rPr>
              <a:t>人員</a:t>
            </a:r>
            <a:r>
              <a:rPr lang="en-US" altLang="zh-TW" sz="2400" dirty="0" smtClean="0">
                <a:latin typeface="Times New Roman" panose="02020603050405020304" pitchFamily="18" charset="0"/>
                <a:cs typeface="Times New Roman" panose="02020603050405020304" pitchFamily="18" charset="0"/>
              </a:rPr>
              <a:t>(table owner)</a:t>
            </a:r>
            <a:r>
              <a:rPr lang="zh-TW" altLang="en-US" sz="2400" dirty="0" smtClean="0">
                <a:latin typeface="Times New Roman" panose="02020603050405020304" pitchFamily="18" charset="0"/>
                <a:cs typeface="Times New Roman" panose="02020603050405020304" pitchFamily="18" charset="0"/>
              </a:rPr>
              <a:t>，說明預計異動處理情況，再</a:t>
            </a:r>
            <a:r>
              <a:rPr lang="zh-TW" altLang="en-US" sz="2400" dirty="0">
                <a:latin typeface="Times New Roman" panose="02020603050405020304" pitchFamily="18" charset="0"/>
                <a:cs typeface="Times New Roman" panose="02020603050405020304" pitchFamily="18" charset="0"/>
              </a:rPr>
              <a:t>接續通知關聯程式人員</a:t>
            </a:r>
            <a:r>
              <a:rPr lang="en-US" altLang="zh-TW" sz="2400" dirty="0">
                <a:latin typeface="Times New Roman" panose="02020603050405020304" pitchFamily="18" charset="0"/>
                <a:cs typeface="Times New Roman" panose="02020603050405020304" pitchFamily="18" charset="0"/>
              </a:rPr>
              <a:t>(grantee)</a:t>
            </a:r>
            <a:r>
              <a:rPr lang="zh-TW" altLang="en-US" sz="2400" dirty="0">
                <a:latin typeface="Times New Roman" panose="02020603050405020304" pitchFamily="18" charset="0"/>
                <a:cs typeface="Times New Roman" panose="02020603050405020304" pitchFamily="18" charset="0"/>
              </a:rPr>
              <a:t>判別是否需配合修改程式。</a:t>
            </a:r>
          </a:p>
        </p:txBody>
      </p:sp>
      <p:grpSp>
        <p:nvGrpSpPr>
          <p:cNvPr id="17" name="群組 16"/>
          <p:cNvGrpSpPr/>
          <p:nvPr/>
        </p:nvGrpSpPr>
        <p:grpSpPr>
          <a:xfrm>
            <a:off x="1509918" y="943716"/>
            <a:ext cx="8861267" cy="310896"/>
            <a:chOff x="1554480" y="2160000"/>
            <a:chExt cx="8861267" cy="310896"/>
          </a:xfrm>
          <a:solidFill>
            <a:schemeClr val="bg1"/>
          </a:solidFill>
        </p:grpSpPr>
        <p:sp>
          <p:nvSpPr>
            <p:cNvPr id="18" name="圓角矩形 1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圓角矩形 1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20" name="圓角矩形 1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圓角矩形 2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欄位異動</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2" name="向右箭號 2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向右箭號 2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4" name="向右箭號 2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2" name="矩形 1"/>
          <p:cNvSpPr/>
          <p:nvPr/>
        </p:nvSpPr>
        <p:spPr>
          <a:xfrm>
            <a:off x="1509918" y="4096512"/>
            <a:ext cx="2476866" cy="411480"/>
          </a:xfrm>
          <a:prstGeom prst="rect">
            <a:avLst/>
          </a:prstGeom>
          <a:noFill/>
          <a:ln>
            <a:solidFill>
              <a:srgbClr val="C00000"/>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p>
            <a:pPr algn="ctr" defTabSz="1600200">
              <a:spcBef>
                <a:spcPct val="0"/>
              </a:spcBef>
            </a:pPr>
            <a:endParaRPr lang="zh-TW" altLang="en-US" sz="3600" kern="1200" dirty="0" smtClean="0">
              <a:ln>
                <a:solidFill>
                  <a:srgbClr val="C00000"/>
                </a:solidFill>
              </a:ln>
              <a:solidFill>
                <a:schemeClr val="bg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25" name="直線單箭頭接點 24"/>
          <p:cNvCxnSpPr/>
          <p:nvPr/>
        </p:nvCxnSpPr>
        <p:spPr>
          <a:xfrm>
            <a:off x="4005072" y="4425696"/>
            <a:ext cx="1533275" cy="20116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30066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電腦檔案欄位異</a:t>
            </a:r>
            <a:r>
              <a:rPr lang="zh-TW" altLang="en-US" dirty="0" smtClean="0"/>
              <a:t>動通知單</a:t>
            </a:r>
            <a:r>
              <a:rPr lang="en-US" altLang="zh-TW" dirty="0" smtClean="0"/>
              <a:t>-</a:t>
            </a:r>
            <a:r>
              <a:rPr lang="zh-TW" altLang="en-US" dirty="0" smtClean="0"/>
              <a:t>免配合修改</a:t>
            </a:r>
            <a:endParaRPr lang="zh-TW" altLang="en-US" dirty="0"/>
          </a:p>
        </p:txBody>
      </p:sp>
      <p:pic>
        <p:nvPicPr>
          <p:cNvPr id="5" name="內容版面配置區 4"/>
          <p:cNvPicPr>
            <a:picLocks noGrp="1" noChangeAspect="1"/>
          </p:cNvPicPr>
          <p:nvPr>
            <p:ph sz="half" idx="2"/>
          </p:nvPr>
        </p:nvPicPr>
        <p:blipFill>
          <a:blip r:embed="rId2"/>
          <a:stretch>
            <a:fillRect/>
          </a:stretch>
        </p:blipFill>
        <p:spPr>
          <a:xfrm>
            <a:off x="2560970" y="2705148"/>
            <a:ext cx="7043727" cy="4066363"/>
          </a:xfrm>
          <a:prstGeom prst="rect">
            <a:avLst/>
          </a:prstGeom>
        </p:spPr>
      </p:pic>
      <p:sp>
        <p:nvSpPr>
          <p:cNvPr id="4" name="投影片編號版面配置區 3"/>
          <p:cNvSpPr>
            <a:spLocks noGrp="1"/>
          </p:cNvSpPr>
          <p:nvPr>
            <p:ph type="sldNum" sz="quarter" idx="29"/>
          </p:nvPr>
        </p:nvSpPr>
        <p:spPr/>
        <p:txBody>
          <a:bodyPr/>
          <a:lstStyle/>
          <a:p>
            <a:fld id="{B5CEABB6-07DC-46E8-9B57-56EC44A396E5}" type="slidenum">
              <a:rPr lang="en-US" altLang="zh-TW" smtClean="0"/>
              <a:pPr/>
              <a:t>14</a:t>
            </a:fld>
            <a:endParaRPr lang="zh-TW" altLang="en-US" dirty="0"/>
          </a:p>
        </p:txBody>
      </p:sp>
      <p:sp>
        <p:nvSpPr>
          <p:cNvPr id="6" name="內容版面配置區 5"/>
          <p:cNvSpPr txBox="1">
            <a:spLocks/>
          </p:cNvSpPr>
          <p:nvPr/>
        </p:nvSpPr>
        <p:spPr>
          <a:xfrm>
            <a:off x="902195" y="1438809"/>
            <a:ext cx="10309144" cy="1292614"/>
          </a:xfrm>
          <a:prstGeom prst="rect">
            <a:avLst/>
          </a:prstGeom>
        </p:spPr>
        <p:txBody>
          <a:bodyPr vert="horz" lIns="91440" tIns="45720" rIns="91440" bIns="45720" rtlCol="0">
            <a:noAutofit/>
          </a:bodyPr>
          <a:lstStyle>
            <a:lvl1pPr marL="265113" indent="-265113" algn="l" defTabSz="685783" rtl="0" eaLnBrk="1" latinLnBrk="0" hangingPunct="1">
              <a:lnSpc>
                <a:spcPct val="100000"/>
              </a:lnSpc>
              <a:spcBef>
                <a:spcPts val="750"/>
              </a:spcBef>
              <a:buFont typeface="Arial" panose="020B0604020202020204" pitchFamily="34" charset="0"/>
              <a:buChar char="•"/>
              <a:defRPr sz="28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1pPr>
            <a:lvl2pPr marL="539750" indent="-198438" algn="l" defTabSz="685783" rtl="0" eaLnBrk="1" latinLnBrk="0" hangingPunct="1">
              <a:lnSpc>
                <a:spcPct val="100000"/>
              </a:lnSpc>
              <a:spcBef>
                <a:spcPts val="375"/>
              </a:spcBef>
              <a:buFont typeface="Arial" panose="020B0604020202020204" pitchFamily="34" charset="0"/>
              <a:buChar char="•"/>
              <a:defRPr sz="24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2pPr>
            <a:lvl3pPr marL="685783" indent="0" algn="l" defTabSz="685783" rtl="0" eaLnBrk="1" latinLnBrk="0" hangingPunct="1">
              <a:lnSpc>
                <a:spcPct val="100000"/>
              </a:lnSpc>
              <a:spcBef>
                <a:spcPts val="375"/>
              </a:spcBef>
              <a:buFont typeface="Arial" panose="020B0604020202020204" pitchFamily="34" charset="0"/>
              <a:buNone/>
              <a:defRPr sz="20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3pPr>
            <a:lvl4pPr marL="1028675" indent="0" algn="l" defTabSz="685783" rtl="0" eaLnBrk="1" latinLnBrk="0" hangingPunct="1">
              <a:lnSpc>
                <a:spcPct val="100000"/>
              </a:lnSpc>
              <a:spcBef>
                <a:spcPts val="375"/>
              </a:spcBef>
              <a:buFont typeface="Arial" panose="020B0604020202020204" pitchFamily="34" charset="0"/>
              <a:buNone/>
              <a:defRPr sz="135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4pPr>
            <a:lvl5pPr marL="1371566" indent="0" algn="l" defTabSz="685783" rtl="0" eaLnBrk="1" latinLnBrk="0" hangingPunct="1">
              <a:lnSpc>
                <a:spcPct val="100000"/>
              </a:lnSpc>
              <a:spcBef>
                <a:spcPts val="375"/>
              </a:spcBef>
              <a:buFont typeface="Arial" panose="020B0604020202020204" pitchFamily="34" charset="0"/>
              <a:buNone/>
              <a:defRPr sz="12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spcBef>
                <a:spcPts val="0"/>
              </a:spcBef>
            </a:pPr>
            <a:r>
              <a:rPr lang="zh-TW" altLang="en-US" sz="2400" dirty="0" smtClean="0"/>
              <a:t>關聯作業程式員於收到電腦檔案欄位異動通知單後，</a:t>
            </a:r>
            <a:r>
              <a:rPr lang="zh-TW" altLang="en-US" sz="2400" dirty="0"/>
              <a:t>檢查</a:t>
            </a:r>
            <a:r>
              <a:rPr lang="zh-TW" altLang="en-US" sz="2400" dirty="0" smtClean="0"/>
              <a:t>判別是否需配合修改程式。</a:t>
            </a:r>
            <a:endParaRPr lang="en-US" altLang="zh-TW" sz="2400" dirty="0" smtClean="0"/>
          </a:p>
          <a:p>
            <a:pPr algn="just">
              <a:spcBef>
                <a:spcPts val="0"/>
              </a:spcBef>
            </a:pPr>
            <a:r>
              <a:rPr lang="zh-TW" altLang="en-US" sz="2400" dirty="0" smtClean="0"/>
              <a:t>若無需修改則呈核結案。</a:t>
            </a:r>
            <a:endParaRPr lang="zh-TW" altLang="en-US" sz="2400" dirty="0"/>
          </a:p>
        </p:txBody>
      </p:sp>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欄位異動</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7745211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電腦檔案欄位異動通知單</a:t>
            </a:r>
            <a:r>
              <a:rPr lang="en-US" altLang="zh-TW" dirty="0" smtClean="0"/>
              <a:t>-</a:t>
            </a:r>
            <a:r>
              <a:rPr lang="zh-TW" altLang="en-US" dirty="0" smtClean="0"/>
              <a:t>需配合</a:t>
            </a:r>
            <a:r>
              <a:rPr lang="zh-TW" altLang="en-US" dirty="0"/>
              <a:t>修改</a:t>
            </a:r>
          </a:p>
        </p:txBody>
      </p:sp>
      <p:pic>
        <p:nvPicPr>
          <p:cNvPr id="5" name="內容版面配置區 4"/>
          <p:cNvPicPr>
            <a:picLocks noGrp="1" noChangeAspect="1"/>
          </p:cNvPicPr>
          <p:nvPr>
            <p:ph sz="half" idx="2"/>
          </p:nvPr>
        </p:nvPicPr>
        <p:blipFill>
          <a:blip r:embed="rId2"/>
          <a:stretch>
            <a:fillRect/>
          </a:stretch>
        </p:blipFill>
        <p:spPr>
          <a:xfrm>
            <a:off x="2257822" y="2971799"/>
            <a:ext cx="7959276" cy="3726743"/>
          </a:xfrm>
          <a:prstGeom prst="rect">
            <a:avLst/>
          </a:prstGeom>
        </p:spPr>
      </p:pic>
      <p:sp>
        <p:nvSpPr>
          <p:cNvPr id="4" name="投影片編號版面配置區 3"/>
          <p:cNvSpPr>
            <a:spLocks noGrp="1"/>
          </p:cNvSpPr>
          <p:nvPr>
            <p:ph type="sldNum" sz="quarter" idx="29"/>
          </p:nvPr>
        </p:nvSpPr>
        <p:spPr/>
        <p:txBody>
          <a:bodyPr/>
          <a:lstStyle/>
          <a:p>
            <a:fld id="{B5CEABB6-07DC-46E8-9B57-56EC44A396E5}" type="slidenum">
              <a:rPr lang="en-US" altLang="zh-TW" smtClean="0"/>
              <a:pPr/>
              <a:t>15</a:t>
            </a:fld>
            <a:endParaRPr lang="zh-TW" altLang="en-US" dirty="0"/>
          </a:p>
        </p:txBody>
      </p:sp>
      <p:sp>
        <p:nvSpPr>
          <p:cNvPr id="6" name="內容版面配置區 5"/>
          <p:cNvSpPr txBox="1">
            <a:spLocks/>
          </p:cNvSpPr>
          <p:nvPr/>
        </p:nvSpPr>
        <p:spPr>
          <a:xfrm>
            <a:off x="902195" y="1310792"/>
            <a:ext cx="10309144" cy="1661007"/>
          </a:xfrm>
          <a:prstGeom prst="rect">
            <a:avLst/>
          </a:prstGeom>
        </p:spPr>
        <p:txBody>
          <a:bodyPr vert="horz" lIns="91440" tIns="45720" rIns="91440" bIns="45720" rtlCol="0">
            <a:normAutofit/>
          </a:bodyPr>
          <a:lstStyle>
            <a:lvl1pPr marL="265113" indent="-265113" algn="l" defTabSz="685783" rtl="0" eaLnBrk="1" latinLnBrk="0" hangingPunct="1">
              <a:lnSpc>
                <a:spcPct val="100000"/>
              </a:lnSpc>
              <a:spcBef>
                <a:spcPts val="750"/>
              </a:spcBef>
              <a:buFont typeface="Arial" panose="020B0604020202020204" pitchFamily="34" charset="0"/>
              <a:buChar char="•"/>
              <a:defRPr sz="28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1pPr>
            <a:lvl2pPr marL="539750" indent="-198438" algn="l" defTabSz="685783" rtl="0" eaLnBrk="1" latinLnBrk="0" hangingPunct="1">
              <a:lnSpc>
                <a:spcPct val="100000"/>
              </a:lnSpc>
              <a:spcBef>
                <a:spcPts val="375"/>
              </a:spcBef>
              <a:buFont typeface="Arial" panose="020B0604020202020204" pitchFamily="34" charset="0"/>
              <a:buChar char="•"/>
              <a:defRPr sz="24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2pPr>
            <a:lvl3pPr marL="685783" indent="0" algn="l" defTabSz="685783" rtl="0" eaLnBrk="1" latinLnBrk="0" hangingPunct="1">
              <a:lnSpc>
                <a:spcPct val="100000"/>
              </a:lnSpc>
              <a:spcBef>
                <a:spcPts val="375"/>
              </a:spcBef>
              <a:buFont typeface="Arial" panose="020B0604020202020204" pitchFamily="34" charset="0"/>
              <a:buNone/>
              <a:defRPr sz="20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3pPr>
            <a:lvl4pPr marL="1028675" indent="0" algn="l" defTabSz="685783" rtl="0" eaLnBrk="1" latinLnBrk="0" hangingPunct="1">
              <a:lnSpc>
                <a:spcPct val="100000"/>
              </a:lnSpc>
              <a:spcBef>
                <a:spcPts val="375"/>
              </a:spcBef>
              <a:buFont typeface="Arial" panose="020B0604020202020204" pitchFamily="34" charset="0"/>
              <a:buNone/>
              <a:defRPr sz="135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4pPr>
            <a:lvl5pPr marL="1371566" indent="0" algn="l" defTabSz="685783" rtl="0" eaLnBrk="1" latinLnBrk="0" hangingPunct="1">
              <a:lnSpc>
                <a:spcPct val="100000"/>
              </a:lnSpc>
              <a:spcBef>
                <a:spcPts val="375"/>
              </a:spcBef>
              <a:buFont typeface="Arial" panose="020B0604020202020204" pitchFamily="34" charset="0"/>
              <a:buNone/>
              <a:defRPr sz="12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spcBef>
                <a:spcPts val="0"/>
              </a:spcBef>
            </a:pPr>
            <a:r>
              <a:rPr lang="zh-TW" altLang="en-US" sz="2400" dirty="0"/>
              <a:t>關聯作業程式員於收到電腦檔案欄位異動通知單後，檢查判別是否需配合修改程式。</a:t>
            </a:r>
            <a:endParaRPr lang="en-US" altLang="zh-TW" sz="2400" dirty="0"/>
          </a:p>
          <a:p>
            <a:pPr algn="just">
              <a:spcBef>
                <a:spcPts val="0"/>
              </a:spcBef>
            </a:pPr>
            <a:r>
              <a:rPr lang="zh-TW" altLang="en-US" sz="2400" dirty="0" smtClean="0"/>
              <a:t>若需配合修改，則先知會主管交辦立案，再填寫交辦單號呈核結案，並配合修改程式。</a:t>
            </a:r>
            <a:endParaRPr lang="zh-TW" altLang="en-US" sz="2400" dirty="0"/>
          </a:p>
        </p:txBody>
      </p:sp>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欄位異動</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2815735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資料字典與資料庫物件一致性查核</a:t>
            </a:r>
            <a:endParaRPr lang="zh-TW" altLang="en-US" dirty="0"/>
          </a:p>
        </p:txBody>
      </p:sp>
      <p:pic>
        <p:nvPicPr>
          <p:cNvPr id="5" name="內容版面配置區 4"/>
          <p:cNvPicPr>
            <a:picLocks noGrp="1" noChangeAspect="1"/>
          </p:cNvPicPr>
          <p:nvPr>
            <p:ph sz="half" idx="2"/>
          </p:nvPr>
        </p:nvPicPr>
        <p:blipFill>
          <a:blip r:embed="rId2"/>
          <a:stretch>
            <a:fillRect/>
          </a:stretch>
        </p:blipFill>
        <p:spPr>
          <a:xfrm>
            <a:off x="1349524" y="2211809"/>
            <a:ext cx="9466619" cy="4388796"/>
          </a:xfrm>
          <a:prstGeom prst="rect">
            <a:avLst/>
          </a:prstGeom>
        </p:spPr>
      </p:pic>
      <p:sp>
        <p:nvSpPr>
          <p:cNvPr id="4" name="投影片編號版面配置區 3"/>
          <p:cNvSpPr>
            <a:spLocks noGrp="1"/>
          </p:cNvSpPr>
          <p:nvPr>
            <p:ph type="sldNum" sz="quarter" idx="29"/>
          </p:nvPr>
        </p:nvSpPr>
        <p:spPr/>
        <p:txBody>
          <a:bodyPr/>
          <a:lstStyle/>
          <a:p>
            <a:fld id="{B5CEABB6-07DC-46E8-9B57-56EC44A396E5}" type="slidenum">
              <a:rPr lang="en-US" altLang="zh-TW" smtClean="0"/>
              <a:pPr/>
              <a:t>16</a:t>
            </a:fld>
            <a:endParaRPr lang="zh-TW" altLang="en-US" dirty="0"/>
          </a:p>
        </p:txBody>
      </p:sp>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欄位異動</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4" name="內容版面配置區 5"/>
          <p:cNvSpPr txBox="1">
            <a:spLocks/>
          </p:cNvSpPr>
          <p:nvPr/>
        </p:nvSpPr>
        <p:spPr>
          <a:xfrm>
            <a:off x="902195" y="1310792"/>
            <a:ext cx="10309144" cy="1661007"/>
          </a:xfrm>
          <a:prstGeom prst="rect">
            <a:avLst/>
          </a:prstGeom>
        </p:spPr>
        <p:txBody>
          <a:bodyPr vert="horz" lIns="91440" tIns="45720" rIns="91440" bIns="45720" rtlCol="0">
            <a:normAutofit/>
          </a:bodyPr>
          <a:lstStyle>
            <a:lvl1pPr marL="265113" indent="-265113" algn="l" defTabSz="685783" rtl="0" eaLnBrk="1" latinLnBrk="0" hangingPunct="1">
              <a:lnSpc>
                <a:spcPct val="100000"/>
              </a:lnSpc>
              <a:spcBef>
                <a:spcPts val="750"/>
              </a:spcBef>
              <a:buFont typeface="Arial" panose="020B0604020202020204" pitchFamily="34" charset="0"/>
              <a:buChar char="•"/>
              <a:defRPr sz="28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1pPr>
            <a:lvl2pPr marL="539750" indent="-198438" algn="l" defTabSz="685783" rtl="0" eaLnBrk="1" latinLnBrk="0" hangingPunct="1">
              <a:lnSpc>
                <a:spcPct val="100000"/>
              </a:lnSpc>
              <a:spcBef>
                <a:spcPts val="375"/>
              </a:spcBef>
              <a:buFont typeface="Arial" panose="020B0604020202020204" pitchFamily="34" charset="0"/>
              <a:buChar char="•"/>
              <a:defRPr sz="24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2pPr>
            <a:lvl3pPr marL="685783" indent="0" algn="l" defTabSz="685783" rtl="0" eaLnBrk="1" latinLnBrk="0" hangingPunct="1">
              <a:lnSpc>
                <a:spcPct val="100000"/>
              </a:lnSpc>
              <a:spcBef>
                <a:spcPts val="375"/>
              </a:spcBef>
              <a:buFont typeface="Arial" panose="020B0604020202020204" pitchFamily="34" charset="0"/>
              <a:buNone/>
              <a:defRPr sz="20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3pPr>
            <a:lvl4pPr marL="1028675" indent="0" algn="l" defTabSz="685783" rtl="0" eaLnBrk="1" latinLnBrk="0" hangingPunct="1">
              <a:lnSpc>
                <a:spcPct val="100000"/>
              </a:lnSpc>
              <a:spcBef>
                <a:spcPts val="375"/>
              </a:spcBef>
              <a:buFont typeface="Arial" panose="020B0604020202020204" pitchFamily="34" charset="0"/>
              <a:buNone/>
              <a:defRPr sz="135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4pPr>
            <a:lvl5pPr marL="1371566" indent="0" algn="l" defTabSz="685783" rtl="0" eaLnBrk="1" latinLnBrk="0" hangingPunct="1">
              <a:lnSpc>
                <a:spcPct val="100000"/>
              </a:lnSpc>
              <a:spcBef>
                <a:spcPts val="375"/>
              </a:spcBef>
              <a:buFont typeface="Arial" panose="020B0604020202020204" pitchFamily="34" charset="0"/>
              <a:buNone/>
              <a:defRPr sz="12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spcBef>
                <a:spcPts val="0"/>
              </a:spcBef>
            </a:pPr>
            <a:r>
              <a:rPr lang="zh-TW" altLang="en-US" sz="2400" dirty="0" smtClean="0"/>
              <a:t>為避免資料庫物件與資料字典不一致，每月定期查核自動通知程式人員處理。</a:t>
            </a:r>
            <a:endParaRPr lang="en-US" altLang="zh-TW" sz="2400" dirty="0" smtClean="0"/>
          </a:p>
        </p:txBody>
      </p:sp>
    </p:spTree>
    <p:extLst>
      <p:ext uri="{BB962C8B-B14F-4D97-AF65-F5344CB8AC3E}">
        <p14:creationId xmlns:p14="http://schemas.microsoft.com/office/powerpoint/2010/main" val="1046289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電腦作業自主檢查彙總確認表</a:t>
            </a:r>
            <a:endParaRPr lang="zh-TW" altLang="en-US" dirty="0"/>
          </a:p>
        </p:txBody>
      </p:sp>
      <p:sp>
        <p:nvSpPr>
          <p:cNvPr id="3" name="內容版面配置區 2"/>
          <p:cNvSpPr>
            <a:spLocks noGrp="1"/>
          </p:cNvSpPr>
          <p:nvPr>
            <p:ph sz="half" idx="2"/>
          </p:nvPr>
        </p:nvSpPr>
        <p:spPr>
          <a:xfrm>
            <a:off x="902195" y="1310792"/>
            <a:ext cx="10309144" cy="1688589"/>
          </a:xfrm>
        </p:spPr>
        <p:txBody>
          <a:bodyPr>
            <a:normAutofit/>
          </a:bodyPr>
          <a:lstStyle/>
          <a:p>
            <a:r>
              <a:rPr lang="zh-TW" altLang="en-US" sz="2400" dirty="0" smtClean="0">
                <a:latin typeface="Times New Roman" panose="02020603050405020304" pitchFamily="18" charset="0"/>
                <a:cs typeface="Times New Roman" panose="02020603050405020304" pitchFamily="18" charset="0"/>
              </a:rPr>
              <a:t>搭配電腦作業制度執行程式類自主檢查。</a:t>
            </a:r>
            <a:endParaRPr lang="en-US" altLang="zh-TW" sz="2400" dirty="0" smtClean="0">
              <a:latin typeface="Times New Roman" panose="02020603050405020304" pitchFamily="18" charset="0"/>
              <a:cs typeface="Times New Roman" panose="02020603050405020304" pitchFamily="18" charset="0"/>
            </a:endParaRPr>
          </a:p>
          <a:p>
            <a:pPr>
              <a:spcBef>
                <a:spcPts val="600"/>
              </a:spcBef>
            </a:pPr>
            <a:r>
              <a:rPr lang="zh-TW" altLang="zh-TW" sz="2400" dirty="0" smtClean="0">
                <a:latin typeface="Times New Roman" panose="02020603050405020304" pitchFamily="18" charset="0"/>
                <a:cs typeface="Times New Roman" panose="02020603050405020304" pitchFamily="18" charset="0"/>
              </a:rPr>
              <a:t>每月</a:t>
            </a:r>
            <a:r>
              <a:rPr lang="en-US" altLang="zh-TW" sz="2400" dirty="0" smtClean="0">
                <a:latin typeface="Times New Roman" panose="02020603050405020304" pitchFamily="18" charset="0"/>
                <a:cs typeface="Times New Roman" panose="02020603050405020304" pitchFamily="18" charset="0"/>
              </a:rPr>
              <a:t>2</a:t>
            </a:r>
            <a:r>
              <a:rPr lang="zh-TW" altLang="zh-TW" sz="2400" dirty="0">
                <a:latin typeface="Times New Roman" panose="02020603050405020304" pitchFamily="18" charset="0"/>
                <a:cs typeface="Times New Roman" panose="02020603050405020304" pitchFamily="18" charset="0"/>
              </a:rPr>
              <a:t>日轉出彙總確認表，供主管確認</a:t>
            </a:r>
            <a:r>
              <a:rPr lang="en-US" altLang="zh-TW" sz="2400" dirty="0">
                <a:latin typeface="Times New Roman" panose="02020603050405020304" pitchFamily="18" charset="0"/>
                <a:cs typeface="Times New Roman" panose="02020603050405020304" pitchFamily="18" charset="0"/>
              </a:rPr>
              <a:t>(1)</a:t>
            </a:r>
            <a:r>
              <a:rPr lang="zh-TW" altLang="zh-TW" sz="2400" dirty="0">
                <a:latin typeface="Times New Roman" panose="02020603050405020304" pitchFamily="18" charset="0"/>
                <a:cs typeface="Times New Roman" panose="02020603050405020304" pitchFamily="18" charset="0"/>
              </a:rPr>
              <a:t>是否為電腦作業及</a:t>
            </a:r>
            <a:r>
              <a:rPr lang="en-US" altLang="zh-TW" sz="2400" dirty="0">
                <a:latin typeface="Times New Roman" panose="02020603050405020304" pitchFamily="18" charset="0"/>
                <a:cs typeface="Times New Roman" panose="02020603050405020304" pitchFamily="18" charset="0"/>
              </a:rPr>
              <a:t>(2)</a:t>
            </a:r>
            <a:r>
              <a:rPr lang="zh-TW" altLang="zh-TW" sz="2400" dirty="0">
                <a:latin typeface="Times New Roman" panose="02020603050405020304" pitchFamily="18" charset="0"/>
                <a:cs typeface="Times New Roman" panose="02020603050405020304" pitchFamily="18" charset="0"/>
              </a:rPr>
              <a:t>自主檢查經辦人員是否正確</a:t>
            </a:r>
            <a:r>
              <a:rPr lang="zh-TW" altLang="zh-TW" sz="2400" dirty="0" smtClean="0">
                <a:latin typeface="Times New Roman" panose="02020603050405020304" pitchFamily="18" charset="0"/>
                <a:cs typeface="Times New Roman" panose="02020603050405020304" pitchFamily="18" charset="0"/>
              </a:rPr>
              <a:t>。</a:t>
            </a:r>
            <a:endParaRPr lang="zh-TW" altLang="zh-TW" sz="2400" dirty="0">
              <a:latin typeface="Times New Roman" panose="02020603050405020304" pitchFamily="18" charset="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17</a:t>
            </a:fld>
            <a:endParaRPr lang="zh-TW" altLang="en-US" dirty="0"/>
          </a:p>
        </p:txBody>
      </p:sp>
      <p:pic>
        <p:nvPicPr>
          <p:cNvPr id="5" name="圖片 4"/>
          <p:cNvPicPr>
            <a:picLocks noChangeAspect="1"/>
          </p:cNvPicPr>
          <p:nvPr/>
        </p:nvPicPr>
        <p:blipFill>
          <a:blip r:embed="rId2"/>
          <a:stretch>
            <a:fillRect/>
          </a:stretch>
        </p:blipFill>
        <p:spPr>
          <a:xfrm>
            <a:off x="2617312" y="2624477"/>
            <a:ext cx="6663848" cy="4011300"/>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自主</a:t>
              </a:r>
              <a:r>
                <a:rPr lang="zh-TW" altLang="en-US" sz="16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檢查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6287157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電腦作業自主檢查查核表</a:t>
            </a:r>
            <a:endParaRPr lang="zh-TW" altLang="en-US" dirty="0"/>
          </a:p>
        </p:txBody>
      </p:sp>
      <p:sp>
        <p:nvSpPr>
          <p:cNvPr id="3" name="內容版面配置區 2"/>
          <p:cNvSpPr>
            <a:spLocks noGrp="1"/>
          </p:cNvSpPr>
          <p:nvPr>
            <p:ph sz="half" idx="2"/>
          </p:nvPr>
        </p:nvSpPr>
        <p:spPr>
          <a:xfrm>
            <a:off x="902195" y="1310793"/>
            <a:ext cx="10309144" cy="1240383"/>
          </a:xfrm>
        </p:spPr>
        <p:txBody>
          <a:bodyPr>
            <a:noAutofit/>
          </a:bodyPr>
          <a:lstStyle/>
          <a:p>
            <a:r>
              <a:rPr lang="zh-TW" altLang="zh-TW" sz="2400" kern="100" dirty="0">
                <a:latin typeface="Calibri" panose="020F0502020204030204" pitchFamily="34" charset="0"/>
                <a:cs typeface="Times New Roman" panose="02020603050405020304" pitchFamily="18" charset="0"/>
              </a:rPr>
              <a:t>以彙總表確認結果轉出自主檢查查核表，管制最長六個月</a:t>
            </a:r>
            <a:r>
              <a:rPr lang="en-US" altLang="zh-TW" sz="2400" kern="100" dirty="0">
                <a:latin typeface="Calibri" panose="020F0502020204030204" pitchFamily="34" charset="0"/>
                <a:cs typeface="Times New Roman" panose="02020603050405020304" pitchFamily="18" charset="0"/>
              </a:rPr>
              <a:t>(</a:t>
            </a:r>
            <a:r>
              <a:rPr lang="zh-TW" altLang="zh-TW" sz="2400" kern="100" dirty="0">
                <a:latin typeface="Calibri" panose="020F0502020204030204" pitchFamily="34" charset="0"/>
                <a:cs typeface="Times New Roman" panose="02020603050405020304" pitchFamily="18" charset="0"/>
              </a:rPr>
              <a:t>預設三個月</a:t>
            </a:r>
            <a:r>
              <a:rPr lang="en-US" altLang="zh-TW" sz="2400" kern="100" dirty="0">
                <a:latin typeface="Calibri" panose="020F0502020204030204" pitchFamily="34" charset="0"/>
                <a:cs typeface="Times New Roman" panose="02020603050405020304" pitchFamily="18" charset="0"/>
              </a:rPr>
              <a:t>)</a:t>
            </a:r>
            <a:r>
              <a:rPr lang="zh-TW" altLang="zh-TW" sz="2400" kern="100" dirty="0">
                <a:latin typeface="Calibri" panose="020F0502020204030204" pitchFamily="34" charset="0"/>
                <a:cs typeface="Times New Roman" panose="02020603050405020304" pitchFamily="18" charset="0"/>
              </a:rPr>
              <a:t>須完成自主檢查</a:t>
            </a:r>
            <a:r>
              <a:rPr lang="zh-TW" altLang="zh-TW" sz="2400" kern="100" dirty="0" smtClean="0">
                <a:latin typeface="Calibri" panose="020F0502020204030204" pitchFamily="34" charset="0"/>
                <a:cs typeface="Times New Roman" panose="02020603050405020304" pitchFamily="18" charset="0"/>
              </a:rPr>
              <a:t>。</a:t>
            </a:r>
            <a:endParaRPr lang="zh-TW" altLang="zh-TW" sz="2400" kern="100" dirty="0">
              <a:latin typeface="Calibri" panose="020F0502020204030204" pitchFamily="34" charset="0"/>
              <a:cs typeface="Times New Roman" panose="02020603050405020304" pitchFamily="18" charset="0"/>
            </a:endParaRPr>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18</a:t>
            </a:fld>
            <a:endParaRPr lang="zh-TW" altLang="en-US" dirty="0"/>
          </a:p>
        </p:txBody>
      </p:sp>
      <p:pic>
        <p:nvPicPr>
          <p:cNvPr id="5" name="圖片 4"/>
          <p:cNvPicPr>
            <a:picLocks noChangeAspect="1"/>
          </p:cNvPicPr>
          <p:nvPr/>
        </p:nvPicPr>
        <p:blipFill>
          <a:blip r:embed="rId2"/>
          <a:stretch>
            <a:fillRect/>
          </a:stretch>
        </p:blipFill>
        <p:spPr>
          <a:xfrm>
            <a:off x="2440107" y="2195935"/>
            <a:ext cx="7233319" cy="4401854"/>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自主</a:t>
              </a:r>
              <a:r>
                <a:rPr lang="zh-TW" altLang="en-US" sz="16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檢查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464178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電腦作業執行狀況統計表</a:t>
            </a:r>
          </a:p>
        </p:txBody>
      </p:sp>
      <p:sp>
        <p:nvSpPr>
          <p:cNvPr id="3" name="內容版面配置區 2"/>
          <p:cNvSpPr>
            <a:spLocks noGrp="1"/>
          </p:cNvSpPr>
          <p:nvPr>
            <p:ph sz="half" idx="2"/>
          </p:nvPr>
        </p:nvSpPr>
        <p:spPr/>
        <p:txBody>
          <a:bodyPr>
            <a:normAutofit/>
          </a:bodyPr>
          <a:lstStyle/>
          <a:p>
            <a:r>
              <a:rPr lang="zh-TW" altLang="en-US" sz="2400" dirty="0" smtClean="0"/>
              <a:t>利用電腦作業登入記錄與資料異動情況</a:t>
            </a:r>
            <a:r>
              <a:rPr lang="en-US" altLang="zh-TW" sz="2400" dirty="0" smtClean="0"/>
              <a:t>(</a:t>
            </a:r>
            <a:r>
              <a:rPr lang="zh-TW" altLang="en-US" sz="2400" dirty="0" smtClean="0"/>
              <a:t>異動日期</a:t>
            </a:r>
            <a:r>
              <a:rPr lang="en-US" altLang="zh-TW" sz="2400" dirty="0" smtClean="0"/>
              <a:t>)</a:t>
            </a:r>
            <a:r>
              <a:rPr lang="zh-TW" altLang="en-US" sz="2400" dirty="0" smtClean="0"/>
              <a:t>彙整執行狀況統計表。於自主檢查時針對久未使用作業主動通知制度負責人員了解情況。</a:t>
            </a:r>
            <a:endParaRPr lang="en-US" altLang="zh-TW" sz="2400" dirty="0" smtClean="0"/>
          </a:p>
          <a:p>
            <a:pPr>
              <a:spcBef>
                <a:spcPts val="600"/>
              </a:spcBef>
            </a:pPr>
            <a:r>
              <a:rPr lang="zh-TW" altLang="en-US" sz="2400" dirty="0"/>
              <a:t>此</a:t>
            </a:r>
            <a:r>
              <a:rPr lang="zh-TW" altLang="en-US" sz="2400" dirty="0" smtClean="0"/>
              <a:t>表單</a:t>
            </a:r>
            <a:r>
              <a:rPr lang="zh-TW" altLang="en-US" sz="2400" dirty="0"/>
              <a:t>制度負責</a:t>
            </a:r>
            <a:r>
              <a:rPr lang="zh-TW" altLang="en-US" sz="2400" dirty="0" smtClean="0"/>
              <a:t>人員亦可自行列印查看了解。</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19</a:t>
            </a:fld>
            <a:endParaRPr lang="zh-TW" altLang="en-US" dirty="0"/>
          </a:p>
        </p:txBody>
      </p:sp>
      <p:grpSp>
        <p:nvGrpSpPr>
          <p:cNvPr id="5" name="群組 4"/>
          <p:cNvGrpSpPr/>
          <p:nvPr/>
        </p:nvGrpSpPr>
        <p:grpSpPr>
          <a:xfrm>
            <a:off x="1509918" y="943716"/>
            <a:ext cx="8861267" cy="310896"/>
            <a:chOff x="1554480" y="2160000"/>
            <a:chExt cx="8861267" cy="310896"/>
          </a:xfrm>
          <a:solidFill>
            <a:schemeClr val="bg1"/>
          </a:solidFill>
        </p:grpSpPr>
        <p:sp>
          <p:nvSpPr>
            <p:cNvPr id="6" name="圓角矩形 5"/>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圓角矩形 6"/>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8" name="圓角矩形 7"/>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自主</a:t>
              </a:r>
              <a:r>
                <a:rPr lang="zh-TW" altLang="en-US" sz="16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檢查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向右箭號 9"/>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pic>
        <p:nvPicPr>
          <p:cNvPr id="13" name="圖片 12"/>
          <p:cNvPicPr>
            <a:picLocks noChangeAspect="1"/>
          </p:cNvPicPr>
          <p:nvPr/>
        </p:nvPicPr>
        <p:blipFill>
          <a:blip r:embed="rId2"/>
          <a:stretch>
            <a:fillRect/>
          </a:stretch>
        </p:blipFill>
        <p:spPr>
          <a:xfrm>
            <a:off x="2278487" y="2613236"/>
            <a:ext cx="7053668" cy="4061884"/>
          </a:xfrm>
          <a:prstGeom prst="rect">
            <a:avLst/>
          </a:prstGeom>
        </p:spPr>
      </p:pic>
    </p:spTree>
    <p:extLst>
      <p:ext uri="{BB962C8B-B14F-4D97-AF65-F5344CB8AC3E}">
        <p14:creationId xmlns:p14="http://schemas.microsoft.com/office/powerpoint/2010/main" val="737997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密碼定期修改</a:t>
            </a:r>
            <a:endParaRPr lang="zh-TW" altLang="en-US" dirty="0"/>
          </a:p>
        </p:txBody>
      </p:sp>
      <p:sp>
        <p:nvSpPr>
          <p:cNvPr id="3" name="內容版面配置區 2"/>
          <p:cNvSpPr>
            <a:spLocks noGrp="1"/>
          </p:cNvSpPr>
          <p:nvPr>
            <p:ph sz="half" idx="2"/>
          </p:nvPr>
        </p:nvSpPr>
        <p:spPr>
          <a:xfrm>
            <a:off x="902195" y="1475385"/>
            <a:ext cx="9924301" cy="4851468"/>
          </a:xfrm>
        </p:spPr>
        <p:txBody>
          <a:bodyPr>
            <a:normAutofit/>
          </a:bodyPr>
          <a:lstStyle/>
          <a:p>
            <a:pPr>
              <a:spcBef>
                <a:spcPts val="600"/>
              </a:spcBef>
            </a:pPr>
            <a:r>
              <a:rPr lang="zh-TW" altLang="en-US" sz="2400" dirty="0" smtClean="0">
                <a:latin typeface="Times New Roman" panose="02020603050405020304" pitchFamily="18" charset="0"/>
                <a:cs typeface="Times New Roman" panose="02020603050405020304" pitchFamily="18" charset="0"/>
              </a:rPr>
              <a:t>企業</a:t>
            </a:r>
            <a:r>
              <a:rPr lang="en-US" altLang="zh-TW" sz="2400" dirty="0" smtClean="0">
                <a:latin typeface="Times New Roman" panose="02020603050405020304" pitchFamily="18" charset="0"/>
                <a:cs typeface="Times New Roman" panose="02020603050405020304" pitchFamily="18" charset="0"/>
              </a:rPr>
              <a:t>ERP</a:t>
            </a:r>
            <a:r>
              <a:rPr lang="zh-TW" altLang="en-US" sz="2400" dirty="0" smtClean="0">
                <a:latin typeface="Times New Roman" panose="02020603050405020304" pitchFamily="18" charset="0"/>
                <a:cs typeface="Times New Roman" panose="02020603050405020304" pitchFamily="18" charset="0"/>
              </a:rPr>
              <a:t>作業彙集各項管理機能資料，基於資安考量，依</a:t>
            </a:r>
            <a:r>
              <a:rPr lang="en-US" altLang="zh-TW" sz="2400" dirty="0" smtClean="0">
                <a:latin typeface="Times New Roman" panose="02020603050405020304" pitchFamily="18" charset="0"/>
                <a:cs typeface="Times New Roman" panose="02020603050405020304" pitchFamily="18" charset="0"/>
              </a:rPr>
              <a:t>Oracle</a:t>
            </a:r>
            <a:r>
              <a:rPr lang="zh-TW" altLang="en-US" sz="2400" dirty="0" smtClean="0">
                <a:latin typeface="Times New Roman" panose="02020603050405020304" pitchFamily="18" charset="0"/>
                <a:cs typeface="Times New Roman" panose="02020603050405020304" pitchFamily="18" charset="0"/>
              </a:rPr>
              <a:t>資料庫使用管理細則規定，每年需變更一次密碼。</a:t>
            </a:r>
            <a:endParaRPr lang="en-US" altLang="zh-TW" sz="2400" dirty="0" smtClean="0">
              <a:latin typeface="Times New Roman" panose="02020603050405020304" pitchFamily="18" charset="0"/>
              <a:cs typeface="Times New Roman" panose="02020603050405020304" pitchFamily="18" charset="0"/>
            </a:endParaRPr>
          </a:p>
          <a:p>
            <a:pPr algn="just">
              <a:spcBef>
                <a:spcPts val="600"/>
              </a:spcBef>
            </a:pPr>
            <a:r>
              <a:rPr lang="zh-TW" altLang="en-US" sz="2400" dirty="0">
                <a:latin typeface="Times New Roman" panose="02020603050405020304" pitchFamily="18" charset="0"/>
                <a:cs typeface="Times New Roman" panose="02020603050405020304" pitchFamily="18" charset="0"/>
              </a:rPr>
              <a:t>因程式</a:t>
            </a:r>
            <a:r>
              <a:rPr lang="zh-TW" altLang="en-US" sz="2400" dirty="0" smtClean="0">
                <a:latin typeface="Times New Roman" panose="02020603050405020304" pitchFamily="18" charset="0"/>
                <a:cs typeface="Times New Roman" panose="02020603050405020304" pitchFamily="18" charset="0"/>
              </a:rPr>
              <a:t>人員維護帳號眾多，要避免遺漏修改密碼影響</a:t>
            </a:r>
            <a:r>
              <a:rPr lang="en-US" altLang="zh-TW" sz="2400" dirty="0" smtClean="0">
                <a:latin typeface="Times New Roman" panose="02020603050405020304" pitchFamily="18" charset="0"/>
                <a:cs typeface="Times New Roman" panose="02020603050405020304" pitchFamily="18" charset="0"/>
              </a:rPr>
              <a:t>ERP</a:t>
            </a:r>
            <a:r>
              <a:rPr lang="zh-TW" altLang="en-US" sz="2400" dirty="0" smtClean="0">
                <a:latin typeface="Times New Roman" panose="02020603050405020304" pitchFamily="18" charset="0"/>
                <a:cs typeface="Times New Roman" panose="02020603050405020304" pitchFamily="18" charset="0"/>
              </a:rPr>
              <a:t>電腦作業，制訂自動化變更密碼標準流程，確保密碼變更工作之完程性，亦提高密碼變更作業時效。</a:t>
            </a:r>
            <a:endParaRPr lang="en-US" altLang="zh-TW" sz="2400" dirty="0" smtClean="0">
              <a:latin typeface="Times New Roman" panose="02020603050405020304" pitchFamily="18" charset="0"/>
              <a:cs typeface="Times New Roman" panose="02020603050405020304" pitchFamily="18" charset="0"/>
            </a:endParaRPr>
          </a:p>
          <a:p>
            <a:pPr>
              <a:spcBef>
                <a:spcPts val="600"/>
              </a:spcBef>
            </a:pPr>
            <a:r>
              <a:rPr lang="zh-TW" altLang="en-US" sz="2400" dirty="0">
                <a:latin typeface="Times New Roman" panose="02020603050405020304" pitchFamily="18" charset="0"/>
                <a:cs typeface="Times New Roman" panose="02020603050405020304" pitchFamily="18" charset="0"/>
              </a:rPr>
              <a:t>需配合修改密碼項目</a:t>
            </a:r>
            <a:r>
              <a:rPr lang="zh-TW" altLang="en-US" sz="2400" dirty="0" smtClean="0">
                <a:latin typeface="Times New Roman" panose="02020603050405020304" pitchFamily="18" charset="0"/>
                <a:cs typeface="Times New Roman" panose="02020603050405020304" pitchFamily="18" charset="0"/>
              </a:rPr>
              <a:t>包含</a:t>
            </a:r>
            <a:r>
              <a:rPr lang="en-US" altLang="zh-TW" sz="2400" dirty="0" smtClean="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資料庫帳號</a:t>
            </a:r>
            <a:r>
              <a:rPr lang="en-US" altLang="zh-TW" sz="2400" dirty="0" smtClean="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含</a:t>
            </a:r>
            <a:r>
              <a:rPr lang="en-US" altLang="zh-TW" sz="2400" dirty="0" smtClean="0">
                <a:latin typeface="Times New Roman" panose="02020603050405020304" pitchFamily="18" charset="0"/>
                <a:cs typeface="Times New Roman" panose="02020603050405020304" pitchFamily="18" charset="0"/>
              </a:rPr>
              <a:t>ODBC</a:t>
            </a:r>
            <a:r>
              <a:rPr lang="zh-TW" altLang="en-US" sz="2400" dirty="0" smtClean="0">
                <a:latin typeface="Times New Roman" panose="02020603050405020304" pitchFamily="18" charset="0"/>
                <a:cs typeface="Times New Roman" panose="02020603050405020304" pitchFamily="18" charset="0"/>
              </a:rPr>
              <a:t>交換帳號</a:t>
            </a:r>
            <a:r>
              <a:rPr lang="en-US" altLang="zh-TW" sz="2400" dirty="0" smtClean="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a:t>
            </a:r>
            <a:r>
              <a:rPr lang="en-US" altLang="zh-TW" sz="2400" dirty="0" smtClean="0">
                <a:latin typeface="Times New Roman" panose="02020603050405020304" pitchFamily="18" charset="0"/>
                <a:cs typeface="Times New Roman" panose="02020603050405020304" pitchFamily="18" charset="0"/>
              </a:rPr>
              <a:t>AIX</a:t>
            </a:r>
            <a:r>
              <a:rPr lang="zh-TW" altLang="en-US" sz="2400" dirty="0" smtClean="0">
                <a:latin typeface="Times New Roman" panose="02020603050405020304" pitchFamily="18" charset="0"/>
                <a:cs typeface="Times New Roman" panose="02020603050405020304" pitchFamily="18" charset="0"/>
              </a:rPr>
              <a:t>帳號、</a:t>
            </a:r>
            <a:r>
              <a:rPr lang="en-US" altLang="zh-TW" sz="2400" dirty="0" smtClean="0">
                <a:latin typeface="Times New Roman" panose="02020603050405020304" pitchFamily="18" charset="0"/>
                <a:cs typeface="Times New Roman" panose="02020603050405020304" pitchFamily="18" charset="0"/>
              </a:rPr>
              <a:t>ERP</a:t>
            </a:r>
            <a:r>
              <a:rPr lang="zh-TW" altLang="en-US" sz="2400" dirty="0" smtClean="0">
                <a:latin typeface="Times New Roman" panose="02020603050405020304" pitchFamily="18" charset="0"/>
                <a:cs typeface="Times New Roman" panose="02020603050405020304" pitchFamily="18" charset="0"/>
              </a:rPr>
              <a:t>帳號設定</a:t>
            </a:r>
            <a:r>
              <a:rPr lang="en-US" altLang="zh-TW" sz="2400" dirty="0" smtClean="0">
                <a:latin typeface="Times New Roman" panose="02020603050405020304" pitchFamily="18" charset="0"/>
                <a:cs typeface="Times New Roman" panose="02020603050405020304" pitchFamily="18" charset="0"/>
              </a:rPr>
              <a:t>(ERP</a:t>
            </a:r>
            <a:r>
              <a:rPr lang="zh-TW" altLang="en-US" sz="2400" dirty="0" smtClean="0">
                <a:latin typeface="Times New Roman" panose="02020603050405020304" pitchFamily="18" charset="0"/>
                <a:cs typeface="Times New Roman" panose="02020603050405020304" pitchFamily="18" charset="0"/>
              </a:rPr>
              <a:t>入口</a:t>
            </a:r>
            <a:r>
              <a:rPr lang="en-US" altLang="zh-TW" sz="2400" dirty="0" smtClean="0">
                <a:latin typeface="Times New Roman" panose="02020603050405020304" pitchFamily="18" charset="0"/>
                <a:cs typeface="Times New Roman" panose="02020603050405020304" pitchFamily="18" charset="0"/>
              </a:rPr>
              <a:t>)</a:t>
            </a:r>
            <a:r>
              <a:rPr lang="zh-TW" altLang="en-US"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20</a:t>
            </a:fld>
            <a:endParaRPr lang="zh-TW" altLang="en-US" dirty="0"/>
          </a:p>
        </p:txBody>
      </p:sp>
      <p:grpSp>
        <p:nvGrpSpPr>
          <p:cNvPr id="5" name="群組 4"/>
          <p:cNvGrpSpPr/>
          <p:nvPr/>
        </p:nvGrpSpPr>
        <p:grpSpPr>
          <a:xfrm>
            <a:off x="1509918" y="943716"/>
            <a:ext cx="8861267" cy="310896"/>
            <a:chOff x="1554480" y="2160000"/>
            <a:chExt cx="8861267" cy="310896"/>
          </a:xfrm>
          <a:solidFill>
            <a:schemeClr val="bg1"/>
          </a:solidFill>
        </p:grpSpPr>
        <p:sp>
          <p:nvSpPr>
            <p:cNvPr id="6" name="圓角矩形 5"/>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圓角矩形 6"/>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8" name="圓角矩形 7"/>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帳號管理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向右箭號 9"/>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9182859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密碼定期</a:t>
            </a:r>
            <a:r>
              <a:rPr lang="zh-TW" altLang="en-US" dirty="0" smtClean="0"/>
              <a:t>修改</a:t>
            </a:r>
            <a:r>
              <a:rPr lang="en-US" altLang="zh-TW" dirty="0" smtClean="0"/>
              <a:t>-</a:t>
            </a:r>
            <a:r>
              <a:rPr lang="zh-TW" altLang="en-US" dirty="0" smtClean="0"/>
              <a:t>資料庫帳號</a:t>
            </a:r>
            <a:endParaRPr lang="zh-TW" altLang="en-US" dirty="0"/>
          </a:p>
        </p:txBody>
      </p:sp>
      <p:sp>
        <p:nvSpPr>
          <p:cNvPr id="3" name="內容版面配置區 2"/>
          <p:cNvSpPr>
            <a:spLocks noGrp="1"/>
          </p:cNvSpPr>
          <p:nvPr>
            <p:ph sz="half" idx="2"/>
          </p:nvPr>
        </p:nvSpPr>
        <p:spPr>
          <a:xfrm>
            <a:off x="902195" y="1310793"/>
            <a:ext cx="10309144" cy="1258671"/>
          </a:xfrm>
        </p:spPr>
        <p:txBody>
          <a:bodyPr>
            <a:normAutofit/>
          </a:bodyPr>
          <a:lstStyle/>
          <a:p>
            <a:r>
              <a:rPr lang="zh-TW" altLang="en-US" sz="2400" dirty="0" smtClean="0"/>
              <a:t>配合資訊安全管理，資料庫密碼需定期修改。</a:t>
            </a:r>
            <a:endParaRPr lang="en-US" altLang="zh-TW" sz="2400" dirty="0" smtClean="0"/>
          </a:p>
          <a:p>
            <a:pPr>
              <a:spcBef>
                <a:spcPts val="0"/>
              </a:spcBef>
            </a:pPr>
            <a:r>
              <a:rPr lang="zh-TW" altLang="en-US" sz="2400" dirty="0" smtClean="0"/>
              <a:t>資料庫密碼變更已制訂標準執行程式。</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21</a:t>
            </a:fld>
            <a:endParaRPr lang="zh-TW" altLang="en-US" dirty="0"/>
          </a:p>
        </p:txBody>
      </p:sp>
      <p:pic>
        <p:nvPicPr>
          <p:cNvPr id="6" name="圖片 5"/>
          <p:cNvPicPr>
            <a:picLocks noChangeAspect="1"/>
          </p:cNvPicPr>
          <p:nvPr/>
        </p:nvPicPr>
        <p:blipFill>
          <a:blip r:embed="rId2"/>
          <a:stretch>
            <a:fillRect/>
          </a:stretch>
        </p:blipFill>
        <p:spPr>
          <a:xfrm>
            <a:off x="1351046" y="2193443"/>
            <a:ext cx="9411442" cy="4359220"/>
          </a:xfrm>
          <a:prstGeom prst="rect">
            <a:avLst/>
          </a:prstGeom>
        </p:spPr>
      </p:pic>
      <p:grpSp>
        <p:nvGrpSpPr>
          <p:cNvPr id="8" name="群組 7"/>
          <p:cNvGrpSpPr/>
          <p:nvPr/>
        </p:nvGrpSpPr>
        <p:grpSpPr>
          <a:xfrm>
            <a:off x="1509918" y="943716"/>
            <a:ext cx="8861267" cy="310896"/>
            <a:chOff x="1554480" y="2160000"/>
            <a:chExt cx="8861267" cy="310896"/>
          </a:xfrm>
          <a:solidFill>
            <a:schemeClr val="bg1"/>
          </a:solidFill>
        </p:grpSpPr>
        <p:sp>
          <p:nvSpPr>
            <p:cNvPr id="9" name="圓角矩形 8"/>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1" name="圓角矩形 10"/>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圓角矩形 11"/>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帳號管理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向右箭號 14"/>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1315613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密碼定期修改</a:t>
            </a:r>
            <a:r>
              <a:rPr lang="en-US" altLang="zh-TW" dirty="0" smtClean="0"/>
              <a:t>-</a:t>
            </a:r>
            <a:r>
              <a:rPr lang="zh-TW" altLang="en-US" dirty="0" smtClean="0"/>
              <a:t>資料交換帳號</a:t>
            </a:r>
            <a:endParaRPr lang="zh-TW" altLang="en-US" dirty="0"/>
          </a:p>
        </p:txBody>
      </p:sp>
      <p:sp>
        <p:nvSpPr>
          <p:cNvPr id="3" name="內容版面配置區 2"/>
          <p:cNvSpPr>
            <a:spLocks noGrp="1"/>
          </p:cNvSpPr>
          <p:nvPr>
            <p:ph sz="half" idx="2"/>
          </p:nvPr>
        </p:nvSpPr>
        <p:spPr>
          <a:xfrm>
            <a:off x="902195" y="1420521"/>
            <a:ext cx="10309144" cy="591159"/>
          </a:xfrm>
        </p:spPr>
        <p:txBody>
          <a:bodyPr>
            <a:normAutofit/>
          </a:bodyPr>
          <a:lstStyle/>
          <a:p>
            <a:r>
              <a:rPr lang="zh-TW" altLang="en-US" sz="2400" dirty="0" smtClean="0">
                <a:latin typeface="Times New Roman" panose="02020603050405020304" pitchFamily="18" charset="0"/>
                <a:cs typeface="Times New Roman" panose="02020603050405020304" pitchFamily="18" charset="0"/>
              </a:rPr>
              <a:t>提供經辦人員使用之</a:t>
            </a:r>
            <a:r>
              <a:rPr lang="en-US" altLang="zh-TW" sz="2400" dirty="0" smtClean="0">
                <a:latin typeface="Times New Roman" panose="02020603050405020304" pitchFamily="18" charset="0"/>
                <a:cs typeface="Times New Roman" panose="02020603050405020304" pitchFamily="18" charset="0"/>
              </a:rPr>
              <a:t>ODBC</a:t>
            </a:r>
            <a:r>
              <a:rPr lang="zh-TW" altLang="en-US" sz="2400" dirty="0" smtClean="0">
                <a:latin typeface="Times New Roman" panose="02020603050405020304" pitchFamily="18" charset="0"/>
                <a:cs typeface="Times New Roman" panose="02020603050405020304" pitchFamily="18" charset="0"/>
              </a:rPr>
              <a:t>帳號亦需定期修改密碼。</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22</a:t>
            </a:fld>
            <a:endParaRPr lang="zh-TW" altLang="en-US" dirty="0"/>
          </a:p>
        </p:txBody>
      </p:sp>
      <p:pic>
        <p:nvPicPr>
          <p:cNvPr id="5" name="圖片 4"/>
          <p:cNvPicPr>
            <a:picLocks noChangeAspect="1"/>
          </p:cNvPicPr>
          <p:nvPr/>
        </p:nvPicPr>
        <p:blipFill>
          <a:blip r:embed="rId2"/>
          <a:stretch>
            <a:fillRect/>
          </a:stretch>
        </p:blipFill>
        <p:spPr>
          <a:xfrm>
            <a:off x="1233901" y="1965961"/>
            <a:ext cx="9719153" cy="4517136"/>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帳號管理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4223043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Times New Roman" panose="02020603050405020304" pitchFamily="18" charset="0"/>
                <a:cs typeface="Times New Roman" panose="02020603050405020304" pitchFamily="18" charset="0"/>
              </a:rPr>
              <a:t>密碼定期修改</a:t>
            </a:r>
            <a:r>
              <a:rPr lang="en-US" altLang="zh-TW" dirty="0" smtClean="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aix</a:t>
            </a:r>
            <a:r>
              <a:rPr lang="zh-TW" altLang="en-US" dirty="0">
                <a:latin typeface="Times New Roman" panose="02020603050405020304" pitchFamily="18" charset="0"/>
                <a:cs typeface="Times New Roman" panose="02020603050405020304" pitchFamily="18" charset="0"/>
              </a:rPr>
              <a:t>帳號</a:t>
            </a:r>
          </a:p>
        </p:txBody>
      </p:sp>
      <p:sp>
        <p:nvSpPr>
          <p:cNvPr id="3" name="內容版面配置區 2"/>
          <p:cNvSpPr>
            <a:spLocks noGrp="1"/>
          </p:cNvSpPr>
          <p:nvPr>
            <p:ph sz="half" idx="2"/>
          </p:nvPr>
        </p:nvSpPr>
        <p:spPr>
          <a:xfrm>
            <a:off x="902195" y="1310793"/>
            <a:ext cx="10309144" cy="892911"/>
          </a:xfrm>
        </p:spPr>
        <p:txBody>
          <a:bodyPr>
            <a:normAutofit/>
          </a:bodyPr>
          <a:lstStyle/>
          <a:p>
            <a:r>
              <a:rPr lang="zh-TW" altLang="en-US" sz="2400" dirty="0">
                <a:latin typeface="Times New Roman" panose="02020603050405020304" pitchFamily="18" charset="0"/>
                <a:cs typeface="Times New Roman" panose="02020603050405020304" pitchFamily="18" charset="0"/>
              </a:rPr>
              <a:t>配合資訊安全管理，</a:t>
            </a:r>
            <a:r>
              <a:rPr lang="en-US" altLang="zh-TW" sz="2400" dirty="0">
                <a:latin typeface="Times New Roman" panose="02020603050405020304" pitchFamily="18" charset="0"/>
                <a:cs typeface="Times New Roman" panose="02020603050405020304" pitchFamily="18" charset="0"/>
              </a:rPr>
              <a:t>AIX</a:t>
            </a:r>
            <a:r>
              <a:rPr lang="zh-TW" altLang="en-US" sz="2400" dirty="0">
                <a:latin typeface="Times New Roman" panose="02020603050405020304" pitchFamily="18" charset="0"/>
                <a:cs typeface="Times New Roman" panose="02020603050405020304" pitchFamily="18" charset="0"/>
              </a:rPr>
              <a:t>帳號密碼需定期修改。</a:t>
            </a:r>
            <a:endParaRPr lang="en-US" altLang="zh-TW" sz="2400" dirty="0">
              <a:latin typeface="Times New Roman" panose="02020603050405020304" pitchFamily="18" charset="0"/>
              <a:cs typeface="Times New Roman" panose="02020603050405020304" pitchFamily="18" charset="0"/>
            </a:endParaRPr>
          </a:p>
          <a:p>
            <a:pPr>
              <a:spcBef>
                <a:spcPts val="0"/>
              </a:spcBef>
            </a:pPr>
            <a:r>
              <a:rPr lang="zh-TW" altLang="en-US" sz="2400" dirty="0">
                <a:latin typeface="Times New Roman" panose="02020603050405020304" pitchFamily="18" charset="0"/>
                <a:cs typeface="Times New Roman" panose="02020603050405020304" pitchFamily="18" charset="0"/>
              </a:rPr>
              <a:t>資料庫密碼變更已制訂標準執行程式。</a:t>
            </a:r>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23</a:t>
            </a:fld>
            <a:endParaRPr lang="zh-TW" altLang="en-US" dirty="0"/>
          </a:p>
        </p:txBody>
      </p:sp>
      <p:pic>
        <p:nvPicPr>
          <p:cNvPr id="5" name="圖片 4"/>
          <p:cNvPicPr>
            <a:picLocks noChangeAspect="1"/>
          </p:cNvPicPr>
          <p:nvPr/>
        </p:nvPicPr>
        <p:blipFill>
          <a:blip r:embed="rId2"/>
          <a:stretch>
            <a:fillRect/>
          </a:stretch>
        </p:blipFill>
        <p:spPr>
          <a:xfrm>
            <a:off x="1366680" y="2203704"/>
            <a:ext cx="9634347" cy="4458367"/>
          </a:xfrm>
          <a:prstGeom prst="rect">
            <a:avLst/>
          </a:prstGeom>
        </p:spPr>
      </p:pic>
      <p:grpSp>
        <p:nvGrpSpPr>
          <p:cNvPr id="14" name="群組 13"/>
          <p:cNvGrpSpPr/>
          <p:nvPr/>
        </p:nvGrpSpPr>
        <p:grpSpPr>
          <a:xfrm>
            <a:off x="1509918" y="943716"/>
            <a:ext cx="8861267" cy="310896"/>
            <a:chOff x="1554480" y="2160000"/>
            <a:chExt cx="8861267" cy="310896"/>
          </a:xfrm>
          <a:solidFill>
            <a:schemeClr val="bg1"/>
          </a:solidFill>
        </p:grpSpPr>
        <p:sp>
          <p:nvSpPr>
            <p:cNvPr id="15" name="圓角矩形 14"/>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圓角矩形 15"/>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7" name="圓角矩形 16"/>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圓角矩形 17"/>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帳號管理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向右箭號 18"/>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向右箭號 19"/>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向右箭號 20"/>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3098815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050"/>
          <p:cNvSpPr>
            <a:spLocks noGrp="1" noChangeArrowheads="1"/>
          </p:cNvSpPr>
          <p:nvPr>
            <p:ph type="title"/>
          </p:nvPr>
        </p:nvSpPr>
        <p:spPr/>
        <p:txBody>
          <a:bodyPr/>
          <a:lstStyle/>
          <a:p>
            <a:pPr algn="l">
              <a:defRPr/>
            </a:pPr>
            <a:r>
              <a:rPr lang="zh-TW" altLang="en-US" sz="3200"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磁碟容量使用超限提示</a:t>
            </a:r>
            <a:endParaRPr lang="zh-TW" altLang="en-US" sz="3200" dirty="0">
              <a:solidFill>
                <a:schemeClr val="tx1"/>
              </a:solidFill>
              <a:latin typeface="台塑體" panose="02010500000000000000" pitchFamily="2" charset="-120"/>
              <a:ea typeface="台塑體" panose="02010500000000000000" pitchFamily="2" charset="-120"/>
              <a:cs typeface="台塑體" panose="02010500000000000000" pitchFamily="2" charset="-120"/>
            </a:endParaRPr>
          </a:p>
        </p:txBody>
      </p:sp>
      <p:sp>
        <p:nvSpPr>
          <p:cNvPr id="2" name="內容版面配置區 1"/>
          <p:cNvSpPr>
            <a:spLocks noGrp="1"/>
          </p:cNvSpPr>
          <p:nvPr>
            <p:ph sz="half" idx="2"/>
          </p:nvPr>
        </p:nvSpPr>
        <p:spPr/>
        <p:txBody>
          <a:bodyPr/>
          <a:lstStyle/>
          <a:p>
            <a:r>
              <a:rPr lang="zh-TW" altLang="en-US" sz="2400" dirty="0">
                <a:cs typeface="新細明體" panose="02020300000000000000" pitchFamily="18" charset="-120"/>
              </a:rPr>
              <a:t>每月</a:t>
            </a:r>
            <a:r>
              <a:rPr lang="en-US" altLang="zh-TW" sz="2400" dirty="0">
                <a:cs typeface="新細明體" panose="02020300000000000000" pitchFamily="18" charset="-120"/>
              </a:rPr>
              <a:t>21日針對AIX</a:t>
            </a:r>
            <a:r>
              <a:rPr lang="zh-TW" altLang="en-US" sz="2400" dirty="0">
                <a:cs typeface="新細明體" panose="02020300000000000000" pitchFamily="18" charset="-120"/>
              </a:rPr>
              <a:t>、</a:t>
            </a:r>
            <a:r>
              <a:rPr lang="en-US" altLang="zh-TW" sz="2400" dirty="0">
                <a:cs typeface="新細明體" panose="02020300000000000000" pitchFamily="18" charset="-120"/>
              </a:rPr>
              <a:t>DB使用量超過85%之帳號出表提示</a:t>
            </a:r>
            <a:r>
              <a:rPr lang="en-US" altLang="zh-TW" sz="2400" dirty="0" smtClean="0">
                <a:cs typeface="新細明體" panose="02020300000000000000" pitchFamily="18" charset="-120"/>
              </a:rPr>
              <a:t>。</a:t>
            </a:r>
            <a:r>
              <a:rPr lang="zh-TW" altLang="en-US" sz="2400" dirty="0" smtClean="0">
                <a:cs typeface="新細明體" panose="02020300000000000000" pitchFamily="18" charset="-120"/>
              </a:rPr>
              <a:t>供程式維護人員判斷是否備援清檔或申請擴大容量。</a:t>
            </a:r>
            <a:endParaRPr lang="en-US" altLang="zh-TW" sz="2400" dirty="0">
              <a:cs typeface="新細明體" panose="02020300000000000000" pitchFamily="18" charset="-120"/>
            </a:endParaRPr>
          </a:p>
          <a:p>
            <a:pPr marL="0" indent="0">
              <a:buNone/>
            </a:pPr>
            <a:endParaRPr lang="zh-TW" altLang="en-US" dirty="0"/>
          </a:p>
        </p:txBody>
      </p:sp>
      <p:sp>
        <p:nvSpPr>
          <p:cNvPr id="87043" name="投影片編號版面配置區 5"/>
          <p:cNvSpPr>
            <a:spLocks noGrp="1"/>
          </p:cNvSpPr>
          <p:nvPr>
            <p:ph type="sldNum" sz="quarter" idx="29"/>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300000000000000" pitchFamily="18" charset="-120"/>
              </a:defRPr>
            </a:lvl1pPr>
            <a:lvl2pPr marL="742950" indent="-285750">
              <a:defRPr kumimoji="1">
                <a:solidFill>
                  <a:schemeClr val="tx1"/>
                </a:solidFill>
                <a:latin typeface="Arial" panose="020B0604020202020204" pitchFamily="34" charset="0"/>
                <a:ea typeface="新細明體" panose="02020300000000000000" pitchFamily="18" charset="-120"/>
              </a:defRPr>
            </a:lvl2pPr>
            <a:lvl3pPr marL="1143000" indent="-228600">
              <a:defRPr kumimoji="1">
                <a:solidFill>
                  <a:schemeClr val="tx1"/>
                </a:solidFill>
                <a:latin typeface="Arial" panose="020B0604020202020204" pitchFamily="34" charset="0"/>
                <a:ea typeface="新細明體" panose="02020300000000000000" pitchFamily="18" charset="-120"/>
              </a:defRPr>
            </a:lvl3pPr>
            <a:lvl4pPr marL="1600200" indent="-228600">
              <a:defRPr kumimoji="1">
                <a:solidFill>
                  <a:schemeClr val="tx1"/>
                </a:solidFill>
                <a:latin typeface="Arial" panose="020B0604020202020204" pitchFamily="34" charset="0"/>
                <a:ea typeface="新細明體" panose="02020300000000000000" pitchFamily="18" charset="-120"/>
              </a:defRPr>
            </a:lvl4pPr>
            <a:lvl5pPr marL="2057400" indent="-228600">
              <a:defRPr kumimoji="1">
                <a:solidFill>
                  <a:schemeClr val="tx1"/>
                </a:solidFill>
                <a:latin typeface="Arial" panose="020B0604020202020204" pitchFamily="34" charset="0"/>
                <a:ea typeface="新細明體" panose="020203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9pPr>
          </a:lstStyle>
          <a:p>
            <a:fld id="{F3A39078-DF75-4C5F-A27B-EE7CC318D112}" type="slidenum">
              <a:rPr lang="zh-TW" altLang="en-US" sz="1200">
                <a:solidFill>
                  <a:schemeClr val="tx1">
                    <a:lumMod val="85000"/>
                    <a:lumOff val="15000"/>
                  </a:schemeClr>
                </a:solidFill>
                <a:latin typeface="Candara" panose="020E0502030303020204" pitchFamily="34" charset="0"/>
                <a:ea typeface="標楷體" panose="03000509000000000000" pitchFamily="65" charset="-120"/>
              </a:rPr>
              <a:pPr/>
              <a:t>24</a:t>
            </a:fld>
            <a:endParaRPr lang="en-US" altLang="zh-TW" sz="1200" dirty="0">
              <a:solidFill>
                <a:schemeClr val="tx1">
                  <a:lumMod val="85000"/>
                  <a:lumOff val="15000"/>
                </a:schemeClr>
              </a:solidFill>
              <a:latin typeface="Candara" panose="020E0502030303020204" pitchFamily="34" charset="0"/>
              <a:ea typeface="標楷體" panose="03000509000000000000" pitchFamily="65" charset="-120"/>
            </a:endParaRPr>
          </a:p>
        </p:txBody>
      </p:sp>
      <p:pic>
        <p:nvPicPr>
          <p:cNvPr id="4" name="圖片 3"/>
          <p:cNvPicPr>
            <a:picLocks noChangeAspect="1"/>
          </p:cNvPicPr>
          <p:nvPr/>
        </p:nvPicPr>
        <p:blipFill>
          <a:blip r:embed="rId2"/>
          <a:stretch>
            <a:fillRect/>
          </a:stretch>
        </p:blipFill>
        <p:spPr>
          <a:xfrm>
            <a:off x="1891655" y="2208738"/>
            <a:ext cx="4783465" cy="4258078"/>
          </a:xfrm>
          <a:prstGeom prst="rect">
            <a:avLst/>
          </a:prstGeom>
        </p:spPr>
      </p:pic>
      <p:pic>
        <p:nvPicPr>
          <p:cNvPr id="5" name="圖片 4"/>
          <p:cNvPicPr>
            <a:picLocks noChangeAspect="1"/>
          </p:cNvPicPr>
          <p:nvPr/>
        </p:nvPicPr>
        <p:blipFill>
          <a:blip r:embed="rId3"/>
          <a:stretch>
            <a:fillRect/>
          </a:stretch>
        </p:blipFill>
        <p:spPr>
          <a:xfrm>
            <a:off x="6148729" y="4072550"/>
            <a:ext cx="4915647" cy="1494659"/>
          </a:xfrm>
          <a:prstGeom prst="rect">
            <a:avLst/>
          </a:prstGeom>
        </p:spPr>
      </p:pic>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磁碟</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53891216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050"/>
          <p:cNvSpPr>
            <a:spLocks noGrp="1" noChangeArrowheads="1"/>
          </p:cNvSpPr>
          <p:nvPr>
            <p:ph type="title"/>
          </p:nvPr>
        </p:nvSpPr>
        <p:spPr/>
        <p:txBody>
          <a:bodyPr/>
          <a:lstStyle/>
          <a:p>
            <a:pPr algn="l">
              <a:defRPr/>
            </a:pPr>
            <a:r>
              <a:rPr lang="zh-TW" altLang="en-US" dirty="0">
                <a:solidFill>
                  <a:schemeClr val="tx1"/>
                </a:solidFill>
                <a:latin typeface="台塑體" panose="02010500000000000000" pitchFamily="2" charset="-120"/>
                <a:ea typeface="台塑體" panose="02010500000000000000" pitchFamily="2" charset="-120"/>
                <a:cs typeface="台塑體" panose="02010500000000000000" pitchFamily="2" charset="-120"/>
              </a:rPr>
              <a:t>二個</a:t>
            </a:r>
            <a:r>
              <a:rPr lang="zh-TW" altLang="en-US"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月未異動作業目錄反應</a:t>
            </a:r>
            <a:endParaRPr lang="zh-TW" altLang="en-US" sz="3200" dirty="0">
              <a:solidFill>
                <a:schemeClr val="tx1"/>
              </a:solidFill>
              <a:latin typeface="台塑體" panose="02010500000000000000" pitchFamily="2" charset="-120"/>
              <a:ea typeface="台塑體" panose="02010500000000000000" pitchFamily="2" charset="-120"/>
              <a:cs typeface="台塑體" panose="02010500000000000000" pitchFamily="2" charset="-120"/>
            </a:endParaRPr>
          </a:p>
        </p:txBody>
      </p:sp>
      <p:sp>
        <p:nvSpPr>
          <p:cNvPr id="4" name="內容版面配置區 3"/>
          <p:cNvSpPr>
            <a:spLocks noGrp="1"/>
          </p:cNvSpPr>
          <p:nvPr>
            <p:ph sz="half" idx="2"/>
          </p:nvPr>
        </p:nvSpPr>
        <p:spPr/>
        <p:txBody>
          <a:bodyPr/>
          <a:lstStyle/>
          <a:p>
            <a:r>
              <a:rPr lang="zh-TW" altLang="en-US" sz="2400" dirty="0">
                <a:latin typeface="Times New Roman" panose="02020603050405020304" pitchFamily="18" charset="0"/>
                <a:cs typeface="Times New Roman" panose="02020603050405020304" pitchFamily="18" charset="0"/>
              </a:rPr>
              <a:t>每月</a:t>
            </a:r>
            <a:r>
              <a:rPr lang="en-US" altLang="zh-TW" sz="2400" dirty="0">
                <a:latin typeface="Times New Roman" panose="02020603050405020304" pitchFamily="18" charset="0"/>
                <a:cs typeface="Times New Roman" panose="02020603050405020304" pitchFamily="18" charset="0"/>
              </a:rPr>
              <a:t>21</a:t>
            </a:r>
            <a:r>
              <a:rPr lang="zh-TW" altLang="en-US" sz="2400" dirty="0">
                <a:latin typeface="Times New Roman" panose="02020603050405020304" pitchFamily="18" charset="0"/>
                <a:cs typeface="Times New Roman" panose="02020603050405020304" pitchFamily="18" charset="0"/>
              </a:rPr>
              <a:t>日針對</a:t>
            </a:r>
            <a:r>
              <a:rPr lang="zh-TW" altLang="en-US" sz="2400" dirty="0" smtClean="0">
                <a:latin typeface="Times New Roman" panose="02020603050405020304" pitchFamily="18" charset="0"/>
                <a:cs typeface="Times New Roman" panose="02020603050405020304" pitchFamily="18" charset="0"/>
              </a:rPr>
              <a:t>連續未</a:t>
            </a:r>
            <a:r>
              <a:rPr lang="zh-TW" altLang="en-US" sz="2400" dirty="0">
                <a:latin typeface="Times New Roman" panose="02020603050405020304" pitchFamily="18" charset="0"/>
                <a:cs typeface="Times New Roman" panose="02020603050405020304" pitchFamily="18" charset="0"/>
              </a:rPr>
              <a:t>使用</a:t>
            </a:r>
            <a:r>
              <a:rPr lang="en-US" altLang="zh-TW" sz="2400" dirty="0">
                <a:latin typeface="Times New Roman" panose="02020603050405020304" pitchFamily="18" charset="0"/>
                <a:cs typeface="Times New Roman" panose="02020603050405020304" pitchFamily="18" charset="0"/>
              </a:rPr>
              <a:t>AIX</a:t>
            </a:r>
            <a:r>
              <a:rPr lang="zh-TW" altLang="en-US" sz="2400" dirty="0">
                <a:latin typeface="Times New Roman" panose="02020603050405020304" pitchFamily="18" charset="0"/>
                <a:cs typeface="Times New Roman" panose="02020603050405020304" pitchFamily="18" charset="0"/>
              </a:rPr>
              <a:t>目錄發送「未異動作業目錄提示表」，供作業維護人員確認是否保留或註銷，需保留時經其組長確認後，送回系統組處理。</a:t>
            </a:r>
            <a:endParaRPr lang="en-US" altLang="zh-TW" sz="2400"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87043" name="投影片編號版面配置區 5"/>
          <p:cNvSpPr>
            <a:spLocks noGrp="1"/>
          </p:cNvSpPr>
          <p:nvPr>
            <p:ph type="sldNum" sz="quarter" idx="29"/>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300000000000000" pitchFamily="18" charset="-120"/>
              </a:defRPr>
            </a:lvl1pPr>
            <a:lvl2pPr marL="742950" indent="-285750">
              <a:defRPr kumimoji="1">
                <a:solidFill>
                  <a:schemeClr val="tx1"/>
                </a:solidFill>
                <a:latin typeface="Arial" panose="020B0604020202020204" pitchFamily="34" charset="0"/>
                <a:ea typeface="新細明體" panose="02020300000000000000" pitchFamily="18" charset="-120"/>
              </a:defRPr>
            </a:lvl2pPr>
            <a:lvl3pPr marL="1143000" indent="-228600">
              <a:defRPr kumimoji="1">
                <a:solidFill>
                  <a:schemeClr val="tx1"/>
                </a:solidFill>
                <a:latin typeface="Arial" panose="020B0604020202020204" pitchFamily="34" charset="0"/>
                <a:ea typeface="新細明體" panose="02020300000000000000" pitchFamily="18" charset="-120"/>
              </a:defRPr>
            </a:lvl3pPr>
            <a:lvl4pPr marL="1600200" indent="-228600">
              <a:defRPr kumimoji="1">
                <a:solidFill>
                  <a:schemeClr val="tx1"/>
                </a:solidFill>
                <a:latin typeface="Arial" panose="020B0604020202020204" pitchFamily="34" charset="0"/>
                <a:ea typeface="新細明體" panose="02020300000000000000" pitchFamily="18" charset="-120"/>
              </a:defRPr>
            </a:lvl4pPr>
            <a:lvl5pPr marL="2057400" indent="-228600">
              <a:defRPr kumimoji="1">
                <a:solidFill>
                  <a:schemeClr val="tx1"/>
                </a:solidFill>
                <a:latin typeface="Arial" panose="020B0604020202020204" pitchFamily="34" charset="0"/>
                <a:ea typeface="新細明體" panose="020203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9pPr>
          </a:lstStyle>
          <a:p>
            <a:fld id="{F3A39078-DF75-4C5F-A27B-EE7CC318D112}" type="slidenum">
              <a:rPr lang="zh-TW" altLang="en-US" sz="1200">
                <a:solidFill>
                  <a:schemeClr val="bg1"/>
                </a:solidFill>
                <a:latin typeface="Candara" panose="020E0502030303020204" pitchFamily="34" charset="0"/>
                <a:ea typeface="標楷體" panose="03000509000000000000" pitchFamily="65" charset="-120"/>
              </a:rPr>
              <a:pPr/>
              <a:t>25</a:t>
            </a:fld>
            <a:endParaRPr lang="en-US" altLang="zh-TW" sz="1200" dirty="0">
              <a:solidFill>
                <a:schemeClr val="bg1"/>
              </a:solidFill>
              <a:latin typeface="Candara" panose="020E0502030303020204" pitchFamily="34" charset="0"/>
              <a:ea typeface="標楷體" panose="03000509000000000000" pitchFamily="65" charset="-120"/>
            </a:endParaRPr>
          </a:p>
        </p:txBody>
      </p:sp>
      <p:pic>
        <p:nvPicPr>
          <p:cNvPr id="2" name="圖片 1"/>
          <p:cNvPicPr>
            <a:picLocks noChangeAspect="1"/>
          </p:cNvPicPr>
          <p:nvPr/>
        </p:nvPicPr>
        <p:blipFill>
          <a:blip r:embed="rId2"/>
          <a:stretch>
            <a:fillRect/>
          </a:stretch>
        </p:blipFill>
        <p:spPr>
          <a:xfrm>
            <a:off x="1245168" y="2555077"/>
            <a:ext cx="6496336" cy="3456384"/>
          </a:xfrm>
          <a:prstGeom prst="rect">
            <a:avLst/>
          </a:prstGeom>
        </p:spPr>
      </p:pic>
      <p:pic>
        <p:nvPicPr>
          <p:cNvPr id="3" name="圖片 2"/>
          <p:cNvPicPr>
            <a:picLocks noChangeAspect="1"/>
          </p:cNvPicPr>
          <p:nvPr/>
        </p:nvPicPr>
        <p:blipFill>
          <a:blip r:embed="rId3"/>
          <a:stretch>
            <a:fillRect/>
          </a:stretch>
        </p:blipFill>
        <p:spPr>
          <a:xfrm>
            <a:off x="6378437" y="3492877"/>
            <a:ext cx="4832902" cy="2962676"/>
          </a:xfrm>
          <a:prstGeom prst="rect">
            <a:avLst/>
          </a:prstGeom>
        </p:spPr>
      </p:pic>
      <p:grpSp>
        <p:nvGrpSpPr>
          <p:cNvPr id="8" name="群組 7"/>
          <p:cNvGrpSpPr/>
          <p:nvPr/>
        </p:nvGrpSpPr>
        <p:grpSpPr>
          <a:xfrm>
            <a:off x="1509918" y="943716"/>
            <a:ext cx="8861267" cy="310896"/>
            <a:chOff x="1554480" y="2160000"/>
            <a:chExt cx="8861267" cy="310896"/>
          </a:xfrm>
          <a:solidFill>
            <a:schemeClr val="bg1"/>
          </a:solidFill>
        </p:grpSpPr>
        <p:sp>
          <p:nvSpPr>
            <p:cNvPr id="9" name="圓角矩形 8"/>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1" name="圓角矩形 10"/>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圓角矩形 11"/>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磁碟</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向右箭號 14"/>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270267736"/>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050"/>
          <p:cNvSpPr>
            <a:spLocks noGrp="1" noChangeArrowheads="1"/>
          </p:cNvSpPr>
          <p:nvPr>
            <p:ph type="title"/>
          </p:nvPr>
        </p:nvSpPr>
        <p:spPr/>
        <p:txBody>
          <a:bodyPr/>
          <a:lstStyle/>
          <a:p>
            <a:pPr algn="l">
              <a:defRPr/>
            </a:pPr>
            <a:r>
              <a:rPr lang="zh-TW" altLang="en-US" dirty="0">
                <a:solidFill>
                  <a:schemeClr val="tx1"/>
                </a:solidFill>
                <a:latin typeface="台塑體" panose="02010500000000000000" pitchFamily="2" charset="-120"/>
                <a:ea typeface="台塑體" panose="02010500000000000000" pitchFamily="2" charset="-120"/>
                <a:cs typeface="台塑體" panose="02010500000000000000" pitchFamily="2" charset="-120"/>
              </a:rPr>
              <a:t>三個</a:t>
            </a:r>
            <a:r>
              <a:rPr lang="zh-TW" altLang="en-US"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月未異動清檔提示表</a:t>
            </a:r>
            <a:endParaRPr lang="zh-TW" altLang="en-US" sz="3200" dirty="0">
              <a:solidFill>
                <a:schemeClr val="tx1"/>
              </a:solidFill>
              <a:latin typeface="台塑體" panose="02010500000000000000" pitchFamily="2" charset="-120"/>
              <a:ea typeface="台塑體" panose="02010500000000000000" pitchFamily="2" charset="-120"/>
              <a:cs typeface="台塑體" panose="02010500000000000000" pitchFamily="2" charset="-120"/>
            </a:endParaRPr>
          </a:p>
        </p:txBody>
      </p:sp>
      <p:sp>
        <p:nvSpPr>
          <p:cNvPr id="2" name="內容版面配置區 1"/>
          <p:cNvSpPr>
            <a:spLocks noGrp="1"/>
          </p:cNvSpPr>
          <p:nvPr>
            <p:ph sz="half" idx="2"/>
          </p:nvPr>
        </p:nvSpPr>
        <p:spPr>
          <a:xfrm>
            <a:off x="902195" y="1310793"/>
            <a:ext cx="10309144" cy="1286103"/>
          </a:xfrm>
        </p:spPr>
        <p:txBody>
          <a:bodyPr/>
          <a:lstStyle/>
          <a:p>
            <a:r>
              <a:rPr lang="zh-TW" altLang="en-US" sz="2400" dirty="0">
                <a:cs typeface="新細明體" panose="02020300000000000000" pitchFamily="18" charset="-120"/>
              </a:rPr>
              <a:t>每月</a:t>
            </a:r>
            <a:r>
              <a:rPr lang="en-US" altLang="zh-TW" sz="2400" dirty="0">
                <a:cs typeface="新細明體" panose="02020300000000000000" pitchFamily="18" charset="-120"/>
              </a:rPr>
              <a:t>11</a:t>
            </a:r>
            <a:r>
              <a:rPr lang="zh-TW" altLang="en-US" sz="2400" dirty="0">
                <a:cs typeface="新細明體" panose="02020300000000000000" pitchFamily="18" charset="-120"/>
              </a:rPr>
              <a:t>日系統人員需將已連續三個月未使用之檔案整理成「三個月未異動清檔提示表」，供作業維護人員清檔，若持續未清檔主管可考量是否評核扣減。</a:t>
            </a:r>
            <a:endParaRPr lang="en-US" altLang="zh-TW" sz="2400" dirty="0">
              <a:cs typeface="新細明體" panose="02020300000000000000" pitchFamily="18" charset="-120"/>
            </a:endParaRPr>
          </a:p>
          <a:p>
            <a:pPr marL="0" indent="0">
              <a:buNone/>
            </a:pPr>
            <a:endParaRPr lang="en-US" altLang="zh-TW" dirty="0">
              <a:cs typeface="新細明體" panose="02020300000000000000" pitchFamily="18" charset="-120"/>
            </a:endParaRPr>
          </a:p>
        </p:txBody>
      </p:sp>
      <p:grpSp>
        <p:nvGrpSpPr>
          <p:cNvPr id="8" name="群組 7"/>
          <p:cNvGrpSpPr/>
          <p:nvPr/>
        </p:nvGrpSpPr>
        <p:grpSpPr>
          <a:xfrm>
            <a:off x="1509918" y="943716"/>
            <a:ext cx="8861267" cy="310896"/>
            <a:chOff x="1554480" y="2160000"/>
            <a:chExt cx="8861267" cy="310896"/>
          </a:xfrm>
          <a:solidFill>
            <a:schemeClr val="bg1"/>
          </a:solidFill>
        </p:grpSpPr>
        <p:sp>
          <p:nvSpPr>
            <p:cNvPr id="9" name="圓角矩形 8"/>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1" name="圓角矩形 10"/>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圓角矩形 11"/>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磁碟</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向右箭號 14"/>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pic>
        <p:nvPicPr>
          <p:cNvPr id="3" name="圖片 2"/>
          <p:cNvPicPr>
            <a:picLocks noChangeAspect="1"/>
          </p:cNvPicPr>
          <p:nvPr/>
        </p:nvPicPr>
        <p:blipFill>
          <a:blip r:embed="rId2"/>
          <a:stretch>
            <a:fillRect/>
          </a:stretch>
        </p:blipFill>
        <p:spPr>
          <a:xfrm>
            <a:off x="2684192" y="2479667"/>
            <a:ext cx="6797283" cy="4048745"/>
          </a:xfrm>
          <a:prstGeom prst="rect">
            <a:avLst/>
          </a:prstGeom>
        </p:spPr>
      </p:pic>
    </p:spTree>
    <p:extLst>
      <p:ext uri="{BB962C8B-B14F-4D97-AF65-F5344CB8AC3E}">
        <p14:creationId xmlns:p14="http://schemas.microsoft.com/office/powerpoint/2010/main" val="415484192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050"/>
          <p:cNvSpPr>
            <a:spLocks noGrp="1" noChangeArrowheads="1"/>
          </p:cNvSpPr>
          <p:nvPr>
            <p:ph type="title"/>
          </p:nvPr>
        </p:nvSpPr>
        <p:spPr/>
        <p:txBody>
          <a:bodyPr/>
          <a:lstStyle/>
          <a:p>
            <a:pPr algn="l">
              <a:defRPr/>
            </a:pPr>
            <a:r>
              <a:rPr lang="zh-TW" altLang="en-US" sz="3200"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電腦</a:t>
            </a:r>
            <a:r>
              <a:rPr lang="zh-TW" altLang="en-US" sz="3200" dirty="0">
                <a:solidFill>
                  <a:schemeClr val="tx1"/>
                </a:solidFill>
                <a:latin typeface="台塑體" panose="02010500000000000000" pitchFamily="2" charset="-120"/>
                <a:ea typeface="台塑體" panose="02010500000000000000" pitchFamily="2" charset="-120"/>
                <a:cs typeface="台塑體" panose="02010500000000000000" pitchFamily="2" charset="-120"/>
              </a:rPr>
              <a:t>儲存媒體使用及保全</a:t>
            </a:r>
            <a:r>
              <a:rPr lang="zh-TW" altLang="en-US" sz="3200" dirty="0" smtClean="0">
                <a:solidFill>
                  <a:schemeClr val="tx1"/>
                </a:solidFill>
                <a:latin typeface="台塑體" panose="02010500000000000000" pitchFamily="2" charset="-120"/>
                <a:ea typeface="台塑體" panose="02010500000000000000" pitchFamily="2" charset="-120"/>
                <a:cs typeface="台塑體" panose="02010500000000000000" pitchFamily="2" charset="-120"/>
              </a:rPr>
              <a:t>管理</a:t>
            </a:r>
            <a:endParaRPr lang="zh-TW" altLang="en-US" sz="3200" dirty="0">
              <a:solidFill>
                <a:schemeClr val="tx1"/>
              </a:solidFill>
              <a:latin typeface="台塑體" panose="02010500000000000000" pitchFamily="2" charset="-120"/>
              <a:ea typeface="台塑體" panose="02010500000000000000" pitchFamily="2" charset="-120"/>
              <a:cs typeface="台塑體" panose="02010500000000000000" pitchFamily="2" charset="-120"/>
            </a:endParaRPr>
          </a:p>
        </p:txBody>
      </p:sp>
      <p:sp>
        <p:nvSpPr>
          <p:cNvPr id="3" name="內容版面配置區 2"/>
          <p:cNvSpPr>
            <a:spLocks noGrp="1"/>
          </p:cNvSpPr>
          <p:nvPr>
            <p:ph sz="half" idx="2"/>
          </p:nvPr>
        </p:nvSpPr>
        <p:spPr>
          <a:xfrm>
            <a:off x="902195" y="1310793"/>
            <a:ext cx="10309144" cy="1432407"/>
          </a:xfrm>
        </p:spPr>
        <p:txBody>
          <a:bodyPr>
            <a:normAutofit/>
          </a:bodyPr>
          <a:lstStyle/>
          <a:p>
            <a:pPr>
              <a:lnSpc>
                <a:spcPct val="110000"/>
              </a:lnSpc>
              <a:spcBef>
                <a:spcPts val="0"/>
              </a:spcBef>
            </a:pPr>
            <a:r>
              <a:rPr lang="zh-TW" altLang="en-US" sz="2400" dirty="0" smtClean="0">
                <a:latin typeface="Times New Roman" panose="02020603050405020304" pitchFamily="18" charset="0"/>
                <a:cs typeface="Times New Roman" panose="02020603050405020304" pitchFamily="18" charset="0"/>
              </a:rPr>
              <a:t>針對重要檔案需予以備援。新增</a:t>
            </a:r>
            <a:r>
              <a:rPr lang="zh-TW" altLang="en-US" sz="2400" dirty="0">
                <a:latin typeface="Times New Roman" panose="02020603050405020304" pitchFamily="18" charset="0"/>
                <a:cs typeface="Times New Roman" panose="02020603050405020304" pitchFamily="18" charset="0"/>
              </a:rPr>
              <a:t>或異動備援歷史檔案前應填寫「</a:t>
            </a:r>
            <a:r>
              <a:rPr lang="en-US" altLang="zh-TW" sz="2400" dirty="0">
                <a:latin typeface="Times New Roman" panose="02020603050405020304" pitchFamily="18" charset="0"/>
                <a:cs typeface="Times New Roman" panose="02020603050405020304" pitchFamily="18" charset="0"/>
              </a:rPr>
              <a:t>IBM</a:t>
            </a:r>
            <a:r>
              <a:rPr lang="zh-TW" altLang="en-US" sz="2400" dirty="0">
                <a:latin typeface="Times New Roman" panose="02020603050405020304" pitchFamily="18" charset="0"/>
                <a:cs typeface="Times New Roman" panose="02020603050405020304" pitchFamily="18" charset="0"/>
              </a:rPr>
              <a:t>媒體使用申請單」</a:t>
            </a:r>
            <a:r>
              <a:rPr lang="zh-TW" altLang="zh-TW" sz="2400" dirty="0">
                <a:latin typeface="Times New Roman" panose="02020603050405020304" pitchFamily="18" charset="0"/>
                <a:cs typeface="Times New Roman" panose="02020603050405020304" pitchFamily="18" charset="0"/>
              </a:rPr>
              <a:t>及以資料字典格式填寫之「資料記錄說明」向電腦管理部門申請建檔</a:t>
            </a:r>
            <a:r>
              <a:rPr lang="zh-TW" altLang="zh-TW" sz="2400" dirty="0" smtClean="0">
                <a:latin typeface="Times New Roman" panose="02020603050405020304" pitchFamily="18" charset="0"/>
                <a:cs typeface="Times New Roman" panose="02020603050405020304" pitchFamily="18" charset="0"/>
              </a:rPr>
              <a:t>註冊</a:t>
            </a:r>
            <a:r>
              <a:rPr lang="zh-TW" altLang="en-US" sz="2400" dirty="0" smtClean="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87043" name="投影片編號版面配置區 5"/>
          <p:cNvSpPr>
            <a:spLocks noGrp="1"/>
          </p:cNvSpPr>
          <p:nvPr>
            <p:ph type="sldNum" sz="quarter" idx="29"/>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300000000000000" pitchFamily="18" charset="-120"/>
              </a:defRPr>
            </a:lvl1pPr>
            <a:lvl2pPr marL="742950" indent="-285750">
              <a:defRPr kumimoji="1">
                <a:solidFill>
                  <a:schemeClr val="tx1"/>
                </a:solidFill>
                <a:latin typeface="Arial" panose="020B0604020202020204" pitchFamily="34" charset="0"/>
                <a:ea typeface="新細明體" panose="02020300000000000000" pitchFamily="18" charset="-120"/>
              </a:defRPr>
            </a:lvl2pPr>
            <a:lvl3pPr marL="1143000" indent="-228600">
              <a:defRPr kumimoji="1">
                <a:solidFill>
                  <a:schemeClr val="tx1"/>
                </a:solidFill>
                <a:latin typeface="Arial" panose="020B0604020202020204" pitchFamily="34" charset="0"/>
                <a:ea typeface="新細明體" panose="02020300000000000000" pitchFamily="18" charset="-120"/>
              </a:defRPr>
            </a:lvl3pPr>
            <a:lvl4pPr marL="1600200" indent="-228600">
              <a:defRPr kumimoji="1">
                <a:solidFill>
                  <a:schemeClr val="tx1"/>
                </a:solidFill>
                <a:latin typeface="Arial" panose="020B0604020202020204" pitchFamily="34" charset="0"/>
                <a:ea typeface="新細明體" panose="02020300000000000000" pitchFamily="18" charset="-120"/>
              </a:defRPr>
            </a:lvl4pPr>
            <a:lvl5pPr marL="2057400" indent="-228600">
              <a:defRPr kumimoji="1">
                <a:solidFill>
                  <a:schemeClr val="tx1"/>
                </a:solidFill>
                <a:latin typeface="Arial" panose="020B0604020202020204" pitchFamily="34" charset="0"/>
                <a:ea typeface="新細明體" panose="020203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300000000000000" pitchFamily="18" charset="-120"/>
              </a:defRPr>
            </a:lvl9pPr>
          </a:lstStyle>
          <a:p>
            <a:fld id="{F3A39078-DF75-4C5F-A27B-EE7CC318D112}" type="slidenum">
              <a:rPr lang="zh-TW" altLang="en-US" sz="1200">
                <a:solidFill>
                  <a:schemeClr val="bg1"/>
                </a:solidFill>
                <a:latin typeface="Candara" panose="020E0502030303020204" pitchFamily="34" charset="0"/>
                <a:ea typeface="標楷體" panose="03000509000000000000" pitchFamily="65" charset="-120"/>
              </a:rPr>
              <a:pPr/>
              <a:t>27</a:t>
            </a:fld>
            <a:endParaRPr lang="en-US" altLang="zh-TW" sz="1200" dirty="0">
              <a:solidFill>
                <a:schemeClr val="bg1"/>
              </a:solidFill>
              <a:latin typeface="Candara" panose="020E0502030303020204" pitchFamily="34" charset="0"/>
              <a:ea typeface="標楷體" panose="03000509000000000000" pitchFamily="65" charset="-120"/>
            </a:endParaRPr>
          </a:p>
        </p:txBody>
      </p:sp>
      <p:pic>
        <p:nvPicPr>
          <p:cNvPr id="2" name="圖片 1"/>
          <p:cNvPicPr>
            <a:picLocks noChangeAspect="1"/>
          </p:cNvPicPr>
          <p:nvPr/>
        </p:nvPicPr>
        <p:blipFill>
          <a:blip r:embed="rId2"/>
          <a:stretch>
            <a:fillRect/>
          </a:stretch>
        </p:blipFill>
        <p:spPr>
          <a:xfrm>
            <a:off x="2718004" y="2629235"/>
            <a:ext cx="6127661" cy="4020271"/>
          </a:xfrm>
          <a:prstGeom prst="rect">
            <a:avLst/>
          </a:prstGeom>
        </p:spPr>
      </p:pic>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磁碟</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管理</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4077620379"/>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電腦作業交接內容</a:t>
            </a:r>
            <a:endParaRPr lang="zh-TW" altLang="en-US" dirty="0"/>
          </a:p>
        </p:txBody>
      </p:sp>
      <p:graphicFrame>
        <p:nvGraphicFramePr>
          <p:cNvPr id="5" name="內容版面配置區 4"/>
          <p:cNvGraphicFramePr>
            <a:graphicFrameLocks noGrp="1"/>
          </p:cNvGraphicFramePr>
          <p:nvPr>
            <p:ph sz="half" idx="2"/>
            <p:extLst>
              <p:ext uri="{D42A27DB-BD31-4B8C-83A1-F6EECF244321}">
                <p14:modId xmlns:p14="http://schemas.microsoft.com/office/powerpoint/2010/main" val="3582646529"/>
              </p:ext>
            </p:extLst>
          </p:nvPr>
        </p:nvGraphicFramePr>
        <p:xfrm>
          <a:off x="1312175" y="2384295"/>
          <a:ext cx="10309160" cy="3951022"/>
        </p:xfrm>
        <a:graphic>
          <a:graphicData uri="http://schemas.openxmlformats.org/drawingml/2006/table">
            <a:tbl>
              <a:tblPr/>
              <a:tblGrid>
                <a:gridCol w="685065"/>
                <a:gridCol w="3440498"/>
                <a:gridCol w="1260999"/>
                <a:gridCol w="4922598"/>
              </a:tblGrid>
              <a:tr h="424219">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項次</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90000"/>
                      </a:schemeClr>
                    </a:solidFill>
                  </a:tcPr>
                </a:tc>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交接項目</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90000"/>
                      </a:schemeClr>
                    </a:solidFill>
                  </a:tcPr>
                </a:tc>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方式</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90000"/>
                      </a:schemeClr>
                    </a:solidFill>
                  </a:tcPr>
                </a:tc>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使用介面</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90000"/>
                      </a:schemeClr>
                    </a:solidFill>
                  </a:tcPr>
                </a:tc>
              </a:tr>
              <a:tr h="391867">
                <a:tc>
                  <a:txBody>
                    <a:bodyPr/>
                    <a:lstStyle/>
                    <a:p>
                      <a:pPr algn="ctr" fontAlgn="ctr"/>
                      <a:r>
                        <a:rPr lang="en-US" altLang="zh-TW"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1</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作業代號</a:t>
                      </a:r>
                      <a:r>
                        <a:rPr lang="en-US" altLang="zh-TW"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子機能</a:t>
                      </a:r>
                      <a:r>
                        <a:rPr lang="en-US" altLang="zh-TW"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(ERP)</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ERP</a:t>
                      </a: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制度及程式人員對照建檔」</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2</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表單代號</a:t>
                      </a: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OA)</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OA</a:t>
                      </a: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表單及程式人員對照建檔」</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3</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ERP</a:t>
                      </a: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批次作業</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「電腦批次作業查詢」</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4</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AIX</a:t>
                      </a: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作業帳號</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AIX</a:t>
                      </a: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帳號負責人員建檔」</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5</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DB</a:t>
                      </a: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作業帳號</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「資料庫帳號負責人員建檔」</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6</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維護歷程</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ERP</a:t>
                      </a: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作業維護履歷查詢」</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7</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資料字典</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自動</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dirty="0">
                          <a:solidFill>
                            <a:schemeClr val="tx1">
                              <a:lumMod val="85000"/>
                              <a:lumOff val="15000"/>
                            </a:schemeClr>
                          </a:solidFill>
                          <a:effectLst/>
                          <a:latin typeface="Times New Roman" panose="02020603050405020304" pitchFamily="18" charset="0"/>
                          <a:ea typeface="標楷體" panose="03000509000000000000" pitchFamily="65" charset="-120"/>
                          <a:cs typeface="Times New Roman" panose="02020603050405020304" pitchFamily="18" charset="0"/>
                        </a:rPr>
                        <a:t>「電腦檔案欄位說明建檔」</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8</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2000" b="0" i="0" u="none" strike="noStrike">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ERP</a:t>
                      </a:r>
                      <a:r>
                        <a:rPr lang="zh-TW" altLang="en-US" sz="2000" b="0" i="0" u="none" strike="noStrike">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作業設定</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人工</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由小組長或組長修改</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1867">
                <a:tc>
                  <a:txBody>
                    <a:bodyPr/>
                    <a:lstStyle/>
                    <a:p>
                      <a:pPr algn="ctr" fontAlgn="ctr"/>
                      <a:r>
                        <a:rPr lang="en-US" altLang="zh-TW" sz="2000" b="0" i="0" u="none" strike="noStrike">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9</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TW"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ERP</a:t>
                      </a:r>
                      <a:r>
                        <a:rPr lang="zh-TW" altLang="en-US"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作業開發測試區權限</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人工</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以「</a:t>
                      </a:r>
                      <a:r>
                        <a:rPr lang="en-US" altLang="zh-TW"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NT</a:t>
                      </a:r>
                      <a:r>
                        <a:rPr lang="zh-TW" altLang="en-US" sz="2000" b="0" i="0" u="none" strike="noStrike" dirty="0">
                          <a:solidFill>
                            <a:srgbClr val="0070C0"/>
                          </a:solidFill>
                          <a:effectLst/>
                          <a:latin typeface="Times New Roman" panose="02020603050405020304" pitchFamily="18" charset="0"/>
                          <a:ea typeface="標楷體" panose="03000509000000000000" pitchFamily="65" charset="-120"/>
                          <a:cs typeface="Times New Roman" panose="02020603050405020304" pitchFamily="18" charset="0"/>
                        </a:rPr>
                        <a:t>系統使用申請單」申請權限</a:t>
                      </a:r>
                    </a:p>
                  </a:txBody>
                  <a:tcPr marL="7749" marR="7749"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 name="投影片編號版面配置區 3"/>
          <p:cNvSpPr>
            <a:spLocks noGrp="1"/>
          </p:cNvSpPr>
          <p:nvPr>
            <p:ph type="sldNum" sz="quarter" idx="29"/>
          </p:nvPr>
        </p:nvSpPr>
        <p:spPr/>
        <p:txBody>
          <a:bodyPr/>
          <a:lstStyle/>
          <a:p>
            <a:fld id="{B5CEABB6-07DC-46E8-9B57-56EC44A396E5}" type="slidenum">
              <a:rPr lang="en-US" altLang="zh-TW" smtClean="0"/>
              <a:pPr/>
              <a:t>28</a:t>
            </a:fld>
            <a:endParaRPr lang="zh-TW" altLang="en-US" dirty="0"/>
          </a:p>
        </p:txBody>
      </p:sp>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4" name="內容版面配置區 2"/>
          <p:cNvSpPr txBox="1">
            <a:spLocks/>
          </p:cNvSpPr>
          <p:nvPr/>
        </p:nvSpPr>
        <p:spPr>
          <a:xfrm>
            <a:off x="902195" y="1310794"/>
            <a:ext cx="10309144" cy="956546"/>
          </a:xfrm>
          <a:prstGeom prst="rect">
            <a:avLst/>
          </a:prstGeom>
        </p:spPr>
        <p:txBody>
          <a:bodyPr vert="horz" lIns="91440" tIns="45720" rIns="91440" bIns="45720" rtlCol="0">
            <a:normAutofit/>
          </a:bodyPr>
          <a:lstStyle>
            <a:lvl1pPr marL="265113" indent="-265113" algn="l" defTabSz="685783" rtl="0" eaLnBrk="1" latinLnBrk="0" hangingPunct="1">
              <a:lnSpc>
                <a:spcPct val="100000"/>
              </a:lnSpc>
              <a:spcBef>
                <a:spcPts val="750"/>
              </a:spcBef>
              <a:buFont typeface="Arial" panose="020B0604020202020204" pitchFamily="34" charset="0"/>
              <a:buChar char="•"/>
              <a:defRPr sz="28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1pPr>
            <a:lvl2pPr marL="539750" indent="-198438" algn="l" defTabSz="685783" rtl="0" eaLnBrk="1" latinLnBrk="0" hangingPunct="1">
              <a:lnSpc>
                <a:spcPct val="100000"/>
              </a:lnSpc>
              <a:spcBef>
                <a:spcPts val="375"/>
              </a:spcBef>
              <a:buFont typeface="Arial" panose="020B0604020202020204" pitchFamily="34" charset="0"/>
              <a:buChar char="•"/>
              <a:defRPr sz="24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2pPr>
            <a:lvl3pPr marL="685783" indent="0" algn="l" defTabSz="685783" rtl="0" eaLnBrk="1" latinLnBrk="0" hangingPunct="1">
              <a:lnSpc>
                <a:spcPct val="100000"/>
              </a:lnSpc>
              <a:spcBef>
                <a:spcPts val="375"/>
              </a:spcBef>
              <a:buFont typeface="Arial" panose="020B0604020202020204" pitchFamily="34" charset="0"/>
              <a:buNone/>
              <a:defRPr sz="20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3pPr>
            <a:lvl4pPr marL="1028675" indent="0" algn="l" defTabSz="685783" rtl="0" eaLnBrk="1" latinLnBrk="0" hangingPunct="1">
              <a:lnSpc>
                <a:spcPct val="100000"/>
              </a:lnSpc>
              <a:spcBef>
                <a:spcPts val="375"/>
              </a:spcBef>
              <a:buFont typeface="Arial" panose="020B0604020202020204" pitchFamily="34" charset="0"/>
              <a:buNone/>
              <a:defRPr sz="135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4pPr>
            <a:lvl5pPr marL="1371566" indent="0" algn="l" defTabSz="685783" rtl="0" eaLnBrk="1" latinLnBrk="0" hangingPunct="1">
              <a:lnSpc>
                <a:spcPct val="100000"/>
              </a:lnSpc>
              <a:spcBef>
                <a:spcPts val="375"/>
              </a:spcBef>
              <a:buFont typeface="Arial" panose="020B0604020202020204" pitchFamily="34" charset="0"/>
              <a:buNone/>
              <a:defRPr sz="1200" kern="1200" spc="38" baseline="0">
                <a:solidFill>
                  <a:schemeClr val="tx1">
                    <a:lumMod val="75000"/>
                    <a:lumOff val="25000"/>
                  </a:schemeClr>
                </a:solidFill>
                <a:latin typeface="標楷體" panose="03000509000000000000" pitchFamily="65" charset="-120"/>
                <a:ea typeface="標楷體" panose="03000509000000000000" pitchFamily="65"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10000"/>
              </a:lnSpc>
              <a:spcBef>
                <a:spcPts val="0"/>
              </a:spcBef>
            </a:pPr>
            <a:r>
              <a:rPr lang="zh-TW" altLang="en-US" sz="2400" dirty="0" smtClean="0">
                <a:latin typeface="Times New Roman" panose="02020603050405020304" pitchFamily="18" charset="0"/>
                <a:cs typeface="Times New Roman" panose="02020603050405020304" pitchFamily="18" charset="0"/>
              </a:rPr>
              <a:t>制訂電腦作業交接作法，透過交接申請，可將各項履歷歸屬移交與新負責人員。</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1238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Erp</a:t>
            </a:r>
            <a:r>
              <a:rPr lang="zh-TW" altLang="en-US" dirty="0"/>
              <a:t>作業</a:t>
            </a:r>
            <a:r>
              <a:rPr lang="zh-TW" altLang="en-US" dirty="0" smtClean="0"/>
              <a:t>維護人員交接管理</a:t>
            </a:r>
            <a:endParaRPr lang="zh-TW" altLang="en-US" dirty="0"/>
          </a:p>
        </p:txBody>
      </p:sp>
      <p:sp>
        <p:nvSpPr>
          <p:cNvPr id="3" name="內容版面配置區 2"/>
          <p:cNvSpPr>
            <a:spLocks noGrp="1"/>
          </p:cNvSpPr>
          <p:nvPr>
            <p:ph sz="half" idx="2"/>
          </p:nvPr>
        </p:nvSpPr>
        <p:spPr>
          <a:xfrm>
            <a:off x="902195" y="1404103"/>
            <a:ext cx="10309144" cy="709346"/>
          </a:xfrm>
        </p:spPr>
        <p:txBody>
          <a:bodyPr>
            <a:normAutofit/>
          </a:bodyPr>
          <a:lstStyle/>
          <a:p>
            <a:r>
              <a:rPr lang="zh-TW" altLang="en-US" sz="2400" dirty="0"/>
              <a:t>交接</a:t>
            </a:r>
            <a:r>
              <a:rPr lang="zh-TW" altLang="en-US" sz="2400" dirty="0" smtClean="0"/>
              <a:t>管理系統流程</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29</a:t>
            </a:fld>
            <a:endParaRPr lang="zh-TW" altLang="en-US" dirty="0"/>
          </a:p>
        </p:txBody>
      </p:sp>
      <p:pic>
        <p:nvPicPr>
          <p:cNvPr id="11" name="圖片 10"/>
          <p:cNvPicPr>
            <a:picLocks noChangeAspect="1"/>
          </p:cNvPicPr>
          <p:nvPr/>
        </p:nvPicPr>
        <p:blipFill>
          <a:blip r:embed="rId2"/>
          <a:stretch>
            <a:fillRect/>
          </a:stretch>
        </p:blipFill>
        <p:spPr>
          <a:xfrm>
            <a:off x="1912813" y="1881040"/>
            <a:ext cx="8039042" cy="4647673"/>
          </a:xfrm>
          <a:prstGeom prst="rect">
            <a:avLst/>
          </a:prstGeom>
        </p:spPr>
      </p:pic>
      <p:grpSp>
        <p:nvGrpSpPr>
          <p:cNvPr id="12" name="群組 11"/>
          <p:cNvGrpSpPr/>
          <p:nvPr/>
        </p:nvGrpSpPr>
        <p:grpSpPr>
          <a:xfrm>
            <a:off x="1509918" y="943716"/>
            <a:ext cx="8861267" cy="310896"/>
            <a:chOff x="1554480" y="2160000"/>
            <a:chExt cx="8861267" cy="310896"/>
          </a:xfrm>
          <a:solidFill>
            <a:schemeClr val="bg1"/>
          </a:solidFill>
        </p:grpSpPr>
        <p:sp>
          <p:nvSpPr>
            <p:cNvPr id="13" name="圓角矩形 12"/>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圓角矩形 13"/>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5" name="圓角矩形 14"/>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圓角矩形 15"/>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向右箭號 16"/>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向右箭號 17"/>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9" name="向右箭號 18"/>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639973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ERP</a:t>
            </a:r>
            <a:r>
              <a:rPr lang="zh-TW" altLang="en-US" dirty="0" smtClean="0">
                <a:latin typeface="Times New Roman" panose="02020603050405020304" pitchFamily="18" charset="0"/>
                <a:cs typeface="Times New Roman" panose="02020603050405020304" pitchFamily="18" charset="0"/>
              </a:rPr>
              <a:t>作業交接申請</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p:cNvSpPr>
            <a:spLocks noGrp="1"/>
          </p:cNvSpPr>
          <p:nvPr>
            <p:ph sz="half" idx="2"/>
          </p:nvPr>
        </p:nvSpPr>
        <p:spPr>
          <a:xfrm>
            <a:off x="902195" y="1310793"/>
            <a:ext cx="10309144" cy="682599"/>
          </a:xfrm>
        </p:spPr>
        <p:txBody>
          <a:bodyPr>
            <a:normAutofit/>
          </a:bodyPr>
          <a:lstStyle/>
          <a:p>
            <a:r>
              <a:rPr lang="en-US" altLang="zh-TW" sz="2400" dirty="0" smtClean="0"/>
              <a:t>ERP</a:t>
            </a:r>
            <a:r>
              <a:rPr lang="zh-TW" altLang="en-US" sz="2400" dirty="0" smtClean="0"/>
              <a:t>作業交接申請，依指定交接完成日辦理。</a:t>
            </a:r>
            <a:endParaRPr lang="zh-TW" altLang="en-US" sz="2400" dirty="0"/>
          </a:p>
        </p:txBody>
      </p:sp>
      <p:pic>
        <p:nvPicPr>
          <p:cNvPr id="7" name="圖片 6"/>
          <p:cNvPicPr>
            <a:picLocks noChangeAspect="1"/>
          </p:cNvPicPr>
          <p:nvPr/>
        </p:nvPicPr>
        <p:blipFill>
          <a:blip r:embed="rId2"/>
          <a:stretch>
            <a:fillRect/>
          </a:stretch>
        </p:blipFill>
        <p:spPr>
          <a:xfrm>
            <a:off x="1262032" y="1839968"/>
            <a:ext cx="10014621" cy="4654460"/>
          </a:xfrm>
          <a:prstGeom prst="rect">
            <a:avLst/>
          </a:prstGeom>
        </p:spPr>
      </p:pic>
      <p:grpSp>
        <p:nvGrpSpPr>
          <p:cNvPr id="5" name="群組 4"/>
          <p:cNvGrpSpPr/>
          <p:nvPr/>
        </p:nvGrpSpPr>
        <p:grpSpPr>
          <a:xfrm>
            <a:off x="1509918" y="943716"/>
            <a:ext cx="8861267" cy="310896"/>
            <a:chOff x="1554480" y="2160000"/>
            <a:chExt cx="8861267" cy="310896"/>
          </a:xfrm>
          <a:solidFill>
            <a:schemeClr val="bg1"/>
          </a:solidFill>
        </p:grpSpPr>
        <p:sp>
          <p:nvSpPr>
            <p:cNvPr id="6" name="圓角矩形 5"/>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6914738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ERP</a:t>
            </a:r>
            <a:r>
              <a:rPr lang="zh-TW" altLang="en-US" dirty="0" smtClean="0">
                <a:latin typeface="Times New Roman" panose="02020603050405020304" pitchFamily="18" charset="0"/>
                <a:cs typeface="Times New Roman" panose="02020603050405020304" pitchFamily="18" charset="0"/>
              </a:rPr>
              <a:t>作業交接申請單</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sz="half" idx="2"/>
          </p:nvPr>
        </p:nvSpPr>
        <p:spPr>
          <a:xfrm>
            <a:off x="902195" y="1310793"/>
            <a:ext cx="10309144" cy="965876"/>
          </a:xfrm>
        </p:spPr>
        <p:txBody>
          <a:bodyPr>
            <a:normAutofit/>
          </a:bodyPr>
          <a:lstStyle/>
          <a:p>
            <a:r>
              <a:rPr lang="en-US" altLang="zh-TW" sz="2400" dirty="0"/>
              <a:t>ERP</a:t>
            </a:r>
            <a:r>
              <a:rPr lang="zh-TW" altLang="en-US" sz="2400" dirty="0"/>
              <a:t>作業交接</a:t>
            </a:r>
            <a:r>
              <a:rPr lang="zh-TW" altLang="en-US" sz="2400" dirty="0" smtClean="0"/>
              <a:t>申請填寫後，產生交接申請單，供交出人員確認呈核。</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31</a:t>
            </a:fld>
            <a:endParaRPr lang="zh-TW" altLang="en-US" dirty="0"/>
          </a:p>
        </p:txBody>
      </p:sp>
      <p:pic>
        <p:nvPicPr>
          <p:cNvPr id="6" name="圖片 5"/>
          <p:cNvPicPr>
            <a:picLocks noChangeAspect="1"/>
          </p:cNvPicPr>
          <p:nvPr/>
        </p:nvPicPr>
        <p:blipFill>
          <a:blip r:embed="rId2"/>
          <a:stretch>
            <a:fillRect/>
          </a:stretch>
        </p:blipFill>
        <p:spPr>
          <a:xfrm>
            <a:off x="2119876" y="1887037"/>
            <a:ext cx="7521519" cy="4560416"/>
          </a:xfrm>
          <a:prstGeom prst="rect">
            <a:avLst/>
          </a:prstGeom>
        </p:spPr>
      </p:pic>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9780965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ERP</a:t>
            </a:r>
            <a:r>
              <a:rPr lang="zh-TW" altLang="en-US" dirty="0">
                <a:latin typeface="Times New Roman" panose="02020603050405020304" pitchFamily="18" charset="0"/>
                <a:cs typeface="Times New Roman" panose="02020603050405020304" pitchFamily="18" charset="0"/>
              </a:rPr>
              <a:t>作業</a:t>
            </a:r>
            <a:r>
              <a:rPr lang="zh-TW" altLang="en-US" dirty="0" smtClean="0">
                <a:latin typeface="Times New Roman" panose="02020603050405020304" pitchFamily="18" charset="0"/>
                <a:cs typeface="Times New Roman" panose="02020603050405020304" pitchFamily="18" charset="0"/>
              </a:rPr>
              <a:t>交接確認單</a:t>
            </a:r>
            <a:endParaRPr lang="zh-TW" altLang="en-US"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32</a:t>
            </a:fld>
            <a:endParaRPr lang="zh-TW" altLang="en-US" dirty="0"/>
          </a:p>
        </p:txBody>
      </p:sp>
      <p:pic>
        <p:nvPicPr>
          <p:cNvPr id="5" name="圖片 4"/>
          <p:cNvPicPr>
            <a:picLocks noChangeAspect="1"/>
          </p:cNvPicPr>
          <p:nvPr/>
        </p:nvPicPr>
        <p:blipFill>
          <a:blip r:embed="rId2"/>
          <a:stretch>
            <a:fillRect/>
          </a:stretch>
        </p:blipFill>
        <p:spPr>
          <a:xfrm>
            <a:off x="1618039" y="2541628"/>
            <a:ext cx="8524338" cy="3639712"/>
          </a:xfrm>
          <a:prstGeom prst="rect">
            <a:avLst/>
          </a:prstGeom>
        </p:spPr>
      </p:pic>
      <p:sp>
        <p:nvSpPr>
          <p:cNvPr id="6" name="內容版面配置區 2"/>
          <p:cNvSpPr>
            <a:spLocks noGrp="1"/>
          </p:cNvSpPr>
          <p:nvPr>
            <p:ph sz="half" idx="2"/>
          </p:nvPr>
        </p:nvSpPr>
        <p:spPr>
          <a:xfrm>
            <a:off x="901700" y="1413916"/>
            <a:ext cx="10309225" cy="1021378"/>
          </a:xfrm>
        </p:spPr>
        <p:txBody>
          <a:bodyPr>
            <a:normAutofit/>
          </a:bodyPr>
          <a:lstStyle/>
          <a:p>
            <a:r>
              <a:rPr lang="en-US" altLang="zh-TW" sz="2400" dirty="0">
                <a:latin typeface="Times New Roman" panose="02020603050405020304" pitchFamily="18" charset="0"/>
                <a:cs typeface="Times New Roman" panose="02020603050405020304" pitchFamily="18" charset="0"/>
              </a:rPr>
              <a:t>ERP</a:t>
            </a:r>
            <a:r>
              <a:rPr lang="zh-TW" altLang="en-US" sz="2400" dirty="0">
                <a:latin typeface="Times New Roman" panose="02020603050405020304" pitchFamily="18" charset="0"/>
                <a:cs typeface="Times New Roman" panose="02020603050405020304" pitchFamily="18" charset="0"/>
              </a:rPr>
              <a:t>作業交接</a:t>
            </a:r>
            <a:r>
              <a:rPr lang="zh-TW" altLang="en-US" sz="2400" dirty="0" smtClean="0">
                <a:latin typeface="Times New Roman" panose="02020603050405020304" pitchFamily="18" charset="0"/>
                <a:cs typeface="Times New Roman" panose="02020603050405020304" pitchFamily="18" charset="0"/>
              </a:rPr>
              <a:t>申請單呈准後，再以</a:t>
            </a:r>
            <a:r>
              <a:rPr lang="en-US" altLang="zh-TW" sz="2400" dirty="0" smtClean="0">
                <a:latin typeface="Times New Roman" panose="02020603050405020304" pitchFamily="18" charset="0"/>
                <a:cs typeface="Times New Roman" panose="02020603050405020304" pitchFamily="18" charset="0"/>
              </a:rPr>
              <a:t>ERP</a:t>
            </a:r>
            <a:r>
              <a:rPr lang="zh-TW" altLang="en-US" sz="2400" dirty="0" smtClean="0">
                <a:latin typeface="Times New Roman" panose="02020603050405020304" pitchFamily="18" charset="0"/>
                <a:cs typeface="Times New Roman" panose="02020603050405020304" pitchFamily="18" charset="0"/>
              </a:rPr>
              <a:t>作業交接確認單通知接手人員，確認各項移交文件。</a:t>
            </a:r>
            <a:endParaRPr lang="zh-TW" altLang="en-US" sz="2400" dirty="0">
              <a:latin typeface="Times New Roman" panose="02020603050405020304" pitchFamily="18" charset="0"/>
              <a:cs typeface="Times New Roman" panose="02020603050405020304" pitchFamily="18" charset="0"/>
            </a:endParaRPr>
          </a:p>
        </p:txBody>
      </p:sp>
      <p:grpSp>
        <p:nvGrpSpPr>
          <p:cNvPr id="7" name="群組 6"/>
          <p:cNvGrpSpPr/>
          <p:nvPr/>
        </p:nvGrpSpPr>
        <p:grpSpPr>
          <a:xfrm>
            <a:off x="1509918" y="943716"/>
            <a:ext cx="8861267" cy="310896"/>
            <a:chOff x="1554480" y="2160000"/>
            <a:chExt cx="8861267" cy="310896"/>
          </a:xfrm>
          <a:solidFill>
            <a:schemeClr val="bg1"/>
          </a:solidFill>
        </p:grpSpPr>
        <p:sp>
          <p:nvSpPr>
            <p:cNvPr id="8" name="圓角矩形 7"/>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圓角矩形 8"/>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10" name="圓角矩形 9"/>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圓角矩形 10"/>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向右箭號 13"/>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18012058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電腦</a:t>
            </a:r>
            <a:r>
              <a:rPr lang="zh-TW" altLang="en-US" dirty="0" smtClean="0"/>
              <a:t>批次作業維護人員變更通知單</a:t>
            </a:r>
            <a:endParaRPr lang="zh-TW" altLang="en-US" dirty="0"/>
          </a:p>
        </p:txBody>
      </p:sp>
      <p:sp>
        <p:nvSpPr>
          <p:cNvPr id="3" name="內容版面配置區 2"/>
          <p:cNvSpPr>
            <a:spLocks noGrp="1"/>
          </p:cNvSpPr>
          <p:nvPr>
            <p:ph sz="half" idx="2"/>
          </p:nvPr>
        </p:nvSpPr>
        <p:spPr>
          <a:xfrm>
            <a:off x="902195" y="1413434"/>
            <a:ext cx="10309144" cy="1021860"/>
          </a:xfrm>
        </p:spPr>
        <p:txBody>
          <a:bodyPr>
            <a:normAutofit/>
          </a:bodyPr>
          <a:lstStyle/>
          <a:p>
            <a:r>
              <a:rPr lang="zh-TW" altLang="en-US" sz="2400" dirty="0" smtClean="0"/>
              <a:t>交接作業完成後，自動更新批次維護人員，同時發送予機房排程維護人員，若屬月報結算排程作業需同時更新結算關聯圖。</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33</a:t>
            </a:fld>
            <a:endParaRPr lang="zh-TW" altLang="en-US" dirty="0"/>
          </a:p>
        </p:txBody>
      </p:sp>
      <p:pic>
        <p:nvPicPr>
          <p:cNvPr id="5" name="圖片 4"/>
          <p:cNvPicPr>
            <a:picLocks noChangeAspect="1"/>
          </p:cNvPicPr>
          <p:nvPr/>
        </p:nvPicPr>
        <p:blipFill>
          <a:blip r:embed="rId2"/>
          <a:stretch>
            <a:fillRect/>
          </a:stretch>
        </p:blipFill>
        <p:spPr>
          <a:xfrm>
            <a:off x="1813264" y="2337497"/>
            <a:ext cx="8238140" cy="4212592"/>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7446099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ERP</a:t>
            </a:r>
            <a:r>
              <a:rPr lang="zh-TW" altLang="en-US" dirty="0" smtClean="0"/>
              <a:t>作業維護履歷查詢</a:t>
            </a:r>
            <a:endParaRPr lang="zh-TW" altLang="en-US" dirty="0"/>
          </a:p>
        </p:txBody>
      </p:sp>
      <p:sp>
        <p:nvSpPr>
          <p:cNvPr id="3" name="內容版面配置區 2"/>
          <p:cNvSpPr>
            <a:spLocks noGrp="1"/>
          </p:cNvSpPr>
          <p:nvPr>
            <p:ph sz="half" idx="2"/>
          </p:nvPr>
        </p:nvSpPr>
        <p:spPr>
          <a:xfrm>
            <a:off x="902195" y="1441424"/>
            <a:ext cx="10309144" cy="685235"/>
          </a:xfrm>
        </p:spPr>
        <p:txBody>
          <a:bodyPr>
            <a:normAutofit/>
          </a:bodyPr>
          <a:lstStyle/>
          <a:p>
            <a:r>
              <a:rPr lang="zh-TW" altLang="en-US" sz="2400" dirty="0" smtClean="0"/>
              <a:t>程式履歷中記錄電腦作業維護記錄。</a:t>
            </a:r>
            <a:endParaRPr lang="zh-TW" altLang="en-US" sz="2400" dirty="0"/>
          </a:p>
        </p:txBody>
      </p:sp>
      <p:sp>
        <p:nvSpPr>
          <p:cNvPr id="4" name="投影片編號版面配置區 3"/>
          <p:cNvSpPr>
            <a:spLocks noGrp="1"/>
          </p:cNvSpPr>
          <p:nvPr>
            <p:ph type="sldNum" sz="quarter" idx="29"/>
          </p:nvPr>
        </p:nvSpPr>
        <p:spPr/>
        <p:txBody>
          <a:bodyPr/>
          <a:lstStyle/>
          <a:p>
            <a:fld id="{B5CEABB6-07DC-46E8-9B57-56EC44A396E5}" type="slidenum">
              <a:rPr lang="en-US" altLang="zh-TW" smtClean="0"/>
              <a:pPr/>
              <a:t>34</a:t>
            </a:fld>
            <a:endParaRPr lang="zh-TW" altLang="en-US" dirty="0"/>
          </a:p>
        </p:txBody>
      </p:sp>
      <p:pic>
        <p:nvPicPr>
          <p:cNvPr id="5" name="圖片 4"/>
          <p:cNvPicPr>
            <a:picLocks noChangeAspect="1"/>
          </p:cNvPicPr>
          <p:nvPr/>
        </p:nvPicPr>
        <p:blipFill>
          <a:blip r:embed="rId2"/>
          <a:stretch>
            <a:fillRect/>
          </a:stretch>
        </p:blipFill>
        <p:spPr>
          <a:xfrm>
            <a:off x="1241318" y="2193822"/>
            <a:ext cx="9335141" cy="4338660"/>
          </a:xfrm>
          <a:prstGeom prst="rect">
            <a:avLst/>
          </a:prstGeom>
        </p:spPr>
      </p:pic>
      <p:grpSp>
        <p:nvGrpSpPr>
          <p:cNvPr id="6" name="群組 5"/>
          <p:cNvGrpSpPr/>
          <p:nvPr/>
        </p:nvGrpSpPr>
        <p:grpSpPr>
          <a:xfrm>
            <a:off x="1509918" y="943716"/>
            <a:ext cx="8861267" cy="310896"/>
            <a:chOff x="1554480" y="2160000"/>
            <a:chExt cx="8861267" cy="310896"/>
          </a:xfrm>
          <a:solidFill>
            <a:schemeClr val="bg1"/>
          </a:solidFill>
        </p:grpSpPr>
        <p:sp>
          <p:nvSpPr>
            <p:cNvPr id="7" name="圓角矩形 6"/>
            <p:cNvSpPr/>
            <p:nvPr/>
          </p:nvSpPr>
          <p:spPr>
            <a:xfrm>
              <a:off x="1554480"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制度設</a:t>
              </a: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圓角矩形 7"/>
            <p:cNvSpPr/>
            <p:nvPr/>
          </p:nvSpPr>
          <p:spPr>
            <a:xfrm>
              <a:off x="3866001" y="2160000"/>
              <a:ext cx="1893171" cy="310896"/>
            </a:xfrm>
            <a:prstGeom prst="roundRect">
              <a:avLst/>
            </a:prstGeom>
            <a:grpFill/>
            <a:ln w="19050">
              <a:solidFill>
                <a:schemeClr val="bg1">
                  <a:lumMod val="8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系統設計</a:t>
              </a:r>
            </a:p>
          </p:txBody>
        </p:sp>
        <p:sp>
          <p:nvSpPr>
            <p:cNvPr id="9" name="圓角矩形 8"/>
            <p:cNvSpPr/>
            <p:nvPr/>
          </p:nvSpPr>
          <p:spPr>
            <a:xfrm>
              <a:off x="6193291" y="2160000"/>
              <a:ext cx="1893171" cy="310896"/>
            </a:xfrm>
            <a:prstGeom prst="roundRect">
              <a:avLst/>
            </a:prstGeom>
            <a:grpFill/>
            <a:ln w="19050">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程式</a:t>
              </a:r>
              <a:r>
                <a:rPr lang="zh-TW" altLang="en-US"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設計</a:t>
              </a:r>
              <a:endParaRPr lang="zh-TW" altLang="en-US"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圓角矩形 9"/>
            <p:cNvSpPr/>
            <p:nvPr/>
          </p:nvSpPr>
          <p:spPr>
            <a:xfrm>
              <a:off x="8522576" y="2160000"/>
              <a:ext cx="1893171" cy="310896"/>
            </a:xfrm>
            <a:prstGeom prst="roundRect">
              <a:avLst/>
            </a:prstGeom>
            <a:noFill/>
            <a:ln w="19050">
              <a:solidFill>
                <a:schemeClr val="accent4"/>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r>
                <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實施維護</a:t>
              </a:r>
              <a:r>
                <a:rPr lang="en-US" altLang="zh-TW"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作業交接</a:t>
              </a:r>
              <a:r>
                <a:rPr lang="en-US" altLang="zh-TW" sz="1600"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kern="1200" dirty="0" smtClean="0">
                <a:solidFill>
                  <a:schemeClr val="tx1">
                    <a:lumMod val="85000"/>
                    <a:lumOff val="1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1" name="向右箭號 10"/>
            <p:cNvSpPr/>
            <p:nvPr/>
          </p:nvSpPr>
          <p:spPr>
            <a:xfrm>
              <a:off x="3508733"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向右箭號 11"/>
            <p:cNvSpPr/>
            <p:nvPr/>
          </p:nvSpPr>
          <p:spPr>
            <a:xfrm>
              <a:off x="582639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向右箭號 12"/>
            <p:cNvSpPr/>
            <p:nvPr/>
          </p:nvSpPr>
          <p:spPr>
            <a:xfrm>
              <a:off x="8152357" y="2160000"/>
              <a:ext cx="300999" cy="284621"/>
            </a:xfrm>
            <a:prstGeom prst="rightArrow">
              <a:avLst/>
            </a:prstGeom>
            <a:grpFill/>
            <a:ln>
              <a:solidFill>
                <a:schemeClr val="bg1">
                  <a:lumMod val="9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spcFirstLastPara="0" vert="horz" wrap="square" lIns="137160" tIns="137160" rIns="137160" bIns="136800" numCol="1" spcCol="1270" rtlCol="0" anchor="t" anchorCtr="0">
              <a:noAutofit/>
            </a:bodyPr>
            <a:lstStyle>
              <a:defPPr rtl="0">
                <a:defRPr lang="zh-TW"/>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1600200">
                <a:spcBef>
                  <a:spcPct val="0"/>
                </a:spcBef>
              </a:pPr>
              <a:endParaRPr lang="zh-TW" altLang="en-US" sz="3600" kern="1200" dirty="0" smtClean="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31857670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字版面配置區 5">
            <a:extLst>
              <a:ext uri="{FF2B5EF4-FFF2-40B4-BE49-F238E27FC236}">
                <a16:creationId xmlns:a16="http://schemas.microsoft.com/office/drawing/2014/main" xmlns="" id="{BA3CF485-C6C6-E6C8-6545-51AADA8BC744}"/>
              </a:ext>
            </a:extLst>
          </p:cNvPr>
          <p:cNvSpPr txBox="1">
            <a:spLocks/>
          </p:cNvSpPr>
          <p:nvPr/>
        </p:nvSpPr>
        <p:spPr>
          <a:xfrm>
            <a:off x="9161228" y="4041328"/>
            <a:ext cx="2715087" cy="454472"/>
          </a:xfrm>
          <a:prstGeom prst="rect">
            <a:avLst/>
          </a:prstGeom>
        </p:spPr>
        <p:txBody>
          <a:bodyPr>
            <a:noAutofit/>
          </a:bodyPr>
          <a:lst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icrosoft JhengHei UI" panose="020B0604030504040204" pitchFamily="34" charset="-120"/>
                <a:ea typeface="Microsoft JhengHei UI" panose="020B0604030504040204" pitchFamily="34" charset="-120"/>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zh-TW" sz="2800" dirty="0">
                <a:solidFill>
                  <a:schemeClr val="accent2">
                    <a:lumMod val="90000"/>
                  </a:schemeClr>
                </a:solidFill>
                <a:latin typeface="Arial Black" panose="020B0A04020102020204" pitchFamily="34" charset="0"/>
                <a:ea typeface="標楷體" panose="03000509000000000000" pitchFamily="65" charset="-120"/>
              </a:rPr>
              <a:t>Thank You</a:t>
            </a:r>
            <a:endParaRPr lang="zh-TW" altLang="en-US" sz="2800" dirty="0">
              <a:solidFill>
                <a:schemeClr val="accent2">
                  <a:lumMod val="90000"/>
                </a:schemeClr>
              </a:solidFill>
              <a:latin typeface="Arial Black" panose="020B0A04020102020204" pitchFamily="34" charset="0"/>
              <a:ea typeface="標楷體" panose="03000509000000000000" pitchFamily="65" charset="-120"/>
            </a:endParaRPr>
          </a:p>
        </p:txBody>
      </p:sp>
      <p:sp>
        <p:nvSpPr>
          <p:cNvPr id="2" name="標題 1">
            <a:extLst>
              <a:ext uri="{FF2B5EF4-FFF2-40B4-BE49-F238E27FC236}">
                <a16:creationId xmlns:a16="http://schemas.microsoft.com/office/drawing/2014/main" xmlns="" id="{11A6D12F-1428-79A2-8A5E-0BAC7C5EF993}"/>
              </a:ext>
            </a:extLst>
          </p:cNvPr>
          <p:cNvSpPr>
            <a:spLocks noGrp="1"/>
          </p:cNvSpPr>
          <p:nvPr>
            <p:ph type="title"/>
          </p:nvPr>
        </p:nvSpPr>
        <p:spPr>
          <a:xfrm>
            <a:off x="1052165" y="3021496"/>
            <a:ext cx="10087669" cy="695176"/>
          </a:xfrm>
        </p:spPr>
        <p:txBody>
          <a:bodyPr>
            <a:normAutofit/>
          </a:bodyPr>
          <a:lstStyle/>
          <a:p>
            <a:r>
              <a:rPr lang="zh-TW" altLang="en-US" sz="4000" dirty="0">
                <a:solidFill>
                  <a:schemeClr val="tx1">
                    <a:lumMod val="85000"/>
                    <a:lumOff val="15000"/>
                  </a:schemeClr>
                </a:solidFill>
                <a:latin typeface="Times New Roman" panose="02020603050405020304" pitchFamily="18" charset="0"/>
                <a:cs typeface="Times New Roman" panose="02020603050405020304" pitchFamily="18" charset="0"/>
              </a:rPr>
              <a:t>以上報告</a:t>
            </a:r>
          </a:p>
        </p:txBody>
      </p:sp>
    </p:spTree>
    <p:extLst>
      <p:ext uri="{BB962C8B-B14F-4D97-AF65-F5344CB8AC3E}">
        <p14:creationId xmlns:p14="http://schemas.microsoft.com/office/powerpoint/2010/main" val="4082933131"/>
      </p:ext>
    </p:extLst>
  </p:cSld>
  <p:clrMapOvr>
    <a:masterClrMapping/>
  </p:clrMapOvr>
  <p:timing>
    <p:tnLst>
      <p:par>
        <p:cTn id="1" dur="indefinite" restart="never" nodeType="tmRoot"/>
      </p:par>
    </p:tnLst>
  </p:timing>
</p:sld>
</file>

<file path=ppt/theme/theme1.xml><?xml version="1.0" encoding="utf-8"?>
<a:theme xmlns:a="http://schemas.openxmlformats.org/drawingml/2006/main" name="單線">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6">
              <a:lumMod val="75000"/>
            </a:schemeClr>
          </a:solidFill>
        </a:ln>
      </a:spPr>
      <a:bodyPr spcFirstLastPara="0" vert="horz" wrap="square" lIns="137160" tIns="137160" rIns="137160" bIns="136800" numCol="1" spcCol="1270" anchor="t" anchorCtr="0">
        <a:noAutofit/>
      </a:bodyPr>
      <a:lstStyle>
        <a:defPPr algn="ctr" defTabSz="1600200">
          <a:spcBef>
            <a:spcPct val="0"/>
          </a:spcBef>
          <a:defRPr sz="3600" kern="1200" dirty="0" smtClean="0">
            <a:latin typeface="Times New Roman" panose="02020603050405020304" pitchFamily="18" charset="0"/>
            <a:ea typeface="標楷體" panose="03000509000000000000" pitchFamily="65" charset="-120"/>
            <a:cs typeface="Times New Roman" panose="02020603050405020304" pitchFamily="18" charset="0"/>
          </a:defRPr>
        </a:defPPr>
      </a:lstStyle>
      <a: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a:style>
    </a:spDef>
  </a:objectDefaults>
  <a:extraClrSchemeLst/>
  <a:extLst>
    <a:ext uri="{05A4C25C-085E-4340-85A3-A5531E510DB2}">
      <thm15:themeFamily xmlns:thm15="http://schemas.microsoft.com/office/thememl/2012/main" name="Monoline" id="{080CB5C6-FA0A-40B0-8C1A-A4BA88D91EE0}" vid="{DC98E595-77B2-413A-A4EA-B47400BD13CB}"/>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令人眼睛為之一亮的極簡風銷售宣傳</Template>
  <TotalTime>11834</TotalTime>
  <Words>1858</Words>
  <Application>Microsoft Office PowerPoint</Application>
  <PresentationFormat>寬螢幕</PresentationFormat>
  <Paragraphs>293</Paragraphs>
  <Slides>35</Slides>
  <Notes>0</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35</vt:i4>
      </vt:variant>
    </vt:vector>
  </HeadingPairs>
  <TitlesOfParts>
    <vt:vector size="46" baseType="lpstr">
      <vt:lpstr>Microsoft JhengHei UI</vt:lpstr>
      <vt:lpstr>Tenorite</vt:lpstr>
      <vt:lpstr>台塑體</vt:lpstr>
      <vt:lpstr>新細明體</vt:lpstr>
      <vt:lpstr>標楷體</vt:lpstr>
      <vt:lpstr>Arial</vt:lpstr>
      <vt:lpstr>Arial Black</vt:lpstr>
      <vt:lpstr>Calibri</vt:lpstr>
      <vt:lpstr>Candara</vt:lpstr>
      <vt:lpstr>Times New Roman</vt:lpstr>
      <vt:lpstr>單線</vt:lpstr>
      <vt:lpstr>PowerPoint 簡報</vt:lpstr>
      <vt:lpstr>實施維護/作業實施</vt:lpstr>
      <vt:lpstr>資訊系統設計程序</vt:lpstr>
      <vt:lpstr>應用程式修改派送申請單</vt:lpstr>
      <vt:lpstr>ERP作業原始程式版本查詢及下載</vt:lpstr>
      <vt:lpstr>電腦作業批次異動申請-填單</vt:lpstr>
      <vt:lpstr>結算月報關聯變更</vt:lpstr>
      <vt:lpstr>安裝確認管理-電腦作業上線安裝確認單</vt:lpstr>
      <vt:lpstr>安裝確認管理-電腦作業上線執行情況確認單</vt:lpstr>
      <vt:lpstr>實施維護/作業維護</vt:lpstr>
      <vt:lpstr>電腦作業批次異常反應</vt:lpstr>
      <vt:lpstr>資料庫/aix系統帳號登入失敗記錄</vt:lpstr>
      <vt:lpstr>電腦檔案欄位異動處理單</vt:lpstr>
      <vt:lpstr>電腦檔案欄位異動通知單-免配合修改</vt:lpstr>
      <vt:lpstr>電腦檔案欄位異動通知單-需配合修改</vt:lpstr>
      <vt:lpstr>資料字典與資料庫物件一致性查核</vt:lpstr>
      <vt:lpstr>電腦作業自主檢查彙總確認表</vt:lpstr>
      <vt:lpstr>電腦作業自主檢查查核表</vt:lpstr>
      <vt:lpstr>電腦作業執行狀況統計表</vt:lpstr>
      <vt:lpstr>密碼定期修改</vt:lpstr>
      <vt:lpstr>密碼定期修改-資料庫帳號</vt:lpstr>
      <vt:lpstr>密碼定期修改-資料交換帳號</vt:lpstr>
      <vt:lpstr>密碼定期修改-aix帳號</vt:lpstr>
      <vt:lpstr>磁碟容量使用超限提示</vt:lpstr>
      <vt:lpstr>二個月未異動作業目錄反應</vt:lpstr>
      <vt:lpstr>三個月未異動清檔提示表</vt:lpstr>
      <vt:lpstr>電腦儲存媒體使用及保全管理</vt:lpstr>
      <vt:lpstr>電腦作業交接內容</vt:lpstr>
      <vt:lpstr>Erp作業維護人員交接管理</vt:lpstr>
      <vt:lpstr>ERP作業交接申請</vt:lpstr>
      <vt:lpstr>ERP作業交接申請單</vt:lpstr>
      <vt:lpstr>ERP作業交接確認單</vt:lpstr>
      <vt:lpstr>電腦批次作業維護人員變更通知單</vt:lpstr>
      <vt:lpstr>ERP作業維護履歷查詢</vt:lpstr>
      <vt:lpstr>以上報告</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00RKD0/李靜媚</dc:creator>
  <cp:lastModifiedBy>00RKD0/李靜媚</cp:lastModifiedBy>
  <cp:revision>3437</cp:revision>
  <cp:lastPrinted>2025-03-15T02:52:48Z</cp:lastPrinted>
  <dcterms:created xsi:type="dcterms:W3CDTF">2025-01-10T07:02:16Z</dcterms:created>
  <dcterms:modified xsi:type="dcterms:W3CDTF">2025-04-25T04:57:39Z</dcterms:modified>
</cp:coreProperties>
</file>