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98" r:id="rId1"/>
  </p:sldMasterIdLst>
  <p:notesMasterIdLst>
    <p:notesMasterId r:id="rId13"/>
  </p:notesMasterIdLst>
  <p:handoutMasterIdLst>
    <p:handoutMasterId r:id="rId14"/>
  </p:handoutMasterIdLst>
  <p:sldIdLst>
    <p:sldId id="492" r:id="rId2"/>
    <p:sldId id="451" r:id="rId3"/>
    <p:sldId id="493" r:id="rId4"/>
    <p:sldId id="514" r:id="rId5"/>
    <p:sldId id="545" r:id="rId6"/>
    <p:sldId id="615" r:id="rId7"/>
    <p:sldId id="560" r:id="rId8"/>
    <p:sldId id="565" r:id="rId9"/>
    <p:sldId id="567" r:id="rId10"/>
    <p:sldId id="566" r:id="rId11"/>
    <p:sldId id="568" r:id="rId12"/>
  </p:sldIdLst>
  <p:sldSz cx="12192000" cy="6858000"/>
  <p:notesSz cx="7099300" cy="10234613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EFEF"/>
    <a:srgbClr val="FFEBEB"/>
    <a:srgbClr val="FFE5E5"/>
    <a:srgbClr val="FF7D7D"/>
    <a:srgbClr val="ECA890"/>
    <a:srgbClr val="FFCCCC"/>
    <a:srgbClr val="CC0099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55" autoAdjust="0"/>
    <p:restoredTop sz="93834" autoAdjust="0"/>
  </p:normalViewPr>
  <p:slideViewPr>
    <p:cSldViewPr snapToGrid="0">
      <p:cViewPr varScale="1">
        <p:scale>
          <a:sx n="83" d="100"/>
          <a:sy n="83" d="100"/>
        </p:scale>
        <p:origin x="38" y="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35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CD7244E6-A45F-460D-B8BE-008BF35B8B56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47D59402-F725-4F0C-997F-82DBBA4FFC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855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FFB4414E-9775-444A-BBDC-C9A7AB718EBA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5" tIns="49517" rIns="99035" bIns="49517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1" y="4925407"/>
            <a:ext cx="5679440" cy="4029879"/>
          </a:xfrm>
          <a:prstGeom prst="rect">
            <a:avLst/>
          </a:prstGeom>
        </p:spPr>
        <p:txBody>
          <a:bodyPr vert="horz" lIns="99035" tIns="49517" rIns="99035" bIns="49517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9A9FE17B-0309-43F4-A166-43322B09A8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02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" y="0"/>
            <a:ext cx="5581651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368" y="1999072"/>
            <a:ext cx="7213773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版面配置區 15">
            <a:extLst>
              <a:ext uri="{FF2B5EF4-FFF2-40B4-BE49-F238E27FC236}">
                <a16:creationId xmlns:a16="http://schemas.microsoft.com/office/drawing/2014/main" xmlns="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0595" y="4548557"/>
            <a:ext cx="5433204" cy="557949"/>
          </a:xfrm>
        </p:spPr>
        <p:txBody>
          <a:bodyPr rtlCol="0">
            <a:noAutofit/>
          </a:bodyPr>
          <a:lstStyle>
            <a:lvl1pPr marL="0" indent="0" algn="r">
              <a:buNone/>
              <a:defRPr lang="en-US" sz="24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2" name="文字版面配置區 18">
            <a:extLst>
              <a:ext uri="{FF2B5EF4-FFF2-40B4-BE49-F238E27FC236}">
                <a16:creationId xmlns:a16="http://schemas.microsoft.com/office/drawing/2014/main" xmlns="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0169" y="5070800"/>
            <a:ext cx="5431971" cy="55795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6F23D57C-71E3-D301-678A-AF122B3AE57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2E2F1B79-217A-1201-EB4E-E0DE79F6A1C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zh-TW" altLang="en-US" noProof="0"/>
              <a:t>募資簡報</a:t>
            </a:r>
          </a:p>
        </p:txBody>
      </p:sp>
      <p:pic>
        <p:nvPicPr>
          <p:cNvPr id="6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262" y="359491"/>
            <a:ext cx="2523960" cy="1439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873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形 9">
            <a:extLst>
              <a:ext uri="{FF2B5EF4-FFF2-40B4-BE49-F238E27FC236}">
                <a16:creationId xmlns:a16="http://schemas.microsoft.com/office/drawing/2014/main" xmlns="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3">
            <a:extLst>
              <a:ext uri="{FF2B5EF4-FFF2-40B4-BE49-F238E27FC236}">
                <a16:creationId xmlns:a16="http://schemas.microsoft.com/office/drawing/2014/main" xmlns="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:a16="http://schemas.microsoft.com/office/drawing/2014/main" xmlns="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4385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箭號: 五邊形 13">
            <a:extLst>
              <a:ext uri="{FF2B5EF4-FFF2-40B4-BE49-F238E27FC236}">
                <a16:creationId xmlns:a16="http://schemas.microsoft.com/office/drawing/2014/main" xmlns="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xmlns="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投影片編號版面配置區 4">
            <a:extLst>
              <a:ext uri="{FF2B5EF4-FFF2-40B4-BE49-F238E27FC236}">
                <a16:creationId xmlns:a16="http://schemas.microsoft.com/office/drawing/2014/main" xmlns="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31205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:a16="http://schemas.microsoft.com/office/drawing/2014/main" xmlns="" id="{D600C692-560F-EE93-3168-FE5CBBFD5C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837716" y="0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21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4599432"/>
            <a:ext cx="1710216" cy="225856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​​(S) 11">
            <a:extLst>
              <a:ext uri="{FF2B5EF4-FFF2-40B4-BE49-F238E27FC236}">
                <a16:creationId xmlns:a16="http://schemas.microsoft.com/office/drawing/2014/main" xmlns="" id="{EB864DD1-893C-9A69-1317-8403F03DC838}"/>
              </a:ext>
            </a:extLst>
          </p:cNvPr>
          <p:cNvCxnSpPr>
            <a:cxnSpLocks/>
          </p:cNvCxnSpPr>
          <p:nvPr userDrawn="1"/>
        </p:nvCxnSpPr>
        <p:spPr>
          <a:xfrm>
            <a:off x="0" y="5895413"/>
            <a:ext cx="12192003" cy="64350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2B99E9-A78D-ABE6-EB34-A1AEF2CA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12" name="箭號: 五邊形 11">
            <a:extLst>
              <a:ext uri="{FF2B5EF4-FFF2-40B4-BE49-F238E27FC236}">
                <a16:creationId xmlns:a16="http://schemas.microsoft.com/office/drawing/2014/main" xmlns="" id="{A75AFB73-C2A6-6EB5-4195-7721E9AE2A30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投影片編號版面配置區 4">
            <a:extLst>
              <a:ext uri="{FF2B5EF4-FFF2-40B4-BE49-F238E27FC236}">
                <a16:creationId xmlns:a16="http://schemas.microsoft.com/office/drawing/2014/main" xmlns="" id="{6A8EBA31-886C-3E7F-9861-255D8A4535C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xmlns="" id="{0508D6D0-1AAC-252D-A6B0-59F6E999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16560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:a16="http://schemas.microsoft.com/office/drawing/2014/main" xmlns="" id="{D600C692-560F-EE93-3168-FE5CBBFD5C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832944" y="-6479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404588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6" name="圖形 10">
            <a:extLst>
              <a:ext uri="{FF2B5EF4-FFF2-40B4-BE49-F238E27FC236}">
                <a16:creationId xmlns:a16="http://schemas.microsoft.com/office/drawing/2014/main" xmlns="" id="{B38B0D13-BD5F-460B-B337-F4A9342026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70137" y="1638302"/>
            <a:ext cx="4320000" cy="2235356"/>
          </a:xfrm>
          <a:prstGeom prst="rect">
            <a:avLst/>
          </a:prstGeom>
        </p:spPr>
      </p:pic>
      <p:pic>
        <p:nvPicPr>
          <p:cNvPr id="17" name="圖形 12">
            <a:extLst>
              <a:ext uri="{FF2B5EF4-FFF2-40B4-BE49-F238E27FC236}">
                <a16:creationId xmlns:a16="http://schemas.microsoft.com/office/drawing/2014/main" xmlns="" id="{BE72876B-D3DA-4462-9E24-3354D8D02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594493" y="4023138"/>
            <a:ext cx="4320000" cy="2201994"/>
          </a:xfrm>
          <a:prstGeom prst="rect">
            <a:avLst/>
          </a:prstGeom>
        </p:spPr>
      </p:pic>
      <p:pic>
        <p:nvPicPr>
          <p:cNvPr id="18" name="圖形 14">
            <a:extLst>
              <a:ext uri="{FF2B5EF4-FFF2-40B4-BE49-F238E27FC236}">
                <a16:creationId xmlns:a16="http://schemas.microsoft.com/office/drawing/2014/main" xmlns="" id="{14A539B6-6E3F-41BA-ACE2-76E8BB6516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50600" y="1914668"/>
            <a:ext cx="4320000" cy="2328378"/>
          </a:xfrm>
          <a:prstGeom prst="rect">
            <a:avLst/>
          </a:prstGeom>
        </p:spPr>
      </p:pic>
      <p:sp>
        <p:nvSpPr>
          <p:cNvPr id="19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165" y="2354501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 dirty="0"/>
              <a:t>按一下以新增副標題</a:t>
            </a:r>
          </a:p>
        </p:txBody>
      </p:sp>
      <p:sp>
        <p:nvSpPr>
          <p:cNvPr id="20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8098" y="2734647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3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384" y="4625936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pic>
        <p:nvPicPr>
          <p:cNvPr id="12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箭號: 五邊形 8">
            <a:extLst>
              <a:ext uri="{FF2B5EF4-FFF2-40B4-BE49-F238E27FC236}">
                <a16:creationId xmlns:a16="http://schemas.microsoft.com/office/drawing/2014/main" xmlns="" id="{14EC25D0-5BFF-566A-4303-54297340FDB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投影片編號版面配置區 4">
            <a:extLst>
              <a:ext uri="{FF2B5EF4-FFF2-40B4-BE49-F238E27FC236}">
                <a16:creationId xmlns:a16="http://schemas.microsoft.com/office/drawing/2014/main" xmlns="" id="{57E60439-B1D7-7CF0-6AA9-3177BE19ABF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3033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6200000" flipH="1">
            <a:off x="4141694" y="-4141694"/>
            <a:ext cx="3908612" cy="12192000"/>
          </a:xfrm>
          <a:prstGeom prst="rect">
            <a:avLst/>
          </a:prstGeom>
        </p:spPr>
      </p:pic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>
            <a:cxnSpLocks/>
          </p:cNvCxnSpPr>
          <p:nvPr/>
        </p:nvCxnSpPr>
        <p:spPr>
          <a:xfrm flipV="1">
            <a:off x="0" y="2133600"/>
            <a:ext cx="12192000" cy="900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072"/>
            <a:ext cx="10515600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6">
            <a:extLst>
              <a:ext uri="{FF2B5EF4-FFF2-40B4-BE49-F238E27FC236}">
                <a16:creationId xmlns:a16="http://schemas.microsoft.com/office/drawing/2014/main" xmlns="" id="{A977A8B1-C07C-5122-EB38-7788F1D1490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:a16="http://schemas.microsoft.com/office/drawing/2014/main" xmlns="" id="{D9C28D85-AAD2-B541-7D4B-0FC069C5C7A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01232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時間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7D46070C-E825-43D0-99F4-8B4614131131}"/>
              </a:ext>
            </a:extLst>
          </p:cNvPr>
          <p:cNvSpPr/>
          <p:nvPr userDrawn="1"/>
        </p:nvSpPr>
        <p:spPr>
          <a:xfrm>
            <a:off x="3" y="2257583"/>
            <a:ext cx="12191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FFA35437-CCDE-4D92-B879-F23B329C8EC3}"/>
              </a:ext>
            </a:extLst>
          </p:cNvPr>
          <p:cNvSpPr/>
          <p:nvPr userDrawn="1"/>
        </p:nvSpPr>
        <p:spPr>
          <a:xfrm>
            <a:off x="929640" y="3691886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ZA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4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3035300"/>
            <a:ext cx="10332720" cy="1142800"/>
          </a:xfrm>
        </p:spPr>
        <p:txBody>
          <a:bodyPr rtlCol="0" anchor="t">
            <a:normAutofit/>
          </a:bodyPr>
          <a:lstStyle>
            <a:lvl1pPr algn="ctr">
              <a:defRPr lang="en-US" sz="36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39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816344"/>
            <a:ext cx="1597152" cy="504165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" y="6184902"/>
            <a:ext cx="6095999" cy="67309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192361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箭號: 五邊形 9">
            <a:extLst>
              <a:ext uri="{FF2B5EF4-FFF2-40B4-BE49-F238E27FC236}">
                <a16:creationId xmlns:a16="http://schemas.microsoft.com/office/drawing/2014/main" xmlns="" id="{768BC038-D2EA-393E-AC3D-3F53314CE135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投影片編號版面配置區 4">
            <a:extLst>
              <a:ext uri="{FF2B5EF4-FFF2-40B4-BE49-F238E27FC236}">
                <a16:creationId xmlns:a16="http://schemas.microsoft.com/office/drawing/2014/main" xmlns="" id="{D5DE7AB3-3D40-2219-E4C6-6A8F62FF741F}"/>
              </a:ext>
            </a:extLst>
          </p:cNvPr>
          <p:cNvSpPr txBox="1">
            <a:spLocks/>
          </p:cNvSpPr>
          <p:nvPr userDrawn="1"/>
        </p:nvSpPr>
        <p:spPr>
          <a:xfrm>
            <a:off x="11509512" y="1045256"/>
            <a:ext cx="682487" cy="418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4752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822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0682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6" r:id="rId1"/>
    <p:sldLayoutId id="2147484307" r:id="rId2"/>
    <p:sldLayoutId id="2147484321" r:id="rId3"/>
    <p:sldLayoutId id="2147484300" r:id="rId4"/>
    <p:sldLayoutId id="2147484322" r:id="rId5"/>
    <p:sldLayoutId id="2147484320" r:id="rId6"/>
    <p:sldLayoutId id="2147484312" r:id="rId7"/>
    <p:sldLayoutId id="2147484323" r:id="rId8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681168" y="2665876"/>
            <a:ext cx="5142792" cy="1801168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lang="zh-TW" altLang="en-US" dirty="0"/>
              <a:t>台塑企業總管理處資訊部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應用軟體開發管理介紹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dirty="0"/>
              <a:t>總管理處資訊部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6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/>
        </p:nvSpPr>
        <p:spPr>
          <a:xfrm>
            <a:off x="1017682" y="2488370"/>
            <a:ext cx="2418900" cy="3493895"/>
          </a:xfrm>
          <a:prstGeom prst="rect">
            <a:avLst/>
          </a:prstGeom>
          <a:solidFill>
            <a:srgbClr val="FF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資訊系統設計程序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</a:t>
            </a:fld>
            <a:endParaRPr lang="zh-TW" altLang="en-US" dirty="0"/>
          </a:p>
        </p:txBody>
      </p:sp>
      <p:sp>
        <p:nvSpPr>
          <p:cNvPr id="4" name="流程圖: 程序 3"/>
          <p:cNvSpPr/>
          <p:nvPr/>
        </p:nvSpPr>
        <p:spPr>
          <a:xfrm>
            <a:off x="1232520" y="2827114"/>
            <a:ext cx="1980000" cy="360000"/>
          </a:xfrm>
          <a:prstGeom prst="flowChartProcess">
            <a:avLst/>
          </a:prstGeom>
          <a:solidFill>
            <a:schemeClr val="accent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制度設計</a:t>
            </a:r>
          </a:p>
        </p:txBody>
      </p:sp>
      <p:sp>
        <p:nvSpPr>
          <p:cNvPr id="7" name="流程圖: 程序 6"/>
          <p:cNvSpPr/>
          <p:nvPr/>
        </p:nvSpPr>
        <p:spPr>
          <a:xfrm>
            <a:off x="1232520" y="3682902"/>
            <a:ext cx="1980000" cy="360000"/>
          </a:xfrm>
          <a:prstGeom prst="flowChartProcess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系統設計</a:t>
            </a:r>
          </a:p>
        </p:txBody>
      </p:sp>
      <p:sp>
        <p:nvSpPr>
          <p:cNvPr id="8" name="流程圖: 程序 7"/>
          <p:cNvSpPr/>
          <p:nvPr/>
        </p:nvSpPr>
        <p:spPr>
          <a:xfrm>
            <a:off x="1232520" y="4546902"/>
            <a:ext cx="1980000" cy="360000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程式設計</a:t>
            </a:r>
          </a:p>
        </p:txBody>
      </p:sp>
      <p:sp>
        <p:nvSpPr>
          <p:cNvPr id="9" name="流程圖: 程序 8"/>
          <p:cNvSpPr/>
          <p:nvPr/>
        </p:nvSpPr>
        <p:spPr>
          <a:xfrm>
            <a:off x="1232520" y="5410902"/>
            <a:ext cx="1980000" cy="36000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實施維護</a:t>
            </a:r>
          </a:p>
        </p:txBody>
      </p:sp>
      <p:cxnSp>
        <p:nvCxnSpPr>
          <p:cNvPr id="11" name="直線單箭頭接點 10"/>
          <p:cNvCxnSpPr>
            <a:stCxn id="4" idx="2"/>
            <a:endCxn id="7" idx="0"/>
          </p:cNvCxnSpPr>
          <p:nvPr/>
        </p:nvCxnSpPr>
        <p:spPr>
          <a:xfrm>
            <a:off x="2222520" y="3187114"/>
            <a:ext cx="0" cy="495788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7" idx="2"/>
            <a:endCxn id="8" idx="0"/>
          </p:cNvCxnSpPr>
          <p:nvPr/>
        </p:nvCxnSpPr>
        <p:spPr>
          <a:xfrm>
            <a:off x="2222520" y="4042902"/>
            <a:ext cx="0" cy="5040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8" idx="2"/>
            <a:endCxn id="9" idx="0"/>
          </p:cNvCxnSpPr>
          <p:nvPr/>
        </p:nvCxnSpPr>
        <p:spPr>
          <a:xfrm>
            <a:off x="2222520" y="4906902"/>
            <a:ext cx="0" cy="5040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程序 16"/>
          <p:cNvSpPr/>
          <p:nvPr/>
        </p:nvSpPr>
        <p:spPr>
          <a:xfrm>
            <a:off x="3650301" y="2699989"/>
            <a:ext cx="3362516" cy="612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機能組編訂電腦作業說明</a:t>
            </a:r>
          </a:p>
        </p:txBody>
      </p:sp>
      <p:sp>
        <p:nvSpPr>
          <p:cNvPr id="18" name="流程圖: 程序 17"/>
          <p:cNvSpPr/>
          <p:nvPr/>
        </p:nvSpPr>
        <p:spPr>
          <a:xfrm>
            <a:off x="3650301" y="3559049"/>
            <a:ext cx="3362516" cy="612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編訂系統設計文件、設定檔案類別、作業代號、子</a:t>
            </a:r>
            <a:r>
              <a:rPr lang="zh-TW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機能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6" name="肘形接點 25"/>
          <p:cNvCxnSpPr>
            <a:stCxn id="7" idx="3"/>
            <a:endCxn id="18" idx="1"/>
          </p:cNvCxnSpPr>
          <p:nvPr/>
        </p:nvCxnSpPr>
        <p:spPr>
          <a:xfrm>
            <a:off x="3212520" y="3862902"/>
            <a:ext cx="437781" cy="2147"/>
          </a:xfrm>
          <a:prstGeom prst="bentConnector3">
            <a:avLst/>
          </a:prstGeom>
          <a:ln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接點 26"/>
          <p:cNvCxnSpPr>
            <a:stCxn id="4" idx="3"/>
            <a:endCxn id="17" idx="1"/>
          </p:cNvCxnSpPr>
          <p:nvPr/>
        </p:nvCxnSpPr>
        <p:spPr>
          <a:xfrm flipV="1">
            <a:off x="3212520" y="3005989"/>
            <a:ext cx="437781" cy="1125"/>
          </a:xfrm>
          <a:prstGeom prst="bentConnector3">
            <a:avLst/>
          </a:prstGeom>
          <a:ln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橢圓 2"/>
          <p:cNvSpPr/>
          <p:nvPr/>
        </p:nvSpPr>
        <p:spPr>
          <a:xfrm>
            <a:off x="1231401" y="1606827"/>
            <a:ext cx="1980000" cy="7215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營運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需求</a:t>
            </a:r>
          </a:p>
        </p:txBody>
      </p:sp>
      <p:cxnSp>
        <p:nvCxnSpPr>
          <p:cNvPr id="21" name="肘形接點 20"/>
          <p:cNvCxnSpPr>
            <a:stCxn id="3" idx="4"/>
            <a:endCxn id="4" idx="0"/>
          </p:cNvCxnSpPr>
          <p:nvPr/>
        </p:nvCxnSpPr>
        <p:spPr>
          <a:xfrm rot="16200000" flipH="1">
            <a:off x="1972568" y="2577161"/>
            <a:ext cx="498785" cy="1119"/>
          </a:xfrm>
          <a:prstGeom prst="bentConnector3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接點 29"/>
          <p:cNvCxnSpPr>
            <a:stCxn id="9" idx="1"/>
            <a:endCxn id="3" idx="2"/>
          </p:cNvCxnSpPr>
          <p:nvPr/>
        </p:nvCxnSpPr>
        <p:spPr>
          <a:xfrm rot="10800000">
            <a:off x="1231402" y="1967578"/>
            <a:ext cx="1119" cy="3623324"/>
          </a:xfrm>
          <a:prstGeom prst="bentConnector3">
            <a:avLst>
              <a:gd name="adj1" fmla="val 38434048"/>
            </a:avLst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流程圖: 程序 31"/>
          <p:cNvSpPr/>
          <p:nvPr/>
        </p:nvSpPr>
        <p:spPr>
          <a:xfrm>
            <a:off x="3649665" y="5285807"/>
            <a:ext cx="3368333" cy="612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電腦作業正式實施</a:t>
            </a:r>
            <a:r>
              <a:rPr lang="zh-TW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endParaRPr lang="en-US" altLang="zh-TW" sz="2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日後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維護工作作業程序</a:t>
            </a:r>
          </a:p>
        </p:txBody>
      </p:sp>
      <p:sp>
        <p:nvSpPr>
          <p:cNvPr id="36" name="流程圖: 程序 35"/>
          <p:cNvSpPr/>
          <p:nvPr/>
        </p:nvSpPr>
        <p:spPr>
          <a:xfrm>
            <a:off x="7369391" y="2821211"/>
            <a:ext cx="4444657" cy="36157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P00026</a:t>
            </a:r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規章及表單管理辦法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9" name="流程圖: 程序 38"/>
          <p:cNvSpPr/>
          <p:nvPr/>
        </p:nvSpPr>
        <p:spPr>
          <a:xfrm>
            <a:off x="7369391" y="3681322"/>
            <a:ext cx="4444657" cy="36157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C00101</a:t>
            </a:r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電腦作業系統設計辦法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0" name="流程圖: 程序 39"/>
          <p:cNvSpPr/>
          <p:nvPr/>
        </p:nvSpPr>
        <p:spPr>
          <a:xfrm>
            <a:off x="7369391" y="4367856"/>
            <a:ext cx="4444657" cy="36157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C00606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OracleDS11gERP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程式設計規範</a:t>
            </a:r>
          </a:p>
        </p:txBody>
      </p:sp>
      <p:sp>
        <p:nvSpPr>
          <p:cNvPr id="41" name="流程圖: 程序 40"/>
          <p:cNvSpPr/>
          <p:nvPr/>
        </p:nvSpPr>
        <p:spPr>
          <a:xfrm>
            <a:off x="7369391" y="5413764"/>
            <a:ext cx="4444657" cy="36157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C00103</a:t>
            </a:r>
            <a:r>
              <a:rPr lang="zh-TW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電腦作業實施維護辦法</a:t>
            </a:r>
            <a:endParaRPr lang="zh-TW" altLang="en-US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2" name="肘形接點 41"/>
          <p:cNvCxnSpPr>
            <a:stCxn id="9" idx="3"/>
            <a:endCxn id="32" idx="1"/>
          </p:cNvCxnSpPr>
          <p:nvPr/>
        </p:nvCxnSpPr>
        <p:spPr>
          <a:xfrm>
            <a:off x="3212520" y="5590902"/>
            <a:ext cx="437145" cy="905"/>
          </a:xfrm>
          <a:prstGeom prst="bentConnector3">
            <a:avLst/>
          </a:prstGeom>
          <a:ln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圖: 程序 45"/>
          <p:cNvSpPr/>
          <p:nvPr/>
        </p:nvSpPr>
        <p:spPr>
          <a:xfrm>
            <a:off x="3652700" y="4421953"/>
            <a:ext cx="3340578" cy="612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依制度內容</a:t>
            </a:r>
            <a:r>
              <a:rPr lang="zh-TW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endParaRPr lang="en-US" altLang="zh-TW" sz="2000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設計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規範開發程式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流程圖: 程序 47"/>
          <p:cNvSpPr/>
          <p:nvPr/>
        </p:nvSpPr>
        <p:spPr>
          <a:xfrm>
            <a:off x="7369391" y="4774779"/>
            <a:ext cx="4444657" cy="36157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C00601</a:t>
            </a:r>
            <a:r>
              <a:rPr lang="zh-TW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Notes</a:t>
            </a:r>
            <a:r>
              <a:rPr lang="zh-TW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作業程式設計規範</a:t>
            </a:r>
          </a:p>
        </p:txBody>
      </p:sp>
      <p:cxnSp>
        <p:nvCxnSpPr>
          <p:cNvPr id="57" name="肘形接點 56"/>
          <p:cNvCxnSpPr>
            <a:stCxn id="8" idx="3"/>
            <a:endCxn id="46" idx="1"/>
          </p:cNvCxnSpPr>
          <p:nvPr/>
        </p:nvCxnSpPr>
        <p:spPr>
          <a:xfrm>
            <a:off x="3212520" y="4726902"/>
            <a:ext cx="440180" cy="1051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接點 72"/>
          <p:cNvCxnSpPr>
            <a:stCxn id="17" idx="3"/>
            <a:endCxn id="36" idx="1"/>
          </p:cNvCxnSpPr>
          <p:nvPr/>
        </p:nvCxnSpPr>
        <p:spPr>
          <a:xfrm flipV="1">
            <a:off x="7012817" y="3002001"/>
            <a:ext cx="356574" cy="3988"/>
          </a:xfrm>
          <a:prstGeom prst="bentConnector3">
            <a:avLst/>
          </a:prstGeom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/>
          <p:cNvCxnSpPr>
            <a:stCxn id="18" idx="3"/>
            <a:endCxn id="39" idx="1"/>
          </p:cNvCxnSpPr>
          <p:nvPr/>
        </p:nvCxnSpPr>
        <p:spPr>
          <a:xfrm flipV="1">
            <a:off x="7012817" y="3862112"/>
            <a:ext cx="356574" cy="2937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肘形接點 77"/>
          <p:cNvCxnSpPr>
            <a:stCxn id="32" idx="3"/>
            <a:endCxn id="41" idx="1"/>
          </p:cNvCxnSpPr>
          <p:nvPr/>
        </p:nvCxnSpPr>
        <p:spPr>
          <a:xfrm>
            <a:off x="7017998" y="5591807"/>
            <a:ext cx="351393" cy="2747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肘形接點 80"/>
          <p:cNvCxnSpPr>
            <a:stCxn id="46" idx="3"/>
            <a:endCxn id="40" idx="1"/>
          </p:cNvCxnSpPr>
          <p:nvPr/>
        </p:nvCxnSpPr>
        <p:spPr>
          <a:xfrm flipV="1">
            <a:off x="6993278" y="4548646"/>
            <a:ext cx="376113" cy="179307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肘形接點 84"/>
          <p:cNvCxnSpPr>
            <a:stCxn id="46" idx="3"/>
            <a:endCxn id="48" idx="1"/>
          </p:cNvCxnSpPr>
          <p:nvPr/>
        </p:nvCxnSpPr>
        <p:spPr>
          <a:xfrm>
            <a:off x="6993278" y="4727953"/>
            <a:ext cx="376113" cy="227616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225">
            <a:extLst>
              <a:ext uri="{FF2B5EF4-FFF2-40B4-BE49-F238E27FC236}">
                <a16:creationId xmlns:a16="http://schemas.microsoft.com/office/drawing/2014/main" xmlns="" id="{BB5CED4C-B16F-E5CA-1BD4-D5C85A72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665" y="1942713"/>
            <a:ext cx="3353382" cy="402291"/>
          </a:xfrm>
          <a:prstGeom prst="rect">
            <a:avLst/>
          </a:prstGeom>
          <a:ln w="3175">
            <a:solidFill>
              <a:schemeClr val="accent2">
                <a:lumMod val="90000"/>
              </a:schemeClr>
            </a:solidFill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 anchor="ctr">
            <a:spAutoFit/>
            <a:flatTx/>
          </a:bodyPr>
          <a:lstStyle/>
          <a:p>
            <a:pPr algn="ctr" eaLnBrk="1" hangingPunct="1">
              <a:buClr>
                <a:srgbClr val="FF9900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作業內容</a:t>
            </a:r>
          </a:p>
        </p:txBody>
      </p:sp>
      <p:sp>
        <p:nvSpPr>
          <p:cNvPr id="59" name="Rectangle 225">
            <a:extLst>
              <a:ext uri="{FF2B5EF4-FFF2-40B4-BE49-F238E27FC236}">
                <a16:creationId xmlns:a16="http://schemas.microsoft.com/office/drawing/2014/main" xmlns="" id="{BB5CED4C-B16F-E5CA-1BD4-D5C85A729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9390" y="1942713"/>
            <a:ext cx="4444658" cy="402291"/>
          </a:xfrm>
          <a:prstGeom prst="rect">
            <a:avLst/>
          </a:prstGeom>
          <a:ln w="3175">
            <a:solidFill>
              <a:schemeClr val="accent2">
                <a:lumMod val="90000"/>
              </a:schemeClr>
            </a:solidFill>
            <a:prstDash val="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000" tIns="46800" rIns="90000" bIns="46800" anchor="ctr">
            <a:spAutoFit/>
            <a:flatTx/>
          </a:bodyPr>
          <a:lstStyle/>
          <a:p>
            <a:pPr algn="ctr" eaLnBrk="1" hangingPunct="1">
              <a:buClr>
                <a:srgbClr val="FF9900"/>
              </a:buClr>
              <a:buSzPct val="75000"/>
              <a:buFont typeface="Wingdings" panose="05000000000000000000" pitchFamily="2" charset="2"/>
              <a:buNone/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相關規範辦法</a:t>
            </a:r>
          </a:p>
        </p:txBody>
      </p:sp>
    </p:spTree>
    <p:extLst>
      <p:ext uri="{BB962C8B-B14F-4D97-AF65-F5344CB8AC3E}">
        <p14:creationId xmlns:p14="http://schemas.microsoft.com/office/powerpoint/2010/main" val="240147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資訊</a:t>
            </a:r>
            <a:r>
              <a:rPr lang="zh-TW" altLang="en-US" dirty="0"/>
              <a:t>系統</a:t>
            </a:r>
            <a:r>
              <a:rPr lang="zh-TW" altLang="en-US" dirty="0" smtClean="0"/>
              <a:t>管理</a:t>
            </a:r>
            <a:r>
              <a:rPr lang="zh-TW" altLang="en-US" dirty="0"/>
              <a:t>目的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173038" indent="-173038">
              <a:spcBef>
                <a:spcPts val="1200"/>
              </a:spcBef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建立各項規範辦法，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使管理制度電腦</a:t>
            </a:r>
            <a:r>
              <a:rPr lang="zh-TW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作業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之</a:t>
            </a:r>
            <a:r>
              <a:rPr lang="zh-TW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實施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，於</a:t>
            </a:r>
            <a:r>
              <a:rPr lang="zh-TW" altLang="zh-TW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</a:t>
            </a:r>
            <a:r>
              <a:rPr lang="zh-TW" altLang="zh-TW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階段工作</a:t>
            </a:r>
            <a:r>
              <a:rPr lang="zh-TW" altLang="zh-TW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有所依據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及順利進行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038" indent="-173038">
              <a:spcBef>
                <a:spcPts val="1200"/>
              </a:spcBef>
            </a:pP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成功的系統設計除可達成管理制度之</a:t>
            </a:r>
            <a:r>
              <a:rPr lang="zh-TW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需求，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另可提高程式設計品質，縮短程式設計時限，減輕作業維護之負擔，使整套作業系統</a:t>
            </a:r>
            <a:r>
              <a:rPr lang="zh-TW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更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為完善</a:t>
            </a:r>
            <a:r>
              <a:rPr lang="zh-TW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進而充分發揮電腦作業之功效。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038" indent="-173038">
              <a:spcBef>
                <a:spcPts val="1200"/>
              </a:spcBef>
            </a:pPr>
            <a:r>
              <a:rPr lang="zh-TW" altLang="en-US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符合內部控制規範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公開發行公司建立內部控制制度處理準則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73038" indent="-173038">
              <a:spcBef>
                <a:spcPts val="1200"/>
              </a:spcBef>
            </a:pPr>
            <a:r>
              <a:rPr lang="zh-TW" altLang="en-US" dirty="0" smtClean="0"/>
              <a:t>藉由</a:t>
            </a:r>
            <a:r>
              <a:rPr lang="zh-TW" altLang="en-US" u="sng" dirty="0" smtClean="0">
                <a:solidFill>
                  <a:srgbClr val="C00000"/>
                </a:solidFill>
              </a:rPr>
              <a:t>程式履歷建立</a:t>
            </a:r>
            <a:r>
              <a:rPr lang="zh-TW" altLang="en-US" dirty="0" smtClean="0"/>
              <a:t>，</a:t>
            </a:r>
            <a:r>
              <a:rPr lang="zh-TW" altLang="en-US" dirty="0"/>
              <a:t>記錄</a:t>
            </a:r>
            <a:r>
              <a:rPr lang="zh-TW" altLang="zh-TW" dirty="0"/>
              <a:t>電腦作業開發</a:t>
            </a:r>
            <a:r>
              <a:rPr lang="zh-TW" altLang="en-US" dirty="0"/>
              <a:t>各項</a:t>
            </a:r>
            <a:r>
              <a:rPr lang="zh-TW" altLang="zh-TW" dirty="0"/>
              <a:t>程式、檔案、作業區申請資料及後續維護狀況，</a:t>
            </a:r>
            <a:r>
              <a:rPr lang="zh-TW" altLang="en-US" dirty="0"/>
              <a:t>以利</a:t>
            </a:r>
            <a:r>
              <a:rPr lang="zh-TW" altLang="zh-TW" dirty="0"/>
              <a:t>管理追蹤</a:t>
            </a:r>
            <a:r>
              <a:rPr lang="zh-TW" altLang="en-US" dirty="0"/>
              <a:t>。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626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公開發行公司建立內部控制制度處理準則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1039215"/>
          </a:xfrm>
        </p:spPr>
        <p:txBody>
          <a:bodyPr/>
          <a:lstStyle/>
          <a:p>
            <a:pPr marL="182563" indent="-182563">
              <a:spcBef>
                <a:spcPts val="0"/>
              </a:spcBef>
            </a:pPr>
            <a:r>
              <a:rPr lang="zh-TW" altLang="en-US" sz="2400" dirty="0">
                <a:cs typeface="Times New Roman" panose="02020603050405020304" pitchFamily="18" charset="0"/>
              </a:rPr>
              <a:t>法規類別</a:t>
            </a:r>
            <a:r>
              <a:rPr lang="zh-TW" altLang="zh-TW" sz="2400" dirty="0"/>
              <a:t>：</a:t>
            </a:r>
            <a:r>
              <a:rPr lang="zh-TW" altLang="en-US" sz="2400" dirty="0" smtClean="0"/>
              <a:t>行政＞金融</a:t>
            </a:r>
            <a:r>
              <a:rPr lang="zh-TW" altLang="en-US" sz="2400" dirty="0"/>
              <a:t>監督管理</a:t>
            </a:r>
            <a:r>
              <a:rPr lang="zh-TW" altLang="en-US" sz="2400" dirty="0" smtClean="0"/>
              <a:t>委員會</a:t>
            </a:r>
            <a:r>
              <a:rPr lang="zh-TW" altLang="en-US" sz="2400" dirty="0"/>
              <a:t>＞</a:t>
            </a:r>
            <a:r>
              <a:rPr lang="zh-TW" altLang="en-US" sz="2400" dirty="0" smtClean="0"/>
              <a:t>證券</a:t>
            </a:r>
            <a:r>
              <a:rPr lang="zh-TW" altLang="en-US" sz="2400" dirty="0"/>
              <a:t>暨期貨管理目</a:t>
            </a:r>
            <a:endParaRPr lang="en-US" altLang="zh-TW" sz="2400" dirty="0"/>
          </a:p>
          <a:p>
            <a:pPr marL="182563" indent="-182563">
              <a:spcBef>
                <a:spcPts val="0"/>
              </a:spcBef>
            </a:pPr>
            <a:r>
              <a:rPr lang="zh-TW" altLang="en-US" sz="2400" dirty="0">
                <a:cs typeface="Times New Roman" panose="02020603050405020304" pitchFamily="18" charset="0"/>
              </a:rPr>
              <a:t>本準則依證券交易法第十四條之一第二項規定訂定之。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</a:t>
            </a:fld>
            <a:endParaRPr lang="zh-TW" altLang="en-US" dirty="0"/>
          </a:p>
        </p:txBody>
      </p:sp>
      <p:pic>
        <p:nvPicPr>
          <p:cNvPr id="8" name="內容版面配置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693" y="2161667"/>
            <a:ext cx="7679516" cy="453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23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資訊部新進人員訓練課程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>
          <a:xfrm>
            <a:off x="902195" y="1429665"/>
            <a:ext cx="10309144" cy="1331823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資訊部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新進人員透過各項規範訓練課程，瞭解企業管理精神與規範。</a:t>
            </a:r>
            <a:endParaRPr lang="zh-TW" altLang="en-US" sz="24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</a:t>
            </a:fld>
            <a:endParaRPr lang="zh-TW" altLang="en-US" dirty="0"/>
          </a:p>
        </p:txBody>
      </p:sp>
      <p:pic>
        <p:nvPicPr>
          <p:cNvPr id="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01" y="1968925"/>
            <a:ext cx="9309975" cy="466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3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依</a:t>
            </a:r>
            <a:r>
              <a:rPr lang="zh-TW" altLang="en-US" dirty="0"/>
              <a:t>資訊系統設計</a:t>
            </a:r>
            <a:r>
              <a:rPr lang="zh-TW" altLang="en-US" dirty="0" smtClean="0"/>
              <a:t>程序介紹各階段規範與作法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</a:t>
            </a:fld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991840" y="152425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資訊系統設計程序</a:t>
            </a:r>
          </a:p>
        </p:txBody>
      </p:sp>
      <p:grpSp>
        <p:nvGrpSpPr>
          <p:cNvPr id="47" name="群組 46"/>
          <p:cNvGrpSpPr/>
          <p:nvPr/>
        </p:nvGrpSpPr>
        <p:grpSpPr>
          <a:xfrm>
            <a:off x="1073168" y="2214117"/>
            <a:ext cx="2880000" cy="1987372"/>
            <a:chOff x="1330011" y="2219559"/>
            <a:chExt cx="2880000" cy="1987372"/>
          </a:xfrm>
        </p:grpSpPr>
        <p:sp>
          <p:nvSpPr>
            <p:cNvPr id="37" name="圓角矩形 36"/>
            <p:cNvSpPr/>
            <p:nvPr/>
          </p:nvSpPr>
          <p:spPr>
            <a:xfrm>
              <a:off x="1330011" y="2219559"/>
              <a:ext cx="2880000" cy="1987372"/>
            </a:xfrm>
            <a:prstGeom prst="roundRect">
              <a:avLst>
                <a:gd name="adj" fmla="val 5074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spcBef>
                  <a:spcPct val="0"/>
                </a:spcBef>
              </a:pPr>
              <a:r>
                <a:rPr lang="zh-TW" altLang="en-US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制度設計</a:t>
              </a:r>
            </a:p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手繪多邊形 7"/>
            <p:cNvSpPr/>
            <p:nvPr/>
          </p:nvSpPr>
          <p:spPr>
            <a:xfrm>
              <a:off x="1427307" y="2757126"/>
              <a:ext cx="2700000" cy="1249407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編寫原則</a:t>
              </a:r>
              <a:endParaRPr lang="zh-TW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群組 44"/>
          <p:cNvGrpSpPr/>
          <p:nvPr/>
        </p:nvGrpSpPr>
        <p:grpSpPr>
          <a:xfrm>
            <a:off x="4301714" y="1641658"/>
            <a:ext cx="2880000" cy="4752000"/>
            <a:chOff x="4408551" y="1647100"/>
            <a:chExt cx="2880000" cy="4752000"/>
          </a:xfrm>
        </p:grpSpPr>
        <p:sp>
          <p:nvSpPr>
            <p:cNvPr id="39" name="圓角矩形 38"/>
            <p:cNvSpPr/>
            <p:nvPr/>
          </p:nvSpPr>
          <p:spPr>
            <a:xfrm>
              <a:off x="4408551" y="1647100"/>
              <a:ext cx="2880000" cy="4752000"/>
            </a:xfrm>
            <a:prstGeom prst="roundRect">
              <a:avLst>
                <a:gd name="adj" fmla="val 4276"/>
              </a:avLst>
            </a:prstGeom>
            <a:noFill/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程式設計</a:t>
              </a:r>
              <a:endParaRPr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手繪多邊形 10"/>
            <p:cNvSpPr/>
            <p:nvPr/>
          </p:nvSpPr>
          <p:spPr>
            <a:xfrm>
              <a:off x="4494720" y="2140271"/>
              <a:ext cx="2700000" cy="200499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履歷建立</a:t>
              </a:r>
              <a:endParaRPr lang="zh-TW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手繪多邊形 11"/>
            <p:cNvSpPr/>
            <p:nvPr/>
          </p:nvSpPr>
          <p:spPr>
            <a:xfrm>
              <a:off x="4494720" y="4206931"/>
              <a:ext cx="2700000" cy="2031823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程式開發</a:t>
              </a:r>
              <a:endParaRPr lang="zh-TW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8" name="手繪多邊形 17"/>
            <p:cNvSpPr/>
            <p:nvPr/>
          </p:nvSpPr>
          <p:spPr>
            <a:xfrm>
              <a:off x="5083157" y="2565978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基礎建檔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手繪多邊形 19"/>
            <p:cNvSpPr/>
            <p:nvPr/>
          </p:nvSpPr>
          <p:spPr>
            <a:xfrm>
              <a:off x="5083157" y="3048911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帳號申請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1" name="手繪多邊形 20"/>
            <p:cNvSpPr/>
            <p:nvPr/>
          </p:nvSpPr>
          <p:spPr>
            <a:xfrm>
              <a:off x="5079720" y="5691464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設計規範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手繪多邊形 21"/>
            <p:cNvSpPr/>
            <p:nvPr/>
          </p:nvSpPr>
          <p:spPr>
            <a:xfrm>
              <a:off x="5079720" y="5200183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權限申請</a:t>
              </a:r>
            </a:p>
          </p:txBody>
        </p:sp>
      </p:grpSp>
      <p:sp>
        <p:nvSpPr>
          <p:cNvPr id="40" name="圓角矩形 39"/>
          <p:cNvSpPr/>
          <p:nvPr/>
        </p:nvSpPr>
        <p:spPr>
          <a:xfrm>
            <a:off x="7515004" y="1643453"/>
            <a:ext cx="2880000" cy="4750205"/>
          </a:xfrm>
          <a:prstGeom prst="roundRect">
            <a:avLst>
              <a:gd name="adj" fmla="val 4276"/>
            </a:avLst>
          </a:prstGeom>
          <a:noFill/>
          <a:ln w="19050">
            <a:solidFill>
              <a:schemeClr val="accent4"/>
            </a:solidFill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0" rIns="137160" bIns="136800" numCol="1" spcCol="1270" rtlCol="0" anchor="t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實施維護</a:t>
            </a:r>
            <a:endParaRPr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2" name="群組 41"/>
          <p:cNvGrpSpPr/>
          <p:nvPr/>
        </p:nvGrpSpPr>
        <p:grpSpPr>
          <a:xfrm>
            <a:off x="7605004" y="2134829"/>
            <a:ext cx="2700000" cy="2004992"/>
            <a:chOff x="7739739" y="2140271"/>
            <a:chExt cx="2700000" cy="2004992"/>
          </a:xfrm>
        </p:grpSpPr>
        <p:sp>
          <p:nvSpPr>
            <p:cNvPr id="14" name="手繪多邊形 13"/>
            <p:cNvSpPr/>
            <p:nvPr/>
          </p:nvSpPr>
          <p:spPr>
            <a:xfrm>
              <a:off x="7739739" y="2140271"/>
              <a:ext cx="2700000" cy="2004992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作業實施</a:t>
              </a:r>
              <a:endParaRPr lang="zh-TW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手繪多邊形 24"/>
            <p:cNvSpPr/>
            <p:nvPr/>
          </p:nvSpPr>
          <p:spPr>
            <a:xfrm>
              <a:off x="8369739" y="2570083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程式派送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6" name="手繪多邊形 25"/>
            <p:cNvSpPr/>
            <p:nvPr/>
          </p:nvSpPr>
          <p:spPr>
            <a:xfrm>
              <a:off x="8369739" y="3067361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排程申請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7" name="手繪多邊形 26"/>
            <p:cNvSpPr/>
            <p:nvPr/>
          </p:nvSpPr>
          <p:spPr>
            <a:xfrm>
              <a:off x="8369739" y="3553855"/>
              <a:ext cx="144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安裝確認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7605004" y="4201489"/>
            <a:ext cx="2700000" cy="2031823"/>
            <a:chOff x="7739739" y="4206931"/>
            <a:chExt cx="2700000" cy="2031823"/>
          </a:xfrm>
        </p:grpSpPr>
        <p:sp>
          <p:nvSpPr>
            <p:cNvPr id="15" name="手繪多邊形 14"/>
            <p:cNvSpPr/>
            <p:nvPr/>
          </p:nvSpPr>
          <p:spPr>
            <a:xfrm>
              <a:off x="7739739" y="4206931"/>
              <a:ext cx="2700000" cy="2031823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作業維護</a:t>
              </a:r>
              <a:endParaRPr lang="zh-TW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8" name="手繪多邊形 27"/>
            <p:cNvSpPr/>
            <p:nvPr/>
          </p:nvSpPr>
          <p:spPr>
            <a:xfrm>
              <a:off x="7809793" y="4680000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排程變更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9" name="手繪多邊形 28"/>
            <p:cNvSpPr/>
            <p:nvPr/>
          </p:nvSpPr>
          <p:spPr>
            <a:xfrm>
              <a:off x="7808400" y="5176267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異常管理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0" name="手繪多邊形 29"/>
            <p:cNvSpPr/>
            <p:nvPr/>
          </p:nvSpPr>
          <p:spPr>
            <a:xfrm>
              <a:off x="7808400" y="5667416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自主檢查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1" name="手繪多邊形 30"/>
            <p:cNvSpPr/>
            <p:nvPr/>
          </p:nvSpPr>
          <p:spPr>
            <a:xfrm>
              <a:off x="9108000" y="4680000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帳號管理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2" name="手繪多邊形 31"/>
            <p:cNvSpPr/>
            <p:nvPr/>
          </p:nvSpPr>
          <p:spPr>
            <a:xfrm>
              <a:off x="9108000" y="5176267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磁碟</a:t>
              </a:r>
              <a:r>
                <a:rPr lang="zh-TW" altLang="en-US" sz="2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管理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3" name="手繪多邊形 32"/>
            <p:cNvSpPr/>
            <p:nvPr/>
          </p:nvSpPr>
          <p:spPr>
            <a:xfrm>
              <a:off x="9108000" y="5670828"/>
              <a:ext cx="1260000" cy="452679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4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作業交接</a:t>
              </a:r>
              <a:endParaRPr lang="zh-TW" alt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1073168" y="4518439"/>
            <a:ext cx="2880000" cy="1875220"/>
            <a:chOff x="1326785" y="3643049"/>
            <a:chExt cx="2880000" cy="1875220"/>
          </a:xfrm>
        </p:grpSpPr>
        <p:sp>
          <p:nvSpPr>
            <p:cNvPr id="43" name="圓角矩形 42"/>
            <p:cNvSpPr/>
            <p:nvPr/>
          </p:nvSpPr>
          <p:spPr>
            <a:xfrm>
              <a:off x="1326785" y="3643049"/>
              <a:ext cx="2880000" cy="1875220"/>
            </a:xfrm>
            <a:prstGeom prst="roundRect">
              <a:avLst>
                <a:gd name="adj" fmla="val 6777"/>
              </a:avLst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7160" tIns="0" rIns="137160" bIns="136800" numCol="1" spcCol="1270" rtlCol="0" anchor="t" anchorCtr="0">
              <a:noAutofit/>
            </a:bodyPr>
            <a:lstStyle/>
            <a:p>
              <a:pPr lvl="0" algn="ctr" defTabSz="1600200">
                <a:spcBef>
                  <a:spcPct val="0"/>
                </a:spcBef>
              </a:pPr>
              <a:r>
                <a:rPr lang="zh-TW" altLang="en-US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</a:t>
              </a:r>
              <a:r>
                <a:rPr lang="zh-TW" altLang="en-US" sz="2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設計</a:t>
              </a:r>
              <a:endPara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  <a:p>
              <a:pPr algn="ctr" defTabSz="1600200">
                <a:spcBef>
                  <a:spcPct val="0"/>
                </a:spcBef>
              </a:pPr>
              <a:endParaRPr lang="zh-TW" altLang="en-US" sz="3600" kern="1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44" name="手繪多邊形 43"/>
            <p:cNvSpPr/>
            <p:nvPr/>
          </p:nvSpPr>
          <p:spPr>
            <a:xfrm>
              <a:off x="1424081" y="4180616"/>
              <a:ext cx="2700000" cy="1177305"/>
            </a:xfrm>
            <a:custGeom>
              <a:avLst/>
              <a:gdLst>
                <a:gd name="connsiteX0" fmla="*/ 0 w 2617576"/>
                <a:gd name="connsiteY0" fmla="*/ 146276 h 1462763"/>
                <a:gd name="connsiteX1" fmla="*/ 146276 w 2617576"/>
                <a:gd name="connsiteY1" fmla="*/ 0 h 1462763"/>
                <a:gd name="connsiteX2" fmla="*/ 2471300 w 2617576"/>
                <a:gd name="connsiteY2" fmla="*/ 0 h 1462763"/>
                <a:gd name="connsiteX3" fmla="*/ 2617576 w 2617576"/>
                <a:gd name="connsiteY3" fmla="*/ 146276 h 1462763"/>
                <a:gd name="connsiteX4" fmla="*/ 2617576 w 2617576"/>
                <a:gd name="connsiteY4" fmla="*/ 1316487 h 1462763"/>
                <a:gd name="connsiteX5" fmla="*/ 2471300 w 2617576"/>
                <a:gd name="connsiteY5" fmla="*/ 1462763 h 1462763"/>
                <a:gd name="connsiteX6" fmla="*/ 146276 w 2617576"/>
                <a:gd name="connsiteY6" fmla="*/ 1462763 h 1462763"/>
                <a:gd name="connsiteX7" fmla="*/ 0 w 2617576"/>
                <a:gd name="connsiteY7" fmla="*/ 1316487 h 1462763"/>
                <a:gd name="connsiteX8" fmla="*/ 0 w 2617576"/>
                <a:gd name="connsiteY8" fmla="*/ 146276 h 146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7576" h="1462763">
                  <a:moveTo>
                    <a:pt x="0" y="146276"/>
                  </a:moveTo>
                  <a:cubicBezTo>
                    <a:pt x="0" y="65490"/>
                    <a:pt x="65490" y="0"/>
                    <a:pt x="146276" y="0"/>
                  </a:cubicBezTo>
                  <a:lnTo>
                    <a:pt x="2471300" y="0"/>
                  </a:lnTo>
                  <a:cubicBezTo>
                    <a:pt x="2552086" y="0"/>
                    <a:pt x="2617576" y="65490"/>
                    <a:pt x="2617576" y="146276"/>
                  </a:cubicBezTo>
                  <a:lnTo>
                    <a:pt x="2617576" y="1316487"/>
                  </a:lnTo>
                  <a:cubicBezTo>
                    <a:pt x="2617576" y="1397273"/>
                    <a:pt x="2552086" y="1462763"/>
                    <a:pt x="2471300" y="1462763"/>
                  </a:cubicBezTo>
                  <a:lnTo>
                    <a:pt x="146276" y="1462763"/>
                  </a:lnTo>
                  <a:cubicBezTo>
                    <a:pt x="65490" y="1462763"/>
                    <a:pt x="0" y="1397273"/>
                    <a:pt x="0" y="1316487"/>
                  </a:cubicBezTo>
                  <a:lnTo>
                    <a:pt x="0" y="146276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963" tIns="96183" rIns="113963" bIns="96183" numCol="1" spcCol="1270" anchor="t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TW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系統文件</a:t>
              </a:r>
              <a:endParaRPr lang="zh-TW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向下箭號 47"/>
          <p:cNvSpPr/>
          <p:nvPr/>
        </p:nvSpPr>
        <p:spPr>
          <a:xfrm>
            <a:off x="2297643" y="4202369"/>
            <a:ext cx="509286" cy="299535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9" name="向下箭號 48"/>
          <p:cNvSpPr/>
          <p:nvPr/>
        </p:nvSpPr>
        <p:spPr>
          <a:xfrm rot="-5400000">
            <a:off x="3877309" y="4631466"/>
            <a:ext cx="509286" cy="299535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0" name="向下箭號 49"/>
          <p:cNvSpPr/>
          <p:nvPr/>
        </p:nvSpPr>
        <p:spPr>
          <a:xfrm rot="-5400000">
            <a:off x="7101455" y="4025103"/>
            <a:ext cx="509286" cy="299535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endParaRPr lang="zh-TW" altLang="en-US" sz="3600" kern="1200" dirty="0" smtClean="0">
              <a:ln>
                <a:solidFill>
                  <a:schemeClr val="accent6"/>
                </a:solidFill>
              </a:ln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手繪多邊形 37"/>
          <p:cNvSpPr/>
          <p:nvPr/>
        </p:nvSpPr>
        <p:spPr>
          <a:xfrm>
            <a:off x="4976320" y="4702687"/>
            <a:ext cx="1440000" cy="452679"/>
          </a:xfrm>
          <a:custGeom>
            <a:avLst/>
            <a:gdLst>
              <a:gd name="connsiteX0" fmla="*/ 0 w 2617576"/>
              <a:gd name="connsiteY0" fmla="*/ 146276 h 1462763"/>
              <a:gd name="connsiteX1" fmla="*/ 146276 w 2617576"/>
              <a:gd name="connsiteY1" fmla="*/ 0 h 1462763"/>
              <a:gd name="connsiteX2" fmla="*/ 2471300 w 2617576"/>
              <a:gd name="connsiteY2" fmla="*/ 0 h 1462763"/>
              <a:gd name="connsiteX3" fmla="*/ 2617576 w 2617576"/>
              <a:gd name="connsiteY3" fmla="*/ 146276 h 1462763"/>
              <a:gd name="connsiteX4" fmla="*/ 2617576 w 2617576"/>
              <a:gd name="connsiteY4" fmla="*/ 1316487 h 1462763"/>
              <a:gd name="connsiteX5" fmla="*/ 2471300 w 2617576"/>
              <a:gd name="connsiteY5" fmla="*/ 1462763 h 1462763"/>
              <a:gd name="connsiteX6" fmla="*/ 146276 w 2617576"/>
              <a:gd name="connsiteY6" fmla="*/ 1462763 h 1462763"/>
              <a:gd name="connsiteX7" fmla="*/ 0 w 2617576"/>
              <a:gd name="connsiteY7" fmla="*/ 1316487 h 1462763"/>
              <a:gd name="connsiteX8" fmla="*/ 0 w 2617576"/>
              <a:gd name="connsiteY8" fmla="*/ 146276 h 1462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7576" h="1462763">
                <a:moveTo>
                  <a:pt x="0" y="146276"/>
                </a:moveTo>
                <a:cubicBezTo>
                  <a:pt x="0" y="65490"/>
                  <a:pt x="65490" y="0"/>
                  <a:pt x="146276" y="0"/>
                </a:cubicBezTo>
                <a:lnTo>
                  <a:pt x="2471300" y="0"/>
                </a:lnTo>
                <a:cubicBezTo>
                  <a:pt x="2552086" y="0"/>
                  <a:pt x="2617576" y="65490"/>
                  <a:pt x="2617576" y="146276"/>
                </a:cubicBezTo>
                <a:lnTo>
                  <a:pt x="2617576" y="1316487"/>
                </a:lnTo>
                <a:cubicBezTo>
                  <a:pt x="2617576" y="1397273"/>
                  <a:pt x="2552086" y="1462763"/>
                  <a:pt x="2471300" y="1462763"/>
                </a:cubicBezTo>
                <a:lnTo>
                  <a:pt x="146276" y="1462763"/>
                </a:lnTo>
                <a:cubicBezTo>
                  <a:pt x="65490" y="1462763"/>
                  <a:pt x="0" y="1397273"/>
                  <a:pt x="0" y="1316487"/>
                </a:cubicBezTo>
                <a:lnTo>
                  <a:pt x="0" y="146276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963" tIns="96183" rIns="113963" bIns="96183" numCol="1" spcCol="1270" anchor="ctr" anchorCtr="0">
            <a:no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20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資料字典</a:t>
            </a:r>
            <a:endParaRPr lang="zh-TW" altLang="en-US" sz="2000" kern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80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字版面配置區 5">
            <a:extLst>
              <a:ext uri="{FF2B5EF4-FFF2-40B4-BE49-F238E27FC236}">
                <a16:creationId xmlns="" xmlns:a16="http://schemas.microsoft.com/office/drawing/2014/main" id="{BA3CF485-C6C6-E6C8-6545-51AADA8BC744}"/>
              </a:ext>
            </a:extLst>
          </p:cNvPr>
          <p:cNvSpPr txBox="1">
            <a:spLocks/>
          </p:cNvSpPr>
          <p:nvPr/>
        </p:nvSpPr>
        <p:spPr>
          <a:xfrm>
            <a:off x="9161228" y="4041328"/>
            <a:ext cx="2715087" cy="454472"/>
          </a:xfrm>
          <a:prstGeom prst="rect">
            <a:avLst/>
          </a:prstGeom>
        </p:spPr>
        <p:txBody>
          <a:bodyPr>
            <a:no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800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ea typeface="標楷體" panose="03000509000000000000" pitchFamily="65" charset="-120"/>
              </a:rPr>
              <a:t>Thank You</a:t>
            </a:r>
            <a:endParaRPr lang="zh-TW" altLang="en-US" sz="2800" dirty="0">
              <a:solidFill>
                <a:schemeClr val="bg2">
                  <a:lumMod val="90000"/>
                </a:schemeClr>
              </a:solidFill>
              <a:latin typeface="Arial Black" panose="020B0A040201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1A6D12F-1428-79A2-8A5E-0BAC7C5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165" y="3021496"/>
            <a:ext cx="10087669" cy="695176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以上報告</a:t>
            </a:r>
          </a:p>
        </p:txBody>
      </p:sp>
    </p:spTree>
    <p:extLst>
      <p:ext uri="{BB962C8B-B14F-4D97-AF65-F5344CB8AC3E}">
        <p14:creationId xmlns:p14="http://schemas.microsoft.com/office/powerpoint/2010/main" val="211489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台塑企業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作業登入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16687" y="1311275"/>
            <a:ext cx="9079251" cy="485140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648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台塑企業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作業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個人作業項目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68561" y="1311275"/>
            <a:ext cx="8575503" cy="485140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832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台塑企業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作業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登入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入口驗證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55903" y="1311275"/>
            <a:ext cx="8600819" cy="485140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041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台塑企業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作業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電腦作業個人權限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69996" y="1311275"/>
            <a:ext cx="9172632" cy="485140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346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單線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6">
              <a:lumMod val="75000"/>
            </a:schemeClr>
          </a:solidFill>
        </a:ln>
      </a:spPr>
      <a:bodyPr spcFirstLastPara="0" vert="horz" wrap="square" lIns="137160" tIns="137160" rIns="137160" bIns="136800" numCol="1" spcCol="1270" anchor="t" anchorCtr="0">
        <a:noAutofit/>
      </a:bodyPr>
      <a:lstStyle>
        <a:defPPr algn="ctr" defTabSz="1600200">
          <a:spcBef>
            <a:spcPct val="0"/>
          </a:spcBef>
          <a:defRPr sz="3600" kern="1200" dirty="0" smtClean="0"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defRPr>
        </a:defPPr>
      </a:lstStyle>
      <a:style>
        <a:lnRef idx="0">
          <a:scrgbClr r="0" g="0" b="0"/>
        </a:lnRef>
        <a:fillRef idx="1">
          <a:schemeClr val="accent2">
            <a:tint val="40000"/>
            <a:hueOff val="0"/>
            <a:satOff val="0"/>
            <a:lumOff val="0"/>
            <a:alphaOff val="0"/>
          </a:schemeClr>
        </a:fillRef>
        <a:effectRef idx="0">
          <a:schemeClr val="accent2">
            <a:tint val="40000"/>
            <a:hueOff val="0"/>
            <a:satOff val="0"/>
            <a:lumOff val="0"/>
            <a:alphaOff val="0"/>
          </a:schemeClr>
        </a:effectRef>
        <a:fontRef idx="minor">
          <a:schemeClr val="dk1">
            <a:hueOff val="0"/>
            <a:satOff val="0"/>
            <a:lumOff val="0"/>
            <a:alphaOff val="0"/>
          </a:schemeClr>
        </a:fontRef>
      </a:style>
    </a:spDef>
  </a:objectDefaults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令人眼睛為之一亮的極簡風銷售宣傳</Template>
  <TotalTime>11714</TotalTime>
  <Words>329</Words>
  <Application>Microsoft Office PowerPoint</Application>
  <PresentationFormat>寬螢幕</PresentationFormat>
  <Paragraphs>73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1" baseType="lpstr">
      <vt:lpstr>Microsoft JhengHei UI</vt:lpstr>
      <vt:lpstr>Tenorite</vt:lpstr>
      <vt:lpstr>新細明體</vt:lpstr>
      <vt:lpstr>標楷體</vt:lpstr>
      <vt:lpstr>Arial</vt:lpstr>
      <vt:lpstr>Arial Black</vt:lpstr>
      <vt:lpstr>Calibri</vt:lpstr>
      <vt:lpstr>Times New Roman</vt:lpstr>
      <vt:lpstr>Wingdings</vt:lpstr>
      <vt:lpstr>單線</vt:lpstr>
      <vt:lpstr>台塑企業總管理處資訊部 應用軟體開發管理介紹</vt:lpstr>
      <vt:lpstr>資訊系統設計程序</vt:lpstr>
      <vt:lpstr>資訊系統管理目的</vt:lpstr>
      <vt:lpstr>公開發行公司建立內部控制制度處理準則</vt:lpstr>
      <vt:lpstr>資訊部新進人員訓練課程</vt:lpstr>
      <vt:lpstr>依資訊系統設計程序介紹各階段規範與作法</vt:lpstr>
      <vt:lpstr>以上報告</vt:lpstr>
      <vt:lpstr>台塑企業ERP作業登入</vt:lpstr>
      <vt:lpstr>台塑企業ERP作業(個人作業項目)</vt:lpstr>
      <vt:lpstr>台塑企業ERP作業登入(入口驗證)</vt:lpstr>
      <vt:lpstr>台塑企業ERP作業(電腦作業個人權限)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00RKD0/李靜媚</dc:creator>
  <cp:lastModifiedBy>00RKD0/李靜媚</cp:lastModifiedBy>
  <cp:revision>3402</cp:revision>
  <cp:lastPrinted>2025-03-15T02:52:48Z</cp:lastPrinted>
  <dcterms:created xsi:type="dcterms:W3CDTF">2025-01-10T07:02:16Z</dcterms:created>
  <dcterms:modified xsi:type="dcterms:W3CDTF">2025-04-25T06:18:06Z</dcterms:modified>
</cp:coreProperties>
</file>