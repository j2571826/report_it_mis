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98" r:id="rId1"/>
  </p:sldMasterIdLst>
  <p:notesMasterIdLst>
    <p:notesMasterId r:id="rId10"/>
  </p:notesMasterIdLst>
  <p:handoutMasterIdLst>
    <p:handoutMasterId r:id="rId11"/>
  </p:handoutMasterIdLst>
  <p:sldIdLst>
    <p:sldId id="503" r:id="rId2"/>
    <p:sldId id="548" r:id="rId3"/>
    <p:sldId id="515" r:id="rId4"/>
    <p:sldId id="549" r:id="rId5"/>
    <p:sldId id="546" r:id="rId6"/>
    <p:sldId id="516" r:id="rId7"/>
    <p:sldId id="547" r:id="rId8"/>
    <p:sldId id="550" r:id="rId9"/>
  </p:sldIdLst>
  <p:sldSz cx="12192000" cy="6858000"/>
  <p:notesSz cx="7099300" cy="10234613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FEF"/>
    <a:srgbClr val="FFEBEB"/>
    <a:srgbClr val="FFE5E5"/>
    <a:srgbClr val="FF7D7D"/>
    <a:srgbClr val="ECA890"/>
    <a:srgbClr val="FFCCCC"/>
    <a:srgbClr val="0000FF"/>
    <a:srgbClr val="CC0099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07" autoAdjust="0"/>
    <p:restoredTop sz="93834" autoAdjust="0"/>
  </p:normalViewPr>
  <p:slideViewPr>
    <p:cSldViewPr snapToGrid="0">
      <p:cViewPr varScale="1">
        <p:scale>
          <a:sx n="82" d="100"/>
          <a:sy n="82" d="100"/>
        </p:scale>
        <p:origin x="96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3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CD7244E6-A45F-460D-B8BE-008BF35B8B56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47D59402-F725-4F0C-997F-82DBBA4FFC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85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FFB4414E-9775-444A-BBDC-C9A7AB718EBA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35" tIns="49517" rIns="99035" bIns="495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9A9FE17B-0309-43F4-A166-43322B09A8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0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" y="0"/>
            <a:ext cx="5581651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368" y="1999072"/>
            <a:ext cx="7213773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0595" y="4548557"/>
            <a:ext cx="5433204" cy="55794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24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0169" y="5070800"/>
            <a:ext cx="5431971" cy="55795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2E2F1B79-217A-1201-EB4E-E0DE79F6A1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zh-TW" altLang="en-US" noProof="0"/>
              <a:t>募資簡報</a:t>
            </a:r>
          </a:p>
        </p:txBody>
      </p:sp>
      <p:pic>
        <p:nvPicPr>
          <p:cNvPr id="6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262" y="359491"/>
            <a:ext cx="2523960" cy="143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873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385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12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7716" y="0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4599432"/>
            <a:ext cx="1710216" cy="225856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​​(S) 11">
            <a:extLst>
              <a:ext uri="{FF2B5EF4-FFF2-40B4-BE49-F238E27FC236}">
                <a16:creationId xmlns:a16="http://schemas.microsoft.com/office/drawing/2014/main" xmlns="" id="{EB864DD1-893C-9A69-1317-8403F03DC838}"/>
              </a:ext>
            </a:extLst>
          </p:cNvPr>
          <p:cNvCxnSpPr>
            <a:cxnSpLocks/>
          </p:cNvCxnSpPr>
          <p:nvPr userDrawn="1"/>
        </p:nvCxnSpPr>
        <p:spPr>
          <a:xfrm>
            <a:off x="0" y="5895413"/>
            <a:ext cx="12192003" cy="6435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2B99E9-A78D-ABE6-EB34-A1AEF2CA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2" name="箭號: 五邊形 11">
            <a:extLst>
              <a:ext uri="{FF2B5EF4-FFF2-40B4-BE49-F238E27FC236}">
                <a16:creationId xmlns:a16="http://schemas.microsoft.com/office/drawing/2014/main" xmlns="" id="{A75AFB73-C2A6-6EB5-4195-7721E9AE2A30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6A8EBA31-886C-3E7F-9861-255D8A4535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xmlns="" id="{0508D6D0-1AAC-252D-A6B0-59F6E999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6560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2944" y="-6479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04588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6" name="圖形 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70137" y="1638302"/>
            <a:ext cx="4320000" cy="2235356"/>
          </a:xfrm>
          <a:prstGeom prst="rect">
            <a:avLst/>
          </a:prstGeom>
        </p:spPr>
      </p:pic>
      <p:pic>
        <p:nvPicPr>
          <p:cNvPr id="17" name="圖形 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594493" y="4023138"/>
            <a:ext cx="4320000" cy="2201994"/>
          </a:xfrm>
          <a:prstGeom prst="rect">
            <a:avLst/>
          </a:prstGeom>
        </p:spPr>
      </p:pic>
      <p:pic>
        <p:nvPicPr>
          <p:cNvPr id="18" name="圖形 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50600" y="1914668"/>
            <a:ext cx="4320000" cy="2328378"/>
          </a:xfrm>
          <a:prstGeom prst="rect">
            <a:avLst/>
          </a:prstGeom>
        </p:spPr>
      </p:pic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165" y="2354501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 dirty="0"/>
              <a:t>按一下以新增副標題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8098" y="2734647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384" y="4625936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pic>
        <p:nvPicPr>
          <p:cNvPr id="12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箭號: 五邊形 8">
            <a:extLst>
              <a:ext uri="{FF2B5EF4-FFF2-40B4-BE49-F238E27FC236}">
                <a16:creationId xmlns:a16="http://schemas.microsoft.com/office/drawing/2014/main" xmlns="" id="{14EC25D0-5BFF-566A-4303-54297340FDB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4">
            <a:extLst>
              <a:ext uri="{FF2B5EF4-FFF2-40B4-BE49-F238E27FC236}">
                <a16:creationId xmlns:a16="http://schemas.microsoft.com/office/drawing/2014/main" xmlns="" id="{57E60439-B1D7-7CF0-6AA9-3177BE19AB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033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6200000" flipH="1">
            <a:off x="4141694" y="-4141694"/>
            <a:ext cx="3908612" cy="12192000"/>
          </a:xfrm>
          <a:prstGeom prst="rect">
            <a:avLst/>
          </a:prstGeom>
        </p:spPr>
      </p:pic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>
            <a:cxnSpLocks/>
          </p:cNvCxnSpPr>
          <p:nvPr/>
        </p:nvCxnSpPr>
        <p:spPr>
          <a:xfrm flipV="1">
            <a:off x="0" y="2133600"/>
            <a:ext cx="12192000" cy="900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072"/>
            <a:ext cx="10515600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6">
            <a:extLst>
              <a:ext uri="{FF2B5EF4-FFF2-40B4-BE49-F238E27FC236}">
                <a16:creationId xmlns:a16="http://schemas.microsoft.com/office/drawing/2014/main" xmlns="" id="{A977A8B1-C07C-5122-EB38-7788F1D1490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D9C28D85-AAD2-B541-7D4B-0FC069C5C7A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123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 userDrawn="1"/>
        </p:nvSpPr>
        <p:spPr>
          <a:xfrm>
            <a:off x="3" y="22575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 userDrawn="1"/>
        </p:nvSpPr>
        <p:spPr>
          <a:xfrm>
            <a:off x="929640" y="3691886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ZA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1142800"/>
          </a:xfrm>
        </p:spPr>
        <p:txBody>
          <a:bodyPr rtlCol="0" anchor="t">
            <a:normAutofit/>
          </a:bodyPr>
          <a:lstStyle>
            <a:lvl1pPr algn="ctr"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39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816344"/>
            <a:ext cx="1597152" cy="504165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" y="6184902"/>
            <a:ext cx="6095999" cy="6730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192361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箭號: 五邊形 9">
            <a:extLst>
              <a:ext uri="{FF2B5EF4-FFF2-40B4-BE49-F238E27FC236}">
                <a16:creationId xmlns:a16="http://schemas.microsoft.com/office/drawing/2014/main" xmlns="" id="{768BC038-D2EA-393E-AC3D-3F53314CE135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4">
            <a:extLst>
              <a:ext uri="{FF2B5EF4-FFF2-40B4-BE49-F238E27FC236}">
                <a16:creationId xmlns:a16="http://schemas.microsoft.com/office/drawing/2014/main" xmlns="" id="{D5DE7AB3-3D40-2219-E4C6-6A8F62FF741F}"/>
              </a:ext>
            </a:extLst>
          </p:cNvPr>
          <p:cNvSpPr txBox="1">
            <a:spLocks/>
          </p:cNvSpPr>
          <p:nvPr userDrawn="1"/>
        </p:nvSpPr>
        <p:spPr>
          <a:xfrm>
            <a:off x="11509512" y="1045256"/>
            <a:ext cx="682487" cy="418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75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22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68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21" r:id="rId3"/>
    <p:sldLayoutId id="2147484300" r:id="rId4"/>
    <p:sldLayoutId id="2147484322" r:id="rId5"/>
    <p:sldLayoutId id="2147484320" r:id="rId6"/>
    <p:sldLayoutId id="2147484312" r:id="rId7"/>
    <p:sldLayoutId id="2147484323" r:id="rId8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70C7D48-D1CC-EA85-C7C4-7595F841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2606040"/>
            <a:ext cx="10332720" cy="1572060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zh-TW" altLang="en-US" dirty="0"/>
              <a:t>資訊系統設計程序</a:t>
            </a:r>
            <a:r>
              <a:rPr lang="en-US" altLang="zh-TW" dirty="0"/>
              <a:t>/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系統設計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電腦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作業系統設計辦法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8038401" y="3746961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C00101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電腦作業系統設計辦法</a:t>
            </a:r>
          </a:p>
        </p:txBody>
      </p:sp>
    </p:spTree>
    <p:extLst>
      <p:ext uri="{BB962C8B-B14F-4D97-AF65-F5344CB8AC3E}">
        <p14:creationId xmlns:p14="http://schemas.microsoft.com/office/powerpoint/2010/main" val="283119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資訊系統設計</a:t>
            </a:r>
            <a:r>
              <a:rPr lang="zh-TW" altLang="en-US" dirty="0" smtClean="0"/>
              <a:t>程序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grpSp>
        <p:nvGrpSpPr>
          <p:cNvPr id="40" name="群組 39"/>
          <p:cNvGrpSpPr/>
          <p:nvPr/>
        </p:nvGrpSpPr>
        <p:grpSpPr>
          <a:xfrm>
            <a:off x="1329200" y="1600442"/>
            <a:ext cx="2880000" cy="2020582"/>
            <a:chOff x="1330011" y="2219559"/>
            <a:chExt cx="2880000" cy="1334296"/>
          </a:xfrm>
        </p:grpSpPr>
        <p:sp>
          <p:nvSpPr>
            <p:cNvPr id="41" name="圓角矩形 40"/>
            <p:cNvSpPr/>
            <p:nvPr/>
          </p:nvSpPr>
          <p:spPr>
            <a:xfrm>
              <a:off x="1330011" y="2219559"/>
              <a:ext cx="2880000" cy="1334296"/>
            </a:xfrm>
            <a:prstGeom prst="roundRect">
              <a:avLst>
                <a:gd name="adj" fmla="val 9215"/>
              </a:avLst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手繪多邊形 41"/>
            <p:cNvSpPr/>
            <p:nvPr/>
          </p:nvSpPr>
          <p:spPr>
            <a:xfrm>
              <a:off x="1427307" y="2654477"/>
              <a:ext cx="2700000" cy="64526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編寫原則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4493738" y="1577650"/>
            <a:ext cx="2880000" cy="4752000"/>
            <a:chOff x="4408551" y="1647100"/>
            <a:chExt cx="2880000" cy="4752000"/>
          </a:xfrm>
        </p:grpSpPr>
        <p:sp>
          <p:nvSpPr>
            <p:cNvPr id="44" name="圓角矩形 43"/>
            <p:cNvSpPr/>
            <p:nvPr/>
          </p:nvSpPr>
          <p:spPr>
            <a:xfrm>
              <a:off x="4408551" y="1647100"/>
              <a:ext cx="2880000" cy="4752000"/>
            </a:xfrm>
            <a:prstGeom prst="roundRect">
              <a:avLst>
                <a:gd name="adj" fmla="val 4276"/>
              </a:avLst>
            </a:prstGeom>
            <a:no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8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endParaRPr lang="en-US" altLang="zh-TW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5" name="手繪多邊形 44"/>
            <p:cNvSpPr/>
            <p:nvPr/>
          </p:nvSpPr>
          <p:spPr>
            <a:xfrm>
              <a:off x="4494720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履歷建立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手繪多邊形 45"/>
            <p:cNvSpPr/>
            <p:nvPr/>
          </p:nvSpPr>
          <p:spPr>
            <a:xfrm>
              <a:off x="4494720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程式開發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手繪多邊形 46"/>
            <p:cNvSpPr/>
            <p:nvPr/>
          </p:nvSpPr>
          <p:spPr>
            <a:xfrm>
              <a:off x="5083157" y="2565978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手繪多邊形 47"/>
            <p:cNvSpPr/>
            <p:nvPr/>
          </p:nvSpPr>
          <p:spPr>
            <a:xfrm>
              <a:off x="5083157" y="304891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9" name="手繪多邊形 48"/>
            <p:cNvSpPr/>
            <p:nvPr/>
          </p:nvSpPr>
          <p:spPr>
            <a:xfrm>
              <a:off x="5104113" y="571743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0" name="手繪多邊形 49"/>
            <p:cNvSpPr/>
            <p:nvPr/>
          </p:nvSpPr>
          <p:spPr>
            <a:xfrm>
              <a:off x="5083157" y="4703483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資料字典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圓角矩形 50"/>
          <p:cNvSpPr/>
          <p:nvPr/>
        </p:nvSpPr>
        <p:spPr>
          <a:xfrm>
            <a:off x="7697884" y="1579445"/>
            <a:ext cx="2880000" cy="4750205"/>
          </a:xfrm>
          <a:prstGeom prst="roundRect">
            <a:avLst>
              <a:gd name="adj" fmla="val 4276"/>
            </a:avLst>
          </a:prstGeom>
          <a:noFill/>
          <a:ln w="19050"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0" rIns="137160" bIns="136800" numCol="1" spcCol="1270" rtlCol="0" anchor="t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8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實施維護</a:t>
            </a:r>
            <a:endParaRPr lang="en-US" altLang="zh-TW" sz="280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2" name="群組 51"/>
          <p:cNvGrpSpPr/>
          <p:nvPr/>
        </p:nvGrpSpPr>
        <p:grpSpPr>
          <a:xfrm>
            <a:off x="7787884" y="2070821"/>
            <a:ext cx="2700000" cy="2004992"/>
            <a:chOff x="7739739" y="2140271"/>
            <a:chExt cx="2700000" cy="2004992"/>
          </a:xfrm>
        </p:grpSpPr>
        <p:sp>
          <p:nvSpPr>
            <p:cNvPr id="53" name="手繪多邊形 52"/>
            <p:cNvSpPr/>
            <p:nvPr/>
          </p:nvSpPr>
          <p:spPr>
            <a:xfrm>
              <a:off x="7739739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作業實施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4" name="手繪多邊形 53"/>
            <p:cNvSpPr/>
            <p:nvPr/>
          </p:nvSpPr>
          <p:spPr>
            <a:xfrm>
              <a:off x="8369739" y="2570083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程式派送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5" name="手繪多邊形 54"/>
            <p:cNvSpPr/>
            <p:nvPr/>
          </p:nvSpPr>
          <p:spPr>
            <a:xfrm>
              <a:off x="8369739" y="306736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排程申請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6" name="手繪多邊形 55"/>
            <p:cNvSpPr/>
            <p:nvPr/>
          </p:nvSpPr>
          <p:spPr>
            <a:xfrm>
              <a:off x="8369739" y="3553855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安裝確認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7787884" y="4137481"/>
            <a:ext cx="2700000" cy="2031823"/>
            <a:chOff x="7739739" y="4206931"/>
            <a:chExt cx="2700000" cy="2031823"/>
          </a:xfrm>
        </p:grpSpPr>
        <p:sp>
          <p:nvSpPr>
            <p:cNvPr id="58" name="手繪多邊形 57"/>
            <p:cNvSpPr/>
            <p:nvPr/>
          </p:nvSpPr>
          <p:spPr>
            <a:xfrm>
              <a:off x="7739739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作業維護</a:t>
              </a:r>
              <a:endParaRPr lang="zh-TW" altLang="en-US" sz="24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9" name="手繪多邊形 58"/>
            <p:cNvSpPr/>
            <p:nvPr/>
          </p:nvSpPr>
          <p:spPr>
            <a:xfrm>
              <a:off x="7809793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異常管理</a:t>
              </a:r>
              <a:endParaRPr lang="zh-TW" alt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0" name="手繪多邊形 59"/>
            <p:cNvSpPr/>
            <p:nvPr/>
          </p:nvSpPr>
          <p:spPr>
            <a:xfrm>
              <a:off x="78084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欄位異動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1" name="手繪多邊形 60"/>
            <p:cNvSpPr/>
            <p:nvPr/>
          </p:nvSpPr>
          <p:spPr>
            <a:xfrm>
              <a:off x="7808400" y="5667416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自主檢查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2" name="手繪多邊形 61"/>
            <p:cNvSpPr/>
            <p:nvPr/>
          </p:nvSpPr>
          <p:spPr>
            <a:xfrm>
              <a:off x="9108000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帳號管理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3" name="手繪多邊形 62"/>
            <p:cNvSpPr/>
            <p:nvPr/>
          </p:nvSpPr>
          <p:spPr>
            <a:xfrm>
              <a:off x="91080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磁碟</a:t>
              </a: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管理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手繪多邊形 63"/>
            <p:cNvSpPr/>
            <p:nvPr/>
          </p:nvSpPr>
          <p:spPr>
            <a:xfrm>
              <a:off x="9108000" y="5670828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作業交接</a:t>
              </a:r>
              <a:endParaRPr lang="zh-TW" altLang="en-US" sz="2000" kern="12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群組 64"/>
          <p:cNvGrpSpPr/>
          <p:nvPr/>
        </p:nvGrpSpPr>
        <p:grpSpPr>
          <a:xfrm>
            <a:off x="1329200" y="3937084"/>
            <a:ext cx="2880000" cy="2392566"/>
            <a:chOff x="1330011" y="3643049"/>
            <a:chExt cx="2880000" cy="1334296"/>
          </a:xfrm>
        </p:grpSpPr>
        <p:sp>
          <p:nvSpPr>
            <p:cNvPr id="66" name="圓角矩形 65"/>
            <p:cNvSpPr/>
            <p:nvPr/>
          </p:nvSpPr>
          <p:spPr>
            <a:xfrm>
              <a:off x="1330011" y="3643049"/>
              <a:ext cx="2880000" cy="1334296"/>
            </a:xfrm>
            <a:prstGeom prst="roundRect">
              <a:avLst>
                <a:gd name="adj" fmla="val 9215"/>
              </a:avLst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</a:t>
              </a:r>
              <a:r>
                <a:rPr lang="zh-TW" altLang="en-US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7" name="手繪多邊形 66"/>
            <p:cNvSpPr/>
            <p:nvPr/>
          </p:nvSpPr>
          <p:spPr>
            <a:xfrm>
              <a:off x="1424081" y="4034624"/>
              <a:ext cx="2700000" cy="64526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系統文件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向下箭號 67"/>
          <p:cNvSpPr/>
          <p:nvPr/>
        </p:nvSpPr>
        <p:spPr>
          <a:xfrm>
            <a:off x="2511331" y="3632840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9" name="向下箭號 68"/>
          <p:cNvSpPr/>
          <p:nvPr/>
        </p:nvSpPr>
        <p:spPr>
          <a:xfrm rot="-5400000">
            <a:off x="4105163" y="3961095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0" name="向下箭號 69"/>
          <p:cNvSpPr/>
          <p:nvPr/>
        </p:nvSpPr>
        <p:spPr>
          <a:xfrm rot="-5400000">
            <a:off x="7275191" y="3961095"/>
            <a:ext cx="509286" cy="29953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5" name="手繪多邊形 34"/>
          <p:cNvSpPr/>
          <p:nvPr/>
        </p:nvSpPr>
        <p:spPr>
          <a:xfrm>
            <a:off x="5186626" y="5141007"/>
            <a:ext cx="1440000" cy="452679"/>
          </a:xfrm>
          <a:custGeom>
            <a:avLst/>
            <a:gdLst>
              <a:gd name="connsiteX0" fmla="*/ 0 w 2617576"/>
              <a:gd name="connsiteY0" fmla="*/ 146276 h 1462763"/>
              <a:gd name="connsiteX1" fmla="*/ 146276 w 2617576"/>
              <a:gd name="connsiteY1" fmla="*/ 0 h 1462763"/>
              <a:gd name="connsiteX2" fmla="*/ 2471300 w 2617576"/>
              <a:gd name="connsiteY2" fmla="*/ 0 h 1462763"/>
              <a:gd name="connsiteX3" fmla="*/ 2617576 w 2617576"/>
              <a:gd name="connsiteY3" fmla="*/ 146276 h 1462763"/>
              <a:gd name="connsiteX4" fmla="*/ 2617576 w 2617576"/>
              <a:gd name="connsiteY4" fmla="*/ 1316487 h 1462763"/>
              <a:gd name="connsiteX5" fmla="*/ 2471300 w 2617576"/>
              <a:gd name="connsiteY5" fmla="*/ 1462763 h 1462763"/>
              <a:gd name="connsiteX6" fmla="*/ 146276 w 2617576"/>
              <a:gd name="connsiteY6" fmla="*/ 1462763 h 1462763"/>
              <a:gd name="connsiteX7" fmla="*/ 0 w 2617576"/>
              <a:gd name="connsiteY7" fmla="*/ 1316487 h 1462763"/>
              <a:gd name="connsiteX8" fmla="*/ 0 w 2617576"/>
              <a:gd name="connsiteY8" fmla="*/ 146276 h 146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7576" h="1462763">
                <a:moveTo>
                  <a:pt x="0" y="146276"/>
                </a:moveTo>
                <a:cubicBezTo>
                  <a:pt x="0" y="65490"/>
                  <a:pt x="65490" y="0"/>
                  <a:pt x="146276" y="0"/>
                </a:cubicBezTo>
                <a:lnTo>
                  <a:pt x="2471300" y="0"/>
                </a:lnTo>
                <a:cubicBezTo>
                  <a:pt x="2552086" y="0"/>
                  <a:pt x="2617576" y="65490"/>
                  <a:pt x="2617576" y="146276"/>
                </a:cubicBezTo>
                <a:lnTo>
                  <a:pt x="2617576" y="1316487"/>
                </a:lnTo>
                <a:cubicBezTo>
                  <a:pt x="2617576" y="1397273"/>
                  <a:pt x="2552086" y="1462763"/>
                  <a:pt x="2471300" y="1462763"/>
                </a:cubicBezTo>
                <a:lnTo>
                  <a:pt x="146276" y="1462763"/>
                </a:lnTo>
                <a:cubicBezTo>
                  <a:pt x="65490" y="1462763"/>
                  <a:pt x="0" y="1397273"/>
                  <a:pt x="0" y="1316487"/>
                </a:cubicBezTo>
                <a:lnTo>
                  <a:pt x="0" y="146276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963" tIns="96183" rIns="113963" bIns="96183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授權申請</a:t>
            </a:r>
            <a:endParaRPr lang="zh-TW" altLang="en-US" sz="2000" kern="12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訂定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系統設計工作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內容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902195" y="1348117"/>
            <a:ext cx="10309144" cy="485146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zh-TW" altLang="zh-TW" sz="2400" dirty="0" smtClean="0"/>
              <a:t>系統設計</a:t>
            </a:r>
            <a:r>
              <a:rPr lang="zh-TW" altLang="zh-TW" sz="2400" dirty="0"/>
              <a:t>工作之</a:t>
            </a:r>
            <a:r>
              <a:rPr lang="zh-TW" altLang="zh-TW" sz="2400" dirty="0" smtClean="0"/>
              <a:t>目標：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1)</a:t>
            </a:r>
            <a:r>
              <a:rPr lang="zh-TW" altLang="zh-TW" sz="2400" dirty="0"/>
              <a:t>達成電腦作業管理制度之</a:t>
            </a:r>
            <a:r>
              <a:rPr lang="zh-TW" altLang="zh-TW" sz="2400" dirty="0" smtClean="0"/>
              <a:t>需求</a:t>
            </a:r>
            <a:r>
              <a:rPr lang="zh-TW" altLang="en-US" sz="2400" dirty="0"/>
              <a:t>，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2)</a:t>
            </a:r>
            <a:r>
              <a:rPr lang="zh-TW" altLang="zh-TW" sz="2400" dirty="0"/>
              <a:t>設定適當之檔案</a:t>
            </a:r>
            <a:r>
              <a:rPr lang="zh-TW" altLang="zh-TW" sz="2400" dirty="0" smtClean="0"/>
              <a:t>結構</a:t>
            </a:r>
            <a:r>
              <a:rPr lang="zh-TW" altLang="en-US" sz="2400" dirty="0" smtClean="0"/>
              <a:t>，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3)</a:t>
            </a:r>
            <a:r>
              <a:rPr lang="zh-TW" altLang="zh-TW" sz="2400" dirty="0"/>
              <a:t>設定資料處理</a:t>
            </a:r>
            <a:r>
              <a:rPr lang="zh-TW" altLang="zh-TW" sz="2400" dirty="0" smtClean="0"/>
              <a:t>程序</a:t>
            </a:r>
            <a:r>
              <a:rPr lang="zh-TW" altLang="en-US" sz="2400" dirty="0"/>
              <a:t>，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4)</a:t>
            </a:r>
            <a:r>
              <a:rPr lang="zh-TW" altLang="zh-TW" sz="2400" dirty="0" smtClean="0"/>
              <a:t>編訂系統設計文件。</a:t>
            </a:r>
            <a:endParaRPr lang="en-US" altLang="zh-TW" sz="2400" dirty="0" smtClean="0"/>
          </a:p>
          <a:p>
            <a:pPr>
              <a:spcBef>
                <a:spcPts val="1200"/>
              </a:spcBef>
            </a:pPr>
            <a:r>
              <a:rPr lang="zh-TW" altLang="zh-TW" sz="2400" dirty="0"/>
              <a:t>系統設計工作之</a:t>
            </a:r>
            <a:r>
              <a:rPr lang="zh-TW" altLang="zh-TW" sz="2400" dirty="0" smtClean="0"/>
              <a:t>原則：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1)</a:t>
            </a:r>
            <a:r>
              <a:rPr lang="zh-TW" altLang="zh-TW" sz="2400" dirty="0"/>
              <a:t>應注意系統之</a:t>
            </a:r>
            <a:r>
              <a:rPr lang="zh-TW" altLang="zh-TW" sz="2400" dirty="0" smtClean="0"/>
              <a:t>完整性</a:t>
            </a:r>
            <a:r>
              <a:rPr lang="zh-TW" altLang="en-US" sz="2400" dirty="0" smtClean="0"/>
              <a:t>，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2)</a:t>
            </a:r>
            <a:r>
              <a:rPr lang="zh-TW" altLang="zh-TW" sz="2400" dirty="0"/>
              <a:t>應預留系統之</a:t>
            </a:r>
            <a:r>
              <a:rPr lang="zh-TW" altLang="zh-TW" sz="2400" dirty="0" smtClean="0"/>
              <a:t>擴展性</a:t>
            </a:r>
            <a:r>
              <a:rPr lang="zh-TW" altLang="en-US" sz="2400" dirty="0" smtClean="0"/>
              <a:t>，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3)</a:t>
            </a:r>
            <a:r>
              <a:rPr lang="zh-TW" altLang="zh-TW" sz="2400" dirty="0"/>
              <a:t>應以結構化方式進行設計，層次需分明</a:t>
            </a:r>
            <a:r>
              <a:rPr lang="zh-TW" altLang="zh-TW" sz="2400" dirty="0" smtClean="0"/>
              <a:t>。</a:t>
            </a:r>
            <a:endParaRPr lang="en-US" altLang="zh-TW" sz="2400" dirty="0"/>
          </a:p>
          <a:p>
            <a:pPr>
              <a:spcBef>
                <a:spcPts val="1200"/>
              </a:spcBef>
            </a:pPr>
            <a:r>
              <a:rPr lang="zh-TW" altLang="zh-TW" sz="2400" dirty="0" smtClean="0"/>
              <a:t>系統設計</a:t>
            </a:r>
            <a:r>
              <a:rPr lang="zh-TW" altLang="zh-TW" sz="2400" dirty="0"/>
              <a:t>工作之</a:t>
            </a:r>
            <a:r>
              <a:rPr lang="zh-TW" altLang="zh-TW" sz="2400" dirty="0" smtClean="0"/>
              <a:t>步驟：</a:t>
            </a:r>
            <a:endParaRPr lang="en-US" altLang="zh-TW" sz="2400" dirty="0" smtClean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400" dirty="0"/>
              <a:t> </a:t>
            </a:r>
            <a:r>
              <a:rPr lang="en-US" altLang="zh-TW" sz="2400" dirty="0" smtClean="0"/>
              <a:t> (</a:t>
            </a:r>
            <a:r>
              <a:rPr lang="en-US" altLang="zh-TW" sz="2400" dirty="0"/>
              <a:t>1)</a:t>
            </a:r>
            <a:r>
              <a:rPr lang="zh-TW" altLang="zh-TW" sz="2400" dirty="0"/>
              <a:t>檔案</a:t>
            </a:r>
            <a:r>
              <a:rPr lang="zh-TW" altLang="zh-TW" sz="2400" dirty="0" smtClean="0"/>
              <a:t>設計</a:t>
            </a:r>
            <a:r>
              <a:rPr lang="zh-TW" altLang="en-US" sz="2400" dirty="0" smtClean="0"/>
              <a:t>，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2)</a:t>
            </a:r>
            <a:r>
              <a:rPr lang="zh-TW" altLang="zh-TW" sz="2400" dirty="0"/>
              <a:t>系統流程</a:t>
            </a:r>
            <a:r>
              <a:rPr lang="zh-TW" altLang="zh-TW" sz="2400" dirty="0" smtClean="0"/>
              <a:t>設計</a:t>
            </a:r>
            <a:r>
              <a:rPr lang="zh-TW" altLang="en-US" sz="2400" dirty="0" smtClean="0"/>
              <a:t>，</a:t>
            </a:r>
            <a:r>
              <a:rPr lang="en-US" altLang="zh-TW" sz="2400" dirty="0" smtClean="0"/>
              <a:t>(</a:t>
            </a:r>
            <a:r>
              <a:rPr lang="en-US" altLang="zh-TW" sz="2400" dirty="0"/>
              <a:t>3)</a:t>
            </a:r>
            <a:r>
              <a:rPr lang="zh-TW" altLang="zh-TW" sz="2400" dirty="0"/>
              <a:t>系統設計文件整理</a:t>
            </a:r>
            <a:r>
              <a:rPr lang="zh-TW" altLang="zh-TW" sz="2400" dirty="0" smtClean="0"/>
              <a:t>。</a:t>
            </a:r>
            <a:endParaRPr lang="zh-TW" altLang="zh-TW" sz="2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</a:t>
            </a:fld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1509918" y="943716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2" name="圓角矩形 1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6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389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檔案設計方式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902195" y="1348117"/>
            <a:ext cx="10309144" cy="485146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TW" altLang="zh-TW" sz="2400" dirty="0" smtClean="0">
                <a:solidFill>
                  <a:srgbClr val="C00000"/>
                </a:solidFill>
              </a:rPr>
              <a:t>檔案設計</a:t>
            </a:r>
            <a:r>
              <a:rPr lang="en-US" altLang="zh-TW" sz="2400" dirty="0" smtClean="0"/>
              <a:t>:</a:t>
            </a:r>
          </a:p>
          <a:p>
            <a:pPr lvl="1">
              <a:spcBef>
                <a:spcPts val="600"/>
              </a:spcBef>
            </a:pPr>
            <a:r>
              <a:rPr lang="zh-TW" altLang="zh-TW" dirty="0"/>
              <a:t>針對輸入資料、資料處理中間過程及輸出資料均需建立檔案供資料儲存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>
              <a:spcBef>
                <a:spcPts val="600"/>
              </a:spcBef>
            </a:pPr>
            <a:r>
              <a:rPr lang="zh-TW" altLang="en-US" dirty="0" smtClean="0"/>
              <a:t>設定檔案類別，</a:t>
            </a:r>
            <a:r>
              <a:rPr lang="zh-TW" altLang="zh-TW" dirty="0"/>
              <a:t>基準</a:t>
            </a:r>
            <a:r>
              <a:rPr lang="zh-TW" altLang="zh-TW" dirty="0" smtClean="0"/>
              <a:t>檔</a:t>
            </a:r>
            <a:r>
              <a:rPr lang="zh-TW" altLang="en-US" dirty="0" smtClean="0"/>
              <a:t>、異動檔、主檔、中間檔、備援檔。</a:t>
            </a:r>
            <a:endParaRPr lang="en-US" altLang="zh-TW" dirty="0" smtClean="0"/>
          </a:p>
          <a:p>
            <a:pPr lvl="1">
              <a:spcBef>
                <a:spcPts val="600"/>
              </a:spcBef>
            </a:pPr>
            <a:r>
              <a:rPr lang="zh-TW" altLang="en-US" dirty="0" smtClean="0"/>
              <a:t>依</a:t>
            </a:r>
            <a:r>
              <a:rPr lang="zh-TW" altLang="en-US" dirty="0"/>
              <a:t>對應之作業機能</a:t>
            </a:r>
            <a:r>
              <a:rPr lang="zh-TW" altLang="zh-TW" dirty="0"/>
              <a:t>設定檔案名稱</a:t>
            </a:r>
            <a:r>
              <a:rPr lang="zh-TW" altLang="zh-TW" dirty="0" smtClean="0"/>
              <a:t>及編號</a:t>
            </a:r>
            <a:r>
              <a:rPr lang="zh-TW" altLang="en-US" dirty="0" smtClean="0"/>
              <a:t>，定義</a:t>
            </a:r>
            <a:r>
              <a:rPr lang="zh-TW" altLang="zh-TW" dirty="0" smtClean="0"/>
              <a:t>檔案各欄位中</a:t>
            </a:r>
            <a:r>
              <a:rPr lang="zh-TW" altLang="zh-TW" dirty="0"/>
              <a:t>、英文名稱、資料型態、資料長度、關鍵欄位</a:t>
            </a:r>
            <a:r>
              <a:rPr lang="en-US" altLang="zh-TW" dirty="0"/>
              <a:t>(PRIMARY KEY)</a:t>
            </a:r>
            <a:r>
              <a:rPr lang="zh-TW" altLang="zh-TW" dirty="0"/>
              <a:t>、索引欄位</a:t>
            </a:r>
            <a:r>
              <a:rPr lang="en-US" altLang="zh-TW" dirty="0"/>
              <a:t>(INDEX KEY)</a:t>
            </a:r>
            <a:r>
              <a:rPr lang="zh-TW" altLang="zh-TW" dirty="0"/>
              <a:t>、資料管制方式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pPr lvl="1">
              <a:spcBef>
                <a:spcPts val="600"/>
              </a:spcBef>
            </a:pPr>
            <a:r>
              <a:rPr lang="zh-TW" altLang="zh-TW" dirty="0" smtClean="0">
                <a:solidFill>
                  <a:srgbClr val="C00000"/>
                </a:solidFill>
              </a:rPr>
              <a:t>不同</a:t>
            </a:r>
            <a:r>
              <a:rPr lang="zh-TW" altLang="zh-TW" dirty="0">
                <a:solidFill>
                  <a:srgbClr val="C00000"/>
                </a:solidFill>
              </a:rPr>
              <a:t>檔案但欄位資料內容定義相同時，應設定相同的欄位</a:t>
            </a:r>
            <a:r>
              <a:rPr lang="zh-TW" altLang="zh-TW" dirty="0" smtClean="0">
                <a:solidFill>
                  <a:srgbClr val="C00000"/>
                </a:solidFill>
              </a:rPr>
              <a:t>名稱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pPr marL="341312" lvl="1" indent="0">
              <a:spcBef>
                <a:spcPts val="600"/>
              </a:spcBef>
              <a:buNone/>
            </a:pPr>
            <a:r>
              <a:rPr lang="en-US" altLang="zh-TW" sz="2000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zh-TW" altLang="en-US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現況利用資料字典建檔產生檔案。</a:t>
            </a:r>
            <a:endParaRPr lang="en-US" altLang="zh-TW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1509918" y="943716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2" name="圓角矩形 1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6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23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系統流程設計方式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>
          <a:xfrm>
            <a:off x="902195" y="1348117"/>
            <a:ext cx="10309144" cy="518331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zh-TW" altLang="zh-TW" sz="2400" dirty="0" smtClean="0">
                <a:solidFill>
                  <a:srgbClr val="C00000"/>
                </a:solidFill>
              </a:rPr>
              <a:t>系統</a:t>
            </a:r>
            <a:r>
              <a:rPr lang="zh-TW" altLang="zh-TW" sz="2400" dirty="0">
                <a:solidFill>
                  <a:srgbClr val="C00000"/>
                </a:solidFill>
              </a:rPr>
              <a:t>流程</a:t>
            </a:r>
            <a:r>
              <a:rPr lang="zh-TW" altLang="zh-TW" sz="2400" dirty="0" smtClean="0">
                <a:solidFill>
                  <a:srgbClr val="C00000"/>
                </a:solidFill>
              </a:rPr>
              <a:t>設計</a:t>
            </a:r>
            <a:r>
              <a:rPr lang="en-US" altLang="zh-TW" sz="2400" dirty="0" smtClean="0"/>
              <a:t>:</a:t>
            </a:r>
            <a:br>
              <a:rPr lang="en-US" altLang="zh-TW" sz="2400" dirty="0" smtClean="0"/>
            </a:br>
            <a:r>
              <a:rPr lang="zh-TW" altLang="zh-TW" sz="2400" dirty="0" smtClean="0"/>
              <a:t>根據</a:t>
            </a:r>
            <a:r>
              <a:rPr lang="zh-TW" altLang="en-US" sz="2400" dirty="0" smtClean="0"/>
              <a:t>「</a:t>
            </a:r>
            <a:r>
              <a:rPr lang="zh-TW" altLang="zh-TW" sz="2400" dirty="0" smtClean="0"/>
              <a:t>電腦</a:t>
            </a:r>
            <a:r>
              <a:rPr lang="zh-TW" altLang="zh-TW" sz="2400" dirty="0"/>
              <a:t>作業</a:t>
            </a:r>
            <a:r>
              <a:rPr lang="zh-TW" altLang="zh-TW" sz="2400" dirty="0" smtClean="0"/>
              <a:t>說明</a:t>
            </a:r>
            <a:r>
              <a:rPr lang="zh-TW" altLang="en-US" sz="2400" dirty="0" smtClean="0"/>
              <a:t>」</a:t>
            </a:r>
            <a:r>
              <a:rPr lang="zh-TW" altLang="zh-TW" sz="2400" dirty="0" smtClean="0"/>
              <a:t>需求</a:t>
            </a:r>
            <a:r>
              <a:rPr lang="zh-TW" altLang="zh-TW" sz="2400" dirty="0"/>
              <a:t>、</a:t>
            </a:r>
            <a:r>
              <a:rPr lang="zh-TW" altLang="zh-TW" sz="2400" dirty="0" smtClean="0"/>
              <a:t>資訊關聯</a:t>
            </a:r>
            <a:r>
              <a:rPr lang="zh-TW" altLang="zh-TW" sz="2400" dirty="0"/>
              <a:t>、</a:t>
            </a:r>
            <a:r>
              <a:rPr lang="zh-TW" altLang="zh-TW" sz="2400" dirty="0" smtClean="0"/>
              <a:t>資料處理先後</a:t>
            </a:r>
            <a:r>
              <a:rPr lang="zh-TW" altLang="zh-TW" sz="2400" dirty="0"/>
              <a:t>等邏輯關係繪製層次分明之</a:t>
            </a:r>
            <a:r>
              <a:rPr lang="zh-TW" altLang="zh-TW" sz="2400" dirty="0" smtClean="0"/>
              <a:t>流程圖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lvl="1">
              <a:spcBef>
                <a:spcPts val="600"/>
              </a:spcBef>
            </a:pPr>
            <a:r>
              <a:rPr lang="zh-TW" altLang="zh-TW" dirty="0" smtClean="0"/>
              <a:t>系統</a:t>
            </a:r>
            <a:r>
              <a:rPr lang="zh-TW" altLang="zh-TW" dirty="0"/>
              <a:t>關聯結構</a:t>
            </a:r>
            <a:r>
              <a:rPr lang="zh-TW" altLang="zh-TW" dirty="0" smtClean="0"/>
              <a:t>圖</a:t>
            </a:r>
            <a:r>
              <a:rPr lang="zh-TW" altLang="en-US" dirty="0" smtClean="0"/>
              <a:t>：將與</a:t>
            </a:r>
            <a:r>
              <a:rPr lang="zh-TW" altLang="zh-TW" dirty="0" smtClean="0"/>
              <a:t>其他作業檔案</a:t>
            </a:r>
            <a:r>
              <a:rPr lang="zh-TW" altLang="zh-TW" dirty="0"/>
              <a:t>授權、</a:t>
            </a:r>
            <a:r>
              <a:rPr lang="zh-TW" altLang="zh-TW" dirty="0" smtClean="0"/>
              <a:t>資料處理先後</a:t>
            </a:r>
            <a:r>
              <a:rPr lang="zh-TW" altLang="zh-TW" dirty="0"/>
              <a:t>順序、資料交換</a:t>
            </a:r>
            <a:r>
              <a:rPr lang="zh-TW" altLang="zh-TW" dirty="0" smtClean="0"/>
              <a:t>等相互關係，繪製</a:t>
            </a:r>
            <a:r>
              <a:rPr lang="zh-TW" altLang="zh-TW" dirty="0"/>
              <a:t>於系統關聯結構圖</a:t>
            </a:r>
            <a:r>
              <a:rPr lang="zh-TW" altLang="zh-TW" dirty="0" smtClean="0"/>
              <a:t>。</a:t>
            </a:r>
            <a:endParaRPr lang="en-US" altLang="zh-TW" dirty="0"/>
          </a:p>
          <a:p>
            <a:pPr marL="357188" lvl="1" indent="-92075">
              <a:spcBef>
                <a:spcPts val="600"/>
              </a:spcBef>
              <a:buNone/>
            </a:pPr>
            <a:r>
              <a:rPr lang="zh-TW" altLang="en-US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  </a:t>
            </a:r>
            <a:r>
              <a:rPr lang="en-US" altLang="zh-TW" dirty="0" smtClean="0">
                <a:solidFill>
                  <a:schemeClr val="accent5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zh-TW" altLang="en-US" dirty="0" smtClean="0">
                <a:solidFill>
                  <a:schemeClr val="accent5">
                    <a:lumMod val="75000"/>
                  </a:schemeClr>
                </a:solidFill>
              </a:rPr>
              <a:t>目前由應用軟體管理電腦作業自動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</a:rPr>
              <a:t>產生關聯結構圖。</a:t>
            </a:r>
            <a:endParaRPr lang="en-US" altLang="zh-TW" dirty="0">
              <a:solidFill>
                <a:schemeClr val="accent5">
                  <a:lumMod val="75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zh-TW" altLang="zh-TW" dirty="0" smtClean="0"/>
              <a:t>系統流程圖</a:t>
            </a:r>
            <a:r>
              <a:rPr lang="zh-TW" altLang="en-US" dirty="0" smtClean="0"/>
              <a:t>：</a:t>
            </a:r>
            <a:r>
              <a:rPr lang="zh-TW" altLang="zh-TW" dirty="0" smtClean="0"/>
              <a:t>申請</a:t>
            </a:r>
            <a:r>
              <a:rPr lang="zh-TW" altLang="zh-TW" dirty="0"/>
              <a:t>排程自動執行之批次作業應繪製系統</a:t>
            </a:r>
            <a:r>
              <a:rPr lang="zh-TW" altLang="zh-TW" dirty="0" smtClean="0"/>
              <a:t>流程圖</a:t>
            </a:r>
            <a:r>
              <a:rPr lang="zh-TW" altLang="en-US" dirty="0" smtClean="0"/>
              <a:t>，並說</a:t>
            </a:r>
            <a:r>
              <a:rPr lang="zh-TW" altLang="zh-TW" dirty="0" smtClean="0"/>
              <a:t>明</a:t>
            </a:r>
            <a:r>
              <a:rPr lang="zh-TW" altLang="zh-TW" dirty="0"/>
              <a:t>批次</a:t>
            </a:r>
            <a:r>
              <a:rPr lang="zh-TW" altLang="zh-TW" dirty="0" smtClean="0"/>
              <a:t>作業目的</a:t>
            </a:r>
            <a:r>
              <a:rPr lang="zh-TW" altLang="zh-TW" dirty="0"/>
              <a:t>、功能、執行週期</a:t>
            </a:r>
            <a:r>
              <a:rPr lang="zh-TW" altLang="zh-TW" dirty="0" smtClean="0"/>
              <a:t>、排程批次</a:t>
            </a:r>
            <a:r>
              <a:rPr lang="zh-TW" altLang="zh-TW" dirty="0"/>
              <a:t>作業</a:t>
            </a:r>
            <a:r>
              <a:rPr lang="zh-TW" altLang="zh-TW" dirty="0" smtClean="0"/>
              <a:t>代號</a:t>
            </a:r>
            <a:r>
              <a:rPr lang="zh-TW" altLang="en-US" dirty="0" smtClean="0"/>
              <a:t>，及</a:t>
            </a:r>
            <a:r>
              <a:rPr lang="zh-TW" altLang="zh-TW" dirty="0" smtClean="0"/>
              <a:t>前</a:t>
            </a:r>
            <a:r>
              <a:rPr lang="en-US" altLang="zh-TW" dirty="0" smtClean="0"/>
              <a:t>/</a:t>
            </a:r>
            <a:r>
              <a:rPr lang="zh-TW" altLang="zh-TW" dirty="0" smtClean="0"/>
              <a:t>後</a:t>
            </a:r>
            <a:r>
              <a:rPr lang="zh-TW" altLang="zh-TW" dirty="0"/>
              <a:t>關聯的批次</a:t>
            </a:r>
            <a:r>
              <a:rPr lang="zh-TW" altLang="zh-TW" dirty="0" smtClean="0"/>
              <a:t>作業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pPr>
              <a:spcBef>
                <a:spcPts val="600"/>
              </a:spcBef>
            </a:pPr>
            <a:r>
              <a:rPr lang="zh-TW" altLang="zh-TW" sz="2400" dirty="0">
                <a:solidFill>
                  <a:srgbClr val="C00000"/>
                </a:solidFill>
              </a:rPr>
              <a:t>系統設計文件</a:t>
            </a:r>
            <a:r>
              <a:rPr lang="zh-TW" altLang="zh-TW" sz="2400" dirty="0" smtClean="0">
                <a:solidFill>
                  <a:srgbClr val="C00000"/>
                </a:solidFill>
              </a:rPr>
              <a:t>整理</a:t>
            </a:r>
            <a:r>
              <a:rPr lang="en-US" altLang="zh-TW" sz="2400" dirty="0" smtClean="0"/>
              <a:t>:</a:t>
            </a:r>
          </a:p>
          <a:p>
            <a:pPr marL="539750" indent="-274638">
              <a:spcBef>
                <a:spcPts val="600"/>
              </a:spcBef>
            </a:pPr>
            <a:r>
              <a:rPr lang="zh-TW" altLang="zh-TW" sz="2400" dirty="0" smtClean="0"/>
              <a:t>建立</a:t>
            </a:r>
            <a:r>
              <a:rPr lang="zh-TW" altLang="zh-TW" sz="2400" dirty="0"/>
              <a:t>各項電腦作業系統設計文件資料</a:t>
            </a:r>
            <a:r>
              <a:rPr lang="zh-TW" altLang="zh-TW" sz="2400" dirty="0" smtClean="0"/>
              <a:t>，作為</a:t>
            </a:r>
            <a:r>
              <a:rPr lang="zh-TW" altLang="zh-TW" sz="2400" dirty="0"/>
              <a:t>系統設計開發、程式設計撰寫、日後實施維護及工作交接之</a:t>
            </a:r>
            <a:r>
              <a:rPr lang="zh-TW" altLang="zh-TW" sz="2400" dirty="0" smtClean="0"/>
              <a:t>依據。</a:t>
            </a:r>
            <a:endParaRPr lang="zh-TW" altLang="zh-TW" sz="2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1509918" y="943716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12" name="圓角矩形 11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圓角矩形 18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6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2" name="向右箭號 21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向右箭號 22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52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系統設計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778" y="1578031"/>
            <a:ext cx="3910114" cy="505972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714" y="1579761"/>
            <a:ext cx="3869398" cy="5057994"/>
          </a:xfrm>
          <a:prstGeom prst="rect">
            <a:avLst/>
          </a:prstGeom>
        </p:spPr>
      </p:pic>
      <p:sp>
        <p:nvSpPr>
          <p:cNvPr id="12" name="流程圖: 換頁接點 11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1509918" y="943716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0" name="圓角矩形 19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6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圓角矩形 21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向右箭號 24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字方塊 3"/>
          <p:cNvSpPr txBox="1"/>
          <p:nvPr/>
        </p:nvSpPr>
        <p:spPr>
          <a:xfrm>
            <a:off x="9470938" y="4413823"/>
            <a:ext cx="1800493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應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標示程式代號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與名稱說明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8" name="直線單箭頭接點 7"/>
          <p:cNvCxnSpPr>
            <a:stCxn id="4" idx="1"/>
          </p:cNvCxnSpPr>
          <p:nvPr/>
        </p:nvCxnSpPr>
        <p:spPr>
          <a:xfrm flipH="1" flipV="1">
            <a:off x="8408795" y="4348068"/>
            <a:ext cx="1062143" cy="38892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9540156" y="3417798"/>
            <a:ext cx="1800493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應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標示程式處理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單箭頭接點 28"/>
          <p:cNvCxnSpPr/>
          <p:nvPr/>
        </p:nvCxnSpPr>
        <p:spPr>
          <a:xfrm flipH="1" flipV="1">
            <a:off x="9731831" y="2929812"/>
            <a:ext cx="737116" cy="503853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57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系統設計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案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sp>
        <p:nvSpPr>
          <p:cNvPr id="11" name="流程圖: 換頁接點 10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xmlns="" id="{0C147CD6-D936-CFF5-FAE2-21908FB7D9E9}"/>
              </a:ext>
            </a:extLst>
          </p:cNvPr>
          <p:cNvSpPr txBox="1">
            <a:spLocks/>
          </p:cNvSpPr>
          <p:nvPr/>
        </p:nvSpPr>
        <p:spPr>
          <a:xfrm>
            <a:off x="902195" y="1310794"/>
            <a:ext cx="10309144" cy="777464"/>
          </a:xfrm>
          <a:prstGeom prst="rect">
            <a:avLst/>
          </a:prstGeom>
        </p:spPr>
        <p:txBody>
          <a:bodyPr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自資料庫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中實際授權關係，由電腦自動繪製系統關聯結構圖，取代人工製表。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1509918" y="943716"/>
            <a:ext cx="8861267" cy="310896"/>
            <a:chOff x="1554480" y="2160000"/>
            <a:chExt cx="8861267" cy="310896"/>
          </a:xfrm>
          <a:solidFill>
            <a:schemeClr val="bg1"/>
          </a:solidFill>
        </p:grpSpPr>
        <p:sp>
          <p:nvSpPr>
            <p:cNvPr id="20" name="圓角矩形 19"/>
            <p:cNvSpPr/>
            <p:nvPr/>
          </p:nvSpPr>
          <p:spPr>
            <a:xfrm>
              <a:off x="1554480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</a:t>
              </a: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圓角矩形 20"/>
            <p:cNvSpPr/>
            <p:nvPr/>
          </p:nvSpPr>
          <p:spPr>
            <a:xfrm>
              <a:off x="386600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accent6"/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系統設計</a:t>
              </a:r>
              <a:endParaRPr lang="zh-TW" altLang="en-US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圓角矩形 21"/>
            <p:cNvSpPr/>
            <p:nvPr/>
          </p:nvSpPr>
          <p:spPr>
            <a:xfrm>
              <a:off x="6193291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</a:t>
              </a:r>
              <a:r>
                <a:rPr lang="zh-TW" altLang="en-US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圓角矩形 22"/>
            <p:cNvSpPr/>
            <p:nvPr/>
          </p:nvSpPr>
          <p:spPr>
            <a:xfrm>
              <a:off x="8522576" y="2160000"/>
              <a:ext cx="1893171" cy="310896"/>
            </a:xfrm>
            <a:prstGeom prst="roundRect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r>
                <a:rPr lang="zh-TW" altLang="en-US" kern="1200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實施維護</a:t>
              </a:r>
            </a:p>
          </p:txBody>
        </p:sp>
        <p:sp>
          <p:nvSpPr>
            <p:cNvPr id="24" name="向右箭號 23"/>
            <p:cNvSpPr/>
            <p:nvPr/>
          </p:nvSpPr>
          <p:spPr>
            <a:xfrm>
              <a:off x="3508733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向右箭號 24"/>
            <p:cNvSpPr/>
            <p:nvPr/>
          </p:nvSpPr>
          <p:spPr>
            <a:xfrm>
              <a:off x="582639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向右箭號 25"/>
            <p:cNvSpPr/>
            <p:nvPr/>
          </p:nvSpPr>
          <p:spPr>
            <a:xfrm>
              <a:off x="8152357" y="2160000"/>
              <a:ext cx="300999" cy="284621"/>
            </a:xfrm>
            <a:prstGeom prst="rightArrow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137160" rIns="137160" bIns="136800" numCol="1" spcCol="1270" rtlCol="0" anchor="t" anchorCtr="0">
              <a:noAutofit/>
            </a:bodyPr>
            <a:lstStyle>
              <a:defPPr rtl="0"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489" y="2618290"/>
            <a:ext cx="4763502" cy="360895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295" y="2618290"/>
            <a:ext cx="4787472" cy="3635233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249489" y="2170715"/>
            <a:ext cx="4763502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檔案授權</a:t>
            </a:r>
            <a:endParaRPr lang="zh-TW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097295" y="2170715"/>
            <a:ext cx="4763502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副程式授權</a:t>
            </a:r>
            <a:endParaRPr lang="zh-TW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212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字版面配置區 5">
            <a:extLst>
              <a:ext uri="{FF2B5EF4-FFF2-40B4-BE49-F238E27FC236}">
                <a16:creationId xmlns:a16="http://schemas.microsoft.com/office/drawing/2014/main" xmlns="" id="{BA3CF485-C6C6-E6C8-6545-51AADA8BC744}"/>
              </a:ext>
            </a:extLst>
          </p:cNvPr>
          <p:cNvSpPr txBox="1">
            <a:spLocks/>
          </p:cNvSpPr>
          <p:nvPr/>
        </p:nvSpPr>
        <p:spPr>
          <a:xfrm>
            <a:off x="9161228" y="4041328"/>
            <a:ext cx="2715087" cy="454472"/>
          </a:xfrm>
          <a:prstGeom prst="rect">
            <a:avLst/>
          </a:prstGeom>
        </p:spPr>
        <p:txBody>
          <a:bodyPr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800" dirty="0">
                <a:solidFill>
                  <a:schemeClr val="accent2">
                    <a:lumMod val="90000"/>
                  </a:schemeClr>
                </a:solidFill>
                <a:latin typeface="Arial Black" panose="020B0A04020102020204" pitchFamily="34" charset="0"/>
                <a:ea typeface="標楷體" panose="03000509000000000000" pitchFamily="65" charset="-120"/>
              </a:rPr>
              <a:t>Thank You</a:t>
            </a:r>
            <a:endParaRPr lang="zh-TW" altLang="en-US" sz="2800" dirty="0">
              <a:solidFill>
                <a:schemeClr val="accent2">
                  <a:lumMod val="90000"/>
                </a:schemeClr>
              </a:solidFill>
              <a:latin typeface="Arial Black" panose="020B0A040201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1A6D12F-1428-79A2-8A5E-0BAC7C5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65" y="3021496"/>
            <a:ext cx="10087669" cy="69517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以上報告</a:t>
            </a:r>
          </a:p>
        </p:txBody>
      </p:sp>
    </p:spTree>
    <p:extLst>
      <p:ext uri="{BB962C8B-B14F-4D97-AF65-F5344CB8AC3E}">
        <p14:creationId xmlns:p14="http://schemas.microsoft.com/office/powerpoint/2010/main" val="227020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單線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6">
              <a:lumMod val="75000"/>
            </a:schemeClr>
          </a:solidFill>
        </a:ln>
      </a:spPr>
      <a:bodyPr spcFirstLastPara="0" vert="horz" wrap="square" lIns="137160" tIns="137160" rIns="137160" bIns="136800" numCol="1" spcCol="1270" anchor="t" anchorCtr="0">
        <a:noAutofit/>
      </a:bodyPr>
      <a:lstStyle>
        <a:defPPr algn="ctr" defTabSz="1600200">
          <a:spcBef>
            <a:spcPct val="0"/>
          </a:spcBef>
          <a:defRPr sz="3600" kern="1200" dirty="0" smtClean="0"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defRPr>
        </a:defPPr>
      </a:lstStyle>
      <a:style>
        <a:lnRef idx="0">
          <a:scrgbClr r="0" g="0" b="0"/>
        </a:lnRef>
        <a:fillRef idx="1">
          <a:schemeClr val="accent2">
            <a:tint val="40000"/>
            <a:hueOff val="0"/>
            <a:satOff val="0"/>
            <a:lumOff val="0"/>
            <a:alphaOff val="0"/>
          </a:schemeClr>
        </a:fillRef>
        <a:effectRef idx="0">
          <a:schemeClr val="accent2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令人眼睛為之一亮的極簡風銷售宣傳</Template>
  <TotalTime>11847</TotalTime>
  <Words>389</Words>
  <Application>Microsoft Office PowerPoint</Application>
  <PresentationFormat>寬螢幕</PresentationFormat>
  <Paragraphs>92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8" baseType="lpstr">
      <vt:lpstr>Microsoft JhengHei UI</vt:lpstr>
      <vt:lpstr>Tenorite</vt:lpstr>
      <vt:lpstr>新細明體</vt:lpstr>
      <vt:lpstr>標楷體</vt:lpstr>
      <vt:lpstr>Arial</vt:lpstr>
      <vt:lpstr>Arial Black</vt:lpstr>
      <vt:lpstr>Calibri</vt:lpstr>
      <vt:lpstr>Times New Roman</vt:lpstr>
      <vt:lpstr>Wingdings</vt:lpstr>
      <vt:lpstr>單線</vt:lpstr>
      <vt:lpstr>資訊系統設計程序/系統設計 電腦作業系統設計辦法 </vt:lpstr>
      <vt:lpstr>資訊系統設計程序</vt:lpstr>
      <vt:lpstr>訂定系統設計工作內容</vt:lpstr>
      <vt:lpstr>檔案設計方式</vt:lpstr>
      <vt:lpstr>系統流程設計方式</vt:lpstr>
      <vt:lpstr>系統設計文件案例-1</vt:lpstr>
      <vt:lpstr>系統設計文件案例-2</vt:lpstr>
      <vt:lpstr>以上報告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00RKD0/李靜媚</dc:creator>
  <cp:lastModifiedBy>00RKD0/李靜媚</cp:lastModifiedBy>
  <cp:revision>3406</cp:revision>
  <cp:lastPrinted>2025-03-15T02:52:48Z</cp:lastPrinted>
  <dcterms:created xsi:type="dcterms:W3CDTF">2025-01-10T07:02:16Z</dcterms:created>
  <dcterms:modified xsi:type="dcterms:W3CDTF">2025-04-25T04:51:01Z</dcterms:modified>
</cp:coreProperties>
</file>