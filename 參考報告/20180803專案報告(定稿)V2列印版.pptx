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63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39.xml" ContentType="application/vnd.openxmlformats-officedocument.presentationml.notesSlide+xml"/>
  <Override PartName="/ppt/notesSlides/notesSlide57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64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2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0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Default Extension="vml" ContentType="application/vnd.openxmlformats-officedocument.vmlDrawing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notesSlides/notesSlide18.xml" ContentType="application/vnd.openxmlformats-officedocument.presentationml.notesSlide+xml"/>
  <Default Extension="wmf" ContentType="image/x-wmf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59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48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notesSlides/notesSlide37.xml" ContentType="application/vnd.openxmlformats-officedocument.presentationml.notesSlide+xml"/>
  <Override PartName="/ppt/notesSlides/notesSlide5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8"/>
  </p:notesMasterIdLst>
  <p:handoutMasterIdLst>
    <p:handoutMasterId r:id="rId69"/>
  </p:handoutMasterIdLst>
  <p:sldIdLst>
    <p:sldId id="3752" r:id="rId2"/>
    <p:sldId id="3066" r:id="rId3"/>
    <p:sldId id="3935" r:id="rId4"/>
    <p:sldId id="3341" r:id="rId5"/>
    <p:sldId id="4476" r:id="rId6"/>
    <p:sldId id="4625" r:id="rId7"/>
    <p:sldId id="4626" r:id="rId8"/>
    <p:sldId id="4627" r:id="rId9"/>
    <p:sldId id="4628" r:id="rId10"/>
    <p:sldId id="4629" r:id="rId11"/>
    <p:sldId id="4630" r:id="rId12"/>
    <p:sldId id="4631" r:id="rId13"/>
    <p:sldId id="4632" r:id="rId14"/>
    <p:sldId id="4633" r:id="rId15"/>
    <p:sldId id="4634" r:id="rId16"/>
    <p:sldId id="4635" r:id="rId17"/>
    <p:sldId id="4636" r:id="rId18"/>
    <p:sldId id="4637" r:id="rId19"/>
    <p:sldId id="4638" r:id="rId20"/>
    <p:sldId id="4639" r:id="rId21"/>
    <p:sldId id="4640" r:id="rId22"/>
    <p:sldId id="4641" r:id="rId23"/>
    <p:sldId id="4642" r:id="rId24"/>
    <p:sldId id="4643" r:id="rId25"/>
    <p:sldId id="4644" r:id="rId26"/>
    <p:sldId id="4645" r:id="rId27"/>
    <p:sldId id="4646" r:id="rId28"/>
    <p:sldId id="4647" r:id="rId29"/>
    <p:sldId id="4648" r:id="rId30"/>
    <p:sldId id="4649" r:id="rId31"/>
    <p:sldId id="4650" r:id="rId32"/>
    <p:sldId id="4651" r:id="rId33"/>
    <p:sldId id="4652" r:id="rId34"/>
    <p:sldId id="4653" r:id="rId35"/>
    <p:sldId id="4654" r:id="rId36"/>
    <p:sldId id="4655" r:id="rId37"/>
    <p:sldId id="4656" r:id="rId38"/>
    <p:sldId id="3972" r:id="rId39"/>
    <p:sldId id="4014" r:id="rId40"/>
    <p:sldId id="4320" r:id="rId41"/>
    <p:sldId id="4031" r:id="rId42"/>
    <p:sldId id="4034" r:id="rId43"/>
    <p:sldId id="4035" r:id="rId44"/>
    <p:sldId id="4036" r:id="rId45"/>
    <p:sldId id="4038" r:id="rId46"/>
    <p:sldId id="4325" r:id="rId47"/>
    <p:sldId id="4039" r:id="rId48"/>
    <p:sldId id="4327" r:id="rId49"/>
    <p:sldId id="4334" r:id="rId50"/>
    <p:sldId id="4118" r:id="rId51"/>
    <p:sldId id="4017" r:id="rId52"/>
    <p:sldId id="4385" r:id="rId53"/>
    <p:sldId id="4383" r:id="rId54"/>
    <p:sldId id="4413" r:id="rId55"/>
    <p:sldId id="4389" r:id="rId56"/>
    <p:sldId id="4391" r:id="rId57"/>
    <p:sldId id="4390" r:id="rId58"/>
    <p:sldId id="4414" r:id="rId59"/>
    <p:sldId id="4392" r:id="rId60"/>
    <p:sldId id="4335" r:id="rId61"/>
    <p:sldId id="4469" r:id="rId62"/>
    <p:sldId id="4470" r:id="rId63"/>
    <p:sldId id="4394" r:id="rId64"/>
    <p:sldId id="4009" r:id="rId65"/>
    <p:sldId id="4010" r:id="rId66"/>
    <p:sldId id="3937" r:id="rId67"/>
  </p:sldIdLst>
  <p:sldSz cx="9144000" cy="6858000" type="screen4x3"/>
  <p:notesSz cx="6797675" cy="9926638"/>
  <p:custShowLst>
    <p:custShow name="2年改3年" id="0">
      <p:sldLst/>
    </p:custShow>
    <p:custShow name="規章表單管理辦法" id="1">
      <p:sldLst/>
    </p:custShow>
    <p:custShow name="案例二" id="2">
      <p:sldLst/>
    </p:custShow>
    <p:custShow name="總檢討辦事細則" id="3">
      <p:sldLst/>
    </p:custShow>
    <p:custShow name="取消11本暫停1本" id="4">
      <p:sldLst/>
    </p:custShow>
    <p:custShow name="註銷制度" id="5">
      <p:sldLst/>
    </p:custShow>
    <p:custShow name="直接利用程式數據可行性" id="6">
      <p:sldLst/>
    </p:custShow>
    <p:custShow name="驗收後再改程式" id="7">
      <p:sldLst/>
    </p:custShow>
    <p:custShow name="核定權限" id="8">
      <p:sldLst/>
    </p:custShow>
    <p:custShow name="總檢討SOP" id="9">
      <p:sldLst/>
    </p:custShow>
    <p:custShow name="資訊部反應" id="10">
      <p:sldLst/>
    </p:custShow>
    <p:custShow name="安衛環" id="11">
      <p:sldLst/>
    </p:custShow>
    <p:custShow name="OA未出表複查" id="12">
      <p:sldLst/>
    </p:custShow>
    <p:custShow name="持續工作" id="13">
      <p:sldLst/>
    </p:custShow>
    <p:custShow name="大數據" id="14">
      <p:sldLst/>
    </p:custShow>
    <p:custShow name="管制新訂日期改善" id="15">
      <p:sldLst/>
    </p:custShow>
    <p:custShow name="點擊率" id="16">
      <p:sldLst/>
    </p:custShow>
    <p:custShow name="OA未出表例一" id="17">
      <p:sldLst/>
    </p:custShow>
    <p:custShow name="OA未出表例二" id="18">
      <p:sldLst/>
    </p:custShow>
    <p:custShow name="週期內無資料明細" id="19">
      <p:sldLst/>
    </p:custShow>
    <p:custShow name="程式錯誤明細" id="20">
      <p:sldLst/>
    </p:custShow>
  </p:custShowLst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636">
          <p15:clr>
            <a:srgbClr val="A4A3A4"/>
          </p15:clr>
        </p15:guide>
        <p15:guide id="2" pos="269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FF99"/>
    <a:srgbClr val="0000CC"/>
    <a:srgbClr val="FFCCFF"/>
    <a:srgbClr val="CCECFF"/>
    <a:srgbClr val="FFCC99"/>
    <a:srgbClr val="FFCC66"/>
    <a:srgbClr val="009900"/>
    <a:srgbClr val="339966"/>
    <a:srgbClr val="0066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中等深淺樣式 1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34" autoAdjust="0"/>
    <p:restoredTop sz="85959" autoAdjust="0"/>
  </p:normalViewPr>
  <p:slideViewPr>
    <p:cSldViewPr snapToGrid="0">
      <p:cViewPr varScale="1">
        <p:scale>
          <a:sx n="54" d="100"/>
          <a:sy n="54" d="100"/>
        </p:scale>
        <p:origin x="-1157" y="-77"/>
      </p:cViewPr>
      <p:guideLst>
        <p:guide orient="horz" pos="2636"/>
        <p:guide pos="2699"/>
      </p:guideLst>
    </p:cSldViewPr>
  </p:slideViewPr>
  <p:outlineViewPr>
    <p:cViewPr>
      <p:scale>
        <a:sx n="33" d="100"/>
        <a:sy n="33" d="100"/>
      </p:scale>
      <p:origin x="0" y="1267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20544"/>
    </p:cViewPr>
  </p:sorterViewPr>
  <p:gridSpacing cx="36868100" cy="368681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image" Target="../media/image4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094" tIns="45547" rIns="91094" bIns="45547" numCol="1" anchor="t" anchorCtr="0" compatLnSpc="1">
            <a:prstTxWarp prst="textNoShape">
              <a:avLst/>
            </a:prstTxWarp>
          </a:bodyPr>
          <a:lstStyle>
            <a:lvl1pPr algn="l" defTabSz="911754" eaLnBrk="1" hangingPunct="1">
              <a:defRPr sz="1200" b="0"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094" tIns="45547" rIns="91094" bIns="45547" numCol="1" anchor="t" anchorCtr="0" compatLnSpc="1">
            <a:prstTxWarp prst="textNoShape">
              <a:avLst/>
            </a:prstTxWarp>
          </a:bodyPr>
          <a:lstStyle>
            <a:lvl1pPr algn="r" defTabSz="911754" eaLnBrk="1" hangingPunct="1">
              <a:defRPr sz="1200" b="0"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094" tIns="45547" rIns="91094" bIns="45547" numCol="1" anchor="b" anchorCtr="0" compatLnSpc="1">
            <a:prstTxWarp prst="textNoShape">
              <a:avLst/>
            </a:prstTxWarp>
          </a:bodyPr>
          <a:lstStyle>
            <a:lvl1pPr algn="l" defTabSz="911754" eaLnBrk="1" hangingPunct="1">
              <a:defRPr sz="1200" b="0"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094" tIns="45547" rIns="91094" bIns="4554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fld id="{25FC7B96-433A-4BE8-B551-BF789C7A7DE5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xmlns="" val="22243629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094" tIns="45547" rIns="91094" bIns="45547" numCol="1" anchor="t" anchorCtr="0" compatLnSpc="1">
            <a:prstTxWarp prst="textNoShape">
              <a:avLst/>
            </a:prstTxWarp>
          </a:bodyPr>
          <a:lstStyle>
            <a:lvl1pPr algn="l" defTabSz="911754" eaLnBrk="1" hangingPunct="1">
              <a:defRPr sz="1200" b="0"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094" tIns="45547" rIns="91094" bIns="45547" numCol="1" anchor="t" anchorCtr="0" compatLnSpc="1">
            <a:prstTxWarp prst="textNoShape">
              <a:avLst/>
            </a:prstTxWarp>
          </a:bodyPr>
          <a:lstStyle>
            <a:lvl1pPr algn="r" defTabSz="911754" eaLnBrk="1" hangingPunct="1">
              <a:defRPr sz="1200" b="0"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5988" y="742950"/>
            <a:ext cx="4965700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4875"/>
            <a:ext cx="4984750" cy="44688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094" tIns="45547" rIns="91094" bIns="455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094" tIns="45547" rIns="91094" bIns="45547" numCol="1" anchor="b" anchorCtr="0" compatLnSpc="1">
            <a:prstTxWarp prst="textNoShape">
              <a:avLst/>
            </a:prstTxWarp>
          </a:bodyPr>
          <a:lstStyle>
            <a:lvl1pPr algn="l" defTabSz="911754" eaLnBrk="1" hangingPunct="1">
              <a:defRPr sz="1200" b="0"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094" tIns="45547" rIns="91094" bIns="4554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fld id="{B3B399B7-255B-4023-8AE4-1103CB9B250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xmlns="" val="4835910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300" b="1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15517" indent="-275199">
              <a:defRPr kumimoji="1" sz="2300" b="1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00795" indent="-220158">
              <a:defRPr kumimoji="1" sz="2300" b="1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541115" indent="-220158">
              <a:defRPr kumimoji="1" sz="2300" b="1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1981431" indent="-220158">
              <a:defRPr kumimoji="1" sz="2300" b="1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421751" indent="-220158" eaLnBrk="0" fontAlgn="base" hangingPunct="0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862071" indent="-220158" eaLnBrk="0" fontAlgn="base" hangingPunct="0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302387" indent="-220158" eaLnBrk="0" fontAlgn="base" hangingPunct="0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742708" indent="-220158" eaLnBrk="0" fontAlgn="base" hangingPunct="0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defTabSz="880637" fontAlgn="auto">
              <a:spcBef>
                <a:spcPts val="0"/>
              </a:spcBef>
              <a:spcAft>
                <a:spcPts val="0"/>
              </a:spcAft>
              <a:defRPr/>
            </a:pPr>
            <a:fld id="{94A09CA8-67E1-4317-8283-47999400BB11}" type="slidenum">
              <a:rPr lang="en-US" altLang="zh-TW" sz="1200" b="0">
                <a:solidFill>
                  <a:prstClr val="black"/>
                </a:solidFill>
              </a:rPr>
              <a:pPr defTabSz="880637" fontAlgn="auto">
                <a:spcBef>
                  <a:spcPts val="0"/>
                </a:spcBef>
                <a:spcAft>
                  <a:spcPts val="0"/>
                </a:spcAft>
                <a:defRPr/>
              </a:pPr>
              <a:t>1</a:t>
            </a:fld>
            <a:endParaRPr lang="en-US" altLang="zh-TW" sz="1200" b="0" dirty="0">
              <a:solidFill>
                <a:prstClr val="black"/>
              </a:solidFill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dirty="0" smtClean="0"/>
          </a:p>
        </p:txBody>
      </p:sp>
    </p:spTree>
    <p:extLst>
      <p:ext uri="{BB962C8B-B14F-4D97-AF65-F5344CB8AC3E}">
        <p14:creationId xmlns:p14="http://schemas.microsoft.com/office/powerpoint/2010/main" xmlns="" val="4115802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1896" indent="-285342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1375" indent="-228276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597924" indent="-228276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4474" indent="-228276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1023" indent="-228276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67572" indent="-228276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4123" indent="-228276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0672" indent="-228276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fld id="{47995327-700C-44CB-9873-70C84CA05F45}" type="slidenum">
              <a:rPr lang="en-US" altLang="zh-TW" sz="1200" b="0"/>
              <a:pPr/>
              <a:t>2</a:t>
            </a:fld>
            <a:endParaRPr lang="en-US" altLang="zh-TW" sz="1200" b="0" dirty="0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527279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1896" indent="-285342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1375" indent="-228276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597924" indent="-228276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4474" indent="-228276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1023" indent="-228276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67572" indent="-228276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4123" indent="-228276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0672" indent="-228276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fld id="{47995327-700C-44CB-9873-70C84CA05F45}" type="slidenum">
              <a:rPr lang="en-US" altLang="zh-TW" sz="1200" b="0"/>
              <a:pPr/>
              <a:t>3</a:t>
            </a:fld>
            <a:endParaRPr lang="en-US" altLang="zh-TW" sz="1200" b="0" dirty="0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527279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BCD9DFB-67CD-40B7-BDCD-9A74F1EDD432}" type="slidenum">
              <a:rPr lang="en-US" altLang="zh-TW"/>
              <a:pPr/>
              <a:t>4</a:t>
            </a:fld>
            <a:endParaRPr lang="en-US" altLang="zh-TW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dirty="0" smtClean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472656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0198D4E-E014-4782-8D3F-19E4CC8B4F96}" type="slidenum">
              <a:rPr lang="en-US" altLang="zh-TW"/>
              <a:pPr/>
              <a:t>5</a:t>
            </a:fld>
            <a:endParaRPr lang="en-US" altLang="zh-TW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xmlns="" val="26152098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 txBox="1">
            <a:spLocks noGrp="1" noChangeArrowheads="1"/>
          </p:cNvSpPr>
          <p:nvPr/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47" tIns="45573" rIns="91147" bIns="45573" anchor="b"/>
          <a:lstStyle/>
          <a:p>
            <a:pPr algn="r" defTabSz="882650"/>
            <a:fld id="{650A7F0E-9B0C-4C0D-91AF-1F71B31E2BCA}" type="slidenum">
              <a:rPr lang="en-US" altLang="zh-TW" sz="1200" b="0"/>
              <a:pPr algn="r" defTabSz="882650"/>
              <a:t>6</a:t>
            </a:fld>
            <a:endParaRPr lang="en-US" altLang="zh-TW" sz="1200" b="0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>
              <a:ea typeface="新細明體" pitchFamily="18" charset="-12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 txBox="1">
            <a:spLocks noGrp="1" noChangeArrowheads="1"/>
          </p:cNvSpPr>
          <p:nvPr/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47" tIns="45573" rIns="91147" bIns="45573" anchor="b"/>
          <a:lstStyle/>
          <a:p>
            <a:pPr algn="r" defTabSz="882650"/>
            <a:fld id="{FEF00A15-0FCF-459E-829C-3A28CE6ECF2F}" type="slidenum">
              <a:rPr lang="en-US" altLang="zh-TW" sz="1200" b="0"/>
              <a:pPr algn="r" defTabSz="882650"/>
              <a:t>7</a:t>
            </a:fld>
            <a:endParaRPr lang="en-US" altLang="zh-TW" sz="1200" b="0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>
              <a:ea typeface="新細明體" pitchFamily="18" charset="-12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 txBox="1">
            <a:spLocks noGrp="1" noChangeArrowheads="1"/>
          </p:cNvSpPr>
          <p:nvPr/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47" tIns="45573" rIns="91147" bIns="45573" anchor="b"/>
          <a:lstStyle/>
          <a:p>
            <a:pPr algn="r" defTabSz="882650"/>
            <a:fld id="{D2674F77-D7F0-42A5-908E-D8A87B25F67F}" type="slidenum">
              <a:rPr lang="en-US" altLang="zh-TW" sz="1200" b="0"/>
              <a:pPr algn="r" defTabSz="882650"/>
              <a:t>8</a:t>
            </a:fld>
            <a:endParaRPr lang="en-US" altLang="zh-TW" sz="1200" b="0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>
              <a:ea typeface="新細明體" pitchFamily="18" charset="-12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 txBox="1">
            <a:spLocks noGrp="1" noChangeArrowheads="1"/>
          </p:cNvSpPr>
          <p:nvPr/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47" tIns="45573" rIns="91147" bIns="45573" anchor="b"/>
          <a:lstStyle/>
          <a:p>
            <a:pPr algn="r" defTabSz="882650"/>
            <a:fld id="{85B82916-54B0-44C9-A108-F0F39A8C339B}" type="slidenum">
              <a:rPr lang="en-US" altLang="zh-TW" sz="1200" b="0"/>
              <a:pPr algn="r" defTabSz="882650"/>
              <a:t>9</a:t>
            </a:fld>
            <a:endParaRPr lang="en-US" altLang="zh-TW" sz="1200" b="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>
              <a:ea typeface="新細明體" pitchFamily="18" charset="-12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47" tIns="45573" rIns="91147" bIns="45573" anchor="b"/>
          <a:lstStyle/>
          <a:p>
            <a:pPr algn="r" defTabSz="882650"/>
            <a:fld id="{15309199-7816-4BD6-93FC-DC0EA6CC9F43}" type="slidenum">
              <a:rPr lang="en-US" altLang="zh-TW" sz="1200" b="0"/>
              <a:pPr algn="r" defTabSz="882650"/>
              <a:t>10</a:t>
            </a:fld>
            <a:endParaRPr lang="en-US" altLang="zh-TW" sz="1200" b="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>
              <a:ea typeface="新細明體" pitchFamily="18" charset="-12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 txBox="1">
            <a:spLocks noGrp="1" noChangeArrowheads="1"/>
          </p:cNvSpPr>
          <p:nvPr/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47" tIns="45573" rIns="91147" bIns="45573" anchor="b"/>
          <a:lstStyle/>
          <a:p>
            <a:pPr algn="r" defTabSz="882650"/>
            <a:fld id="{B5E4799B-270A-4D92-81F9-56553443AC08}" type="slidenum">
              <a:rPr lang="en-US" altLang="zh-TW" sz="1200" b="0"/>
              <a:pPr algn="r" defTabSz="882650"/>
              <a:t>11</a:t>
            </a:fld>
            <a:endParaRPr lang="en-US" altLang="zh-TW" sz="1200" b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>
              <a:ea typeface="新細明體" pitchFamily="18" charset="-12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 txBox="1">
            <a:spLocks noGrp="1" noChangeArrowheads="1"/>
          </p:cNvSpPr>
          <p:nvPr/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47" tIns="45573" rIns="91147" bIns="45573" anchor="b"/>
          <a:lstStyle/>
          <a:p>
            <a:pPr algn="r" defTabSz="882650"/>
            <a:fld id="{517854C8-64A6-492F-A361-8C56FE3DCCE4}" type="slidenum">
              <a:rPr lang="en-US" altLang="zh-TW" sz="1200" b="0"/>
              <a:pPr algn="r" defTabSz="882650"/>
              <a:t>12</a:t>
            </a:fld>
            <a:endParaRPr lang="en-US" altLang="zh-TW" sz="1200" b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>
              <a:ea typeface="新細明體" pitchFamily="18" charset="-12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6979" name="備忘稿版面配置區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>
              <a:ea typeface="新細明體" pitchFamily="18" charset="-120"/>
            </a:endParaRPr>
          </a:p>
        </p:txBody>
      </p:sp>
      <p:sp>
        <p:nvSpPr>
          <p:cNvPr id="126980" name="投影片編號版面配置區 3"/>
          <p:cNvSpPr txBox="1">
            <a:spLocks noGrp="1"/>
          </p:cNvSpPr>
          <p:nvPr/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24" tIns="45563" rIns="91124" bIns="45563" anchor="b"/>
          <a:lstStyle/>
          <a:p>
            <a:pPr algn="r" defTabSz="882650" eaLnBrk="1" hangingPunct="1"/>
            <a:fld id="{040DDE81-FDB7-4A9B-A658-722C9CBF2DA8}" type="slidenum">
              <a:rPr lang="en-US" altLang="zh-TW" sz="1200" b="0"/>
              <a:pPr algn="r" defTabSz="882650" eaLnBrk="1" hangingPunct="1"/>
              <a:t>13</a:t>
            </a:fld>
            <a:endParaRPr lang="en-US" altLang="zh-TW" sz="1200" b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 txBox="1">
            <a:spLocks noGrp="1" noChangeArrowheads="1"/>
          </p:cNvSpPr>
          <p:nvPr/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47" tIns="45573" rIns="91147" bIns="45573" anchor="b"/>
          <a:lstStyle/>
          <a:p>
            <a:pPr algn="r" defTabSz="882650"/>
            <a:fld id="{8A5BDCDF-4038-423C-8849-6928321164FD}" type="slidenum">
              <a:rPr lang="en-US" altLang="zh-TW" sz="1200" b="0"/>
              <a:pPr algn="r" defTabSz="882650"/>
              <a:t>14</a:t>
            </a:fld>
            <a:endParaRPr lang="en-US" altLang="zh-TW" sz="1200" b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>
              <a:ea typeface="新細明體" pitchFamily="18" charset="-12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/>
          <p:cNvSpPr txBox="1">
            <a:spLocks noGrp="1" noChangeArrowheads="1"/>
          </p:cNvSpPr>
          <p:nvPr/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24" tIns="45563" rIns="91124" bIns="45563" anchor="b"/>
          <a:lstStyle/>
          <a:p>
            <a:pPr algn="r" defTabSz="882650" eaLnBrk="1" hangingPunct="1"/>
            <a:fld id="{ECA1A0F2-F886-4B93-A7C2-5E727C6E1F78}" type="slidenum">
              <a:rPr lang="en-US" altLang="zh-TW" sz="1200" b="0"/>
              <a:pPr algn="r" defTabSz="882650" eaLnBrk="1" hangingPunct="1"/>
              <a:t>15</a:t>
            </a:fld>
            <a:endParaRPr lang="en-US" altLang="zh-TW" sz="1200" b="0"/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>
              <a:ea typeface="新細明體" pitchFamily="18" charset="-12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 txBox="1">
            <a:spLocks noGrp="1" noChangeArrowheads="1"/>
          </p:cNvSpPr>
          <p:nvPr/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47" tIns="45573" rIns="91147" bIns="45573" anchor="b"/>
          <a:lstStyle/>
          <a:p>
            <a:pPr algn="r" defTabSz="882650"/>
            <a:fld id="{A72F2D38-6C29-42BD-B580-5A0094B1A010}" type="slidenum">
              <a:rPr lang="en-US" altLang="zh-TW" sz="1200" b="0"/>
              <a:pPr algn="r" defTabSz="882650"/>
              <a:t>16</a:t>
            </a:fld>
            <a:endParaRPr lang="en-US" altLang="zh-TW" sz="1200" b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>
              <a:ea typeface="新細明體" pitchFamily="18" charset="-12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 txBox="1">
            <a:spLocks noGrp="1" noChangeArrowheads="1"/>
          </p:cNvSpPr>
          <p:nvPr/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47" tIns="45573" rIns="91147" bIns="45573" anchor="b"/>
          <a:lstStyle/>
          <a:p>
            <a:pPr algn="r" defTabSz="882650"/>
            <a:fld id="{FFB450AB-DF98-4F79-887E-BE9EA09B811F}" type="slidenum">
              <a:rPr lang="en-US" altLang="zh-TW" sz="1200" b="0"/>
              <a:pPr algn="r" defTabSz="882650"/>
              <a:t>17</a:t>
            </a:fld>
            <a:endParaRPr lang="en-US" altLang="zh-TW" sz="1200" b="0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>
              <a:ea typeface="新細明體" pitchFamily="18" charset="-12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 txBox="1">
            <a:spLocks noGrp="1" noChangeArrowheads="1"/>
          </p:cNvSpPr>
          <p:nvPr/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47" tIns="45573" rIns="91147" bIns="45573" anchor="b"/>
          <a:lstStyle/>
          <a:p>
            <a:pPr algn="r" defTabSz="882650"/>
            <a:fld id="{F23B323C-1238-450D-9F78-A18CF60E1466}" type="slidenum">
              <a:rPr lang="en-US" altLang="zh-TW" sz="1200" b="0"/>
              <a:pPr algn="r" defTabSz="882650"/>
              <a:t>18</a:t>
            </a:fld>
            <a:endParaRPr lang="en-US" altLang="zh-TW" sz="1200" b="0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>
              <a:ea typeface="新細明體" pitchFamily="18" charset="-12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 txBox="1">
            <a:spLocks noGrp="1" noChangeArrowheads="1"/>
          </p:cNvSpPr>
          <p:nvPr/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47" tIns="45573" rIns="91147" bIns="45573" anchor="b"/>
          <a:lstStyle/>
          <a:p>
            <a:pPr algn="r" defTabSz="882650"/>
            <a:fld id="{506DECB2-8039-4ABE-B1E0-3E89AD554FD5}" type="slidenum">
              <a:rPr lang="en-US" altLang="zh-TW" sz="1200" b="0"/>
              <a:pPr algn="r" defTabSz="882650"/>
              <a:t>19</a:t>
            </a:fld>
            <a:endParaRPr lang="en-US" altLang="zh-TW" sz="1200" b="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>
              <a:ea typeface="新細明體" pitchFamily="18" charset="-12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 txBox="1">
            <a:spLocks noGrp="1" noChangeArrowheads="1"/>
          </p:cNvSpPr>
          <p:nvPr/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47" tIns="45573" rIns="91147" bIns="45573" anchor="b"/>
          <a:lstStyle/>
          <a:p>
            <a:pPr algn="r" defTabSz="882650"/>
            <a:fld id="{8432C7DB-1FA8-457B-8976-6AA8B1600D2B}" type="slidenum">
              <a:rPr lang="en-US" altLang="zh-TW" sz="1200" b="0"/>
              <a:pPr algn="r" defTabSz="882650"/>
              <a:t>20</a:t>
            </a:fld>
            <a:endParaRPr lang="en-US" altLang="zh-TW" sz="1200" b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>
              <a:ea typeface="新細明體" pitchFamily="18" charset="-12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 txBox="1">
            <a:spLocks noGrp="1" noChangeArrowheads="1"/>
          </p:cNvSpPr>
          <p:nvPr/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47" tIns="45573" rIns="91147" bIns="45573" anchor="b"/>
          <a:lstStyle/>
          <a:p>
            <a:pPr algn="r" defTabSz="882650"/>
            <a:fld id="{F351E5D1-6AEC-4F88-B3F9-8FB3FE1BE2E0}" type="slidenum">
              <a:rPr lang="en-US" altLang="zh-TW" sz="1200" b="0"/>
              <a:pPr algn="r" defTabSz="882650"/>
              <a:t>21</a:t>
            </a:fld>
            <a:endParaRPr lang="en-US" altLang="zh-TW" sz="1200" b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>
              <a:ea typeface="新細明體" pitchFamily="18" charset="-12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 txBox="1">
            <a:spLocks noGrp="1" noChangeArrowheads="1"/>
          </p:cNvSpPr>
          <p:nvPr/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47" tIns="45573" rIns="91147" bIns="45573" anchor="b"/>
          <a:lstStyle/>
          <a:p>
            <a:pPr algn="r" defTabSz="882650"/>
            <a:fld id="{AF1BC7BA-FAD2-4E62-8E99-CBD92DDE773E}" type="slidenum">
              <a:rPr lang="en-US" altLang="zh-TW" sz="1200" b="0"/>
              <a:pPr algn="r" defTabSz="882650"/>
              <a:t>22</a:t>
            </a:fld>
            <a:endParaRPr lang="en-US" altLang="zh-TW" sz="1200" b="0"/>
          </a:p>
        </p:txBody>
      </p:sp>
      <p:sp>
        <p:nvSpPr>
          <p:cNvPr id="188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>
              <a:ea typeface="新細明體" pitchFamily="18" charset="-12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7"/>
          <p:cNvSpPr txBox="1">
            <a:spLocks noGrp="1" noChangeArrowheads="1"/>
          </p:cNvSpPr>
          <p:nvPr/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47" tIns="45573" rIns="91147" bIns="45573" anchor="b"/>
          <a:lstStyle/>
          <a:p>
            <a:pPr algn="r" defTabSz="882650"/>
            <a:fld id="{2E2DF5C2-D105-431C-BF0A-30F81FD5D41F}" type="slidenum">
              <a:rPr lang="en-US" altLang="zh-TW" sz="1200" b="0"/>
              <a:pPr algn="r" defTabSz="882650"/>
              <a:t>23</a:t>
            </a:fld>
            <a:endParaRPr lang="en-US" altLang="zh-TW" sz="1200" b="0"/>
          </a:p>
        </p:txBody>
      </p:sp>
      <p:sp>
        <p:nvSpPr>
          <p:cNvPr id="190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04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>
              <a:ea typeface="新細明體" pitchFamily="18" charset="-12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3539" name="備忘稿版面配置區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>
              <a:ea typeface="新細明體" pitchFamily="18" charset="-120"/>
            </a:endParaRPr>
          </a:p>
        </p:txBody>
      </p:sp>
      <p:sp>
        <p:nvSpPr>
          <p:cNvPr id="193540" name="投影片編號版面配置區 3"/>
          <p:cNvSpPr txBox="1">
            <a:spLocks noGrp="1"/>
          </p:cNvSpPr>
          <p:nvPr/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24" tIns="45563" rIns="91124" bIns="45563" anchor="b"/>
          <a:lstStyle/>
          <a:p>
            <a:pPr algn="r" defTabSz="882650" eaLnBrk="1" hangingPunct="1"/>
            <a:fld id="{B4BCCAA5-2C41-4CB3-A3D1-1CBCD305FC43}" type="slidenum">
              <a:rPr lang="en-US" altLang="zh-TW" sz="1200" b="0"/>
              <a:pPr algn="r" defTabSz="882650" eaLnBrk="1" hangingPunct="1"/>
              <a:t>25</a:t>
            </a:fld>
            <a:endParaRPr lang="en-US" altLang="zh-TW" sz="1200" b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 txBox="1">
            <a:spLocks noGrp="1" noChangeArrowheads="1"/>
          </p:cNvSpPr>
          <p:nvPr/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47" tIns="45573" rIns="91147" bIns="45573" anchor="b"/>
          <a:lstStyle/>
          <a:p>
            <a:pPr algn="r" defTabSz="882650"/>
            <a:fld id="{FCD2579D-C4B4-4D4C-9E61-1283ABEFCD54}" type="slidenum">
              <a:rPr lang="en-US" altLang="zh-TW" sz="1200" b="0"/>
              <a:pPr algn="r" defTabSz="882650"/>
              <a:t>26</a:t>
            </a:fld>
            <a:endParaRPr lang="en-US" altLang="zh-TW" sz="1200" b="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>
              <a:ea typeface="新細明體" pitchFamily="18" charset="-12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 txBox="1">
            <a:spLocks noGrp="1" noChangeArrowheads="1"/>
          </p:cNvSpPr>
          <p:nvPr/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47" tIns="45573" rIns="91147" bIns="45573" anchor="b"/>
          <a:lstStyle/>
          <a:p>
            <a:pPr algn="r" defTabSz="882650"/>
            <a:fld id="{94D84EA9-3D68-47DF-9260-C613C120D351}" type="slidenum">
              <a:rPr lang="en-US" altLang="zh-TW" sz="1200" b="0"/>
              <a:pPr algn="r" defTabSz="882650"/>
              <a:t>27</a:t>
            </a:fld>
            <a:endParaRPr lang="en-US" altLang="zh-TW" sz="1200" b="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>
              <a:ea typeface="新細明體" pitchFamily="18" charset="-12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 txBox="1">
            <a:spLocks noGrp="1" noChangeArrowheads="1"/>
          </p:cNvSpPr>
          <p:nvPr/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47" tIns="45573" rIns="91147" bIns="45573" anchor="b"/>
          <a:lstStyle/>
          <a:p>
            <a:pPr algn="r" defTabSz="882650"/>
            <a:fld id="{616B65A9-3693-4352-98E5-F9CD2C43DD58}" type="slidenum">
              <a:rPr lang="en-US" altLang="zh-TW" sz="1200" b="0"/>
              <a:pPr algn="r" defTabSz="882650"/>
              <a:t>28</a:t>
            </a:fld>
            <a:endParaRPr lang="en-US" altLang="zh-TW" sz="1200" b="0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>
              <a:ea typeface="新細明體" pitchFamily="18" charset="-12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 txBox="1">
            <a:spLocks noGrp="1" noChangeArrowheads="1"/>
          </p:cNvSpPr>
          <p:nvPr/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47" tIns="45573" rIns="91147" bIns="45573" anchor="b"/>
          <a:lstStyle/>
          <a:p>
            <a:pPr algn="r" defTabSz="882650"/>
            <a:fld id="{50FEC940-31A8-4A2B-84C5-4C2643AEC4B3}" type="slidenum">
              <a:rPr lang="en-US" altLang="zh-TW" sz="1200" b="0"/>
              <a:pPr algn="r" defTabSz="882650"/>
              <a:t>29</a:t>
            </a:fld>
            <a:endParaRPr lang="en-US" altLang="zh-TW" sz="1200" b="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>
              <a:ea typeface="新細明體" pitchFamily="18" charset="-12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 txBox="1">
            <a:spLocks noGrp="1" noChangeArrowheads="1"/>
          </p:cNvSpPr>
          <p:nvPr/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47" tIns="45573" rIns="91147" bIns="45573" anchor="b"/>
          <a:lstStyle/>
          <a:p>
            <a:pPr algn="r" defTabSz="882650"/>
            <a:fld id="{32AB07B2-FA7B-4B42-9708-662DF2B9F792}" type="slidenum">
              <a:rPr lang="en-US" altLang="zh-TW" sz="1200" b="0"/>
              <a:pPr algn="r" defTabSz="882650"/>
              <a:t>30</a:t>
            </a:fld>
            <a:endParaRPr lang="en-US" altLang="zh-TW" sz="1200" b="0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>
              <a:ea typeface="新細明體" pitchFamily="18" charset="-12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 txBox="1">
            <a:spLocks noGrp="1" noChangeArrowheads="1"/>
          </p:cNvSpPr>
          <p:nvPr/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24" tIns="45563" rIns="91124" bIns="45563" anchor="b"/>
          <a:lstStyle/>
          <a:p>
            <a:pPr algn="r" defTabSz="882650" eaLnBrk="1" hangingPunct="1"/>
            <a:fld id="{63954BB1-D731-4075-A81B-DCB6667518BE}" type="slidenum">
              <a:rPr lang="en-US" altLang="zh-TW" sz="1200" b="0"/>
              <a:pPr algn="r" defTabSz="882650" eaLnBrk="1" hangingPunct="1"/>
              <a:t>31</a:t>
            </a:fld>
            <a:endParaRPr lang="en-US" altLang="zh-TW" sz="1200" b="0"/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>
              <a:ea typeface="新細明體" pitchFamily="18" charset="-12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7"/>
          <p:cNvSpPr txBox="1">
            <a:spLocks noGrp="1" noChangeArrowheads="1"/>
          </p:cNvSpPr>
          <p:nvPr/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24" tIns="45563" rIns="91124" bIns="45563" anchor="b"/>
          <a:lstStyle/>
          <a:p>
            <a:pPr algn="r" defTabSz="882650" eaLnBrk="1" hangingPunct="1"/>
            <a:fld id="{6C442754-B08E-40ED-BAAE-4AF1275AC7C6}" type="slidenum">
              <a:rPr lang="en-US" altLang="zh-TW" sz="1200" b="0"/>
              <a:pPr algn="r" defTabSz="882650" eaLnBrk="1" hangingPunct="1"/>
              <a:t>32</a:t>
            </a:fld>
            <a:endParaRPr lang="en-US" altLang="zh-TW" sz="1200" b="0"/>
          </a:p>
        </p:txBody>
      </p:sp>
      <p:sp>
        <p:nvSpPr>
          <p:cNvPr id="195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>
              <a:ea typeface="新細明體" pitchFamily="18" charset="-12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7"/>
          <p:cNvSpPr txBox="1">
            <a:spLocks noGrp="1" noChangeArrowheads="1"/>
          </p:cNvSpPr>
          <p:nvPr/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24" tIns="45563" rIns="91124" bIns="45563" anchor="b"/>
          <a:lstStyle/>
          <a:p>
            <a:pPr algn="r" defTabSz="882650" eaLnBrk="1" hangingPunct="1"/>
            <a:fld id="{923FA63B-3EC0-4719-91AA-E47434260AE4}" type="slidenum">
              <a:rPr lang="en-US" altLang="zh-TW" sz="1200" b="0"/>
              <a:pPr algn="r" defTabSz="882650" eaLnBrk="1" hangingPunct="1"/>
              <a:t>34</a:t>
            </a:fld>
            <a:endParaRPr lang="en-US" altLang="zh-TW" sz="1200" b="0"/>
          </a:p>
        </p:txBody>
      </p:sp>
      <p:sp>
        <p:nvSpPr>
          <p:cNvPr id="197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76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>
              <a:ea typeface="新細明體" pitchFamily="18" charset="-12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 txBox="1">
            <a:spLocks noGrp="1" noChangeArrowheads="1"/>
          </p:cNvSpPr>
          <p:nvPr/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24" tIns="45563" rIns="91124" bIns="45563" anchor="b"/>
          <a:lstStyle/>
          <a:p>
            <a:pPr algn="r" defTabSz="882650" eaLnBrk="1" hangingPunct="1"/>
            <a:fld id="{1443C0E2-B149-4A97-9EDA-1735E6200431}" type="slidenum">
              <a:rPr lang="en-US" altLang="zh-TW" sz="1200" b="0"/>
              <a:pPr algn="r" defTabSz="882650" eaLnBrk="1" hangingPunct="1"/>
              <a:t>35</a:t>
            </a:fld>
            <a:endParaRPr lang="en-US" altLang="zh-TW" sz="1200" b="0"/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>
              <a:ea typeface="新細明體" pitchFamily="18" charset="-12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/>
          <p:cNvSpPr txBox="1">
            <a:spLocks noGrp="1" noChangeArrowheads="1"/>
          </p:cNvSpPr>
          <p:nvPr/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54" tIns="45577" rIns="91154" bIns="45577" anchor="b"/>
          <a:lstStyle/>
          <a:p>
            <a:pPr algn="r"/>
            <a:fld id="{D911F07D-980F-4E47-8FAD-7B080A0D3A4E}" type="slidenum">
              <a:rPr lang="en-US" altLang="zh-TW" sz="1200" b="0"/>
              <a:pPr algn="r"/>
              <a:t>36</a:t>
            </a:fld>
            <a:endParaRPr lang="en-US" altLang="zh-TW" sz="1200" b="0"/>
          </a:p>
        </p:txBody>
      </p:sp>
      <p:sp>
        <p:nvSpPr>
          <p:cNvPr id="174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>
              <a:ea typeface="新細明體" pitchFamily="18" charset="-12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/>
          <p:cNvSpPr txBox="1">
            <a:spLocks noGrp="1" noChangeArrowheads="1"/>
          </p:cNvSpPr>
          <p:nvPr/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24" tIns="45563" rIns="91124" bIns="45563" anchor="b"/>
          <a:lstStyle/>
          <a:p>
            <a:pPr algn="r" defTabSz="882650" eaLnBrk="1" hangingPunct="1"/>
            <a:fld id="{94A7A686-45FA-4984-85FC-33F918AE7F94}" type="slidenum">
              <a:rPr lang="en-US" altLang="zh-TW" sz="1200" b="0"/>
              <a:pPr algn="r" defTabSz="882650" eaLnBrk="1" hangingPunct="1"/>
              <a:t>37</a:t>
            </a:fld>
            <a:endParaRPr lang="en-US" altLang="zh-TW" sz="1200" b="0"/>
          </a:p>
        </p:txBody>
      </p:sp>
      <p:sp>
        <p:nvSpPr>
          <p:cNvPr id="176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>
              <a:ea typeface="新細明體" pitchFamily="18" charset="-12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1896" indent="-285342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1375" indent="-228276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597924" indent="-228276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4474" indent="-228276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1023" indent="-228276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67572" indent="-228276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4123" indent="-228276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0672" indent="-228276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fld id="{47995327-700C-44CB-9873-70C84CA05F45}" type="slidenum">
              <a:rPr lang="en-US" altLang="zh-TW" sz="1200" b="0"/>
              <a:pPr/>
              <a:t>38</a:t>
            </a:fld>
            <a:endParaRPr lang="en-US" altLang="zh-TW" sz="1200" b="0" dirty="0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5272792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BCD9DFB-67CD-40B7-BDCD-9A74F1EDD432}" type="slidenum">
              <a:rPr lang="en-US" altLang="zh-TW"/>
              <a:pPr/>
              <a:t>39</a:t>
            </a:fld>
            <a:endParaRPr lang="en-US" altLang="zh-TW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dirty="0" smtClean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4726567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BCD9DFB-67CD-40B7-BDCD-9A74F1EDD432}" type="slidenum">
              <a:rPr lang="en-US" altLang="zh-TW"/>
              <a:pPr/>
              <a:t>40</a:t>
            </a:fld>
            <a:endParaRPr lang="en-US" altLang="zh-TW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dirty="0" smtClean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4726567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BCD9DFB-67CD-40B7-BDCD-9A74F1EDD432}" type="slidenum">
              <a:rPr lang="en-US" altLang="zh-TW"/>
              <a:pPr/>
              <a:t>41</a:t>
            </a:fld>
            <a:endParaRPr lang="en-US" altLang="zh-TW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dirty="0" smtClean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4726567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BCD9DFB-67CD-40B7-BDCD-9A74F1EDD432}" type="slidenum">
              <a:rPr lang="en-US" altLang="zh-TW"/>
              <a:pPr/>
              <a:t>42</a:t>
            </a:fld>
            <a:endParaRPr lang="en-US" altLang="zh-TW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dirty="0" smtClean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4726567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BCD9DFB-67CD-40B7-BDCD-9A74F1EDD432}" type="slidenum">
              <a:rPr lang="en-US" altLang="zh-TW"/>
              <a:pPr/>
              <a:t>43</a:t>
            </a:fld>
            <a:endParaRPr lang="en-US" altLang="zh-TW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dirty="0" smtClean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4726567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BCD9DFB-67CD-40B7-BDCD-9A74F1EDD432}" type="slidenum">
              <a:rPr lang="en-US" altLang="zh-TW"/>
              <a:pPr/>
              <a:t>44</a:t>
            </a:fld>
            <a:endParaRPr lang="en-US" altLang="zh-TW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dirty="0" smtClean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4726567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BCD9DFB-67CD-40B7-BDCD-9A74F1EDD432}" type="slidenum">
              <a:rPr lang="en-US" altLang="zh-TW"/>
              <a:pPr/>
              <a:t>45</a:t>
            </a:fld>
            <a:endParaRPr lang="en-US" altLang="zh-TW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dirty="0" smtClean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4726567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BCD9DFB-67CD-40B7-BDCD-9A74F1EDD432}" type="slidenum">
              <a:rPr lang="en-US" altLang="zh-TW"/>
              <a:pPr/>
              <a:t>46</a:t>
            </a:fld>
            <a:endParaRPr lang="en-US" altLang="zh-TW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dirty="0" smtClean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4726567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BCD9DFB-67CD-40B7-BDCD-9A74F1EDD432}" type="slidenum">
              <a:rPr lang="en-US" altLang="zh-TW"/>
              <a:pPr/>
              <a:t>47</a:t>
            </a:fld>
            <a:endParaRPr lang="en-US" altLang="zh-TW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dirty="0" smtClean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4726567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BCD9DFB-67CD-40B7-BDCD-9A74F1EDD432}" type="slidenum">
              <a:rPr lang="en-US" altLang="zh-TW"/>
              <a:pPr/>
              <a:t>48</a:t>
            </a:fld>
            <a:endParaRPr lang="en-US" altLang="zh-TW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dirty="0" smtClean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4726567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BCD9DFB-67CD-40B7-BDCD-9A74F1EDD432}" type="slidenum">
              <a:rPr lang="en-US" altLang="zh-TW"/>
              <a:pPr/>
              <a:t>49</a:t>
            </a:fld>
            <a:endParaRPr lang="en-US" altLang="zh-TW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dirty="0" smtClean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4726567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BCD9DFB-67CD-40B7-BDCD-9A74F1EDD432}" type="slidenum">
              <a:rPr lang="en-US" altLang="zh-TW"/>
              <a:pPr/>
              <a:t>50</a:t>
            </a:fld>
            <a:endParaRPr lang="en-US" altLang="zh-TW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dirty="0" smtClean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4726567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BCD9DFB-67CD-40B7-BDCD-9A74F1EDD432}" type="slidenum">
              <a:rPr lang="en-US" altLang="zh-TW"/>
              <a:pPr/>
              <a:t>51</a:t>
            </a:fld>
            <a:endParaRPr lang="en-US" altLang="zh-TW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dirty="0" smtClean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4726567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BCD9DFB-67CD-40B7-BDCD-9A74F1EDD432}" type="slidenum">
              <a:rPr lang="en-US" altLang="zh-TW"/>
              <a:pPr/>
              <a:t>52</a:t>
            </a:fld>
            <a:endParaRPr lang="en-US" altLang="zh-TW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dirty="0" smtClean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4726567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BCD9DFB-67CD-40B7-BDCD-9A74F1EDD432}" type="slidenum">
              <a:rPr lang="en-US" altLang="zh-TW"/>
              <a:pPr/>
              <a:t>53</a:t>
            </a:fld>
            <a:endParaRPr lang="en-US" altLang="zh-TW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dirty="0" smtClean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0366444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BCD9DFB-67CD-40B7-BDCD-9A74F1EDD432}" type="slidenum">
              <a:rPr lang="en-US" altLang="zh-TW"/>
              <a:pPr/>
              <a:t>54</a:t>
            </a:fld>
            <a:endParaRPr lang="en-US" altLang="zh-TW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dirty="0" smtClean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455460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BCD9DFB-67CD-40B7-BDCD-9A74F1EDD432}" type="slidenum">
              <a:rPr lang="en-US" altLang="zh-TW"/>
              <a:pPr/>
              <a:t>55</a:t>
            </a:fld>
            <a:endParaRPr lang="en-US" altLang="zh-TW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dirty="0" smtClean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0366444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BCD9DFB-67CD-40B7-BDCD-9A74F1EDD432}" type="slidenum">
              <a:rPr lang="en-US" altLang="zh-TW"/>
              <a:pPr/>
              <a:t>56</a:t>
            </a:fld>
            <a:endParaRPr lang="en-US" altLang="zh-TW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dirty="0" smtClean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4726567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BCD9DFB-67CD-40B7-BDCD-9A74F1EDD432}" type="slidenum">
              <a:rPr lang="en-US" altLang="zh-TW"/>
              <a:pPr/>
              <a:t>57</a:t>
            </a:fld>
            <a:endParaRPr lang="en-US" altLang="zh-TW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dirty="0" smtClean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4726567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BCD9DFB-67CD-40B7-BDCD-9A74F1EDD432}" type="slidenum">
              <a:rPr lang="en-US" altLang="zh-TW"/>
              <a:pPr/>
              <a:t>58</a:t>
            </a:fld>
            <a:endParaRPr lang="en-US" altLang="zh-TW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dirty="0" smtClean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7971486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BCD9DFB-67CD-40B7-BDCD-9A74F1EDD432}" type="slidenum">
              <a:rPr lang="en-US" altLang="zh-TW"/>
              <a:pPr/>
              <a:t>59</a:t>
            </a:fld>
            <a:endParaRPr lang="en-US" altLang="zh-TW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dirty="0" smtClean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0366444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BCD9DFB-67CD-40B7-BDCD-9A74F1EDD432}" type="slidenum">
              <a:rPr lang="en-US" altLang="zh-TW"/>
              <a:pPr/>
              <a:t>60</a:t>
            </a:fld>
            <a:endParaRPr lang="en-US" altLang="zh-TW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dirty="0" smtClean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4081811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BCD9DFB-67CD-40B7-BDCD-9A74F1EDD432}" type="slidenum">
              <a:rPr lang="en-US" altLang="zh-TW"/>
              <a:pPr/>
              <a:t>61</a:t>
            </a:fld>
            <a:endParaRPr lang="en-US" altLang="zh-TW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dirty="0" smtClean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6396317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BCD9DFB-67CD-40B7-BDCD-9A74F1EDD432}" type="slidenum">
              <a:rPr lang="en-US" altLang="zh-TW"/>
              <a:pPr/>
              <a:t>62</a:t>
            </a:fld>
            <a:endParaRPr lang="en-US" altLang="zh-TW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dirty="0" smtClean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6044674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BCD9DFB-67CD-40B7-BDCD-9A74F1EDD432}" type="slidenum">
              <a:rPr lang="en-US" altLang="zh-TW"/>
              <a:pPr/>
              <a:t>63</a:t>
            </a:fld>
            <a:endParaRPr lang="en-US" altLang="zh-TW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dirty="0" smtClean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4726567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913508">
              <a:defRPr/>
            </a:pPr>
            <a:fld id="{2BCD9DFB-67CD-40B7-BDCD-9A74F1EDD432}" type="slidenum">
              <a:rPr lang="en-US" altLang="zh-TW">
                <a:solidFill>
                  <a:srgbClr val="000000"/>
                </a:solidFill>
              </a:rPr>
              <a:pPr defTabSz="913508">
                <a:defRPr/>
              </a:pPr>
              <a:t>64</a:t>
            </a:fld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dirty="0" smtClean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1754273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913508">
              <a:defRPr/>
            </a:pPr>
            <a:fld id="{2BCD9DFB-67CD-40B7-BDCD-9A74F1EDD432}" type="slidenum">
              <a:rPr lang="en-US" altLang="zh-TW">
                <a:solidFill>
                  <a:srgbClr val="000000"/>
                </a:solidFill>
              </a:rPr>
              <a:pPr defTabSz="913508">
                <a:defRPr/>
              </a:pPr>
              <a:t>65</a:t>
            </a:fld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dirty="0" smtClean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1754273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224" indent="-28547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1885" indent="-228377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598640" indent="-228377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5394" indent="-228377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2149" indent="-228377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68904" indent="-228377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5657" indent="-228377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2412" indent="-228377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fld id="{13BF441B-B4F7-45FB-8FFA-5A8023F61EEE}" type="slidenum">
              <a:rPr lang="en-US" altLang="zh-TW" sz="1200" b="0"/>
              <a:pPr/>
              <a:t>66</a:t>
            </a:fld>
            <a:endParaRPr lang="en-US" altLang="zh-TW" sz="1200" b="0" dirty="0"/>
          </a:p>
        </p:txBody>
      </p:sp>
      <p:sp>
        <p:nvSpPr>
          <p:cNvPr id="172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57081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0DD6F1-9888-431D-AFCE-B6DE90A5AB68}" type="datetime1">
              <a:rPr lang="zh-TW" altLang="en-US"/>
              <a:pPr>
                <a:defRPr/>
              </a:pPr>
              <a:t>2018/8/3</a:t>
            </a:fld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654FF7-2CF8-49E1-A8C5-D9E232FF07D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738" y="82550"/>
            <a:ext cx="1243012" cy="712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A461BE-573D-46AF-9FF2-858C4E48447A}" type="datetime1">
              <a:rPr lang="zh-TW" altLang="en-US"/>
              <a:pPr>
                <a:defRPr/>
              </a:pPr>
              <a:t>2018/8/3</a:t>
            </a:fld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4E9086-7ECC-42A9-B120-EC8682C85405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778FF6-3786-41F4-89E2-57A3D63321CA}" type="datetime1">
              <a:rPr lang="zh-TW" altLang="en-US"/>
              <a:pPr>
                <a:defRPr/>
              </a:pPr>
              <a:t>2018/8/3</a:t>
            </a:fld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F488A1-003E-4A9C-B624-CFCE1B966A3F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A89221-0BDD-46B7-8CBE-2DBA1C58CB1C}" type="datetime1">
              <a:rPr lang="zh-TW" altLang="en-US"/>
              <a:pPr>
                <a:defRPr/>
              </a:pPr>
              <a:t>2018/8/3</a:t>
            </a:fld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7C81F6-ADE4-460F-9395-C8852A15313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8CB951-4630-4D78-884C-81BF03BFD8D9}" type="datetime1">
              <a:rPr lang="zh-TW" altLang="en-US"/>
              <a:pPr>
                <a:defRPr/>
              </a:pPr>
              <a:t>2018/8/3</a:t>
            </a:fld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A3AE67-88BF-45EB-8FD1-B0BF7B6337BD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EE689C-1CCF-4126-8058-ED3F30D17553}" type="datetime1">
              <a:rPr lang="zh-TW" altLang="en-US"/>
              <a:pPr>
                <a:defRPr/>
              </a:pPr>
              <a:t>2018/8/3</a:t>
            </a:fld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AD098F-7A8F-4A4E-B1AF-68727069BF78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E4601C-AB09-446E-82DE-5C19F7D8FDEC}" type="datetime1">
              <a:rPr lang="zh-TW" altLang="en-US"/>
              <a:pPr>
                <a:defRPr/>
              </a:pPr>
              <a:t>2018/8/3</a:t>
            </a:fld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70DB2C-4592-4C12-B6B9-97D06B4E5A3D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19D649-CFDA-4980-ADAF-CB54C21BB87C}" type="datetime1">
              <a:rPr lang="zh-TW" altLang="en-US"/>
              <a:pPr>
                <a:defRPr/>
              </a:pPr>
              <a:t>2018/8/3</a:t>
            </a:fld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7CA7C8-ED53-4D06-AEF0-4B7E7D6CCE1F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B5AEB0-B6A8-4C76-9F9C-3018350A2B70}" type="datetime1">
              <a:rPr lang="zh-TW" altLang="en-US"/>
              <a:pPr>
                <a:defRPr/>
              </a:pPr>
              <a:t>2018/8/3</a:t>
            </a:fld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F7BB70-331C-4C54-9B30-DC8457C21A41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81AD8C-35AB-4DC6-A4AB-F63693B35830}" type="datetime1">
              <a:rPr lang="zh-TW" altLang="en-US"/>
              <a:pPr>
                <a:defRPr/>
              </a:pPr>
              <a:t>2018/8/3</a:t>
            </a:fld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AE2F17-5813-4F38-906D-9CB1DAEF299F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21362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213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FCAF92-3400-4073-A354-866DAE807F77}" type="datetime1">
              <a:rPr lang="zh-TW" altLang="en-US"/>
              <a:pPr>
                <a:defRPr/>
              </a:pPr>
              <a:t>2018/8/3</a:t>
            </a:fld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C7C2B6-A56C-4704-9350-539252713940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b="0">
                <a:ea typeface="新細明體" charset="-120"/>
              </a:defRPr>
            </a:lvl1pPr>
          </a:lstStyle>
          <a:p>
            <a:pPr>
              <a:defRPr/>
            </a:pPr>
            <a:fld id="{8B9024D2-74AD-4FAF-BC92-628ACE777E3F}" type="datetime1">
              <a:rPr lang="zh-TW" altLang="en-US"/>
              <a:pPr>
                <a:defRPr/>
              </a:pPr>
              <a:t>2018/8/3</a:t>
            </a:fld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/>
            </a:lvl1pPr>
          </a:lstStyle>
          <a:p>
            <a:fld id="{23E1A49F-EDE0-4618-8F62-4EA7788D9AE1}" type="slidenum">
              <a:rPr lang="en-US" altLang="zh-TW"/>
              <a:pPr/>
              <a:t>‹#›</a:t>
            </a:fld>
            <a:endParaRPr lang="en-US" altLang="zh-TW"/>
          </a:p>
        </p:txBody>
      </p:sp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0" y="549275"/>
            <a:ext cx="9144000" cy="66675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lin ang="5400000" scaled="1"/>
          </a:gradFill>
          <a:ln>
            <a:noFill/>
          </a:ln>
          <a:extLst/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defRPr/>
            </a:pPr>
            <a:endParaRPr lang="zh-TW" altLang="en-US" smtClean="0"/>
          </a:p>
        </p:txBody>
      </p:sp>
      <p:grpSp>
        <p:nvGrpSpPr>
          <p:cNvPr id="1031" name="Group 8"/>
          <p:cNvGrpSpPr>
            <a:grpSpLocks/>
          </p:cNvGrpSpPr>
          <p:nvPr/>
        </p:nvGrpSpPr>
        <p:grpSpPr bwMode="auto">
          <a:xfrm>
            <a:off x="0" y="0"/>
            <a:ext cx="1295400" cy="838200"/>
            <a:chOff x="0" y="2"/>
            <a:chExt cx="816" cy="528"/>
          </a:xfrm>
        </p:grpSpPr>
        <p:pic>
          <p:nvPicPr>
            <p:cNvPr id="1035" name="Picture 9"/>
            <p:cNvPicPr>
              <a:picLocks noChangeAspect="1" noChangeArrowheads="1"/>
            </p:cNvPicPr>
            <p:nvPr/>
          </p:nvPicPr>
          <p:blipFill>
            <a:blip r:embed="rId13" cstate="print"/>
            <a:srcRect/>
            <a:stretch>
              <a:fillRect/>
            </a:stretch>
          </p:blipFill>
          <p:spPr bwMode="auto">
            <a:xfrm>
              <a:off x="0" y="2"/>
              <a:ext cx="816" cy="5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36" name="Picture 10"/>
            <p:cNvPicPr>
              <a:picLocks noChangeAspect="1" noChangeArrowheads="1"/>
            </p:cNvPicPr>
            <p:nvPr/>
          </p:nvPicPr>
          <p:blipFill>
            <a:blip r:embed="rId14" cstate="print"/>
            <a:srcRect/>
            <a:stretch>
              <a:fillRect/>
            </a:stretch>
          </p:blipFill>
          <p:spPr bwMode="auto">
            <a:xfrm>
              <a:off x="0" y="2"/>
              <a:ext cx="816" cy="5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32" name="Rectangle 11"/>
          <p:cNvSpPr>
            <a:spLocks noChangeArrowheads="1"/>
          </p:cNvSpPr>
          <p:nvPr/>
        </p:nvSpPr>
        <p:spPr bwMode="auto">
          <a:xfrm>
            <a:off x="0" y="1196975"/>
            <a:ext cx="9144000" cy="71438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>
            <a:noFill/>
          </a:ln>
          <a:extLst/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defRPr/>
            </a:pPr>
            <a:endParaRPr lang="zh-TW" altLang="en-US" smtClean="0"/>
          </a:p>
        </p:txBody>
      </p:sp>
      <p:pic>
        <p:nvPicPr>
          <p:cNvPr id="1033" name="Picture 2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58738" y="82550"/>
            <a:ext cx="1243012" cy="712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4198938" y="6530975"/>
            <a:ext cx="863600" cy="2190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/>
          <a:lstStyle/>
          <a:p>
            <a:pPr algn="ctr" eaLnBrk="1" hangingPunct="1"/>
            <a:fld id="{482E660E-4B4C-46F7-9F75-BE5F534A24C5}" type="slidenum">
              <a:rPr lang="en-US" altLang="zh-TW" sz="14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pPr algn="ctr" eaLnBrk="1" hangingPunct="1"/>
              <a:t>‹#›</a:t>
            </a:fld>
            <a:endParaRPr lang="en-US" altLang="zh-TW" sz="14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7" r:id="rId1"/>
    <p:sldLayoutId id="2147484127" r:id="rId2"/>
    <p:sldLayoutId id="2147484118" r:id="rId3"/>
    <p:sldLayoutId id="2147484119" r:id="rId4"/>
    <p:sldLayoutId id="2147484120" r:id="rId5"/>
    <p:sldLayoutId id="2147484121" r:id="rId6"/>
    <p:sldLayoutId id="2147484122" r:id="rId7"/>
    <p:sldLayoutId id="2147484123" r:id="rId8"/>
    <p:sldLayoutId id="2147484124" r:id="rId9"/>
    <p:sldLayoutId id="2147484125" r:id="rId10"/>
    <p:sldLayoutId id="214748412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0.pn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7" Type="http://schemas.openxmlformats.org/officeDocument/2006/relationships/image" Target="../media/image44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52"/>
          <p:cNvSpPr>
            <a:spLocks noChangeArrowheads="1"/>
          </p:cNvSpPr>
          <p:nvPr/>
        </p:nvSpPr>
        <p:spPr bwMode="gray"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rgbClr val="FFFFFF"/>
              </a:gs>
            </a:gsLst>
            <a:lin ang="162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sng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123</a:t>
            </a:r>
            <a:endParaRPr kumimoji="0" lang="zh-TW" altLang="en-US" sz="2000" b="1" i="0" u="sng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</p:txBody>
      </p:sp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914399" y="2738438"/>
            <a:ext cx="8196265" cy="1228725"/>
            <a:chOff x="405" y="1933"/>
            <a:chExt cx="4702" cy="774"/>
          </a:xfrm>
        </p:grpSpPr>
        <p:grpSp>
          <p:nvGrpSpPr>
            <p:cNvPr id="3" name="Group 25"/>
            <p:cNvGrpSpPr>
              <a:grpSpLocks/>
            </p:cNvGrpSpPr>
            <p:nvPr/>
          </p:nvGrpSpPr>
          <p:grpSpPr bwMode="auto">
            <a:xfrm>
              <a:off x="414" y="2534"/>
              <a:ext cx="4686" cy="173"/>
              <a:chOff x="971" y="2527"/>
              <a:chExt cx="4686" cy="173"/>
            </a:xfrm>
          </p:grpSpPr>
          <p:sp>
            <p:nvSpPr>
              <p:cNvPr id="5134" name="Rectangle 26"/>
              <p:cNvSpPr>
                <a:spLocks noChangeArrowheads="1"/>
              </p:cNvSpPr>
              <p:nvPr/>
            </p:nvSpPr>
            <p:spPr bwMode="gray">
              <a:xfrm>
                <a:off x="971" y="2559"/>
                <a:ext cx="4504" cy="141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9CC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標楷體"/>
                  <a:ea typeface="標楷體"/>
                  <a:cs typeface="+mn-cs"/>
                </a:endParaRPr>
              </a:p>
            </p:txBody>
          </p:sp>
          <p:sp>
            <p:nvSpPr>
              <p:cNvPr id="5135" name="Line 27"/>
              <p:cNvSpPr>
                <a:spLocks noChangeShapeType="1"/>
              </p:cNvSpPr>
              <p:nvPr/>
            </p:nvSpPr>
            <p:spPr bwMode="white">
              <a:xfrm>
                <a:off x="1659" y="2527"/>
                <a:ext cx="3998" cy="0"/>
              </a:xfrm>
              <a:prstGeom prst="line">
                <a:avLst/>
              </a:prstGeom>
              <a:noFill/>
              <a:ln w="19050" cap="rnd">
                <a:solidFill>
                  <a:schemeClr val="bg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標楷體"/>
                  <a:ea typeface="標楷體"/>
                  <a:cs typeface="+mn-cs"/>
                </a:endParaRPr>
              </a:p>
            </p:txBody>
          </p:sp>
        </p:grpSp>
        <p:sp>
          <p:nvSpPr>
            <p:cNvPr id="5129" name="Rectangle 28"/>
            <p:cNvSpPr>
              <a:spLocks noChangeArrowheads="1"/>
            </p:cNvSpPr>
            <p:nvPr/>
          </p:nvSpPr>
          <p:spPr bwMode="gray">
            <a:xfrm>
              <a:off x="405" y="1933"/>
              <a:ext cx="4702" cy="696"/>
            </a:xfrm>
            <a:prstGeom prst="rect">
              <a:avLst/>
            </a:prstGeom>
            <a:gradFill rotWithShape="1">
              <a:gsLst>
                <a:gs pos="0">
                  <a:srgbClr val="CCECFF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/>
                <a:ea typeface="標楷體"/>
                <a:cs typeface="+mn-cs"/>
              </a:endParaRPr>
            </a:p>
          </p:txBody>
        </p:sp>
        <p:sp>
          <p:nvSpPr>
            <p:cNvPr id="5130" name="Line 29"/>
            <p:cNvSpPr>
              <a:spLocks noChangeShapeType="1"/>
            </p:cNvSpPr>
            <p:nvPr/>
          </p:nvSpPr>
          <p:spPr bwMode="white">
            <a:xfrm>
              <a:off x="1102" y="2445"/>
              <a:ext cx="3998" cy="0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/>
                <a:ea typeface="標楷體"/>
                <a:cs typeface="+mn-cs"/>
              </a:endParaRPr>
            </a:p>
          </p:txBody>
        </p:sp>
        <p:sp>
          <p:nvSpPr>
            <p:cNvPr id="5131" name="Line 30"/>
            <p:cNvSpPr>
              <a:spLocks noChangeShapeType="1"/>
            </p:cNvSpPr>
            <p:nvPr/>
          </p:nvSpPr>
          <p:spPr bwMode="white">
            <a:xfrm>
              <a:off x="1102" y="2504"/>
              <a:ext cx="3998" cy="0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/>
                <a:ea typeface="標楷體"/>
                <a:cs typeface="+mn-cs"/>
              </a:endParaRPr>
            </a:p>
          </p:txBody>
        </p:sp>
        <p:sp>
          <p:nvSpPr>
            <p:cNvPr id="5132" name="Rectangle 31"/>
            <p:cNvSpPr>
              <a:spLocks noChangeArrowheads="1"/>
            </p:cNvSpPr>
            <p:nvPr/>
          </p:nvSpPr>
          <p:spPr bwMode="gray">
            <a:xfrm>
              <a:off x="502" y="1979"/>
              <a:ext cx="4605" cy="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lvl="0"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zh-TW" altLang="en-US" sz="4000" dirty="0" smtClean="0">
                  <a:solidFill>
                    <a:srgbClr val="000000"/>
                  </a:solidFill>
                  <a:latin typeface="標楷體"/>
                  <a:ea typeface="標楷體" pitchFamily="65" charset="-120"/>
                </a:rPr>
                <a:t>資訊部電腦管理作業改善報告</a:t>
              </a:r>
              <a:endPara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/>
                <a:ea typeface="標楷體" pitchFamily="65" charset="-120"/>
                <a:cs typeface="+mn-cs"/>
              </a:endParaRPr>
            </a:p>
          </p:txBody>
        </p:sp>
        <p:sp>
          <p:nvSpPr>
            <p:cNvPr id="5133" name="Line 32"/>
            <p:cNvSpPr>
              <a:spLocks noChangeShapeType="1"/>
            </p:cNvSpPr>
            <p:nvPr/>
          </p:nvSpPr>
          <p:spPr bwMode="white">
            <a:xfrm>
              <a:off x="1102" y="2581"/>
              <a:ext cx="3998" cy="0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/>
                <a:ea typeface="標楷體"/>
                <a:cs typeface="+mn-cs"/>
              </a:endParaRPr>
            </a:p>
          </p:txBody>
        </p:sp>
      </p:grpSp>
      <p:pic>
        <p:nvPicPr>
          <p:cNvPr id="5126" name="Picture 1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113" y="23813"/>
            <a:ext cx="2162175" cy="124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 Box 33"/>
          <p:cNvSpPr txBox="1">
            <a:spLocks noChangeArrowheads="1"/>
          </p:cNvSpPr>
          <p:nvPr/>
        </p:nvSpPr>
        <p:spPr bwMode="auto">
          <a:xfrm>
            <a:off x="6255834" y="5883275"/>
            <a:ext cx="2496054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>
              <a:defRPr kumimoji="1" sz="28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>
              <a:defRPr kumimoji="1" sz="20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>
              <a:defRPr kumimoji="1" sz="20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400" dirty="0" smtClean="0">
                <a:solidFill>
                  <a:srgbClr val="FFFFFF"/>
                </a:solidFill>
                <a:latin typeface="標楷體" pitchFamily="65" charset="-120"/>
                <a:ea typeface="標楷體" pitchFamily="65" charset="-120"/>
              </a:rPr>
              <a:t>2018</a:t>
            </a:r>
            <a:r>
              <a:rPr kumimoji="1" lang="zh-TW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年</a:t>
            </a:r>
            <a:r>
              <a:rPr kumimoji="1" lang="en-US" altLang="zh-TW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8</a:t>
            </a:r>
            <a:r>
              <a:rPr kumimoji="1" lang="zh-TW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月</a:t>
            </a:r>
            <a:r>
              <a:rPr kumimoji="1" lang="en-US" altLang="zh-TW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3</a:t>
            </a:r>
            <a:r>
              <a:rPr kumimoji="1" lang="zh-TW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日</a:t>
            </a:r>
            <a:endParaRPr kumimoji="1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gray">
          <a:xfrm>
            <a:off x="4890649" y="4953565"/>
            <a:ext cx="3932136" cy="978729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1D3E7F"/>
            </a:prst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 algn="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  <a:sym typeface="Wingdings" pitchFamily="2" charset="2"/>
              </a:rPr>
              <a:t>總</a:t>
            </a:r>
            <a:r>
              <a:rPr kumimoji="0" lang="zh-TW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  <a:sym typeface="Wingdings" pitchFamily="2" charset="2"/>
              </a:rPr>
              <a:t>管理處</a:t>
            </a:r>
            <a:r>
              <a:rPr kumimoji="0" lang="zh-TW" altLang="en-US" sz="3200" dirty="0" smtClean="0">
                <a:solidFill>
                  <a:srgbClr val="FFFFFF"/>
                </a:solidFill>
                <a:latin typeface="標楷體" pitchFamily="65" charset="-120"/>
                <a:ea typeface="標楷體" pitchFamily="65" charset="-120"/>
                <a:sym typeface="Wingdings" pitchFamily="2" charset="2"/>
              </a:rPr>
              <a:t>稽查專案組</a:t>
            </a:r>
            <a:endParaRPr kumimoji="0" lang="en-US" altLang="zh-TW" sz="3200" b="1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  <a:sym typeface="Wingdings" pitchFamily="2" charset="2"/>
            </a:endParaRPr>
          </a:p>
          <a:p>
            <a:pPr lvl="0" algn="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TW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  <a:sym typeface="Wingdings" pitchFamily="2" charset="2"/>
              </a:rPr>
              <a:t>資　訊　部</a:t>
            </a:r>
            <a:endParaRPr kumimoji="0" lang="de-DE" altLang="zh-TW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951063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kumimoji="0" lang="zh-TW" altLang="en-US" sz="3600" dirty="0" smtClean="0">
                <a:solidFill>
                  <a:srgbClr val="000000"/>
                </a:solidFill>
                <a:latin typeface="標楷體"/>
                <a:ea typeface="標楷體" pitchFamily="65" charset="-120"/>
              </a:rPr>
              <a:t>資訊部電腦管理作業改善報告</a:t>
            </a:r>
            <a:endParaRPr lang="zh-TW" altLang="en-US" sz="3600" dirty="0">
              <a:solidFill>
                <a:schemeClr val="tx2"/>
              </a:solidFill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857089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6948" y="1730328"/>
            <a:ext cx="8721969" cy="4797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五邊形 8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124264" y="1295280"/>
            <a:ext cx="1957754" cy="461665"/>
          </a:xfrm>
          <a:prstGeom prst="homePlate">
            <a:avLst>
              <a:gd name="adj" fmla="val 46543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交辦事項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683062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28159087"/>
              </p:ext>
            </p:extLst>
          </p:nvPr>
        </p:nvGraphicFramePr>
        <p:xfrm>
          <a:off x="342894" y="1513311"/>
          <a:ext cx="8491107" cy="44731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868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30960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25281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105554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 smtClean="0">
                          <a:latin typeface="標楷體" pitchFamily="65" charset="-120"/>
                          <a:ea typeface="標楷體" pitchFamily="65" charset="-120"/>
                        </a:rPr>
                        <a:t>項次</a:t>
                      </a:r>
                      <a:endParaRPr lang="zh-TW" altLang="en-US" sz="2800" b="1" dirty="0"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51" marR="91451" marT="45744" marB="457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 smtClean="0">
                          <a:latin typeface="標楷體" pitchFamily="65" charset="-120"/>
                          <a:ea typeface="標楷體" pitchFamily="65" charset="-120"/>
                        </a:rPr>
                        <a:t>報告項目</a:t>
                      </a:r>
                      <a:endParaRPr lang="zh-TW" altLang="en-US" sz="2800" b="1" dirty="0"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51" marR="91451" marT="45744" marB="457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 smtClean="0">
                          <a:latin typeface="標楷體" pitchFamily="65" charset="-120"/>
                          <a:ea typeface="標楷體" pitchFamily="65" charset="-120"/>
                        </a:rPr>
                        <a:t>報告人</a:t>
                      </a:r>
                      <a:endParaRPr lang="zh-TW" altLang="en-US" sz="2800" b="1" dirty="0"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51" marR="91451" marT="45744" marB="457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30652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 smtClean="0">
                          <a:latin typeface="標楷體" pitchFamily="65" charset="-120"/>
                          <a:ea typeface="標楷體" pitchFamily="65" charset="-120"/>
                        </a:rPr>
                        <a:t>壹</a:t>
                      </a:r>
                      <a:endParaRPr lang="en-US" altLang="zh-TW" sz="2800" b="1" dirty="0" smtClean="0"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51" marR="91451" marT="45744" marB="457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800" b="1" kern="1200" dirty="0" smtClean="0">
                          <a:solidFill>
                            <a:srgbClr val="0000CC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資訊部改善實例報告</a:t>
                      </a:r>
                      <a:endParaRPr kumimoji="0" lang="en-US" altLang="zh-TW" sz="2800" b="1" kern="1200" dirty="0" smtClean="0">
                        <a:solidFill>
                          <a:srgbClr val="0000CC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1451" marR="91451" marT="45744" marB="457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latin typeface="標楷體" pitchFamily="65" charset="-120"/>
                          <a:ea typeface="標楷體" pitchFamily="65" charset="-120"/>
                        </a:rPr>
                        <a:t>李毅宏</a:t>
                      </a:r>
                      <a:endParaRPr lang="en-US" altLang="zh-TW" sz="2800" b="1" dirty="0" smtClean="0">
                        <a:latin typeface="標楷體" pitchFamily="65" charset="-120"/>
                        <a:ea typeface="標楷體" pitchFamily="65" charset="-12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latin typeface="標楷體" pitchFamily="65" charset="-120"/>
                          <a:ea typeface="標楷體" pitchFamily="65" charset="-120"/>
                        </a:rPr>
                        <a:t>蔡尚祐</a:t>
                      </a:r>
                      <a:endParaRPr lang="en-US" altLang="zh-TW" sz="2800" b="1" dirty="0" smtClean="0"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51" marR="91451" marT="45744" marB="457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05554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latin typeface="標楷體" pitchFamily="65" charset="-120"/>
                          <a:ea typeface="標楷體" pitchFamily="65" charset="-120"/>
                        </a:rPr>
                        <a:t>貳</a:t>
                      </a:r>
                      <a:endParaRPr lang="zh-TW" altLang="en-US" sz="2800" b="1" dirty="0"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51" marR="91451" marT="45744" marB="457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800" b="1" kern="1200" dirty="0" smtClean="0">
                          <a:solidFill>
                            <a:srgbClr val="0000CC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作業密碼改由電腦自動更新檢討</a:t>
                      </a:r>
                    </a:p>
                  </a:txBody>
                  <a:tcPr marL="91451" marR="91451" marT="45744" marB="457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latin typeface="標楷體" pitchFamily="65" charset="-120"/>
                          <a:ea typeface="標楷體" pitchFamily="65" charset="-120"/>
                        </a:rPr>
                        <a:t>蔡尚祐</a:t>
                      </a:r>
                      <a:endParaRPr lang="en-US" altLang="zh-TW" sz="2800" b="1" dirty="0" smtClean="0"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51" marR="91451" marT="45744" marB="457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05554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latin typeface="標楷體" pitchFamily="65" charset="-120"/>
                          <a:ea typeface="標楷體" pitchFamily="65" charset="-120"/>
                        </a:rPr>
                        <a:t>參</a:t>
                      </a:r>
                      <a:endParaRPr lang="zh-TW" altLang="en-US" sz="2800" b="1" dirty="0"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51" marR="91451" marT="45744" marB="457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800" b="1" kern="1200" noProof="0" dirty="0" smtClean="0">
                          <a:solidFill>
                            <a:srgbClr val="0000CC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規章制度管理機制檢討改善</a:t>
                      </a:r>
                      <a:endParaRPr kumimoji="0" lang="zh-TW" altLang="en-US" sz="2800" b="1" kern="1200" dirty="0">
                        <a:solidFill>
                          <a:srgbClr val="0000CC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1451" marR="91451" marT="45744" marB="457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 smtClean="0">
                          <a:latin typeface="標楷體" pitchFamily="65" charset="-120"/>
                          <a:ea typeface="標楷體" pitchFamily="65" charset="-120"/>
                        </a:rPr>
                        <a:t>李毅宏</a:t>
                      </a:r>
                      <a:endParaRPr lang="zh-TW" altLang="en-US" sz="2800" b="1" dirty="0"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51" marR="91451" marT="45744" marB="457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手繪多邊形 6"/>
          <p:cNvSpPr/>
          <p:nvPr/>
        </p:nvSpPr>
        <p:spPr bwMode="auto">
          <a:xfrm>
            <a:off x="311258" y="2827216"/>
            <a:ext cx="391991" cy="556351"/>
          </a:xfrm>
          <a:custGeom>
            <a:avLst/>
            <a:gdLst>
              <a:gd name="connsiteX0" fmla="*/ 0 w 352540"/>
              <a:gd name="connsiteY0" fmla="*/ 253388 h 478795"/>
              <a:gd name="connsiteX1" fmla="*/ 55085 w 352540"/>
              <a:gd name="connsiteY1" fmla="*/ 242371 h 478795"/>
              <a:gd name="connsiteX2" fmla="*/ 110169 w 352540"/>
              <a:gd name="connsiteY2" fmla="*/ 473725 h 478795"/>
              <a:gd name="connsiteX3" fmla="*/ 143220 w 352540"/>
              <a:gd name="connsiteY3" fmla="*/ 407624 h 478795"/>
              <a:gd name="connsiteX4" fmla="*/ 352540 w 352540"/>
              <a:gd name="connsiteY4" fmla="*/ 0 h 478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2540" h="478795">
                <a:moveTo>
                  <a:pt x="0" y="253388"/>
                </a:moveTo>
                <a:cubicBezTo>
                  <a:pt x="18362" y="229518"/>
                  <a:pt x="36724" y="205648"/>
                  <a:pt x="55085" y="242371"/>
                </a:cubicBezTo>
                <a:cubicBezTo>
                  <a:pt x="73447" y="279094"/>
                  <a:pt x="95480" y="446183"/>
                  <a:pt x="110169" y="473725"/>
                </a:cubicBezTo>
                <a:cubicBezTo>
                  <a:pt x="124858" y="501267"/>
                  <a:pt x="143220" y="407624"/>
                  <a:pt x="143220" y="407624"/>
                </a:cubicBezTo>
                <a:lnTo>
                  <a:pt x="352540" y="0"/>
                </a:lnTo>
              </a:path>
            </a:pathLst>
          </a:custGeom>
          <a:noFill/>
          <a:ln w="508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rtlCol="0" anchor="ctr"/>
          <a:lstStyle/>
          <a:p>
            <a:pPr algn="ctr"/>
            <a:endParaRPr lang="zh-TW" altLang="en-US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8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kumimoji="0" lang="zh-TW" altLang="en-US" sz="3600" dirty="0" smtClean="0">
                <a:solidFill>
                  <a:srgbClr val="000000"/>
                </a:solidFill>
                <a:latin typeface="標楷體"/>
                <a:ea typeface="標楷體" pitchFamily="65" charset="-120"/>
              </a:rPr>
              <a:t>資訊部電腦管理作業改善報告</a:t>
            </a:r>
            <a:endParaRPr lang="zh-TW" altLang="en-US" sz="3600" dirty="0">
              <a:solidFill>
                <a:schemeClr val="tx2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683062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kumimoji="0" lang="zh-TW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資訊部改善實例報告</a:t>
            </a:r>
            <a:endParaRPr lang="zh-TW" altLang="en-US" sz="36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0" name="五邊形 19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124263" y="1295280"/>
            <a:ext cx="3261875" cy="461665"/>
          </a:xfrm>
          <a:prstGeom prst="homePlate">
            <a:avLst>
              <a:gd name="adj" fmla="val 46543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電腦作業增修訂流程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279297" y="3566436"/>
            <a:ext cx="1549506" cy="1207695"/>
          </a:xfrm>
          <a:prstGeom prst="rect">
            <a:avLst/>
          </a:prstGeom>
          <a:noFill/>
          <a:ln w="57150" cmpd="dbl" algn="ctr">
            <a:solidFill>
              <a:srgbClr val="0000FF"/>
            </a:solidFill>
            <a:round/>
            <a:headEnd/>
            <a:tailEnd type="triangle" w="med" len="med"/>
          </a:ln>
          <a:extLst/>
        </p:spPr>
        <p:txBody>
          <a:bodyPr lIns="0" tIns="0" rIns="0" bIns="0" anchor="ctr"/>
          <a:lstStyle/>
          <a:p>
            <a:pPr algn="ctr" eaLnBrk="1" hangingPunct="1"/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現場部門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pPr algn="ctr" eaLnBrk="1" hangingPunct="1"/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意反單</a:t>
            </a:r>
            <a:endParaRPr lang="zh-TW" altLang="en-US" u="sng" dirty="0">
              <a:solidFill>
                <a:srgbClr val="0000CC"/>
              </a:solidFill>
              <a:latin typeface="標楷體" pitchFamily="65" charset="-120"/>
              <a:ea typeface="標楷體" pitchFamily="65" charset="-120"/>
            </a:endParaRPr>
          </a:p>
        </p:txBody>
      </p:sp>
      <p:cxnSp>
        <p:nvCxnSpPr>
          <p:cNvPr id="6" name="肘形接點 5"/>
          <p:cNvCxnSpPr>
            <a:stCxn id="4" idx="3"/>
            <a:endCxn id="7" idx="1"/>
          </p:cNvCxnSpPr>
          <p:nvPr/>
        </p:nvCxnSpPr>
        <p:spPr bwMode="auto">
          <a:xfrm flipV="1">
            <a:off x="1828803" y="4170283"/>
            <a:ext cx="800656" cy="1"/>
          </a:xfrm>
          <a:prstGeom prst="bentConnector3">
            <a:avLst>
              <a:gd name="adj1" fmla="val 50000"/>
            </a:avLst>
          </a:prstGeom>
          <a:solidFill>
            <a:srgbClr val="CCFFCC"/>
          </a:solidFill>
          <a:ln w="76200" cap="flat" cmpd="sng" algn="ctr">
            <a:solidFill>
              <a:srgbClr val="0000CC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矩形 6"/>
          <p:cNvSpPr/>
          <p:nvPr/>
        </p:nvSpPr>
        <p:spPr bwMode="auto">
          <a:xfrm>
            <a:off x="2629459" y="3566435"/>
            <a:ext cx="1554586" cy="1207695"/>
          </a:xfrm>
          <a:prstGeom prst="rect">
            <a:avLst/>
          </a:prstGeom>
          <a:noFill/>
          <a:ln w="57150" cmpd="dbl" algn="ctr">
            <a:solidFill>
              <a:srgbClr val="0000FF"/>
            </a:solidFill>
            <a:round/>
            <a:headEnd/>
            <a:tailEnd type="triangle" w="med" len="med"/>
          </a:ln>
          <a:extLst/>
        </p:spPr>
        <p:txBody>
          <a:bodyPr lIns="0" tIns="0" rIns="0" bIns="0" anchor="ctr"/>
          <a:lstStyle/>
          <a:p>
            <a:pPr algn="ctr" eaLnBrk="1" hangingPunct="1"/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資訊部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pPr algn="ctr" eaLnBrk="1" hangingPunct="1"/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交辦單立案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cxnSp>
        <p:nvCxnSpPr>
          <p:cNvPr id="8" name="肘形接點 7"/>
          <p:cNvCxnSpPr>
            <a:stCxn id="7" idx="3"/>
            <a:endCxn id="9" idx="1"/>
          </p:cNvCxnSpPr>
          <p:nvPr/>
        </p:nvCxnSpPr>
        <p:spPr bwMode="auto">
          <a:xfrm flipV="1">
            <a:off x="4184045" y="4170280"/>
            <a:ext cx="814627" cy="3"/>
          </a:xfrm>
          <a:prstGeom prst="bentConnector3">
            <a:avLst>
              <a:gd name="adj1" fmla="val 50000"/>
            </a:avLst>
          </a:prstGeom>
          <a:solidFill>
            <a:srgbClr val="CCFFCC"/>
          </a:solidFill>
          <a:ln w="76200" cap="flat" cmpd="sng" algn="ctr">
            <a:solidFill>
              <a:srgbClr val="0000CC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矩形 8"/>
          <p:cNvSpPr/>
          <p:nvPr/>
        </p:nvSpPr>
        <p:spPr bwMode="auto">
          <a:xfrm>
            <a:off x="4998672" y="3566432"/>
            <a:ext cx="1554530" cy="1207695"/>
          </a:xfrm>
          <a:prstGeom prst="rect">
            <a:avLst/>
          </a:prstGeom>
          <a:noFill/>
          <a:ln w="57150" cmpd="dbl" algn="ctr">
            <a:solidFill>
              <a:srgbClr val="0000FF"/>
            </a:solidFill>
            <a:round/>
            <a:headEnd/>
            <a:tailEnd type="triangle" w="med" len="med"/>
          </a:ln>
          <a:extLst/>
        </p:spPr>
        <p:txBody>
          <a:bodyPr lIns="0" tIns="0" rIns="0" bIns="0" anchor="ctr"/>
          <a:lstStyle/>
          <a:p>
            <a:pPr algn="ctr" eaLnBrk="1" hangingPunct="1"/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資訊部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pPr algn="ctr" eaLnBrk="1" hangingPunct="1"/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程式撰寫</a:t>
            </a:r>
            <a:endParaRPr lang="zh-TW" altLang="en-US" dirty="0" smtClean="0">
              <a:solidFill>
                <a:schemeClr val="accent4"/>
              </a:solidFill>
              <a:latin typeface="標楷體" pitchFamily="65" charset="-120"/>
              <a:ea typeface="標楷體" pitchFamily="65" charset="-120"/>
            </a:endParaRPr>
          </a:p>
        </p:txBody>
      </p:sp>
      <p:cxnSp>
        <p:nvCxnSpPr>
          <p:cNvPr id="10" name="肘形接點 9"/>
          <p:cNvCxnSpPr>
            <a:stCxn id="9" idx="3"/>
            <a:endCxn id="11" idx="1"/>
          </p:cNvCxnSpPr>
          <p:nvPr/>
        </p:nvCxnSpPr>
        <p:spPr bwMode="auto">
          <a:xfrm>
            <a:off x="6553202" y="4170280"/>
            <a:ext cx="814592" cy="2"/>
          </a:xfrm>
          <a:prstGeom prst="bentConnector3">
            <a:avLst>
              <a:gd name="adj1" fmla="val 50000"/>
            </a:avLst>
          </a:prstGeom>
          <a:solidFill>
            <a:srgbClr val="CCFFCC"/>
          </a:solidFill>
          <a:ln w="76200" cap="flat" cmpd="sng" algn="ctr">
            <a:solidFill>
              <a:srgbClr val="0000CC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矩形 10"/>
          <p:cNvSpPr/>
          <p:nvPr/>
        </p:nvSpPr>
        <p:spPr bwMode="auto">
          <a:xfrm>
            <a:off x="7367794" y="3566434"/>
            <a:ext cx="1554530" cy="1207695"/>
          </a:xfrm>
          <a:prstGeom prst="rect">
            <a:avLst/>
          </a:prstGeom>
          <a:noFill/>
          <a:ln w="57150" cmpd="dbl" algn="ctr">
            <a:solidFill>
              <a:srgbClr val="0000FF"/>
            </a:solidFill>
            <a:round/>
            <a:headEnd/>
            <a:tailEnd type="triangle" w="med" len="med"/>
          </a:ln>
          <a:extLst/>
        </p:spPr>
        <p:txBody>
          <a:bodyPr lIns="0" tIns="0" rIns="0" bIns="0" anchor="ctr"/>
          <a:lstStyle/>
          <a:p>
            <a:pPr algn="ctr" eaLnBrk="1" hangingPunct="1"/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資訊部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pPr algn="ctr" eaLnBrk="1" hangingPunct="1"/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程式測試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cxnSp>
        <p:nvCxnSpPr>
          <p:cNvPr id="12" name="肘形接點 61"/>
          <p:cNvCxnSpPr>
            <a:stCxn id="11" idx="2"/>
            <a:endCxn id="13" idx="0"/>
          </p:cNvCxnSpPr>
          <p:nvPr/>
        </p:nvCxnSpPr>
        <p:spPr bwMode="auto">
          <a:xfrm rot="5400000">
            <a:off x="4277281" y="1550893"/>
            <a:ext cx="644542" cy="7091014"/>
          </a:xfrm>
          <a:prstGeom prst="bentConnector3">
            <a:avLst>
              <a:gd name="adj1" fmla="val 50000"/>
            </a:avLst>
          </a:prstGeom>
          <a:solidFill>
            <a:srgbClr val="CCFFCC"/>
          </a:solidFill>
          <a:ln w="76200" cap="flat" cmpd="sng" algn="ctr">
            <a:solidFill>
              <a:srgbClr val="0000CC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矩形 12"/>
          <p:cNvSpPr/>
          <p:nvPr/>
        </p:nvSpPr>
        <p:spPr bwMode="auto">
          <a:xfrm>
            <a:off x="279292" y="5418671"/>
            <a:ext cx="1549506" cy="1207695"/>
          </a:xfrm>
          <a:prstGeom prst="rect">
            <a:avLst/>
          </a:prstGeom>
          <a:noFill/>
          <a:ln w="57150" cmpd="dbl" algn="ctr">
            <a:solidFill>
              <a:srgbClr val="0000FF"/>
            </a:solidFill>
            <a:round/>
            <a:headEnd/>
            <a:tailEnd type="triangle" w="med" len="med"/>
          </a:ln>
          <a:extLst/>
        </p:spPr>
        <p:txBody>
          <a:bodyPr lIns="0" tIns="0" rIns="0" bIns="0" anchor="ctr"/>
          <a:lstStyle/>
          <a:p>
            <a:pPr algn="ctr" eaLnBrk="1" hangingPunct="1"/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資訊部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pPr algn="ctr" eaLnBrk="1" hangingPunct="1"/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交辦單銷案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cxnSp>
        <p:nvCxnSpPr>
          <p:cNvPr id="14" name="肘形接點 13"/>
          <p:cNvCxnSpPr>
            <a:stCxn id="13" idx="3"/>
            <a:endCxn id="15" idx="1"/>
          </p:cNvCxnSpPr>
          <p:nvPr/>
        </p:nvCxnSpPr>
        <p:spPr bwMode="auto">
          <a:xfrm flipV="1">
            <a:off x="1828798" y="6022518"/>
            <a:ext cx="800656" cy="1"/>
          </a:xfrm>
          <a:prstGeom prst="bentConnector3">
            <a:avLst>
              <a:gd name="adj1" fmla="val 50000"/>
            </a:avLst>
          </a:prstGeom>
          <a:solidFill>
            <a:srgbClr val="CCFFCC"/>
          </a:solidFill>
          <a:ln w="76200" cap="flat" cmpd="sng" algn="ctr">
            <a:solidFill>
              <a:srgbClr val="0000CC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矩形 14"/>
          <p:cNvSpPr/>
          <p:nvPr/>
        </p:nvSpPr>
        <p:spPr bwMode="auto">
          <a:xfrm>
            <a:off x="2629454" y="5418670"/>
            <a:ext cx="1554586" cy="1207695"/>
          </a:xfrm>
          <a:prstGeom prst="rect">
            <a:avLst/>
          </a:prstGeom>
          <a:noFill/>
          <a:ln w="57150" cmpd="dbl" algn="ctr">
            <a:solidFill>
              <a:srgbClr val="0000FF"/>
            </a:solidFill>
            <a:round/>
            <a:headEnd/>
            <a:tailEnd type="triangle" w="med" len="med"/>
          </a:ln>
          <a:extLst/>
        </p:spPr>
        <p:txBody>
          <a:bodyPr lIns="0" tIns="0" rIns="0" bIns="0" anchor="ctr"/>
          <a:lstStyle/>
          <a:p>
            <a:pPr algn="ctr" eaLnBrk="1" hangingPunct="1"/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資訊部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pPr algn="ctr" eaLnBrk="1" hangingPunct="1"/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程式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派送</a:t>
            </a:r>
            <a:endParaRPr lang="zh-TW" altLang="en-US" u="sng" dirty="0">
              <a:solidFill>
                <a:srgbClr val="0000CC"/>
              </a:solidFill>
              <a:latin typeface="標楷體" pitchFamily="65" charset="-120"/>
              <a:ea typeface="標楷體" pitchFamily="65" charset="-120"/>
            </a:endParaRPr>
          </a:p>
        </p:txBody>
      </p:sp>
      <p:cxnSp>
        <p:nvCxnSpPr>
          <p:cNvPr id="16" name="肘形接點 15"/>
          <p:cNvCxnSpPr>
            <a:stCxn id="15" idx="3"/>
            <a:endCxn id="17" idx="1"/>
          </p:cNvCxnSpPr>
          <p:nvPr/>
        </p:nvCxnSpPr>
        <p:spPr bwMode="auto">
          <a:xfrm flipV="1">
            <a:off x="4184040" y="6022515"/>
            <a:ext cx="814627" cy="3"/>
          </a:xfrm>
          <a:prstGeom prst="bentConnector3">
            <a:avLst>
              <a:gd name="adj1" fmla="val 50000"/>
            </a:avLst>
          </a:prstGeom>
          <a:solidFill>
            <a:srgbClr val="CCFFCC"/>
          </a:solidFill>
          <a:ln w="76200" cap="flat" cmpd="sng" algn="ctr">
            <a:solidFill>
              <a:srgbClr val="0000CC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矩形 16"/>
          <p:cNvSpPr/>
          <p:nvPr/>
        </p:nvSpPr>
        <p:spPr bwMode="auto">
          <a:xfrm>
            <a:off x="4998667" y="5418667"/>
            <a:ext cx="1554530" cy="1207695"/>
          </a:xfrm>
          <a:prstGeom prst="rect">
            <a:avLst/>
          </a:prstGeom>
          <a:noFill/>
          <a:ln w="57150" cmpd="dbl" algn="ctr">
            <a:solidFill>
              <a:srgbClr val="0000FF"/>
            </a:solidFill>
            <a:round/>
            <a:headEnd/>
            <a:tailEnd type="triangle" w="med" len="med"/>
          </a:ln>
          <a:extLst/>
        </p:spPr>
        <p:txBody>
          <a:bodyPr lIns="0" tIns="0" rIns="0" bIns="0" anchor="ctr"/>
          <a:lstStyle/>
          <a:p>
            <a:pPr algn="ctr" eaLnBrk="1" hangingPunct="1"/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現場部門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pPr algn="ctr" eaLnBrk="1" hangingPunct="1"/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驗收</a:t>
            </a:r>
            <a:endParaRPr lang="zh-TW" altLang="en-US" u="sng" dirty="0">
              <a:solidFill>
                <a:srgbClr val="0000CC"/>
              </a:solidFill>
              <a:latin typeface="標楷體" pitchFamily="65" charset="-120"/>
              <a:ea typeface="標楷體" pitchFamily="65" charset="-120"/>
            </a:endParaRPr>
          </a:p>
        </p:txBody>
      </p:sp>
      <p:cxnSp>
        <p:nvCxnSpPr>
          <p:cNvPr id="18" name="肘形接點 17"/>
          <p:cNvCxnSpPr>
            <a:stCxn id="17" idx="3"/>
            <a:endCxn id="19" idx="1"/>
          </p:cNvCxnSpPr>
          <p:nvPr/>
        </p:nvCxnSpPr>
        <p:spPr bwMode="auto">
          <a:xfrm>
            <a:off x="6553197" y="6022515"/>
            <a:ext cx="814592" cy="2"/>
          </a:xfrm>
          <a:prstGeom prst="bentConnector3">
            <a:avLst>
              <a:gd name="adj1" fmla="val 50000"/>
            </a:avLst>
          </a:prstGeom>
          <a:solidFill>
            <a:srgbClr val="CCFFCC"/>
          </a:solidFill>
          <a:ln w="76200" cap="flat" cmpd="sng" algn="ctr">
            <a:solidFill>
              <a:srgbClr val="0000CC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矩形 18"/>
          <p:cNvSpPr/>
          <p:nvPr/>
        </p:nvSpPr>
        <p:spPr bwMode="auto">
          <a:xfrm>
            <a:off x="7367789" y="5418669"/>
            <a:ext cx="1554530" cy="1207695"/>
          </a:xfrm>
          <a:prstGeom prst="rect">
            <a:avLst/>
          </a:prstGeom>
          <a:noFill/>
          <a:ln w="57150" cmpd="dbl" algn="ctr">
            <a:solidFill>
              <a:srgbClr val="0000FF"/>
            </a:solidFill>
            <a:round/>
            <a:headEnd/>
            <a:tailEnd type="triangle" w="med" len="med"/>
          </a:ln>
          <a:extLst/>
        </p:spPr>
        <p:txBody>
          <a:bodyPr lIns="0" tIns="0" rIns="0" bIns="0" anchor="ctr"/>
          <a:lstStyle/>
          <a:p>
            <a:pPr algn="ctr" eaLnBrk="1" hangingPunct="1"/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機能組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pPr algn="ctr" eaLnBrk="1" hangingPunct="1"/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驗收</a:t>
            </a:r>
          </a:p>
        </p:txBody>
      </p:sp>
      <p:sp>
        <p:nvSpPr>
          <p:cNvPr id="21" name="矩形 20"/>
          <p:cNvSpPr/>
          <p:nvPr/>
        </p:nvSpPr>
        <p:spPr bwMode="auto">
          <a:xfrm>
            <a:off x="279297" y="1903427"/>
            <a:ext cx="1549506" cy="1207695"/>
          </a:xfrm>
          <a:prstGeom prst="rect">
            <a:avLst/>
          </a:prstGeom>
          <a:noFill/>
          <a:ln w="57150" cmpd="dbl" algn="ctr">
            <a:solidFill>
              <a:srgbClr val="0000FF"/>
            </a:solidFill>
            <a:round/>
            <a:headEnd/>
            <a:tailEnd type="triangle" w="med" len="med"/>
          </a:ln>
          <a:extLst/>
        </p:spPr>
        <p:txBody>
          <a:bodyPr lIns="0" tIns="0" rIns="0" bIns="0" anchor="ctr"/>
          <a:lstStyle/>
          <a:p>
            <a:pPr algn="ctr" eaLnBrk="1" hangingPunct="1"/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機能組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pPr algn="ctr" eaLnBrk="1" hangingPunct="1"/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便簽</a:t>
            </a:r>
            <a:endParaRPr lang="zh-TW" altLang="en-US" u="sng" dirty="0">
              <a:solidFill>
                <a:srgbClr val="0000CC"/>
              </a:solidFill>
              <a:latin typeface="標楷體" pitchFamily="65" charset="-120"/>
              <a:ea typeface="標楷體" pitchFamily="65" charset="-120"/>
            </a:endParaRPr>
          </a:p>
        </p:txBody>
      </p:sp>
      <p:cxnSp>
        <p:nvCxnSpPr>
          <p:cNvPr id="22" name="肘形接點 21"/>
          <p:cNvCxnSpPr>
            <a:stCxn id="21" idx="3"/>
            <a:endCxn id="7" idx="0"/>
          </p:cNvCxnSpPr>
          <p:nvPr/>
        </p:nvCxnSpPr>
        <p:spPr bwMode="auto">
          <a:xfrm>
            <a:off x="1828803" y="2507275"/>
            <a:ext cx="1577949" cy="1059160"/>
          </a:xfrm>
          <a:prstGeom prst="bentConnector2">
            <a:avLst/>
          </a:prstGeom>
          <a:solidFill>
            <a:srgbClr val="CCFFCC"/>
          </a:solidFill>
          <a:ln w="76200" cap="flat" cmpd="sng" algn="ctr">
            <a:solidFill>
              <a:srgbClr val="0000CC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圓角矩形圖說文字 23"/>
          <p:cNvSpPr/>
          <p:nvPr/>
        </p:nvSpPr>
        <p:spPr bwMode="auto">
          <a:xfrm>
            <a:off x="1745346" y="4951828"/>
            <a:ext cx="2587503" cy="692402"/>
          </a:xfrm>
          <a:prstGeom prst="wedgeRoundRectCallout">
            <a:avLst>
              <a:gd name="adj1" fmla="val -30677"/>
              <a:gd name="adj2" fmla="val 94320"/>
              <a:gd name="adj3" fmla="val 16667"/>
            </a:avLst>
          </a:prstGeom>
          <a:solidFill>
            <a:srgbClr val="FFFF99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2200" b="1" i="0" u="none" strike="noStrike" cap="none" normalizeH="0" baseline="0" dirty="0" smtClean="0">
                <a:ln>
                  <a:noFill/>
                </a:ln>
                <a:effectLst/>
                <a:latin typeface="標楷體" pitchFamily="65" charset="-120"/>
                <a:ea typeface="標楷體" pitchFamily="65" charset="-120"/>
              </a:rPr>
              <a:t>問題</a:t>
            </a:r>
            <a:r>
              <a:rPr kumimoji="1" lang="en-US" altLang="zh-TW" sz="2200" b="1" i="0" u="none" strike="noStrike" cap="none" normalizeH="0" baseline="0" dirty="0" smtClean="0">
                <a:ln>
                  <a:noFill/>
                </a:ln>
                <a:effectLst/>
                <a:latin typeface="標楷體" pitchFamily="65" charset="-120"/>
                <a:ea typeface="標楷體" pitchFamily="65" charset="-120"/>
              </a:rPr>
              <a:t>3</a:t>
            </a:r>
            <a:r>
              <a:rPr kumimoji="1" lang="zh-TW" altLang="en-US" sz="2200" b="1" i="0" u="none" strike="noStrike" cap="none" normalizeH="0" baseline="0" dirty="0" smtClean="0">
                <a:ln>
                  <a:noFill/>
                </a:ln>
                <a:effectLst/>
                <a:latin typeface="標楷體" pitchFamily="65" charset="-120"/>
                <a:ea typeface="標楷體" pitchFamily="65" charset="-120"/>
              </a:rPr>
              <a:t>：</a:t>
            </a:r>
            <a:r>
              <a:rPr kumimoji="1" lang="zh-TW" altLang="en-US" sz="2200" b="1" i="0" u="sng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標楷體" pitchFamily="65" charset="-120"/>
                <a:ea typeface="標楷體" pitchFamily="65" charset="-120"/>
              </a:rPr>
              <a:t>漏開驗收單</a:t>
            </a:r>
            <a:endParaRPr kumimoji="1" lang="en-US" altLang="zh-TW" sz="2200" b="1" i="0" u="sng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標楷體" pitchFamily="65" charset="-120"/>
              <a:ea typeface="標楷體" pitchFamily="65" charset="-12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2200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及程式派送單</a:t>
            </a:r>
            <a:endParaRPr kumimoji="1" lang="zh-TW" altLang="en-US" sz="2200" b="1" i="0" u="sng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5" name="圓角矩形圖說文字 24"/>
          <p:cNvSpPr/>
          <p:nvPr/>
        </p:nvSpPr>
        <p:spPr bwMode="auto">
          <a:xfrm>
            <a:off x="6905845" y="2557976"/>
            <a:ext cx="2013072" cy="692402"/>
          </a:xfrm>
          <a:prstGeom prst="wedgeRoundRectCallout">
            <a:avLst>
              <a:gd name="adj1" fmla="val -9953"/>
              <a:gd name="adj2" fmla="val 86193"/>
              <a:gd name="adj3" fmla="val 16667"/>
            </a:avLst>
          </a:prstGeom>
          <a:solidFill>
            <a:srgbClr val="FFFF99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2200" b="1" i="0" u="none" strike="noStrike" cap="none" normalizeH="0" baseline="0" dirty="0" smtClean="0">
                <a:ln>
                  <a:noFill/>
                </a:ln>
                <a:effectLst/>
                <a:latin typeface="標楷體" pitchFamily="65" charset="-120"/>
                <a:ea typeface="標楷體" pitchFamily="65" charset="-120"/>
              </a:rPr>
              <a:t>問題</a:t>
            </a:r>
            <a:r>
              <a:rPr kumimoji="1" lang="en-US" altLang="zh-TW" sz="2200" b="1" i="0" u="none" strike="noStrike" cap="none" normalizeH="0" baseline="0" dirty="0" smtClean="0">
                <a:ln>
                  <a:noFill/>
                </a:ln>
                <a:effectLst/>
                <a:latin typeface="標楷體" pitchFamily="65" charset="-120"/>
                <a:ea typeface="標楷體" pitchFamily="65" charset="-120"/>
              </a:rPr>
              <a:t>2</a:t>
            </a:r>
            <a:r>
              <a:rPr kumimoji="1" lang="zh-TW" altLang="en-US" sz="2200" b="1" i="0" u="none" strike="noStrike" cap="none" normalizeH="0" baseline="0" dirty="0" smtClean="0">
                <a:ln>
                  <a:noFill/>
                </a:ln>
                <a:effectLst/>
                <a:latin typeface="標楷體" pitchFamily="65" charset="-120"/>
                <a:ea typeface="標楷體" pitchFamily="65" charset="-120"/>
              </a:rPr>
              <a:t>：</a:t>
            </a:r>
            <a:r>
              <a:rPr kumimoji="1" lang="zh-TW" altLang="en-US" sz="2200" b="1" i="0" u="sng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標楷體" pitchFamily="65" charset="-120"/>
                <a:ea typeface="標楷體" pitchFamily="65" charset="-120"/>
              </a:rPr>
              <a:t>未確實檢查程式內容</a:t>
            </a:r>
          </a:p>
        </p:txBody>
      </p:sp>
      <p:sp>
        <p:nvSpPr>
          <p:cNvPr id="26" name="圓角矩形圖說文字 25"/>
          <p:cNvSpPr/>
          <p:nvPr/>
        </p:nvSpPr>
        <p:spPr bwMode="auto">
          <a:xfrm>
            <a:off x="4511993" y="2569699"/>
            <a:ext cx="2324905" cy="692402"/>
          </a:xfrm>
          <a:prstGeom prst="wedgeRoundRectCallout">
            <a:avLst>
              <a:gd name="adj1" fmla="val -9953"/>
              <a:gd name="adj2" fmla="val 86193"/>
              <a:gd name="adj3" fmla="val 16667"/>
            </a:avLst>
          </a:prstGeom>
          <a:solidFill>
            <a:srgbClr val="FFFF99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2200" b="1" i="0" u="none" strike="noStrike" cap="none" normalizeH="0" baseline="0" dirty="0" smtClean="0">
                <a:ln>
                  <a:noFill/>
                </a:ln>
                <a:effectLst/>
                <a:latin typeface="標楷體" pitchFamily="65" charset="-120"/>
                <a:ea typeface="標楷體" pitchFamily="65" charset="-120"/>
              </a:rPr>
              <a:t>問題</a:t>
            </a:r>
            <a:r>
              <a:rPr kumimoji="1" lang="en-US" altLang="zh-TW" sz="2200" b="1" i="0" u="none" strike="noStrike" cap="none" normalizeH="0" baseline="0" dirty="0" smtClean="0">
                <a:ln>
                  <a:noFill/>
                </a:ln>
                <a:effectLst/>
                <a:latin typeface="標楷體" pitchFamily="65" charset="-120"/>
                <a:ea typeface="標楷體" pitchFamily="65" charset="-120"/>
              </a:rPr>
              <a:t>1</a:t>
            </a:r>
            <a:r>
              <a:rPr kumimoji="1" lang="zh-TW" altLang="en-US" sz="2200" b="1" i="0" u="none" strike="noStrike" cap="none" normalizeH="0" baseline="0" dirty="0" smtClean="0">
                <a:ln>
                  <a:noFill/>
                </a:ln>
                <a:effectLst/>
                <a:latin typeface="標楷體" pitchFamily="65" charset="-120"/>
                <a:ea typeface="標楷體" pitchFamily="65" charset="-120"/>
              </a:rPr>
              <a:t>：</a:t>
            </a:r>
            <a:r>
              <a:rPr kumimoji="1" lang="zh-TW" altLang="en-US" sz="2200" b="1" i="0" u="sng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標楷體" pitchFamily="65" charset="-120"/>
                <a:ea typeface="標楷體" pitchFamily="65" charset="-120"/>
              </a:rPr>
              <a:t>關聯</a:t>
            </a:r>
            <a:endParaRPr kumimoji="1" lang="en-US" altLang="zh-TW" sz="2200" b="1" i="0" u="sng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標楷體" pitchFamily="65" charset="-120"/>
              <a:ea typeface="標楷體" pitchFamily="65" charset="-12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2200" b="1" i="0" u="sng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標楷體" pitchFamily="65" charset="-120"/>
                <a:ea typeface="標楷體" pitchFamily="65" charset="-120"/>
              </a:rPr>
              <a:t>程式未配合修改</a:t>
            </a:r>
          </a:p>
        </p:txBody>
      </p:sp>
      <p:sp>
        <p:nvSpPr>
          <p:cNvPr id="27" name="圓角矩形圖說文字 26"/>
          <p:cNvSpPr/>
          <p:nvPr/>
        </p:nvSpPr>
        <p:spPr bwMode="auto">
          <a:xfrm>
            <a:off x="6020972" y="1486484"/>
            <a:ext cx="2616592" cy="692402"/>
          </a:xfrm>
          <a:prstGeom prst="wedgeRoundRectCallout">
            <a:avLst>
              <a:gd name="adj1" fmla="val -9255"/>
              <a:gd name="adj2" fmla="val 39463"/>
              <a:gd name="adj3" fmla="val 16667"/>
            </a:avLst>
          </a:prstGeom>
          <a:solidFill>
            <a:srgbClr val="FFFF99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2200" b="1" i="0" u="none" strike="noStrike" cap="none" normalizeH="0" baseline="0" dirty="0" smtClean="0">
                <a:ln>
                  <a:noFill/>
                </a:ln>
                <a:effectLst/>
                <a:latin typeface="標楷體" pitchFamily="65" charset="-120"/>
                <a:ea typeface="標楷體" pitchFamily="65" charset="-120"/>
              </a:rPr>
              <a:t>問題</a:t>
            </a:r>
            <a:r>
              <a:rPr kumimoji="1" lang="en-US" altLang="zh-TW" sz="2200" b="1" i="0" u="none" strike="noStrike" cap="none" normalizeH="0" baseline="0" dirty="0" smtClean="0">
                <a:ln>
                  <a:noFill/>
                </a:ln>
                <a:effectLst/>
                <a:latin typeface="標楷體" pitchFamily="65" charset="-120"/>
                <a:ea typeface="標楷體" pitchFamily="65" charset="-120"/>
              </a:rPr>
              <a:t>4</a:t>
            </a:r>
            <a:r>
              <a:rPr kumimoji="1" lang="zh-TW" altLang="en-US" sz="2200" b="1" i="0" u="none" strike="noStrike" cap="none" normalizeH="0" baseline="0" dirty="0" smtClean="0">
                <a:ln>
                  <a:noFill/>
                </a:ln>
                <a:effectLst/>
                <a:latin typeface="標楷體" pitchFamily="65" charset="-120"/>
                <a:ea typeface="標楷體" pitchFamily="65" charset="-120"/>
              </a:rPr>
              <a:t>：</a:t>
            </a:r>
            <a:r>
              <a:rPr kumimoji="1" lang="zh-TW" altLang="en-US" sz="2200" b="1" i="0" u="sng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標楷體" pitchFamily="65" charset="-120"/>
                <a:ea typeface="標楷體" pitchFamily="65" charset="-120"/>
              </a:rPr>
              <a:t>未確實追蹤程式執行情形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49" name="Group 37"/>
          <p:cNvGraphicFramePr>
            <a:graphicFrameLocks noGrp="1"/>
          </p:cNvGraphicFramePr>
          <p:nvPr/>
        </p:nvGraphicFramePr>
        <p:xfrm>
          <a:off x="128588" y="1322364"/>
          <a:ext cx="8901112" cy="5261316"/>
        </p:xfrm>
        <a:graphic>
          <a:graphicData uri="http://schemas.openxmlformats.org/drawingml/2006/table">
            <a:tbl>
              <a:tblPr/>
              <a:tblGrid>
                <a:gridCol w="642937"/>
                <a:gridCol w="2187575"/>
                <a:gridCol w="4484688"/>
                <a:gridCol w="1585912"/>
              </a:tblGrid>
              <a:tr h="4615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項次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問題點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改善作業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已上線日期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</a:tr>
              <a:tr h="110764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一</a:t>
                      </a: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關聯程式未配合修改。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增設程式檔案關聯管理機制</a:t>
                      </a:r>
                      <a:r>
                        <a:rPr kumimoji="0" lang="zh-TW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，改透過</a:t>
                      </a:r>
                      <a:r>
                        <a:rPr kumimoji="0" lang="en-US" altLang="zh-TW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OA</a:t>
                      </a:r>
                      <a:r>
                        <a:rPr kumimoji="0" lang="zh-TW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通知相關人員修改程式。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2018/3/1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海外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4/1)</a:t>
                      </a:r>
                      <a:endParaRPr kumimoji="0" lang="zh-TW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66146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二</a:t>
                      </a: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未檢查程式內容正確性。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sng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強化程式測試驗收作業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補強程式檢查作業規定，並且在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OA</a:t>
                      </a: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驗收單管制程式員須檢附測試文件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。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2018/1/1</a:t>
                      </a:r>
                      <a:endParaRPr kumimoji="0" lang="zh-TW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10764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三</a:t>
                      </a: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漏開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OA</a:t>
                      </a: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驗收單及派送單。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交辦單結案後，由</a:t>
                      </a:r>
                      <a:r>
                        <a:rPr kumimoji="0" lang="zh-TW" altLang="en-US" sz="2400" b="1" i="0" u="sng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電腦自動轉立</a:t>
                      </a:r>
                      <a:r>
                        <a:rPr kumimoji="0" lang="en-US" altLang="zh-TW" sz="2400" b="1" i="0" u="sng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OA</a:t>
                      </a:r>
                      <a:r>
                        <a:rPr kumimoji="0" lang="zh-TW" altLang="en-US" sz="2400" b="1" i="0" u="sng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「驗收單」及「程式派送單」</a:t>
                      </a: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。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2018/2/1</a:t>
                      </a:r>
                      <a:endParaRPr kumimoji="0" lang="zh-TW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9230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四</a:t>
                      </a: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未追蹤程式執行狀況。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增設電腦反應</a:t>
                      </a:r>
                      <a:r>
                        <a:rPr kumimoji="0" lang="en-US" altLang="zh-TW" sz="24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OA</a:t>
                      </a:r>
                      <a:r>
                        <a:rPr kumimoji="0" lang="zh-TW" altLang="en-US" sz="24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未出表管理機制</a:t>
                      </a:r>
                      <a:r>
                        <a:rPr kumimoji="0" lang="zh-TW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。</a:t>
                      </a:r>
                      <a:endParaRPr kumimoji="0" lang="en-US" altLang="zh-TW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2018/2/1</a:t>
                      </a: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3346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kumimoji="0" lang="zh-TW" altLang="en-US" sz="3600">
                <a:latin typeface="標楷體" pitchFamily="65" charset="-120"/>
                <a:ea typeface="標楷體" pitchFamily="65" charset="-120"/>
              </a:rPr>
              <a:t>資訊部改善實例報告</a:t>
            </a:r>
            <a:endParaRPr lang="zh-TW" altLang="en-US" sz="3600"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endParaRPr lang="zh-TW" altLang="en-US" sz="360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19811" name="五邊形 12"/>
          <p:cNvSpPr>
            <a:spLocks noChangeArrowheads="1"/>
          </p:cNvSpPr>
          <p:nvPr/>
        </p:nvSpPr>
        <p:spPr bwMode="auto">
          <a:xfrm>
            <a:off x="123825" y="1295400"/>
            <a:ext cx="1898650" cy="466725"/>
          </a:xfrm>
          <a:prstGeom prst="homePlate">
            <a:avLst>
              <a:gd name="adj" fmla="val 46048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>
                <a:latin typeface="標楷體" pitchFamily="65" charset="-120"/>
                <a:ea typeface="標楷體" pitchFamily="65" charset="-120"/>
              </a:rPr>
              <a:t>改善前作法</a:t>
            </a:r>
            <a:endParaRPr lang="en-US" altLang="zh-TW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19812" name="圓角矩形 14"/>
          <p:cNvSpPr>
            <a:spLocks noChangeArrowheads="1"/>
          </p:cNvSpPr>
          <p:nvPr/>
        </p:nvSpPr>
        <p:spPr bwMode="auto">
          <a:xfrm>
            <a:off x="309563" y="1790700"/>
            <a:ext cx="8680450" cy="1317625"/>
          </a:xfrm>
          <a:prstGeom prst="roundRect">
            <a:avLst>
              <a:gd name="adj" fmla="val 7097"/>
            </a:avLst>
          </a:prstGeom>
          <a:noFill/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意反單立案後，多人經辦時會依各作業開立交辦單，由主要經辦程式員修改電腦檔案說明，並以電話或信件通知配合經辦程式員，如</a:t>
            </a:r>
            <a:r>
              <a:rPr lang="zh-TW" altLang="en-US" u="sng" dirty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未即時配合同步修改程式，將會造成程式異常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。</a:t>
            </a:r>
          </a:p>
        </p:txBody>
      </p:sp>
      <p:sp>
        <p:nvSpPr>
          <p:cNvPr id="119813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kumimoji="0" lang="zh-TW" altLang="en-US" sz="3600">
                <a:latin typeface="標楷體" pitchFamily="65" charset="-120"/>
                <a:ea typeface="標楷體" pitchFamily="65" charset="-120"/>
              </a:rPr>
              <a:t>資訊部改善實例報告</a:t>
            </a:r>
            <a:endParaRPr lang="zh-TW" altLang="en-US" sz="3600">
              <a:solidFill>
                <a:schemeClr val="tx2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19814" name="Rectangle 23"/>
          <p:cNvSpPr>
            <a:spLocks noChangeArrowheads="1"/>
          </p:cNvSpPr>
          <p:nvPr/>
        </p:nvSpPr>
        <p:spPr bwMode="auto">
          <a:xfrm>
            <a:off x="-1588" y="725488"/>
            <a:ext cx="9144001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一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.</a:t>
            </a:r>
            <a:r>
              <a:rPr kumimoji="0" lang="zh-TW" altLang="en-US" sz="320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程式檔案關聯管理機制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】</a:t>
            </a:r>
            <a:endParaRPr lang="zh-TW" altLang="en-US" sz="32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19815" name="五邊形 6"/>
          <p:cNvSpPr>
            <a:spLocks noChangeArrowheads="1"/>
          </p:cNvSpPr>
          <p:nvPr/>
        </p:nvSpPr>
        <p:spPr bwMode="auto">
          <a:xfrm>
            <a:off x="114300" y="3019425"/>
            <a:ext cx="1898650" cy="466725"/>
          </a:xfrm>
          <a:prstGeom prst="homePlate">
            <a:avLst>
              <a:gd name="adj" fmla="val 46048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>
                <a:latin typeface="標楷體" pitchFamily="65" charset="-120"/>
                <a:ea typeface="標楷體" pitchFamily="65" charset="-120"/>
              </a:rPr>
              <a:t>作業流程</a:t>
            </a:r>
          </a:p>
        </p:txBody>
      </p:sp>
      <p:sp>
        <p:nvSpPr>
          <p:cNvPr id="119816" name="矩形 18"/>
          <p:cNvSpPr>
            <a:spLocks noChangeArrowheads="1"/>
          </p:cNvSpPr>
          <p:nvPr/>
        </p:nvSpPr>
        <p:spPr bwMode="auto">
          <a:xfrm>
            <a:off x="5889625" y="3201988"/>
            <a:ext cx="1328738" cy="885825"/>
          </a:xfrm>
          <a:prstGeom prst="rect">
            <a:avLst/>
          </a:prstGeom>
          <a:noFill/>
          <a:ln w="57150" cmpd="dbl" algn="ctr">
            <a:solidFill>
              <a:srgbClr val="0000CC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/>
            <a:r>
              <a:rPr lang="zh-TW" altLang="en-US">
                <a:latin typeface="標楷體" pitchFamily="65" charset="-120"/>
                <a:ea typeface="標楷體" pitchFamily="65" charset="-120"/>
              </a:rPr>
              <a:t>程式</a:t>
            </a:r>
          </a:p>
          <a:p>
            <a:pPr algn="ctr"/>
            <a:r>
              <a:rPr lang="zh-TW" altLang="en-US">
                <a:latin typeface="標楷體" pitchFamily="65" charset="-120"/>
                <a:ea typeface="標楷體" pitchFamily="65" charset="-120"/>
              </a:rPr>
              <a:t>規劃設計</a:t>
            </a:r>
          </a:p>
        </p:txBody>
      </p:sp>
      <p:sp>
        <p:nvSpPr>
          <p:cNvPr id="149568" name="Rectangle 64"/>
          <p:cNvSpPr>
            <a:spLocks noChangeArrowheads="1"/>
          </p:cNvSpPr>
          <p:nvPr/>
        </p:nvSpPr>
        <p:spPr bwMode="auto">
          <a:xfrm>
            <a:off x="4297363" y="4262438"/>
            <a:ext cx="412750" cy="91757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75000"/>
              </a:lnSpc>
            </a:pPr>
            <a:r>
              <a:rPr lang="zh-TW" altLang="en-US" sz="1800">
                <a:ea typeface="標楷體" pitchFamily="65" charset="-120"/>
              </a:rPr>
              <a:t>共</a:t>
            </a:r>
          </a:p>
          <a:p>
            <a:pPr>
              <a:lnSpc>
                <a:spcPct val="75000"/>
              </a:lnSpc>
            </a:pPr>
            <a:r>
              <a:rPr lang="zh-TW" altLang="en-US" sz="1800">
                <a:ea typeface="標楷體" pitchFamily="65" charset="-120"/>
              </a:rPr>
              <a:t>同</a:t>
            </a:r>
          </a:p>
          <a:p>
            <a:pPr>
              <a:lnSpc>
                <a:spcPct val="75000"/>
              </a:lnSpc>
            </a:pPr>
            <a:r>
              <a:rPr lang="zh-TW" altLang="en-US" sz="1800">
                <a:ea typeface="標楷體" pitchFamily="65" charset="-120"/>
              </a:rPr>
              <a:t>規</a:t>
            </a:r>
          </a:p>
          <a:p>
            <a:pPr>
              <a:lnSpc>
                <a:spcPct val="75000"/>
              </a:lnSpc>
            </a:pPr>
            <a:r>
              <a:rPr lang="zh-TW" altLang="en-US" sz="1800">
                <a:ea typeface="標楷體" pitchFamily="65" charset="-120"/>
              </a:rPr>
              <a:t>劃</a:t>
            </a:r>
          </a:p>
        </p:txBody>
      </p:sp>
      <p:cxnSp>
        <p:nvCxnSpPr>
          <p:cNvPr id="119818" name="肘形接點 5"/>
          <p:cNvCxnSpPr>
            <a:cxnSpLocks noChangeShapeType="1"/>
            <a:stCxn id="119828" idx="0"/>
            <a:endCxn id="119819" idx="2"/>
          </p:cNvCxnSpPr>
          <p:nvPr/>
        </p:nvCxnSpPr>
        <p:spPr bwMode="auto">
          <a:xfrm flipH="1" flipV="1">
            <a:off x="4824413" y="4111625"/>
            <a:ext cx="12700" cy="1258888"/>
          </a:xfrm>
          <a:prstGeom prst="straightConnector1">
            <a:avLst/>
          </a:prstGeom>
          <a:noFill/>
          <a:ln w="76200" algn="ctr">
            <a:solidFill>
              <a:srgbClr val="0000CC"/>
            </a:solidFill>
            <a:round/>
            <a:headEnd/>
            <a:tailEnd/>
          </a:ln>
          <a:effectLst/>
        </p:spPr>
      </p:cxnSp>
      <p:sp>
        <p:nvSpPr>
          <p:cNvPr id="119819" name="矩形 18"/>
          <p:cNvSpPr>
            <a:spLocks noChangeArrowheads="1"/>
          </p:cNvSpPr>
          <p:nvPr/>
        </p:nvSpPr>
        <p:spPr bwMode="auto">
          <a:xfrm>
            <a:off x="4102100" y="3197225"/>
            <a:ext cx="1443038" cy="885825"/>
          </a:xfrm>
          <a:prstGeom prst="rect">
            <a:avLst/>
          </a:prstGeom>
          <a:noFill/>
          <a:ln w="57150" cmpd="dbl" algn="ctr">
            <a:solidFill>
              <a:srgbClr val="0000CC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/>
            <a:r>
              <a:rPr lang="zh-TW" altLang="en-US">
                <a:ea typeface="標楷體" pitchFamily="65" charset="-120"/>
              </a:rPr>
              <a:t>主要經辦程式員</a:t>
            </a:r>
          </a:p>
        </p:txBody>
      </p:sp>
      <p:sp>
        <p:nvSpPr>
          <p:cNvPr id="119820" name="矩形 18"/>
          <p:cNvSpPr>
            <a:spLocks noChangeArrowheads="1"/>
          </p:cNvSpPr>
          <p:nvPr/>
        </p:nvSpPr>
        <p:spPr bwMode="auto">
          <a:xfrm>
            <a:off x="7564438" y="3211513"/>
            <a:ext cx="1443037" cy="885825"/>
          </a:xfrm>
          <a:prstGeom prst="rect">
            <a:avLst/>
          </a:prstGeom>
          <a:noFill/>
          <a:ln w="57150" cmpd="dbl" algn="ctr">
            <a:solidFill>
              <a:srgbClr val="0000CC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/>
            <a:r>
              <a:rPr lang="zh-TW" altLang="en-US">
                <a:ea typeface="標楷體" pitchFamily="65" charset="-120"/>
              </a:rPr>
              <a:t>修改電腦檔案</a:t>
            </a:r>
            <a:r>
              <a:rPr lang="zh-TW" altLang="en-US">
                <a:latin typeface="標楷體" pitchFamily="65" charset="-120"/>
                <a:ea typeface="標楷體" pitchFamily="65" charset="-120"/>
              </a:rPr>
              <a:t>說明</a:t>
            </a:r>
            <a:endParaRPr lang="en-US" altLang="zh-TW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19821" name="矩形 6"/>
          <p:cNvSpPr>
            <a:spLocks noChangeArrowheads="1"/>
          </p:cNvSpPr>
          <p:nvPr/>
        </p:nvSpPr>
        <p:spPr bwMode="auto">
          <a:xfrm>
            <a:off x="1866900" y="4233863"/>
            <a:ext cx="1441450" cy="1206500"/>
          </a:xfrm>
          <a:prstGeom prst="rect">
            <a:avLst/>
          </a:prstGeom>
          <a:noFill/>
          <a:ln w="5715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 eaLnBrk="1" hangingPunct="1"/>
            <a:r>
              <a:rPr lang="zh-TW" altLang="en-US">
                <a:latin typeface="標楷體" pitchFamily="65" charset="-120"/>
                <a:ea typeface="標楷體" pitchFamily="65" charset="-120"/>
              </a:rPr>
              <a:t>資訊部</a:t>
            </a:r>
            <a:endParaRPr lang="en-US" altLang="zh-TW">
              <a:latin typeface="標楷體" pitchFamily="65" charset="-120"/>
              <a:ea typeface="標楷體" pitchFamily="65" charset="-120"/>
            </a:endParaRPr>
          </a:p>
          <a:p>
            <a:pPr algn="ctr" eaLnBrk="1" hangingPunct="1"/>
            <a:r>
              <a:rPr lang="zh-TW" altLang="en-US" u="sng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交辦單</a:t>
            </a:r>
          </a:p>
          <a:p>
            <a:pPr algn="ctr" eaLnBrk="1" hangingPunct="1"/>
            <a:r>
              <a:rPr lang="zh-TW" altLang="en-US" u="sng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立案</a:t>
            </a:r>
            <a:endParaRPr lang="zh-TW" altLang="en-US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19822" name="矩形 3"/>
          <p:cNvSpPr>
            <a:spLocks noChangeArrowheads="1"/>
          </p:cNvSpPr>
          <p:nvPr/>
        </p:nvSpPr>
        <p:spPr bwMode="auto">
          <a:xfrm>
            <a:off x="107072" y="4233863"/>
            <a:ext cx="1339850" cy="1206500"/>
          </a:xfrm>
          <a:prstGeom prst="rect">
            <a:avLst/>
          </a:prstGeom>
          <a:noFill/>
          <a:ln w="5715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 eaLnBrk="1" hangingPunct="1"/>
            <a:r>
              <a:rPr lang="zh-TW" altLang="en-US">
                <a:latin typeface="標楷體" pitchFamily="65" charset="-120"/>
                <a:ea typeface="標楷體" pitchFamily="65" charset="-120"/>
              </a:rPr>
              <a:t>現場部門</a:t>
            </a:r>
            <a:endParaRPr lang="en-US" altLang="zh-TW">
              <a:latin typeface="標楷體" pitchFamily="65" charset="-120"/>
              <a:ea typeface="標楷體" pitchFamily="65" charset="-120"/>
            </a:endParaRPr>
          </a:p>
          <a:p>
            <a:pPr algn="ctr" eaLnBrk="1" hangingPunct="1"/>
            <a:r>
              <a:rPr lang="zh-TW" altLang="en-US" u="sng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意反單</a:t>
            </a:r>
          </a:p>
        </p:txBody>
      </p:sp>
      <p:cxnSp>
        <p:nvCxnSpPr>
          <p:cNvPr id="119823" name="肘形接點 5"/>
          <p:cNvCxnSpPr>
            <a:cxnSpLocks noChangeShapeType="1"/>
            <a:stCxn id="119822" idx="3"/>
            <a:endCxn id="119821" idx="1"/>
          </p:cNvCxnSpPr>
          <p:nvPr/>
        </p:nvCxnSpPr>
        <p:spPr bwMode="auto">
          <a:xfrm>
            <a:off x="1446922" y="4837113"/>
            <a:ext cx="419978" cy="12700"/>
          </a:xfrm>
          <a:prstGeom prst="bentConnector3">
            <a:avLst>
              <a:gd name="adj1" fmla="val 50000"/>
            </a:avLst>
          </a:prstGeom>
          <a:noFill/>
          <a:ln w="76200" algn="ctr">
            <a:solidFill>
              <a:srgbClr val="0000CC"/>
            </a:solidFill>
            <a:round/>
            <a:headEnd/>
            <a:tailEnd type="triangle" w="med" len="med"/>
          </a:ln>
          <a:effectLst/>
        </p:spPr>
      </p:cxnSp>
      <p:cxnSp>
        <p:nvCxnSpPr>
          <p:cNvPr id="119824" name="肘形接點 28"/>
          <p:cNvCxnSpPr>
            <a:cxnSpLocks noChangeShapeType="1"/>
            <a:endCxn id="119828" idx="1"/>
          </p:cNvCxnSpPr>
          <p:nvPr/>
        </p:nvCxnSpPr>
        <p:spPr bwMode="auto">
          <a:xfrm>
            <a:off x="3629025" y="5391150"/>
            <a:ext cx="457200" cy="450850"/>
          </a:xfrm>
          <a:prstGeom prst="bentConnector3">
            <a:avLst>
              <a:gd name="adj1" fmla="val -1042"/>
            </a:avLst>
          </a:prstGeom>
          <a:noFill/>
          <a:ln w="76200" algn="ctr">
            <a:solidFill>
              <a:srgbClr val="0000CC"/>
            </a:solidFill>
            <a:round/>
            <a:headEnd/>
            <a:tailEnd type="triangle" w="med" len="med"/>
          </a:ln>
          <a:effectLst/>
        </p:spPr>
      </p:cxnSp>
      <p:cxnSp>
        <p:nvCxnSpPr>
          <p:cNvPr id="119825" name="肘形接點 31"/>
          <p:cNvCxnSpPr>
            <a:cxnSpLocks noChangeShapeType="1"/>
          </p:cNvCxnSpPr>
          <p:nvPr/>
        </p:nvCxnSpPr>
        <p:spPr bwMode="auto">
          <a:xfrm>
            <a:off x="3635375" y="3544888"/>
            <a:ext cx="436563" cy="0"/>
          </a:xfrm>
          <a:prstGeom prst="bentConnector3">
            <a:avLst>
              <a:gd name="adj1" fmla="val 50000"/>
            </a:avLst>
          </a:prstGeom>
          <a:noFill/>
          <a:ln w="76200" algn="ctr">
            <a:solidFill>
              <a:srgbClr val="0000CC"/>
            </a:solidFill>
            <a:round/>
            <a:headEnd/>
            <a:tailEnd type="triangle" w="med" len="med"/>
          </a:ln>
          <a:effectLst/>
        </p:spPr>
      </p:cxnSp>
      <p:cxnSp>
        <p:nvCxnSpPr>
          <p:cNvPr id="119826" name="肘形接點 32"/>
          <p:cNvCxnSpPr>
            <a:cxnSpLocks noChangeShapeType="1"/>
          </p:cNvCxnSpPr>
          <p:nvPr/>
        </p:nvCxnSpPr>
        <p:spPr bwMode="auto">
          <a:xfrm>
            <a:off x="3333750" y="4808538"/>
            <a:ext cx="312738" cy="1587"/>
          </a:xfrm>
          <a:prstGeom prst="bentConnector3">
            <a:avLst>
              <a:gd name="adj1" fmla="val 49745"/>
            </a:avLst>
          </a:prstGeom>
          <a:noFill/>
          <a:ln w="76200" algn="ctr">
            <a:solidFill>
              <a:srgbClr val="0000CC"/>
            </a:solidFill>
            <a:round/>
            <a:headEnd/>
            <a:tailEnd/>
          </a:ln>
          <a:effectLst/>
        </p:spPr>
      </p:cxnSp>
      <p:cxnSp>
        <p:nvCxnSpPr>
          <p:cNvPr id="119827" name="肘形接點 33"/>
          <p:cNvCxnSpPr>
            <a:cxnSpLocks noChangeShapeType="1"/>
          </p:cNvCxnSpPr>
          <p:nvPr/>
        </p:nvCxnSpPr>
        <p:spPr bwMode="auto">
          <a:xfrm rot="16200000">
            <a:off x="2588419" y="4541044"/>
            <a:ext cx="2073275" cy="1587"/>
          </a:xfrm>
          <a:prstGeom prst="bentConnector3">
            <a:avLst>
              <a:gd name="adj1" fmla="val 50000"/>
            </a:avLst>
          </a:prstGeom>
          <a:noFill/>
          <a:ln w="76200" algn="ctr">
            <a:solidFill>
              <a:srgbClr val="0000CC"/>
            </a:solidFill>
            <a:round/>
            <a:headEnd/>
            <a:tailEnd/>
          </a:ln>
          <a:effectLst/>
        </p:spPr>
      </p:cxnSp>
      <p:sp>
        <p:nvSpPr>
          <p:cNvPr id="119828" name="矩形 18"/>
          <p:cNvSpPr>
            <a:spLocks noChangeArrowheads="1"/>
          </p:cNvSpPr>
          <p:nvPr/>
        </p:nvSpPr>
        <p:spPr bwMode="auto">
          <a:xfrm>
            <a:off x="4114800" y="5399088"/>
            <a:ext cx="1443038" cy="885825"/>
          </a:xfrm>
          <a:prstGeom prst="rect">
            <a:avLst/>
          </a:prstGeom>
          <a:noFill/>
          <a:ln w="57150" cmpd="dbl" algn="ctr">
            <a:solidFill>
              <a:srgbClr val="0000CC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/>
            <a:r>
              <a:rPr lang="zh-TW" altLang="en-US">
                <a:ea typeface="標楷體" pitchFamily="65" charset="-120"/>
              </a:rPr>
              <a:t>配合經辦程式員</a:t>
            </a:r>
          </a:p>
        </p:txBody>
      </p:sp>
      <p:sp>
        <p:nvSpPr>
          <p:cNvPr id="119829" name="矩形 18"/>
          <p:cNvSpPr>
            <a:spLocks noChangeArrowheads="1"/>
          </p:cNvSpPr>
          <p:nvPr/>
        </p:nvSpPr>
        <p:spPr bwMode="auto">
          <a:xfrm>
            <a:off x="7567613" y="4462463"/>
            <a:ext cx="1443037" cy="885825"/>
          </a:xfrm>
          <a:prstGeom prst="rect">
            <a:avLst/>
          </a:prstGeom>
          <a:noFill/>
          <a:ln w="57150" cmpd="dbl" algn="ctr">
            <a:solidFill>
              <a:srgbClr val="0000CC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/>
            <a:r>
              <a:rPr lang="zh-TW" altLang="en-US">
                <a:ea typeface="標楷體" pitchFamily="65" charset="-120"/>
              </a:rPr>
              <a:t>電話或信件通知</a:t>
            </a:r>
            <a:endParaRPr lang="en-US" altLang="zh-TW">
              <a:ea typeface="標楷體" pitchFamily="65" charset="-120"/>
            </a:endParaRPr>
          </a:p>
        </p:txBody>
      </p:sp>
      <p:sp>
        <p:nvSpPr>
          <p:cNvPr id="119830" name="矩形 18"/>
          <p:cNvSpPr>
            <a:spLocks noChangeArrowheads="1"/>
          </p:cNvSpPr>
          <p:nvPr/>
        </p:nvSpPr>
        <p:spPr bwMode="auto">
          <a:xfrm>
            <a:off x="5897563" y="5391150"/>
            <a:ext cx="1328737" cy="885825"/>
          </a:xfrm>
          <a:prstGeom prst="rect">
            <a:avLst/>
          </a:prstGeom>
          <a:noFill/>
          <a:ln w="57150" cmpd="dbl" algn="ctr">
            <a:solidFill>
              <a:srgbClr val="0000CC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/>
            <a:r>
              <a:rPr lang="zh-TW" altLang="en-US">
                <a:latin typeface="標楷體" pitchFamily="65" charset="-120"/>
                <a:ea typeface="標楷體" pitchFamily="65" charset="-120"/>
              </a:rPr>
              <a:t>程式</a:t>
            </a:r>
          </a:p>
          <a:p>
            <a:pPr algn="ctr"/>
            <a:r>
              <a:rPr lang="zh-TW" altLang="en-US">
                <a:latin typeface="標楷體" pitchFamily="65" charset="-120"/>
                <a:ea typeface="標楷體" pitchFamily="65" charset="-120"/>
              </a:rPr>
              <a:t>規劃設計</a:t>
            </a:r>
            <a:endParaRPr lang="en-US" altLang="zh-TW">
              <a:latin typeface="標楷體" pitchFamily="65" charset="-120"/>
              <a:ea typeface="標楷體" pitchFamily="65" charset="-120"/>
            </a:endParaRPr>
          </a:p>
        </p:txBody>
      </p:sp>
      <p:cxnSp>
        <p:nvCxnSpPr>
          <p:cNvPr id="119831" name="肘形接點 5"/>
          <p:cNvCxnSpPr>
            <a:cxnSpLocks noChangeShapeType="1"/>
            <a:stCxn id="119819" idx="3"/>
            <a:endCxn id="119816" idx="1"/>
          </p:cNvCxnSpPr>
          <p:nvPr/>
        </p:nvCxnSpPr>
        <p:spPr bwMode="auto">
          <a:xfrm>
            <a:off x="5573713" y="3640138"/>
            <a:ext cx="287337" cy="4762"/>
          </a:xfrm>
          <a:prstGeom prst="straightConnector1">
            <a:avLst/>
          </a:prstGeom>
          <a:noFill/>
          <a:ln w="76200" algn="ctr">
            <a:solidFill>
              <a:srgbClr val="0000CC"/>
            </a:solidFill>
            <a:round/>
            <a:headEnd/>
            <a:tailEnd type="triangle" w="med" len="med"/>
          </a:ln>
          <a:effectLst/>
        </p:spPr>
      </p:cxnSp>
      <p:cxnSp>
        <p:nvCxnSpPr>
          <p:cNvPr id="119832" name="肘形接點 5"/>
          <p:cNvCxnSpPr>
            <a:cxnSpLocks noChangeShapeType="1"/>
            <a:stCxn id="119816" idx="3"/>
          </p:cNvCxnSpPr>
          <p:nvPr/>
        </p:nvCxnSpPr>
        <p:spPr bwMode="auto">
          <a:xfrm>
            <a:off x="7246938" y="3644900"/>
            <a:ext cx="293687" cy="7938"/>
          </a:xfrm>
          <a:prstGeom prst="straightConnector1">
            <a:avLst/>
          </a:prstGeom>
          <a:noFill/>
          <a:ln w="76200" algn="ctr">
            <a:solidFill>
              <a:srgbClr val="0000CC"/>
            </a:solidFill>
            <a:round/>
            <a:headEnd/>
            <a:tailEnd type="triangle" w="med" len="med"/>
          </a:ln>
          <a:effectLst/>
        </p:spPr>
      </p:cxnSp>
      <p:cxnSp>
        <p:nvCxnSpPr>
          <p:cNvPr id="119833" name="肘形接點 5"/>
          <p:cNvCxnSpPr>
            <a:cxnSpLocks noChangeShapeType="1"/>
          </p:cNvCxnSpPr>
          <p:nvPr/>
        </p:nvCxnSpPr>
        <p:spPr bwMode="auto">
          <a:xfrm>
            <a:off x="5573713" y="5843588"/>
            <a:ext cx="352425" cy="4762"/>
          </a:xfrm>
          <a:prstGeom prst="straightConnector1">
            <a:avLst/>
          </a:prstGeom>
          <a:noFill/>
          <a:ln w="76200" algn="ctr">
            <a:solidFill>
              <a:srgbClr val="0000CC"/>
            </a:solidFill>
            <a:round/>
            <a:headEnd/>
            <a:tailEnd type="triangle" w="med" len="med"/>
          </a:ln>
          <a:effectLst/>
        </p:spPr>
      </p:cxnSp>
      <p:cxnSp>
        <p:nvCxnSpPr>
          <p:cNvPr id="119834" name="肘形接點 5"/>
          <p:cNvCxnSpPr>
            <a:cxnSpLocks noChangeShapeType="1"/>
            <a:stCxn id="119820" idx="2"/>
            <a:endCxn id="119829" idx="0"/>
          </p:cNvCxnSpPr>
          <p:nvPr/>
        </p:nvCxnSpPr>
        <p:spPr bwMode="auto">
          <a:xfrm>
            <a:off x="8286750" y="4125913"/>
            <a:ext cx="3175" cy="307975"/>
          </a:xfrm>
          <a:prstGeom prst="straightConnector1">
            <a:avLst/>
          </a:prstGeom>
          <a:noFill/>
          <a:ln w="76200" algn="ctr">
            <a:solidFill>
              <a:srgbClr val="0000CC"/>
            </a:solidFill>
            <a:round/>
            <a:headEnd/>
            <a:tailEnd type="triangle" w="med" len="med"/>
          </a:ln>
          <a:effectLst/>
        </p:spPr>
      </p:cxnSp>
      <p:cxnSp>
        <p:nvCxnSpPr>
          <p:cNvPr id="119835" name="肘形接點 5"/>
          <p:cNvCxnSpPr>
            <a:cxnSpLocks noChangeShapeType="1"/>
            <a:stCxn id="119829" idx="2"/>
            <a:endCxn id="119828" idx="2"/>
          </p:cNvCxnSpPr>
          <p:nvPr/>
        </p:nvCxnSpPr>
        <p:spPr bwMode="auto">
          <a:xfrm rot="5400000">
            <a:off x="6095206" y="4118770"/>
            <a:ext cx="936625" cy="3452812"/>
          </a:xfrm>
          <a:prstGeom prst="bentConnector3">
            <a:avLst>
              <a:gd name="adj1" fmla="val 129829"/>
            </a:avLst>
          </a:prstGeom>
          <a:noFill/>
          <a:ln w="76200" algn="ctr">
            <a:solidFill>
              <a:srgbClr val="0000CC"/>
            </a:solidFill>
            <a:round/>
            <a:headEnd/>
            <a:tailEnd type="triangle" w="med" len="med"/>
          </a:ln>
          <a:effectLst/>
        </p:spPr>
      </p:cxnSp>
      <p:sp>
        <p:nvSpPr>
          <p:cNvPr id="25" name="圓角矩形圖說文字 24"/>
          <p:cNvSpPr>
            <a:spLocks noChangeArrowheads="1"/>
          </p:cNvSpPr>
          <p:nvPr/>
        </p:nvSpPr>
        <p:spPr bwMode="auto">
          <a:xfrm>
            <a:off x="5194300" y="4303713"/>
            <a:ext cx="1797050" cy="692150"/>
          </a:xfrm>
          <a:prstGeom prst="wedgeRoundRectCallout">
            <a:avLst>
              <a:gd name="adj1" fmla="val 81713"/>
              <a:gd name="adj2" fmla="val 39449"/>
              <a:gd name="adj3" fmla="val 16667"/>
            </a:avLst>
          </a:prstGeom>
          <a:solidFill>
            <a:srgbClr val="FFFF00"/>
          </a:solidFill>
          <a:ln w="28575" algn="ctr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lIns="0" tIns="0" rIns="0" bIns="0" anchor="ctr"/>
          <a:lstStyle/>
          <a:p>
            <a:pPr algn="ctr" eaLnBrk="1" hangingPunct="1"/>
            <a:r>
              <a:rPr lang="zh-TW" altLang="en-US" sz="220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易忘記或</a:t>
            </a:r>
          </a:p>
          <a:p>
            <a:pPr algn="ctr" eaLnBrk="1" hangingPunct="1"/>
            <a:r>
              <a:rPr lang="zh-TW" altLang="en-US" sz="220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漏掉通知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圓角矩形 14"/>
          <p:cNvSpPr>
            <a:spLocks noChangeArrowheads="1"/>
          </p:cNvSpPr>
          <p:nvPr/>
        </p:nvSpPr>
        <p:spPr bwMode="auto">
          <a:xfrm>
            <a:off x="309563" y="1666875"/>
            <a:ext cx="8680450" cy="1304925"/>
          </a:xfrm>
          <a:prstGeom prst="roundRect">
            <a:avLst>
              <a:gd name="adj" fmla="val 7097"/>
            </a:avLst>
          </a:prstGeom>
          <a:noFill/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endParaRPr lang="zh-TW" altLang="en-US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21859" name="五邊形 10"/>
          <p:cNvSpPr>
            <a:spLocks noChangeArrowheads="1"/>
          </p:cNvSpPr>
          <p:nvPr/>
        </p:nvSpPr>
        <p:spPr bwMode="auto">
          <a:xfrm>
            <a:off x="123825" y="1300163"/>
            <a:ext cx="1898650" cy="466725"/>
          </a:xfrm>
          <a:prstGeom prst="homePlate">
            <a:avLst>
              <a:gd name="adj" fmla="val 46048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>
                <a:latin typeface="標楷體" pitchFamily="65" charset="-120"/>
                <a:ea typeface="標楷體" pitchFamily="65" charset="-120"/>
              </a:rPr>
              <a:t>改善作法</a:t>
            </a:r>
          </a:p>
        </p:txBody>
      </p:sp>
      <p:sp>
        <p:nvSpPr>
          <p:cNvPr id="121860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endParaRPr lang="zh-TW" altLang="en-US" sz="360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21861" name="五邊形 6"/>
          <p:cNvSpPr>
            <a:spLocks noChangeArrowheads="1"/>
          </p:cNvSpPr>
          <p:nvPr/>
        </p:nvSpPr>
        <p:spPr bwMode="auto">
          <a:xfrm>
            <a:off x="123825" y="3067050"/>
            <a:ext cx="1898650" cy="461963"/>
          </a:xfrm>
          <a:prstGeom prst="homePlate">
            <a:avLst>
              <a:gd name="adj" fmla="val 46522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>
                <a:latin typeface="標楷體" pitchFamily="65" charset="-120"/>
                <a:ea typeface="標楷體" pitchFamily="65" charset="-120"/>
              </a:rPr>
              <a:t>作業流程</a:t>
            </a:r>
          </a:p>
        </p:txBody>
      </p:sp>
      <p:sp>
        <p:nvSpPr>
          <p:cNvPr id="121862" name="矩形 1"/>
          <p:cNvSpPr>
            <a:spLocks noChangeArrowheads="1"/>
          </p:cNvSpPr>
          <p:nvPr/>
        </p:nvSpPr>
        <p:spPr bwMode="auto">
          <a:xfrm>
            <a:off x="490538" y="1900238"/>
            <a:ext cx="8256587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TW" altLang="en-US">
                <a:ea typeface="標楷體" pitchFamily="65" charset="-120"/>
              </a:rPr>
              <a:t>建立作業間的檔案關聯，當關聯檔案說明</a:t>
            </a:r>
            <a:r>
              <a:rPr lang="zh-TW" altLang="zh-TW">
                <a:latin typeface="標楷體" pitchFamily="65" charset="-120"/>
                <a:ea typeface="標楷體" pitchFamily="65" charset="-120"/>
              </a:rPr>
              <a:t>修改</a:t>
            </a:r>
            <a:r>
              <a:rPr lang="zh-TW" altLang="en-US">
                <a:latin typeface="標楷體" pitchFamily="65" charset="-120"/>
                <a:ea typeface="標楷體" pitchFamily="65" charset="-120"/>
              </a:rPr>
              <a:t>時，由</a:t>
            </a:r>
            <a:r>
              <a:rPr lang="zh-TW" altLang="en-US" u="sng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電腦自動以</a:t>
            </a:r>
            <a:r>
              <a:rPr lang="en-US" altLang="zh-TW" u="sng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OA</a:t>
            </a:r>
            <a:r>
              <a:rPr lang="zh-TW" altLang="en-US" u="sng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通知</a:t>
            </a:r>
            <a:r>
              <a:rPr lang="zh-TW" altLang="zh-TW" u="sng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配合經辦</a:t>
            </a:r>
            <a:r>
              <a:rPr lang="zh-TW" altLang="en-US" u="sng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程式員同步修改程式</a:t>
            </a:r>
            <a:r>
              <a:rPr lang="zh-TW" altLang="en-US">
                <a:latin typeface="標楷體" pitchFamily="65" charset="-120"/>
                <a:ea typeface="標楷體" pitchFamily="65" charset="-120"/>
              </a:rPr>
              <a:t>。</a:t>
            </a:r>
          </a:p>
        </p:txBody>
      </p:sp>
      <p:sp>
        <p:nvSpPr>
          <p:cNvPr id="121863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kumimoji="0" lang="zh-TW" altLang="en-US" sz="3600">
                <a:latin typeface="標楷體" pitchFamily="65" charset="-120"/>
                <a:ea typeface="標楷體" pitchFamily="65" charset="-120"/>
              </a:rPr>
              <a:t>資訊部改善實例報告</a:t>
            </a:r>
            <a:endParaRPr lang="zh-TW" altLang="en-US" sz="3600">
              <a:solidFill>
                <a:schemeClr val="tx2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21865" name="矩形 18"/>
          <p:cNvSpPr>
            <a:spLocks noChangeArrowheads="1"/>
          </p:cNvSpPr>
          <p:nvPr/>
        </p:nvSpPr>
        <p:spPr bwMode="auto">
          <a:xfrm>
            <a:off x="5802313" y="3121025"/>
            <a:ext cx="1328737" cy="885825"/>
          </a:xfrm>
          <a:prstGeom prst="rect">
            <a:avLst/>
          </a:prstGeom>
          <a:noFill/>
          <a:ln w="57150" cmpd="dbl" algn="ctr">
            <a:solidFill>
              <a:srgbClr val="0000CC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/>
            <a:r>
              <a:rPr lang="zh-TW" altLang="en-US">
                <a:latin typeface="標楷體" pitchFamily="65" charset="-120"/>
                <a:ea typeface="標楷體" pitchFamily="65" charset="-120"/>
              </a:rPr>
              <a:t>程式</a:t>
            </a:r>
          </a:p>
          <a:p>
            <a:pPr algn="ctr"/>
            <a:r>
              <a:rPr lang="zh-TW" altLang="en-US">
                <a:latin typeface="標楷體" pitchFamily="65" charset="-120"/>
                <a:ea typeface="標楷體" pitchFamily="65" charset="-120"/>
              </a:rPr>
              <a:t>規劃設計</a:t>
            </a:r>
          </a:p>
        </p:txBody>
      </p:sp>
      <p:cxnSp>
        <p:nvCxnSpPr>
          <p:cNvPr id="121866" name="肘形接點 5"/>
          <p:cNvCxnSpPr>
            <a:cxnSpLocks noChangeShapeType="1"/>
            <a:stCxn id="121869" idx="0"/>
            <a:endCxn id="121867" idx="2"/>
          </p:cNvCxnSpPr>
          <p:nvPr/>
        </p:nvCxnSpPr>
        <p:spPr bwMode="auto">
          <a:xfrm flipH="1" flipV="1">
            <a:off x="4678363" y="4035425"/>
            <a:ext cx="12700" cy="1287463"/>
          </a:xfrm>
          <a:prstGeom prst="straightConnector1">
            <a:avLst/>
          </a:prstGeom>
          <a:noFill/>
          <a:ln w="76200" algn="ctr">
            <a:solidFill>
              <a:srgbClr val="0000CC"/>
            </a:solidFill>
            <a:round/>
            <a:headEnd/>
            <a:tailEnd/>
          </a:ln>
          <a:effectLst/>
        </p:spPr>
      </p:cxnSp>
      <p:sp>
        <p:nvSpPr>
          <p:cNvPr id="121867" name="矩形 18"/>
          <p:cNvSpPr>
            <a:spLocks noChangeArrowheads="1"/>
          </p:cNvSpPr>
          <p:nvPr/>
        </p:nvSpPr>
        <p:spPr bwMode="auto">
          <a:xfrm>
            <a:off x="3956050" y="3121025"/>
            <a:ext cx="1443038" cy="885825"/>
          </a:xfrm>
          <a:prstGeom prst="rect">
            <a:avLst/>
          </a:prstGeom>
          <a:noFill/>
          <a:ln w="57150" cmpd="dbl" algn="ctr">
            <a:solidFill>
              <a:srgbClr val="0000CC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/>
            <a:r>
              <a:rPr lang="zh-TW" altLang="en-US">
                <a:ea typeface="標楷體" pitchFamily="65" charset="-120"/>
              </a:rPr>
              <a:t>主要經辦程式員</a:t>
            </a:r>
          </a:p>
        </p:txBody>
      </p:sp>
      <p:sp>
        <p:nvSpPr>
          <p:cNvPr id="121868" name="矩形 18"/>
          <p:cNvSpPr>
            <a:spLocks noChangeArrowheads="1"/>
          </p:cNvSpPr>
          <p:nvPr/>
        </p:nvSpPr>
        <p:spPr bwMode="auto">
          <a:xfrm>
            <a:off x="7639050" y="3121025"/>
            <a:ext cx="1443038" cy="885825"/>
          </a:xfrm>
          <a:prstGeom prst="rect">
            <a:avLst/>
          </a:prstGeom>
          <a:noFill/>
          <a:ln w="57150" cmpd="dbl" algn="ctr">
            <a:solidFill>
              <a:srgbClr val="0000CC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/>
            <a:r>
              <a:rPr lang="zh-TW" altLang="en-US">
                <a:ea typeface="標楷體" pitchFamily="65" charset="-120"/>
              </a:rPr>
              <a:t>修改電腦檔案</a:t>
            </a:r>
            <a:r>
              <a:rPr lang="zh-TW" altLang="en-US">
                <a:latin typeface="標楷體" pitchFamily="65" charset="-120"/>
                <a:ea typeface="標楷體" pitchFamily="65" charset="-120"/>
              </a:rPr>
              <a:t>說明</a:t>
            </a:r>
            <a:endParaRPr lang="en-US" altLang="zh-TW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21869" name="矩形 18"/>
          <p:cNvSpPr>
            <a:spLocks noChangeArrowheads="1"/>
          </p:cNvSpPr>
          <p:nvPr/>
        </p:nvSpPr>
        <p:spPr bwMode="auto">
          <a:xfrm>
            <a:off x="3968750" y="5351463"/>
            <a:ext cx="1443038" cy="885825"/>
          </a:xfrm>
          <a:prstGeom prst="rect">
            <a:avLst/>
          </a:prstGeom>
          <a:noFill/>
          <a:ln w="57150" cmpd="dbl" algn="ctr">
            <a:solidFill>
              <a:srgbClr val="0000CC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/>
            <a:r>
              <a:rPr lang="zh-TW" altLang="en-US">
                <a:ea typeface="標楷體" pitchFamily="65" charset="-120"/>
              </a:rPr>
              <a:t>配合經辦程式員</a:t>
            </a:r>
          </a:p>
        </p:txBody>
      </p:sp>
      <p:sp>
        <p:nvSpPr>
          <p:cNvPr id="121870" name="矩形 18"/>
          <p:cNvSpPr>
            <a:spLocks noChangeArrowheads="1"/>
          </p:cNvSpPr>
          <p:nvPr/>
        </p:nvSpPr>
        <p:spPr bwMode="auto">
          <a:xfrm>
            <a:off x="7624763" y="5392738"/>
            <a:ext cx="1443037" cy="885825"/>
          </a:xfrm>
          <a:prstGeom prst="rect">
            <a:avLst/>
          </a:prstGeom>
          <a:noFill/>
          <a:ln w="57150" cmpd="dbl" algn="ctr">
            <a:solidFill>
              <a:srgbClr val="0000CC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/>
            <a:r>
              <a:rPr lang="zh-TW" altLang="en-US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電腦自動</a:t>
            </a:r>
            <a:r>
              <a:rPr lang="en-US" altLang="zh-TW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OA</a:t>
            </a:r>
            <a:r>
              <a:rPr lang="zh-TW" altLang="en-US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通知</a:t>
            </a:r>
            <a:endParaRPr lang="en-US" altLang="zh-TW">
              <a:solidFill>
                <a:srgbClr val="0000CC"/>
              </a:solidFill>
              <a:ea typeface="標楷體" pitchFamily="65" charset="-120"/>
            </a:endParaRPr>
          </a:p>
        </p:txBody>
      </p:sp>
      <p:sp>
        <p:nvSpPr>
          <p:cNvPr id="121871" name="矩形 18"/>
          <p:cNvSpPr>
            <a:spLocks noChangeArrowheads="1"/>
          </p:cNvSpPr>
          <p:nvPr/>
        </p:nvSpPr>
        <p:spPr bwMode="auto">
          <a:xfrm>
            <a:off x="5780088" y="5343525"/>
            <a:ext cx="1328737" cy="885825"/>
          </a:xfrm>
          <a:prstGeom prst="rect">
            <a:avLst/>
          </a:prstGeom>
          <a:noFill/>
          <a:ln w="57150" cmpd="dbl" algn="ctr">
            <a:solidFill>
              <a:srgbClr val="0000CC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/>
            <a:r>
              <a:rPr lang="zh-TW" altLang="en-US">
                <a:latin typeface="標楷體" pitchFamily="65" charset="-120"/>
                <a:ea typeface="標楷體" pitchFamily="65" charset="-120"/>
              </a:rPr>
              <a:t>程式</a:t>
            </a:r>
          </a:p>
          <a:p>
            <a:pPr algn="ctr"/>
            <a:r>
              <a:rPr lang="zh-TW" altLang="en-US">
                <a:latin typeface="標楷體" pitchFamily="65" charset="-120"/>
                <a:ea typeface="標楷體" pitchFamily="65" charset="-120"/>
              </a:rPr>
              <a:t>規劃設計</a:t>
            </a:r>
          </a:p>
        </p:txBody>
      </p:sp>
      <p:cxnSp>
        <p:nvCxnSpPr>
          <p:cNvPr id="121872" name="肘形接點 5"/>
          <p:cNvCxnSpPr>
            <a:cxnSpLocks noChangeShapeType="1"/>
            <a:stCxn id="121867" idx="3"/>
            <a:endCxn id="121865" idx="1"/>
          </p:cNvCxnSpPr>
          <p:nvPr/>
        </p:nvCxnSpPr>
        <p:spPr bwMode="auto">
          <a:xfrm>
            <a:off x="5427663" y="3563938"/>
            <a:ext cx="346075" cy="0"/>
          </a:xfrm>
          <a:prstGeom prst="straightConnector1">
            <a:avLst/>
          </a:prstGeom>
          <a:noFill/>
          <a:ln w="76200" algn="ctr">
            <a:solidFill>
              <a:srgbClr val="0000CC"/>
            </a:solidFill>
            <a:round/>
            <a:headEnd/>
            <a:tailEnd type="triangle" w="med" len="med"/>
          </a:ln>
          <a:effectLst/>
        </p:spPr>
      </p:cxnSp>
      <p:cxnSp>
        <p:nvCxnSpPr>
          <p:cNvPr id="121873" name="肘形接點 5"/>
          <p:cNvCxnSpPr>
            <a:cxnSpLocks noChangeShapeType="1"/>
            <a:stCxn id="121865" idx="3"/>
            <a:endCxn id="121868" idx="1"/>
          </p:cNvCxnSpPr>
          <p:nvPr/>
        </p:nvCxnSpPr>
        <p:spPr bwMode="auto">
          <a:xfrm>
            <a:off x="7159625" y="3563938"/>
            <a:ext cx="450850" cy="0"/>
          </a:xfrm>
          <a:prstGeom prst="straightConnector1">
            <a:avLst/>
          </a:prstGeom>
          <a:noFill/>
          <a:ln w="76200" algn="ctr">
            <a:solidFill>
              <a:srgbClr val="0000CC"/>
            </a:solidFill>
            <a:round/>
            <a:headEnd/>
            <a:tailEnd type="triangle" w="med" len="med"/>
          </a:ln>
          <a:effectLst/>
        </p:spPr>
      </p:cxnSp>
      <p:cxnSp>
        <p:nvCxnSpPr>
          <p:cNvPr id="121874" name="肘形接點 5"/>
          <p:cNvCxnSpPr>
            <a:cxnSpLocks noChangeShapeType="1"/>
            <a:stCxn id="121869" idx="3"/>
            <a:endCxn id="121871" idx="1"/>
          </p:cNvCxnSpPr>
          <p:nvPr/>
        </p:nvCxnSpPr>
        <p:spPr bwMode="auto">
          <a:xfrm flipV="1">
            <a:off x="5440363" y="5786438"/>
            <a:ext cx="311150" cy="7937"/>
          </a:xfrm>
          <a:prstGeom prst="straightConnector1">
            <a:avLst/>
          </a:prstGeom>
          <a:noFill/>
          <a:ln w="76200" algn="ctr">
            <a:solidFill>
              <a:srgbClr val="0000CC"/>
            </a:solidFill>
            <a:round/>
            <a:headEnd/>
            <a:tailEnd type="triangle" w="med" len="med"/>
          </a:ln>
          <a:effectLst/>
        </p:spPr>
      </p:cxnSp>
      <p:cxnSp>
        <p:nvCxnSpPr>
          <p:cNvPr id="121875" name="肘形接點 5"/>
          <p:cNvCxnSpPr>
            <a:cxnSpLocks noChangeShapeType="1"/>
            <a:stCxn id="121868" idx="2"/>
            <a:endCxn id="121870" idx="0"/>
          </p:cNvCxnSpPr>
          <p:nvPr/>
        </p:nvCxnSpPr>
        <p:spPr bwMode="auto">
          <a:xfrm flipH="1">
            <a:off x="8347075" y="4035425"/>
            <a:ext cx="14288" cy="1328738"/>
          </a:xfrm>
          <a:prstGeom prst="straightConnector1">
            <a:avLst/>
          </a:prstGeom>
          <a:noFill/>
          <a:ln w="76200" algn="ctr">
            <a:solidFill>
              <a:srgbClr val="0000CC"/>
            </a:solidFill>
            <a:round/>
            <a:headEnd/>
            <a:tailEnd type="triangle" w="med" len="med"/>
          </a:ln>
          <a:effectLst/>
        </p:spPr>
      </p:cxnSp>
      <p:sp>
        <p:nvSpPr>
          <p:cNvPr id="121876" name="矩形 6"/>
          <p:cNvSpPr>
            <a:spLocks noChangeArrowheads="1"/>
          </p:cNvSpPr>
          <p:nvPr/>
        </p:nvSpPr>
        <p:spPr bwMode="auto">
          <a:xfrm>
            <a:off x="1825625" y="4167188"/>
            <a:ext cx="1441450" cy="1206500"/>
          </a:xfrm>
          <a:prstGeom prst="rect">
            <a:avLst/>
          </a:prstGeom>
          <a:noFill/>
          <a:ln w="5715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 eaLnBrk="1" hangingPunct="1"/>
            <a:r>
              <a:rPr lang="zh-TW" altLang="en-US">
                <a:latin typeface="標楷體" pitchFamily="65" charset="-120"/>
                <a:ea typeface="標楷體" pitchFamily="65" charset="-120"/>
              </a:rPr>
              <a:t>資訊部</a:t>
            </a:r>
            <a:endParaRPr lang="en-US" altLang="zh-TW">
              <a:latin typeface="標楷體" pitchFamily="65" charset="-120"/>
              <a:ea typeface="標楷體" pitchFamily="65" charset="-120"/>
            </a:endParaRPr>
          </a:p>
          <a:p>
            <a:pPr algn="ctr" eaLnBrk="1" hangingPunct="1"/>
            <a:r>
              <a:rPr lang="zh-TW" altLang="en-US" u="sng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交辦單</a:t>
            </a:r>
          </a:p>
          <a:p>
            <a:pPr algn="ctr" eaLnBrk="1" hangingPunct="1"/>
            <a:r>
              <a:rPr lang="zh-TW" altLang="en-US" u="sng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立案</a:t>
            </a:r>
            <a:endParaRPr lang="zh-TW" altLang="en-US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21877" name="矩形 3"/>
          <p:cNvSpPr>
            <a:spLocks noChangeArrowheads="1"/>
          </p:cNvSpPr>
          <p:nvPr/>
        </p:nvSpPr>
        <p:spPr bwMode="auto">
          <a:xfrm>
            <a:off x="85725" y="4167188"/>
            <a:ext cx="1339850" cy="1206500"/>
          </a:xfrm>
          <a:prstGeom prst="rect">
            <a:avLst/>
          </a:prstGeom>
          <a:noFill/>
          <a:ln w="5715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 eaLnBrk="1" hangingPunct="1"/>
            <a:r>
              <a:rPr lang="zh-TW" altLang="en-US">
                <a:latin typeface="標楷體" pitchFamily="65" charset="-120"/>
                <a:ea typeface="標楷體" pitchFamily="65" charset="-120"/>
              </a:rPr>
              <a:t>現場部門</a:t>
            </a:r>
            <a:endParaRPr lang="en-US" altLang="zh-TW">
              <a:latin typeface="標楷體" pitchFamily="65" charset="-120"/>
              <a:ea typeface="標楷體" pitchFamily="65" charset="-120"/>
            </a:endParaRPr>
          </a:p>
          <a:p>
            <a:pPr algn="ctr" eaLnBrk="1" hangingPunct="1"/>
            <a:r>
              <a:rPr lang="zh-TW" altLang="en-US" u="sng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意反單</a:t>
            </a:r>
          </a:p>
        </p:txBody>
      </p:sp>
      <p:cxnSp>
        <p:nvCxnSpPr>
          <p:cNvPr id="121878" name="肘形接點 5"/>
          <p:cNvCxnSpPr>
            <a:cxnSpLocks noChangeShapeType="1"/>
          </p:cNvCxnSpPr>
          <p:nvPr/>
        </p:nvCxnSpPr>
        <p:spPr bwMode="auto">
          <a:xfrm>
            <a:off x="1420813" y="4770438"/>
            <a:ext cx="387350" cy="1587"/>
          </a:xfrm>
          <a:prstGeom prst="bentConnector3">
            <a:avLst>
              <a:gd name="adj1" fmla="val 50000"/>
            </a:avLst>
          </a:prstGeom>
          <a:noFill/>
          <a:ln w="76200" algn="ctr">
            <a:solidFill>
              <a:srgbClr val="0000CC"/>
            </a:solidFill>
            <a:round/>
            <a:headEnd/>
            <a:tailEnd type="triangle" w="med" len="med"/>
          </a:ln>
          <a:effectLst/>
        </p:spPr>
      </p:cxnSp>
      <p:cxnSp>
        <p:nvCxnSpPr>
          <p:cNvPr id="121879" name="肘形接點 28"/>
          <p:cNvCxnSpPr>
            <a:cxnSpLocks noChangeShapeType="1"/>
          </p:cNvCxnSpPr>
          <p:nvPr/>
        </p:nvCxnSpPr>
        <p:spPr bwMode="auto">
          <a:xfrm>
            <a:off x="3521075" y="5429250"/>
            <a:ext cx="457200" cy="450850"/>
          </a:xfrm>
          <a:prstGeom prst="bentConnector3">
            <a:avLst>
              <a:gd name="adj1" fmla="val -1042"/>
            </a:avLst>
          </a:prstGeom>
          <a:noFill/>
          <a:ln w="76200" algn="ctr">
            <a:solidFill>
              <a:srgbClr val="0000CC"/>
            </a:solidFill>
            <a:round/>
            <a:headEnd/>
            <a:tailEnd type="triangle" w="med" len="med"/>
          </a:ln>
          <a:effectLst/>
        </p:spPr>
      </p:cxnSp>
      <p:cxnSp>
        <p:nvCxnSpPr>
          <p:cNvPr id="121880" name="肘形接點 31"/>
          <p:cNvCxnSpPr>
            <a:cxnSpLocks noChangeShapeType="1"/>
          </p:cNvCxnSpPr>
          <p:nvPr/>
        </p:nvCxnSpPr>
        <p:spPr bwMode="auto">
          <a:xfrm>
            <a:off x="3489325" y="3478213"/>
            <a:ext cx="436563" cy="0"/>
          </a:xfrm>
          <a:prstGeom prst="bentConnector3">
            <a:avLst>
              <a:gd name="adj1" fmla="val 50000"/>
            </a:avLst>
          </a:prstGeom>
          <a:noFill/>
          <a:ln w="76200" algn="ctr">
            <a:solidFill>
              <a:srgbClr val="0000CC"/>
            </a:solidFill>
            <a:round/>
            <a:headEnd/>
            <a:tailEnd type="triangle" w="med" len="med"/>
          </a:ln>
          <a:effectLst/>
        </p:spPr>
      </p:cxnSp>
      <p:cxnSp>
        <p:nvCxnSpPr>
          <p:cNvPr id="121881" name="肘形接點 33"/>
          <p:cNvCxnSpPr>
            <a:cxnSpLocks noChangeShapeType="1"/>
          </p:cNvCxnSpPr>
          <p:nvPr/>
        </p:nvCxnSpPr>
        <p:spPr bwMode="auto">
          <a:xfrm rot="16200000">
            <a:off x="2480469" y="4474369"/>
            <a:ext cx="2073275" cy="1587"/>
          </a:xfrm>
          <a:prstGeom prst="bentConnector3">
            <a:avLst>
              <a:gd name="adj1" fmla="val 50000"/>
            </a:avLst>
          </a:prstGeom>
          <a:noFill/>
          <a:ln w="76200" algn="ctr">
            <a:solidFill>
              <a:srgbClr val="0000CC"/>
            </a:solidFill>
            <a:round/>
            <a:headEnd/>
            <a:tailEnd/>
          </a:ln>
          <a:effectLst/>
        </p:spPr>
      </p:cxnSp>
      <p:cxnSp>
        <p:nvCxnSpPr>
          <p:cNvPr id="121882" name="肘形接點 5"/>
          <p:cNvCxnSpPr>
            <a:cxnSpLocks noChangeShapeType="1"/>
            <a:stCxn id="121876" idx="3"/>
          </p:cNvCxnSpPr>
          <p:nvPr/>
        </p:nvCxnSpPr>
        <p:spPr bwMode="auto">
          <a:xfrm flipV="1">
            <a:off x="3295650" y="4768850"/>
            <a:ext cx="257175" cy="1588"/>
          </a:xfrm>
          <a:prstGeom prst="bentConnector3">
            <a:avLst>
              <a:gd name="adj1" fmla="val 44444"/>
            </a:avLst>
          </a:prstGeom>
          <a:noFill/>
          <a:ln w="76200" algn="ctr">
            <a:solidFill>
              <a:srgbClr val="0000CC"/>
            </a:solidFill>
            <a:round/>
            <a:headEnd/>
            <a:tailEnd/>
          </a:ln>
          <a:effectLst/>
        </p:spPr>
      </p:cxnSp>
      <p:cxnSp>
        <p:nvCxnSpPr>
          <p:cNvPr id="121884" name="肘形接點 5"/>
          <p:cNvCxnSpPr>
            <a:cxnSpLocks noChangeShapeType="1"/>
            <a:endCxn id="121888" idx="1"/>
          </p:cNvCxnSpPr>
          <p:nvPr/>
        </p:nvCxnSpPr>
        <p:spPr bwMode="auto">
          <a:xfrm flipV="1">
            <a:off x="4678363" y="4679950"/>
            <a:ext cx="1090612" cy="3175"/>
          </a:xfrm>
          <a:prstGeom prst="bentConnector3">
            <a:avLst>
              <a:gd name="adj1" fmla="val 51236"/>
            </a:avLst>
          </a:prstGeom>
          <a:noFill/>
          <a:ln w="76200" algn="ctr">
            <a:solidFill>
              <a:srgbClr val="0000CC"/>
            </a:solidFill>
            <a:round/>
            <a:headEnd/>
            <a:tailEnd type="triangle" w="med" len="med"/>
          </a:ln>
          <a:effectLst/>
        </p:spPr>
      </p:cxnSp>
      <p:cxnSp>
        <p:nvCxnSpPr>
          <p:cNvPr id="121885" name="肘形接點 5"/>
          <p:cNvCxnSpPr>
            <a:cxnSpLocks noChangeShapeType="1"/>
            <a:stCxn id="121888" idx="3"/>
          </p:cNvCxnSpPr>
          <p:nvPr/>
        </p:nvCxnSpPr>
        <p:spPr bwMode="auto">
          <a:xfrm>
            <a:off x="7154863" y="4679950"/>
            <a:ext cx="1212850" cy="1588"/>
          </a:xfrm>
          <a:prstGeom prst="bentConnector3">
            <a:avLst>
              <a:gd name="adj1" fmla="val 48690"/>
            </a:avLst>
          </a:prstGeom>
          <a:noFill/>
          <a:ln w="76200" algn="ctr">
            <a:solidFill>
              <a:srgbClr val="0000CC"/>
            </a:solidFill>
            <a:round/>
            <a:headEnd/>
            <a:tailEnd/>
          </a:ln>
          <a:effectLst/>
        </p:spPr>
      </p:cxnSp>
      <p:cxnSp>
        <p:nvCxnSpPr>
          <p:cNvPr id="121886" name="肘形接點 5"/>
          <p:cNvCxnSpPr>
            <a:cxnSpLocks noChangeShapeType="1"/>
            <a:stCxn id="121870" idx="2"/>
            <a:endCxn id="121869" idx="2"/>
          </p:cNvCxnSpPr>
          <p:nvPr/>
        </p:nvCxnSpPr>
        <p:spPr bwMode="auto">
          <a:xfrm rot="16200000" flipV="1">
            <a:off x="6498431" y="4458495"/>
            <a:ext cx="41275" cy="3656012"/>
          </a:xfrm>
          <a:prstGeom prst="bentConnector3">
            <a:avLst>
              <a:gd name="adj1" fmla="val -642310"/>
            </a:avLst>
          </a:prstGeom>
          <a:noFill/>
          <a:ln w="76200" algn="ctr">
            <a:solidFill>
              <a:srgbClr val="0000CC"/>
            </a:solidFill>
            <a:round/>
            <a:headEnd/>
            <a:tailEnd type="triangle" w="med" len="med"/>
          </a:ln>
          <a:effectLst/>
        </p:spPr>
      </p:cxnSp>
      <p:sp>
        <p:nvSpPr>
          <p:cNvPr id="149568" name="Rectangle 64"/>
          <p:cNvSpPr>
            <a:spLocks noChangeArrowheads="1"/>
          </p:cNvSpPr>
          <p:nvPr/>
        </p:nvSpPr>
        <p:spPr bwMode="auto">
          <a:xfrm>
            <a:off x="4227513" y="4224338"/>
            <a:ext cx="412750" cy="91757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75000"/>
              </a:lnSpc>
            </a:pPr>
            <a:r>
              <a:rPr lang="zh-TW" altLang="en-US" sz="1800">
                <a:ea typeface="標楷體" pitchFamily="65" charset="-120"/>
              </a:rPr>
              <a:t>共</a:t>
            </a:r>
          </a:p>
          <a:p>
            <a:pPr>
              <a:lnSpc>
                <a:spcPct val="75000"/>
              </a:lnSpc>
            </a:pPr>
            <a:r>
              <a:rPr lang="zh-TW" altLang="en-US" sz="1800">
                <a:ea typeface="標楷體" pitchFamily="65" charset="-120"/>
              </a:rPr>
              <a:t>同</a:t>
            </a:r>
          </a:p>
          <a:p>
            <a:pPr>
              <a:lnSpc>
                <a:spcPct val="75000"/>
              </a:lnSpc>
            </a:pPr>
            <a:r>
              <a:rPr lang="zh-TW" altLang="en-US" sz="1800">
                <a:ea typeface="標楷體" pitchFamily="65" charset="-120"/>
              </a:rPr>
              <a:t>規</a:t>
            </a:r>
          </a:p>
          <a:p>
            <a:pPr>
              <a:lnSpc>
                <a:spcPct val="75000"/>
              </a:lnSpc>
            </a:pPr>
            <a:r>
              <a:rPr lang="zh-TW" altLang="en-US" sz="1800">
                <a:ea typeface="標楷體" pitchFamily="65" charset="-120"/>
              </a:rPr>
              <a:t>劃</a:t>
            </a:r>
          </a:p>
        </p:txBody>
      </p:sp>
      <p:sp>
        <p:nvSpPr>
          <p:cNvPr id="121888" name="矩形 18"/>
          <p:cNvSpPr>
            <a:spLocks noChangeArrowheads="1"/>
          </p:cNvSpPr>
          <p:nvPr/>
        </p:nvSpPr>
        <p:spPr bwMode="auto">
          <a:xfrm>
            <a:off x="5797550" y="4237038"/>
            <a:ext cx="1328738" cy="885825"/>
          </a:xfrm>
          <a:prstGeom prst="rect">
            <a:avLst/>
          </a:prstGeom>
          <a:noFill/>
          <a:ln w="57150" cmpd="dbl" algn="ctr">
            <a:solidFill>
              <a:srgbClr val="0000CC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/>
            <a:r>
              <a:rPr lang="zh-TW" altLang="en-US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建立作業檔案關聯</a:t>
            </a:r>
          </a:p>
        </p:txBody>
      </p:sp>
      <p:sp>
        <p:nvSpPr>
          <p:cNvPr id="121890" name="Rectangle 23"/>
          <p:cNvSpPr>
            <a:spLocks noChangeArrowheads="1"/>
          </p:cNvSpPr>
          <p:nvPr/>
        </p:nvSpPr>
        <p:spPr bwMode="auto">
          <a:xfrm>
            <a:off x="-1588" y="725488"/>
            <a:ext cx="9144001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一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.</a:t>
            </a:r>
            <a:r>
              <a:rPr kumimoji="0" lang="zh-TW" altLang="en-US" sz="320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程式檔案關聯管理機制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】</a:t>
            </a:r>
            <a:endParaRPr lang="zh-TW" altLang="en-US" sz="32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圓角矩形 14"/>
          <p:cNvSpPr>
            <a:spLocks noChangeArrowheads="1"/>
          </p:cNvSpPr>
          <p:nvPr/>
        </p:nvSpPr>
        <p:spPr bwMode="auto">
          <a:xfrm>
            <a:off x="261938" y="1685925"/>
            <a:ext cx="8747125" cy="1271588"/>
          </a:xfrm>
          <a:prstGeom prst="roundRect">
            <a:avLst>
              <a:gd name="adj" fmla="val 7097"/>
            </a:avLst>
          </a:prstGeom>
          <a:noFill/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>
              <a:lnSpc>
                <a:spcPct val="85000"/>
              </a:lnSpc>
            </a:pPr>
            <a:endParaRPr lang="zh-TW" altLang="en-US" dirty="0">
              <a:ea typeface="標楷體" pitchFamily="65" charset="-120"/>
            </a:endParaRPr>
          </a:p>
          <a:p>
            <a:pPr>
              <a:lnSpc>
                <a:spcPct val="85000"/>
              </a:lnSpc>
            </a:pPr>
            <a:endParaRPr lang="zh-TW" altLang="en-US" dirty="0">
              <a:ea typeface="標楷體" pitchFamily="65" charset="-120"/>
            </a:endParaRPr>
          </a:p>
          <a:p>
            <a:pPr algn="just">
              <a:lnSpc>
                <a:spcPct val="80000"/>
              </a:lnSpc>
            </a:pPr>
            <a:r>
              <a:rPr lang="zh-TW" altLang="en-US" u="sng" dirty="0">
                <a:solidFill>
                  <a:srgbClr val="0000CC"/>
                </a:solidFill>
                <a:ea typeface="標楷體" pitchFamily="65" charset="-120"/>
              </a:rPr>
              <a:t>增設南亞公司跨事業部成品併車資料自動擷取功能</a:t>
            </a:r>
            <a:r>
              <a:rPr lang="zh-TW" altLang="en-US" dirty="0">
                <a:ea typeface="標楷體" pitchFamily="65" charset="-120"/>
              </a:rPr>
              <a:t>：</a:t>
            </a:r>
          </a:p>
          <a:p>
            <a:pPr algn="just">
              <a:lnSpc>
                <a:spcPct val="80000"/>
              </a:lnSpc>
            </a:pPr>
            <a:r>
              <a:rPr lang="zh-TW" altLang="en-US" dirty="0">
                <a:ea typeface="標楷體" pitchFamily="65" charset="-120"/>
              </a:rPr>
              <a:t>南亞公司目前僅有同事業部成品併車交運功能，現狀因台塑貨運為節省車次載運成本，而有跨事業部併車交運需求，擬增加跨事業部併車交運功能。</a:t>
            </a:r>
          </a:p>
          <a:p>
            <a:pPr>
              <a:lnSpc>
                <a:spcPct val="85000"/>
              </a:lnSpc>
            </a:pPr>
            <a:endParaRPr lang="en-US" altLang="zh-TW" dirty="0">
              <a:ea typeface="標楷體" pitchFamily="65" charset="-120"/>
            </a:endParaRPr>
          </a:p>
          <a:p>
            <a:pPr>
              <a:lnSpc>
                <a:spcPct val="85000"/>
              </a:lnSpc>
            </a:pPr>
            <a:endParaRPr lang="en-US" altLang="zh-TW" dirty="0">
              <a:ea typeface="標楷體" pitchFamily="65" charset="-120"/>
            </a:endParaRPr>
          </a:p>
        </p:txBody>
      </p:sp>
      <p:sp>
        <p:nvSpPr>
          <p:cNvPr id="123907" name="五邊形 19"/>
          <p:cNvSpPr>
            <a:spLocks noChangeArrowheads="1"/>
          </p:cNvSpPr>
          <p:nvPr/>
        </p:nvSpPr>
        <p:spPr bwMode="auto">
          <a:xfrm>
            <a:off x="123825" y="1247775"/>
            <a:ext cx="1946275" cy="430213"/>
          </a:xfrm>
          <a:prstGeom prst="homePlate">
            <a:avLst>
              <a:gd name="adj" fmla="val 40087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TW" altLang="en-US">
                <a:latin typeface="標楷體" pitchFamily="65" charset="-120"/>
                <a:ea typeface="標楷體" pitchFamily="65" charset="-120"/>
              </a:rPr>
              <a:t>案例說明</a:t>
            </a:r>
          </a:p>
        </p:txBody>
      </p:sp>
      <p:sp>
        <p:nvSpPr>
          <p:cNvPr id="123908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kumimoji="0" lang="zh-TW" altLang="en-US" sz="3600">
                <a:latin typeface="標楷體" pitchFamily="65" charset="-120"/>
                <a:ea typeface="標楷體" pitchFamily="65" charset="-120"/>
              </a:rPr>
              <a:t>資訊部改善實例報告</a:t>
            </a:r>
            <a:endParaRPr lang="zh-TW" altLang="en-US" sz="3600">
              <a:solidFill>
                <a:schemeClr val="tx2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23910" name="五邊形 6"/>
          <p:cNvSpPr>
            <a:spLocks noChangeArrowheads="1"/>
          </p:cNvSpPr>
          <p:nvPr/>
        </p:nvSpPr>
        <p:spPr bwMode="auto">
          <a:xfrm>
            <a:off x="171450" y="2957513"/>
            <a:ext cx="1898650" cy="393700"/>
          </a:xfrm>
          <a:prstGeom prst="homePlate">
            <a:avLst>
              <a:gd name="adj" fmla="val 54589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</a:pPr>
            <a:r>
              <a:rPr lang="zh-TW" altLang="en-US">
                <a:latin typeface="標楷體" pitchFamily="65" charset="-120"/>
                <a:ea typeface="標楷體" pitchFamily="65" charset="-120"/>
              </a:rPr>
              <a:t>作業流程</a:t>
            </a:r>
          </a:p>
        </p:txBody>
      </p:sp>
      <p:sp>
        <p:nvSpPr>
          <p:cNvPr id="123911" name="矩形 18"/>
          <p:cNvSpPr>
            <a:spLocks noChangeArrowheads="1"/>
          </p:cNvSpPr>
          <p:nvPr/>
        </p:nvSpPr>
        <p:spPr bwMode="auto">
          <a:xfrm>
            <a:off x="82550" y="3400425"/>
            <a:ext cx="1519238" cy="1104900"/>
          </a:xfrm>
          <a:prstGeom prst="rect">
            <a:avLst/>
          </a:prstGeom>
          <a:noFill/>
          <a:ln w="57150" cmpd="dbl" algn="ctr">
            <a:solidFill>
              <a:srgbClr val="0000CC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/>
            <a:r>
              <a:rPr lang="zh-TW" altLang="en-US">
                <a:ea typeface="標楷體" pitchFamily="65" charset="-120"/>
              </a:rPr>
              <a:t>電子部</a:t>
            </a:r>
          </a:p>
          <a:p>
            <a:pPr algn="ctr"/>
            <a:r>
              <a:rPr lang="zh-TW" altLang="en-US">
                <a:ea typeface="標楷體" pitchFamily="65" charset="-120"/>
              </a:rPr>
              <a:t>成品交運</a:t>
            </a:r>
          </a:p>
          <a:p>
            <a:pPr algn="ctr"/>
            <a:r>
              <a:rPr lang="zh-TW" altLang="en-US">
                <a:ea typeface="標楷體" pitchFamily="65" charset="-120"/>
              </a:rPr>
              <a:t>人員</a:t>
            </a:r>
          </a:p>
        </p:txBody>
      </p:sp>
      <p:sp>
        <p:nvSpPr>
          <p:cNvPr id="123912" name="矩形 18"/>
          <p:cNvSpPr>
            <a:spLocks noChangeArrowheads="1"/>
          </p:cNvSpPr>
          <p:nvPr/>
        </p:nvSpPr>
        <p:spPr bwMode="auto">
          <a:xfrm>
            <a:off x="2173288" y="3462338"/>
            <a:ext cx="1338262" cy="781050"/>
          </a:xfrm>
          <a:prstGeom prst="rect">
            <a:avLst/>
          </a:prstGeom>
          <a:noFill/>
          <a:ln w="57150" cmpd="dbl" algn="ctr">
            <a:solidFill>
              <a:srgbClr val="0000CC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/>
            <a:r>
              <a:rPr lang="zh-TW" altLang="en-US">
                <a:ea typeface="標楷體" pitchFamily="65" charset="-120"/>
              </a:rPr>
              <a:t>交運單</a:t>
            </a:r>
          </a:p>
          <a:p>
            <a:pPr algn="ctr"/>
            <a:r>
              <a:rPr kumimoji="0" lang="zh-TW" altLang="en-US">
                <a:ea typeface="標楷體" pitchFamily="65" charset="-120"/>
              </a:rPr>
              <a:t>開立</a:t>
            </a:r>
          </a:p>
        </p:txBody>
      </p:sp>
      <p:sp>
        <p:nvSpPr>
          <p:cNvPr id="123913" name="矩形 18"/>
          <p:cNvSpPr>
            <a:spLocks noChangeArrowheads="1"/>
          </p:cNvSpPr>
          <p:nvPr/>
        </p:nvSpPr>
        <p:spPr bwMode="auto">
          <a:xfrm>
            <a:off x="85725" y="5637213"/>
            <a:ext cx="1519238" cy="1104900"/>
          </a:xfrm>
          <a:prstGeom prst="rect">
            <a:avLst/>
          </a:prstGeom>
          <a:noFill/>
          <a:ln w="57150" cmpd="dbl" algn="ctr">
            <a:solidFill>
              <a:srgbClr val="0000CC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/>
            <a:r>
              <a:rPr lang="zh-TW" altLang="en-US">
                <a:ea typeface="標楷體" pitchFamily="65" charset="-120"/>
              </a:rPr>
              <a:t>化工部</a:t>
            </a:r>
          </a:p>
          <a:p>
            <a:pPr algn="ctr"/>
            <a:r>
              <a:rPr lang="zh-TW" altLang="en-US">
                <a:ea typeface="標楷體" pitchFamily="65" charset="-120"/>
              </a:rPr>
              <a:t>成品交運</a:t>
            </a:r>
          </a:p>
          <a:p>
            <a:pPr algn="ctr"/>
            <a:r>
              <a:rPr lang="zh-TW" altLang="en-US">
                <a:ea typeface="標楷體" pitchFamily="65" charset="-120"/>
              </a:rPr>
              <a:t>人員</a:t>
            </a:r>
          </a:p>
        </p:txBody>
      </p:sp>
      <p:sp>
        <p:nvSpPr>
          <p:cNvPr id="123915" name="矩形 18"/>
          <p:cNvSpPr>
            <a:spLocks noChangeArrowheads="1"/>
          </p:cNvSpPr>
          <p:nvPr/>
        </p:nvSpPr>
        <p:spPr bwMode="auto">
          <a:xfrm>
            <a:off x="5932488" y="4506913"/>
            <a:ext cx="1338262" cy="1104900"/>
          </a:xfrm>
          <a:prstGeom prst="rect">
            <a:avLst/>
          </a:prstGeom>
          <a:noFill/>
          <a:ln w="57150" cmpd="dbl" algn="ctr">
            <a:solidFill>
              <a:srgbClr val="0000CC"/>
            </a:solidFill>
            <a:round/>
            <a:headEnd/>
            <a:tailEnd type="triangle" w="med" len="med"/>
          </a:ln>
          <a:effectLst/>
        </p:spPr>
        <p:txBody>
          <a:bodyPr lIns="0" tIns="0" rIns="0" bIns="0" anchor="ctr"/>
          <a:lstStyle/>
          <a:p>
            <a:pPr algn="ctr">
              <a:lnSpc>
                <a:spcPct val="75000"/>
              </a:lnSpc>
            </a:pPr>
            <a:r>
              <a:rPr lang="zh-TW" altLang="en-US" sz="2300">
                <a:ea typeface="標楷體" pitchFamily="65" charset="-120"/>
              </a:rPr>
              <a:t>重量上下限查核</a:t>
            </a:r>
          </a:p>
          <a:p>
            <a:pPr algn="ctr">
              <a:lnSpc>
                <a:spcPct val="75000"/>
              </a:lnSpc>
            </a:pPr>
            <a:r>
              <a:rPr lang="zh-TW" altLang="en-US" sz="2300">
                <a:ea typeface="標楷體" pitchFamily="65" charset="-120"/>
              </a:rPr>
              <a:t>資料</a:t>
            </a:r>
          </a:p>
        </p:txBody>
      </p:sp>
      <p:sp>
        <p:nvSpPr>
          <p:cNvPr id="123916" name="矩形 18"/>
          <p:cNvSpPr>
            <a:spLocks noChangeArrowheads="1"/>
          </p:cNvSpPr>
          <p:nvPr/>
        </p:nvSpPr>
        <p:spPr bwMode="auto">
          <a:xfrm>
            <a:off x="7739063" y="4495800"/>
            <a:ext cx="1366837" cy="1104900"/>
          </a:xfrm>
          <a:prstGeom prst="rect">
            <a:avLst/>
          </a:prstGeom>
          <a:noFill/>
          <a:ln w="57150" cmpd="dbl" algn="ctr">
            <a:solidFill>
              <a:srgbClr val="0000CC"/>
            </a:solidFill>
            <a:round/>
            <a:headEnd/>
            <a:tailEnd type="triangle" w="med" len="med"/>
          </a:ln>
          <a:effectLst/>
        </p:spPr>
        <p:txBody>
          <a:bodyPr lIns="0" tIns="0" rIns="0" bIns="0" anchor="ctr"/>
          <a:lstStyle/>
          <a:p>
            <a:pPr algn="ctr"/>
            <a:r>
              <a:rPr lang="zh-TW" altLang="en-US">
                <a:ea typeface="標楷體" pitchFamily="65" charset="-120"/>
              </a:rPr>
              <a:t>廠門過磅</a:t>
            </a:r>
          </a:p>
          <a:p>
            <a:pPr algn="ctr"/>
            <a:r>
              <a:rPr lang="zh-TW" altLang="en-US">
                <a:ea typeface="標楷體" pitchFamily="65" charset="-120"/>
              </a:rPr>
              <a:t>出廠</a:t>
            </a:r>
            <a:endParaRPr lang="en-US" altLang="zh-TW">
              <a:ea typeface="標楷體" pitchFamily="65" charset="-120"/>
            </a:endParaRPr>
          </a:p>
        </p:txBody>
      </p:sp>
      <p:cxnSp>
        <p:nvCxnSpPr>
          <p:cNvPr id="123917" name="肘形接點 5"/>
          <p:cNvCxnSpPr>
            <a:cxnSpLocks noChangeShapeType="1"/>
            <a:stCxn id="123912" idx="3"/>
            <a:endCxn id="123926" idx="1"/>
          </p:cNvCxnSpPr>
          <p:nvPr/>
        </p:nvCxnSpPr>
        <p:spPr bwMode="auto">
          <a:xfrm flipV="1">
            <a:off x="3540125" y="3851275"/>
            <a:ext cx="450850" cy="1588"/>
          </a:xfrm>
          <a:prstGeom prst="bentConnector3">
            <a:avLst>
              <a:gd name="adj1" fmla="val 49648"/>
            </a:avLst>
          </a:prstGeom>
          <a:noFill/>
          <a:ln w="76200" algn="ctr">
            <a:solidFill>
              <a:srgbClr val="0000CC"/>
            </a:solidFill>
            <a:round/>
            <a:headEnd/>
            <a:tailEnd type="triangle" w="med" len="med"/>
          </a:ln>
          <a:effectLst/>
        </p:spPr>
      </p:cxnSp>
      <p:cxnSp>
        <p:nvCxnSpPr>
          <p:cNvPr id="123918" name="肘形接點 5"/>
          <p:cNvCxnSpPr>
            <a:cxnSpLocks noChangeShapeType="1"/>
            <a:stCxn id="123924" idx="3"/>
            <a:endCxn id="123925" idx="1"/>
          </p:cNvCxnSpPr>
          <p:nvPr/>
        </p:nvCxnSpPr>
        <p:spPr bwMode="auto">
          <a:xfrm flipV="1">
            <a:off x="3576638" y="6186488"/>
            <a:ext cx="441325" cy="1587"/>
          </a:xfrm>
          <a:prstGeom prst="bentConnector3">
            <a:avLst>
              <a:gd name="adj1" fmla="val 49639"/>
            </a:avLst>
          </a:prstGeom>
          <a:noFill/>
          <a:ln w="76200" algn="ctr">
            <a:solidFill>
              <a:srgbClr val="0000CC"/>
            </a:solidFill>
            <a:round/>
            <a:headEnd/>
            <a:tailEnd type="triangle" w="med" len="med"/>
          </a:ln>
          <a:effectLst/>
        </p:spPr>
      </p:cxnSp>
      <p:cxnSp>
        <p:nvCxnSpPr>
          <p:cNvPr id="123919" name="肘形接點 5"/>
          <p:cNvCxnSpPr>
            <a:cxnSpLocks noChangeShapeType="1"/>
          </p:cNvCxnSpPr>
          <p:nvPr/>
        </p:nvCxnSpPr>
        <p:spPr bwMode="auto">
          <a:xfrm>
            <a:off x="5508625" y="5067300"/>
            <a:ext cx="387350" cy="1588"/>
          </a:xfrm>
          <a:prstGeom prst="bentConnector3">
            <a:avLst>
              <a:gd name="adj1" fmla="val 50000"/>
            </a:avLst>
          </a:prstGeom>
          <a:noFill/>
          <a:ln w="76200" algn="ctr">
            <a:solidFill>
              <a:srgbClr val="0000CC"/>
            </a:solidFill>
            <a:round/>
            <a:headEnd/>
            <a:tailEnd type="triangle" w="med" len="med"/>
          </a:ln>
          <a:effectLst/>
        </p:spPr>
      </p:cxnSp>
      <p:cxnSp>
        <p:nvCxnSpPr>
          <p:cNvPr id="123920" name="肘形接點 5"/>
          <p:cNvCxnSpPr>
            <a:cxnSpLocks noChangeShapeType="1"/>
          </p:cNvCxnSpPr>
          <p:nvPr/>
        </p:nvCxnSpPr>
        <p:spPr bwMode="auto">
          <a:xfrm>
            <a:off x="7312025" y="5108575"/>
            <a:ext cx="387350" cy="1588"/>
          </a:xfrm>
          <a:prstGeom prst="bentConnector3">
            <a:avLst>
              <a:gd name="adj1" fmla="val 50000"/>
            </a:avLst>
          </a:prstGeom>
          <a:noFill/>
          <a:ln w="76200" algn="ctr">
            <a:solidFill>
              <a:srgbClr val="0000CC"/>
            </a:solidFill>
            <a:round/>
            <a:headEnd/>
            <a:tailEnd type="triangle" w="med" len="med"/>
          </a:ln>
          <a:effectLst/>
        </p:spPr>
      </p:cxnSp>
      <p:cxnSp>
        <p:nvCxnSpPr>
          <p:cNvPr id="123921" name="肘形接點 5"/>
          <p:cNvCxnSpPr>
            <a:cxnSpLocks noChangeShapeType="1"/>
          </p:cNvCxnSpPr>
          <p:nvPr/>
        </p:nvCxnSpPr>
        <p:spPr bwMode="auto">
          <a:xfrm rot="5400000">
            <a:off x="4579144" y="5618957"/>
            <a:ext cx="407987" cy="0"/>
          </a:xfrm>
          <a:prstGeom prst="straightConnector1">
            <a:avLst/>
          </a:prstGeom>
          <a:noFill/>
          <a:ln w="57150" algn="ctr">
            <a:solidFill>
              <a:srgbClr val="0000CC"/>
            </a:solidFill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123922" name="肘形接點 5"/>
          <p:cNvCxnSpPr>
            <a:cxnSpLocks noChangeShapeType="1"/>
            <a:stCxn id="123913" idx="3"/>
            <a:endCxn id="123924" idx="1"/>
          </p:cNvCxnSpPr>
          <p:nvPr/>
        </p:nvCxnSpPr>
        <p:spPr bwMode="auto">
          <a:xfrm flipV="1">
            <a:off x="1633538" y="6188075"/>
            <a:ext cx="547687" cy="1588"/>
          </a:xfrm>
          <a:prstGeom prst="bentConnector3">
            <a:avLst>
              <a:gd name="adj1" fmla="val 49856"/>
            </a:avLst>
          </a:prstGeom>
          <a:noFill/>
          <a:ln w="76200" algn="ctr">
            <a:solidFill>
              <a:srgbClr val="0000CC"/>
            </a:solidFill>
            <a:round/>
            <a:headEnd/>
            <a:tailEnd type="triangle" w="med" len="med"/>
          </a:ln>
          <a:effectLst/>
        </p:spPr>
      </p:cxnSp>
      <p:sp>
        <p:nvSpPr>
          <p:cNvPr id="123924" name="矩形 18"/>
          <p:cNvSpPr>
            <a:spLocks noChangeArrowheads="1"/>
          </p:cNvSpPr>
          <p:nvPr/>
        </p:nvSpPr>
        <p:spPr bwMode="auto">
          <a:xfrm>
            <a:off x="2209800" y="5797550"/>
            <a:ext cx="1338263" cy="781050"/>
          </a:xfrm>
          <a:prstGeom prst="rect">
            <a:avLst/>
          </a:prstGeom>
          <a:noFill/>
          <a:ln w="57150" cmpd="dbl" algn="ctr">
            <a:solidFill>
              <a:srgbClr val="0000CC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/>
            <a:r>
              <a:rPr lang="zh-TW" altLang="en-US">
                <a:ea typeface="標楷體" pitchFamily="65" charset="-120"/>
              </a:rPr>
              <a:t>交運單</a:t>
            </a:r>
          </a:p>
          <a:p>
            <a:pPr algn="ctr"/>
            <a:r>
              <a:rPr kumimoji="0" lang="zh-TW" altLang="en-US">
                <a:ea typeface="標楷體" pitchFamily="65" charset="-120"/>
              </a:rPr>
              <a:t>開立</a:t>
            </a:r>
          </a:p>
        </p:txBody>
      </p:sp>
      <p:sp>
        <p:nvSpPr>
          <p:cNvPr id="123925" name="矩形 18"/>
          <p:cNvSpPr>
            <a:spLocks noChangeArrowheads="1"/>
          </p:cNvSpPr>
          <p:nvPr/>
        </p:nvSpPr>
        <p:spPr bwMode="auto">
          <a:xfrm>
            <a:off x="4046538" y="5795963"/>
            <a:ext cx="1433512" cy="781050"/>
          </a:xfrm>
          <a:prstGeom prst="rect">
            <a:avLst/>
          </a:prstGeom>
          <a:noFill/>
          <a:ln w="57150" cmpd="dbl" algn="ctr">
            <a:solidFill>
              <a:srgbClr val="0000CC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/>
            <a:r>
              <a:rPr lang="zh-TW" altLang="en-US">
                <a:ea typeface="標楷體" pitchFamily="65" charset="-120"/>
              </a:rPr>
              <a:t>承運資料</a:t>
            </a:r>
          </a:p>
          <a:p>
            <a:pPr algn="ctr"/>
            <a:r>
              <a:rPr lang="zh-TW" altLang="en-US">
                <a:ea typeface="標楷體" pitchFamily="65" charset="-120"/>
              </a:rPr>
              <a:t>輸入</a:t>
            </a:r>
          </a:p>
        </p:txBody>
      </p:sp>
      <p:sp>
        <p:nvSpPr>
          <p:cNvPr id="123926" name="矩形 18"/>
          <p:cNvSpPr>
            <a:spLocks noChangeArrowheads="1"/>
          </p:cNvSpPr>
          <p:nvPr/>
        </p:nvSpPr>
        <p:spPr bwMode="auto">
          <a:xfrm>
            <a:off x="4019550" y="3460750"/>
            <a:ext cx="1443038" cy="781050"/>
          </a:xfrm>
          <a:prstGeom prst="rect">
            <a:avLst/>
          </a:prstGeom>
          <a:noFill/>
          <a:ln w="57150" cmpd="dbl" algn="ctr">
            <a:solidFill>
              <a:srgbClr val="0000CC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/>
            <a:r>
              <a:rPr lang="zh-TW" altLang="en-US">
                <a:ea typeface="標楷體" pitchFamily="65" charset="-120"/>
              </a:rPr>
              <a:t>承運資料</a:t>
            </a:r>
          </a:p>
          <a:p>
            <a:pPr algn="ctr"/>
            <a:r>
              <a:rPr lang="zh-TW" altLang="en-US">
                <a:ea typeface="標楷體" pitchFamily="65" charset="-120"/>
              </a:rPr>
              <a:t>輸入</a:t>
            </a:r>
          </a:p>
        </p:txBody>
      </p:sp>
      <p:cxnSp>
        <p:nvCxnSpPr>
          <p:cNvPr id="123927" name="肘形接點 5"/>
          <p:cNvCxnSpPr>
            <a:cxnSpLocks noChangeShapeType="1"/>
            <a:endCxn id="123912" idx="1"/>
          </p:cNvCxnSpPr>
          <p:nvPr/>
        </p:nvCxnSpPr>
        <p:spPr bwMode="auto">
          <a:xfrm flipV="1">
            <a:off x="1633538" y="3852863"/>
            <a:ext cx="511175" cy="1587"/>
          </a:xfrm>
          <a:prstGeom prst="bentConnector3">
            <a:avLst>
              <a:gd name="adj1" fmla="val 52796"/>
            </a:avLst>
          </a:prstGeom>
          <a:noFill/>
          <a:ln w="76200" algn="ctr">
            <a:solidFill>
              <a:srgbClr val="0000CC"/>
            </a:solidFill>
            <a:round/>
            <a:headEnd/>
            <a:tailEnd type="triangle" w="med" len="med"/>
          </a:ln>
          <a:effectLst/>
        </p:spPr>
      </p:cxnSp>
      <p:cxnSp>
        <p:nvCxnSpPr>
          <p:cNvPr id="123928" name="肘形接點 5"/>
          <p:cNvCxnSpPr>
            <a:cxnSpLocks noChangeShapeType="1"/>
            <a:endCxn id="123929" idx="0"/>
          </p:cNvCxnSpPr>
          <p:nvPr/>
        </p:nvCxnSpPr>
        <p:spPr bwMode="auto">
          <a:xfrm rot="5400000">
            <a:off x="4564063" y="4425950"/>
            <a:ext cx="409575" cy="3175"/>
          </a:xfrm>
          <a:prstGeom prst="bentConnector3">
            <a:avLst>
              <a:gd name="adj1" fmla="val 53486"/>
            </a:avLst>
          </a:prstGeom>
          <a:noFill/>
          <a:ln w="57150" algn="ctr">
            <a:solidFill>
              <a:srgbClr val="0000CC"/>
            </a:solidFill>
            <a:round/>
            <a:headEnd type="triangle" w="med" len="med"/>
            <a:tailEnd type="triangle" w="med" len="med"/>
          </a:ln>
          <a:effectLst/>
        </p:spPr>
      </p:cxnSp>
      <p:sp>
        <p:nvSpPr>
          <p:cNvPr id="123929" name="矩形 18"/>
          <p:cNvSpPr>
            <a:spLocks noChangeArrowheads="1"/>
          </p:cNvSpPr>
          <p:nvPr/>
        </p:nvSpPr>
        <p:spPr bwMode="auto">
          <a:xfrm>
            <a:off x="4035425" y="4660900"/>
            <a:ext cx="1462088" cy="800100"/>
          </a:xfrm>
          <a:prstGeom prst="rect">
            <a:avLst/>
          </a:prstGeom>
          <a:noFill/>
          <a:ln w="57150" cmpd="dbl" algn="ctr">
            <a:solidFill>
              <a:srgbClr val="0000CC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 eaLnBrk="1" hangingPunct="1">
              <a:lnSpc>
                <a:spcPct val="70000"/>
              </a:lnSpc>
            </a:pPr>
            <a:r>
              <a:rPr lang="zh-TW" altLang="en-US" sz="220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自動擷取</a:t>
            </a:r>
          </a:p>
          <a:p>
            <a:pPr algn="ctr" eaLnBrk="1" hangingPunct="1">
              <a:lnSpc>
                <a:spcPct val="70000"/>
              </a:lnSpc>
            </a:pPr>
            <a:r>
              <a:rPr lang="zh-TW" altLang="en-US" sz="220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跨事業部</a:t>
            </a:r>
          </a:p>
          <a:p>
            <a:pPr algn="ctr" eaLnBrk="1" hangingPunct="1">
              <a:lnSpc>
                <a:spcPct val="70000"/>
              </a:lnSpc>
            </a:pPr>
            <a:r>
              <a:rPr lang="zh-TW" altLang="en-US" sz="220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併車資料</a:t>
            </a:r>
          </a:p>
        </p:txBody>
      </p:sp>
      <p:sp>
        <p:nvSpPr>
          <p:cNvPr id="123930" name="Rectangle 23"/>
          <p:cNvSpPr>
            <a:spLocks noChangeArrowheads="1"/>
          </p:cNvSpPr>
          <p:nvPr/>
        </p:nvSpPr>
        <p:spPr bwMode="auto">
          <a:xfrm>
            <a:off x="-1588" y="725488"/>
            <a:ext cx="9144001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一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.</a:t>
            </a:r>
            <a:r>
              <a:rPr kumimoji="0" lang="zh-TW" altLang="en-US" sz="320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程式檔案關聯管理機制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】</a:t>
            </a:r>
            <a:endParaRPr lang="zh-TW" altLang="en-US" sz="32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12"/>
          <p:cNvPicPr>
            <a:picLocks noChangeAspect="1" noChangeArrowheads="1"/>
          </p:cNvPicPr>
          <p:nvPr/>
        </p:nvPicPr>
        <p:blipFill>
          <a:blip r:embed="rId3" cstate="print"/>
          <a:srcRect l="19164" t="12341" r="31313" b="67883"/>
          <a:stretch>
            <a:fillRect/>
          </a:stretch>
        </p:blipFill>
        <p:spPr bwMode="auto">
          <a:xfrm>
            <a:off x="0" y="3367088"/>
            <a:ext cx="7102475" cy="2392362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</p:spPr>
      </p:pic>
      <p:sp>
        <p:nvSpPr>
          <p:cNvPr id="21507" name="圓角矩形 14"/>
          <p:cNvSpPr>
            <a:spLocks noChangeArrowheads="1"/>
          </p:cNvSpPr>
          <p:nvPr/>
        </p:nvSpPr>
        <p:spPr bwMode="auto">
          <a:xfrm>
            <a:off x="309563" y="1814513"/>
            <a:ext cx="8680450" cy="1292225"/>
          </a:xfrm>
          <a:prstGeom prst="roundRect">
            <a:avLst>
              <a:gd name="adj" fmla="val 7097"/>
            </a:avLst>
          </a:prstGeom>
          <a:noFill/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just"/>
            <a:r>
              <a:rPr lang="zh-TW" altLang="en-US">
                <a:latin typeface="標楷體" pitchFamily="65" charset="-120"/>
                <a:ea typeface="標楷體" pitchFamily="65" charset="-120"/>
              </a:rPr>
              <a:t>為達到跨事業部併車交運功能，考量不同事業部間可相互擷取併車資料，本案由負責電子部營管作業程式員規劃「南亞跨事業部併車交運資料檔」，以供關聯作業使用。</a:t>
            </a:r>
          </a:p>
        </p:txBody>
      </p:sp>
      <p:sp>
        <p:nvSpPr>
          <p:cNvPr id="21508" name="五邊形 19"/>
          <p:cNvSpPr>
            <a:spLocks noChangeArrowheads="1"/>
          </p:cNvSpPr>
          <p:nvPr/>
        </p:nvSpPr>
        <p:spPr bwMode="auto">
          <a:xfrm>
            <a:off x="123825" y="1295400"/>
            <a:ext cx="3559175" cy="466725"/>
          </a:xfrm>
          <a:prstGeom prst="homePlate">
            <a:avLst>
              <a:gd name="adj" fmla="val 67574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>
                <a:latin typeface="標楷體" pitchFamily="65" charset="-120"/>
                <a:ea typeface="標楷體" pitchFamily="65" charset="-120"/>
              </a:rPr>
              <a:t>案例說明</a:t>
            </a:r>
            <a:r>
              <a:rPr lang="en-US" altLang="zh-TW">
                <a:latin typeface="標楷體" pitchFamily="65" charset="-120"/>
                <a:ea typeface="標楷體" pitchFamily="65" charset="-120"/>
              </a:rPr>
              <a:t>:</a:t>
            </a:r>
            <a:r>
              <a:rPr lang="zh-TW" altLang="en-US">
                <a:latin typeface="標楷體" pitchFamily="65" charset="-120"/>
                <a:ea typeface="標楷體" pitchFamily="65" charset="-120"/>
              </a:rPr>
              <a:t>關聯檔案建立</a:t>
            </a:r>
          </a:p>
        </p:txBody>
      </p:sp>
      <p:sp>
        <p:nvSpPr>
          <p:cNvPr id="21509" name="五邊形 16"/>
          <p:cNvSpPr>
            <a:spLocks noChangeArrowheads="1"/>
          </p:cNvSpPr>
          <p:nvPr/>
        </p:nvSpPr>
        <p:spPr bwMode="auto">
          <a:xfrm>
            <a:off x="92075" y="3213100"/>
            <a:ext cx="3325813" cy="436563"/>
          </a:xfrm>
          <a:prstGeom prst="homePlate">
            <a:avLst>
              <a:gd name="adj" fmla="val 45956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 sz="2200">
                <a:latin typeface="標楷體" pitchFamily="65" charset="-120"/>
                <a:ea typeface="標楷體" pitchFamily="65" charset="-120"/>
              </a:rPr>
              <a:t>ERP</a:t>
            </a:r>
            <a:r>
              <a:rPr lang="zh-TW" altLang="en-US" sz="2200">
                <a:latin typeface="標楷體" pitchFamily="65" charset="-120"/>
                <a:ea typeface="標楷體" pitchFamily="65" charset="-120"/>
              </a:rPr>
              <a:t>電腦檔案欄位說明表</a:t>
            </a:r>
            <a:endParaRPr lang="en-US" altLang="zh-TW" sz="2200"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21510" name="Picture 1"/>
          <p:cNvPicPr>
            <a:picLocks noChangeAspect="1" noChangeArrowheads="1"/>
          </p:cNvPicPr>
          <p:nvPr/>
        </p:nvPicPr>
        <p:blipFill>
          <a:blip r:embed="rId4" cstate="print"/>
          <a:srcRect r="50000"/>
          <a:stretch>
            <a:fillRect/>
          </a:stretch>
        </p:blipFill>
        <p:spPr bwMode="auto">
          <a:xfrm>
            <a:off x="4479925" y="4275138"/>
            <a:ext cx="4594225" cy="2149475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</p:spPr>
      </p:pic>
      <p:sp>
        <p:nvSpPr>
          <p:cNvPr id="21511" name="圓角矩形圖說文字 9"/>
          <p:cNvSpPr>
            <a:spLocks noChangeArrowheads="1"/>
          </p:cNvSpPr>
          <p:nvPr/>
        </p:nvSpPr>
        <p:spPr bwMode="auto">
          <a:xfrm>
            <a:off x="996950" y="5129213"/>
            <a:ext cx="3095625" cy="884237"/>
          </a:xfrm>
          <a:prstGeom prst="wedgeRoundRectCallout">
            <a:avLst>
              <a:gd name="adj1" fmla="val 16102"/>
              <a:gd name="adj2" fmla="val -121991"/>
              <a:gd name="adj3" fmla="val 16667"/>
            </a:avLst>
          </a:prstGeom>
          <a:solidFill>
            <a:srgbClr val="FFFF99"/>
          </a:solidFill>
          <a:ln w="28575" algn="ctr">
            <a:solidFill>
              <a:srgbClr val="0000CC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/>
            <a:r>
              <a:rPr lang="zh-TW" altLang="en-US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增設「南亞跨事業部併車交運資料檔」</a:t>
            </a:r>
          </a:p>
        </p:txBody>
      </p:sp>
      <p:sp>
        <p:nvSpPr>
          <p:cNvPr id="21512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kumimoji="0" lang="zh-TW" altLang="en-US" sz="3600">
                <a:latin typeface="標楷體" pitchFamily="65" charset="-120"/>
                <a:ea typeface="標楷體" pitchFamily="65" charset="-120"/>
              </a:rPr>
              <a:t>資訊部改善實例報告</a:t>
            </a:r>
            <a:endParaRPr lang="zh-TW" altLang="en-US" sz="3600">
              <a:solidFill>
                <a:schemeClr val="tx2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1515" name="Rectangle 23"/>
          <p:cNvSpPr>
            <a:spLocks noChangeArrowheads="1"/>
          </p:cNvSpPr>
          <p:nvPr/>
        </p:nvSpPr>
        <p:spPr bwMode="auto">
          <a:xfrm>
            <a:off x="-1588" y="725488"/>
            <a:ext cx="9144001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一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.</a:t>
            </a:r>
            <a:r>
              <a:rPr kumimoji="0" lang="zh-TW" altLang="en-US" sz="320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程式檔案關聯管理機制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】</a:t>
            </a:r>
            <a:endParaRPr lang="zh-TW" altLang="en-US" sz="32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圓角矩形 14"/>
          <p:cNvSpPr>
            <a:spLocks noChangeArrowheads="1"/>
          </p:cNvSpPr>
          <p:nvPr/>
        </p:nvSpPr>
        <p:spPr bwMode="auto">
          <a:xfrm>
            <a:off x="309563" y="1662113"/>
            <a:ext cx="8680450" cy="1062037"/>
          </a:xfrm>
          <a:prstGeom prst="roundRect">
            <a:avLst>
              <a:gd name="adj" fmla="val 7097"/>
            </a:avLst>
          </a:prstGeom>
          <a:noFill/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>
              <a:lnSpc>
                <a:spcPct val="90000"/>
              </a:lnSpc>
            </a:pPr>
            <a:r>
              <a:rPr lang="zh-TW" altLang="en-US">
                <a:ea typeface="標楷體" pitchFamily="65" charset="-120"/>
              </a:rPr>
              <a:t>因檔案為負責電子部營管作業程式員開立，故由負責化工部營管作業程式員</a:t>
            </a:r>
            <a:r>
              <a:rPr lang="zh-TW" altLang="en-US">
                <a:latin typeface="標楷體" pitchFamily="65" charset="-120"/>
                <a:ea typeface="標楷體" pitchFamily="65" charset="-120"/>
              </a:rPr>
              <a:t>提出申請，待主管核簽後，完成授權並建立相互作業關聯。</a:t>
            </a:r>
          </a:p>
        </p:txBody>
      </p:sp>
      <p:sp>
        <p:nvSpPr>
          <p:cNvPr id="23555" name="五邊形 19"/>
          <p:cNvSpPr>
            <a:spLocks noChangeArrowheads="1"/>
          </p:cNvSpPr>
          <p:nvPr/>
        </p:nvSpPr>
        <p:spPr bwMode="auto">
          <a:xfrm>
            <a:off x="123825" y="1247775"/>
            <a:ext cx="3713163" cy="466725"/>
          </a:xfrm>
          <a:prstGeom prst="homePlate">
            <a:avLst>
              <a:gd name="adj" fmla="val 68655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>
                <a:latin typeface="標楷體" pitchFamily="65" charset="-120"/>
                <a:ea typeface="標楷體" pitchFamily="65" charset="-120"/>
              </a:rPr>
              <a:t>案例說明</a:t>
            </a:r>
            <a:r>
              <a:rPr lang="en-US" altLang="zh-TW">
                <a:latin typeface="標楷體" pitchFamily="65" charset="-120"/>
                <a:ea typeface="標楷體" pitchFamily="65" charset="-120"/>
              </a:rPr>
              <a:t>:</a:t>
            </a:r>
            <a:r>
              <a:rPr lang="zh-TW" altLang="en-US">
                <a:latin typeface="標楷體" pitchFamily="65" charset="-120"/>
                <a:ea typeface="標楷體" pitchFamily="65" charset="-120"/>
              </a:rPr>
              <a:t>關聯檔案申請</a:t>
            </a:r>
          </a:p>
        </p:txBody>
      </p:sp>
      <p:pic>
        <p:nvPicPr>
          <p:cNvPr id="23556" name="Picture 7"/>
          <p:cNvPicPr>
            <a:picLocks noChangeAspect="1" noChangeArrowheads="1"/>
          </p:cNvPicPr>
          <p:nvPr/>
        </p:nvPicPr>
        <p:blipFill>
          <a:blip r:embed="rId3" cstate="print"/>
          <a:srcRect l="34392" t="14055" r="33058" b="59415"/>
          <a:stretch>
            <a:fillRect/>
          </a:stretch>
        </p:blipFill>
        <p:spPr bwMode="auto">
          <a:xfrm>
            <a:off x="1511300" y="3094038"/>
            <a:ext cx="7372350" cy="3379787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</p:spPr>
      </p:pic>
      <p:sp>
        <p:nvSpPr>
          <p:cNvPr id="23557" name="五邊形 16"/>
          <p:cNvSpPr>
            <a:spLocks noChangeArrowheads="1"/>
          </p:cNvSpPr>
          <p:nvPr/>
        </p:nvSpPr>
        <p:spPr bwMode="auto">
          <a:xfrm>
            <a:off x="92075" y="2732088"/>
            <a:ext cx="4094163" cy="436562"/>
          </a:xfrm>
          <a:prstGeom prst="homePlate">
            <a:avLst>
              <a:gd name="adj" fmla="val 45936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 sz="2200">
                <a:latin typeface="標楷體" pitchFamily="65" charset="-120"/>
                <a:ea typeface="標楷體" pitchFamily="65" charset="-120"/>
              </a:rPr>
              <a:t>OA</a:t>
            </a:r>
            <a:r>
              <a:rPr lang="zh-TW" altLang="en-US" sz="2200">
                <a:latin typeface="標楷體" pitchFamily="65" charset="-120"/>
                <a:ea typeface="標楷體" pitchFamily="65" charset="-120"/>
              </a:rPr>
              <a:t>資料庫關聯物件權限申請單</a:t>
            </a:r>
            <a:endParaRPr lang="en-US" altLang="zh-TW" sz="220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3559" name="圓角矩形圖說文字 13"/>
          <p:cNvSpPr>
            <a:spLocks noChangeArrowheads="1"/>
          </p:cNvSpPr>
          <p:nvPr/>
        </p:nvSpPr>
        <p:spPr bwMode="auto">
          <a:xfrm>
            <a:off x="4859338" y="5649913"/>
            <a:ext cx="2541587" cy="884237"/>
          </a:xfrm>
          <a:prstGeom prst="wedgeRoundRectCallout">
            <a:avLst>
              <a:gd name="adj1" fmla="val -44005"/>
              <a:gd name="adj2" fmla="val -64903"/>
              <a:gd name="adj3" fmla="val 16667"/>
            </a:avLst>
          </a:prstGeom>
          <a:solidFill>
            <a:srgbClr val="FFFF99"/>
          </a:solidFill>
          <a:ln w="28575" algn="ctr">
            <a:solidFill>
              <a:srgbClr val="0000CC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/>
            <a:r>
              <a:rPr lang="zh-TW" altLang="en-US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南亞跨事業部併車交運資料檔</a:t>
            </a:r>
          </a:p>
        </p:txBody>
      </p:sp>
      <p:sp>
        <p:nvSpPr>
          <p:cNvPr id="23560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kumimoji="0" lang="zh-TW" altLang="en-US" sz="3600">
                <a:latin typeface="標楷體" pitchFamily="65" charset="-120"/>
                <a:ea typeface="標楷體" pitchFamily="65" charset="-120"/>
              </a:rPr>
              <a:t>資訊部改善實例報告</a:t>
            </a:r>
            <a:endParaRPr lang="zh-TW" altLang="en-US" sz="3600">
              <a:solidFill>
                <a:schemeClr val="tx2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3565" name="Rectangle 13"/>
          <p:cNvSpPr>
            <a:spLocks noChangeArrowheads="1"/>
          </p:cNvSpPr>
          <p:nvPr/>
        </p:nvSpPr>
        <p:spPr bwMode="auto">
          <a:xfrm>
            <a:off x="4038600" y="4090988"/>
            <a:ext cx="9969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rgbClr val="0000CC">
                <a:gamma/>
                <a:shade val="60000"/>
                <a:invGamma/>
              </a:srgbClr>
            </a:prstShdw>
          </a:effectLst>
        </p:spPr>
        <p:txBody>
          <a:bodyPr wrap="none">
            <a:spAutoFit/>
          </a:bodyPr>
          <a:lstStyle/>
          <a:p>
            <a:r>
              <a:rPr lang="zh-TW" altLang="en-US" sz="1600">
                <a:solidFill>
                  <a:srgbClr val="0000CC"/>
                </a:solidFill>
                <a:ea typeface="標楷體" pitchFamily="65" charset="-120"/>
              </a:rPr>
              <a:t>主要經辦</a:t>
            </a:r>
          </a:p>
        </p:txBody>
      </p:sp>
      <p:sp>
        <p:nvSpPr>
          <p:cNvPr id="23566" name="Rectangle 14"/>
          <p:cNvSpPr>
            <a:spLocks noChangeArrowheads="1"/>
          </p:cNvSpPr>
          <p:nvPr/>
        </p:nvSpPr>
        <p:spPr bwMode="auto">
          <a:xfrm>
            <a:off x="4052888" y="3635375"/>
            <a:ext cx="9969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rgbClr val="0000CC">
                <a:gamma/>
                <a:shade val="60000"/>
                <a:invGamma/>
              </a:srgbClr>
            </a:prstShdw>
          </a:effectLst>
        </p:spPr>
        <p:txBody>
          <a:bodyPr wrap="none">
            <a:spAutoFit/>
          </a:bodyPr>
          <a:lstStyle/>
          <a:p>
            <a:r>
              <a:rPr lang="zh-TW" altLang="en-US" sz="1600">
                <a:solidFill>
                  <a:srgbClr val="0000CC"/>
                </a:solidFill>
                <a:ea typeface="標楷體" pitchFamily="65" charset="-120"/>
              </a:rPr>
              <a:t>配合經辦</a:t>
            </a:r>
          </a:p>
        </p:txBody>
      </p:sp>
      <p:sp>
        <p:nvSpPr>
          <p:cNvPr id="23567" name="圓角矩形圖說文字 13"/>
          <p:cNvSpPr>
            <a:spLocks noChangeArrowheads="1"/>
          </p:cNvSpPr>
          <p:nvPr/>
        </p:nvSpPr>
        <p:spPr bwMode="auto">
          <a:xfrm>
            <a:off x="1779588" y="5711825"/>
            <a:ext cx="2106612" cy="896938"/>
          </a:xfrm>
          <a:prstGeom prst="wedgeRoundRectCallout">
            <a:avLst>
              <a:gd name="adj1" fmla="val -29125"/>
              <a:gd name="adj2" fmla="val -66282"/>
              <a:gd name="adj3" fmla="val 16667"/>
            </a:avLst>
          </a:prstGeom>
          <a:solidFill>
            <a:srgbClr val="FFFF99"/>
          </a:solidFill>
          <a:ln w="28575" algn="ctr">
            <a:solidFill>
              <a:srgbClr val="0000CC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>
              <a:lnSpc>
                <a:spcPct val="90000"/>
              </a:lnSpc>
            </a:pPr>
            <a:r>
              <a:rPr lang="zh-TW" altLang="en-US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南亞化工部</a:t>
            </a:r>
          </a:p>
          <a:p>
            <a:pPr algn="ctr">
              <a:lnSpc>
                <a:spcPct val="90000"/>
              </a:lnSpc>
            </a:pPr>
            <a:r>
              <a:rPr lang="zh-TW" altLang="en-US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交運管理</a:t>
            </a:r>
          </a:p>
          <a:p>
            <a:pPr algn="ctr">
              <a:lnSpc>
                <a:spcPct val="90000"/>
              </a:lnSpc>
            </a:pPr>
            <a:r>
              <a:rPr lang="zh-TW" altLang="en-US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關聯作業</a:t>
            </a:r>
          </a:p>
        </p:txBody>
      </p:sp>
      <p:sp>
        <p:nvSpPr>
          <p:cNvPr id="23568" name="Rectangle 23"/>
          <p:cNvSpPr>
            <a:spLocks noChangeArrowheads="1"/>
          </p:cNvSpPr>
          <p:nvPr/>
        </p:nvSpPr>
        <p:spPr bwMode="auto">
          <a:xfrm>
            <a:off x="-1588" y="725488"/>
            <a:ext cx="9144001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一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.</a:t>
            </a:r>
            <a:r>
              <a:rPr kumimoji="0" lang="zh-TW" altLang="en-US" sz="320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程式檔案關聯管理機制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】</a:t>
            </a:r>
            <a:endParaRPr lang="zh-TW" altLang="en-US" sz="32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8" name="Picture 16"/>
          <p:cNvPicPr>
            <a:picLocks noChangeAspect="1" noChangeArrowheads="1"/>
          </p:cNvPicPr>
          <p:nvPr/>
        </p:nvPicPr>
        <p:blipFill>
          <a:blip r:embed="rId3" cstate="print"/>
          <a:srcRect l="15364" t="8647" r="11946" b="45586"/>
          <a:stretch>
            <a:fillRect/>
          </a:stretch>
        </p:blipFill>
        <p:spPr bwMode="auto">
          <a:xfrm>
            <a:off x="112713" y="3057525"/>
            <a:ext cx="9031287" cy="3465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9" name="Picture 20"/>
          <p:cNvPicPr>
            <a:picLocks noChangeAspect="1" noChangeArrowheads="1"/>
          </p:cNvPicPr>
          <p:nvPr/>
        </p:nvPicPr>
        <p:blipFill>
          <a:blip r:embed="rId4" cstate="print"/>
          <a:srcRect b="9290"/>
          <a:stretch>
            <a:fillRect/>
          </a:stretch>
        </p:blipFill>
        <p:spPr bwMode="auto">
          <a:xfrm>
            <a:off x="1538288" y="3400425"/>
            <a:ext cx="2611437" cy="331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10" name="Rectangle 21"/>
          <p:cNvSpPr>
            <a:spLocks noChangeArrowheads="1"/>
          </p:cNvSpPr>
          <p:nvPr/>
        </p:nvSpPr>
        <p:spPr bwMode="auto">
          <a:xfrm>
            <a:off x="1438275" y="3803650"/>
            <a:ext cx="2705100" cy="1014413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5611" name="Rectangle 22"/>
          <p:cNvSpPr>
            <a:spLocks noChangeArrowheads="1"/>
          </p:cNvSpPr>
          <p:nvPr/>
        </p:nvSpPr>
        <p:spPr bwMode="auto">
          <a:xfrm>
            <a:off x="1436688" y="5670550"/>
            <a:ext cx="2752725" cy="102552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5612" name="AutoShape 23"/>
          <p:cNvSpPr>
            <a:spLocks noChangeArrowheads="1"/>
          </p:cNvSpPr>
          <p:nvPr/>
        </p:nvSpPr>
        <p:spPr bwMode="auto">
          <a:xfrm rot="5400000">
            <a:off x="2543969" y="4779169"/>
            <a:ext cx="608012" cy="1066800"/>
          </a:xfrm>
          <a:prstGeom prst="rightArrow">
            <a:avLst>
              <a:gd name="adj1" fmla="val 50000"/>
              <a:gd name="adj2" fmla="val 25000"/>
            </a:avLst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5613" name="Rectangle 24"/>
          <p:cNvSpPr>
            <a:spLocks noChangeArrowheads="1"/>
          </p:cNvSpPr>
          <p:nvPr/>
        </p:nvSpPr>
        <p:spPr bwMode="auto">
          <a:xfrm>
            <a:off x="4194175" y="4287838"/>
            <a:ext cx="1098550" cy="457200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>
                <a:latin typeface="標楷體" pitchFamily="65" charset="-120"/>
                <a:ea typeface="標楷體" pitchFamily="65" charset="-120"/>
              </a:rPr>
              <a:t>修改前</a:t>
            </a:r>
          </a:p>
        </p:txBody>
      </p:sp>
      <p:sp>
        <p:nvSpPr>
          <p:cNvPr id="25614" name="Rectangle 25"/>
          <p:cNvSpPr>
            <a:spLocks noChangeArrowheads="1"/>
          </p:cNvSpPr>
          <p:nvPr/>
        </p:nvSpPr>
        <p:spPr bwMode="auto">
          <a:xfrm>
            <a:off x="4240213" y="5900738"/>
            <a:ext cx="1098550" cy="457200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>
                <a:latin typeface="標楷體" pitchFamily="65" charset="-120"/>
                <a:ea typeface="標楷體" pitchFamily="65" charset="-120"/>
              </a:rPr>
              <a:t>修改後</a:t>
            </a:r>
          </a:p>
        </p:txBody>
      </p:sp>
      <p:sp>
        <p:nvSpPr>
          <p:cNvPr id="25603" name="圓角矩形 14"/>
          <p:cNvSpPr>
            <a:spLocks noChangeArrowheads="1"/>
          </p:cNvSpPr>
          <p:nvPr/>
        </p:nvSpPr>
        <p:spPr bwMode="auto">
          <a:xfrm>
            <a:off x="309563" y="1690688"/>
            <a:ext cx="8680450" cy="1211262"/>
          </a:xfrm>
          <a:prstGeom prst="roundRect">
            <a:avLst>
              <a:gd name="adj" fmla="val 7097"/>
            </a:avLst>
          </a:prstGeom>
          <a:noFill/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>
              <a:lnSpc>
                <a:spcPct val="79000"/>
              </a:lnSpc>
            </a:pPr>
            <a:r>
              <a:rPr lang="zh-TW" altLang="en-US" sz="2300">
                <a:latin typeface="標楷體" pitchFamily="65" charset="-120"/>
                <a:ea typeface="標楷體" pitchFamily="65" charset="-120"/>
              </a:rPr>
              <a:t>負責電子部營管作業程式員未考慮化工部營管作業產品編號原則，以電子部營管作業</a:t>
            </a:r>
            <a:r>
              <a:rPr lang="en-US" altLang="zh-TW" sz="2300">
                <a:latin typeface="標楷體" pitchFamily="65" charset="-120"/>
                <a:ea typeface="標楷體" pitchFamily="65" charset="-120"/>
              </a:rPr>
              <a:t>2</a:t>
            </a:r>
            <a:r>
              <a:rPr lang="zh-TW" altLang="en-US" sz="2300">
                <a:latin typeface="標楷體" pitchFamily="65" charset="-120"/>
                <a:ea typeface="標楷體" pitchFamily="65" charset="-120"/>
              </a:rPr>
              <a:t>位產品類別做規劃，經負責化工部營管作業程式員測試後，發現產品類別</a:t>
            </a:r>
            <a:r>
              <a:rPr lang="en-US" altLang="zh-TW" sz="2300">
                <a:latin typeface="標楷體" pitchFamily="65" charset="-120"/>
                <a:ea typeface="標楷體" pitchFamily="65" charset="-120"/>
              </a:rPr>
              <a:t>5</a:t>
            </a:r>
            <a:r>
              <a:rPr lang="zh-TW" altLang="en-US" sz="2300">
                <a:latin typeface="標楷體" pitchFamily="65" charset="-120"/>
                <a:ea typeface="標楷體" pitchFamily="65" charset="-120"/>
              </a:rPr>
              <a:t>位無法寫入，經討論後將欄位長度由</a:t>
            </a:r>
            <a:r>
              <a:rPr lang="en-US" altLang="zh-TW" sz="2300">
                <a:latin typeface="標楷體" pitchFamily="65" charset="-120"/>
                <a:ea typeface="標楷體" pitchFamily="65" charset="-120"/>
              </a:rPr>
              <a:t>2</a:t>
            </a:r>
            <a:r>
              <a:rPr lang="zh-TW" altLang="en-US" sz="2300">
                <a:latin typeface="標楷體" pitchFamily="65" charset="-120"/>
                <a:ea typeface="標楷體" pitchFamily="65" charset="-120"/>
              </a:rPr>
              <a:t>位變為</a:t>
            </a:r>
            <a:r>
              <a:rPr lang="en-US" altLang="zh-TW" sz="2300">
                <a:latin typeface="標楷體" pitchFamily="65" charset="-120"/>
                <a:ea typeface="標楷體" pitchFamily="65" charset="-120"/>
              </a:rPr>
              <a:t>5</a:t>
            </a:r>
            <a:r>
              <a:rPr lang="zh-TW" altLang="en-US" sz="2300">
                <a:latin typeface="標楷體" pitchFamily="65" charset="-120"/>
                <a:ea typeface="標楷體" pitchFamily="65" charset="-120"/>
              </a:rPr>
              <a:t>位，</a:t>
            </a:r>
            <a:r>
              <a:rPr lang="zh-TW" altLang="en-US" sz="2300" u="sng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依規定修改「資料記錄說明」後，再經由主管覆核</a:t>
            </a:r>
            <a:r>
              <a:rPr lang="zh-TW" altLang="en-US" sz="2300">
                <a:latin typeface="標楷體" pitchFamily="65" charset="-120"/>
                <a:ea typeface="標楷體" pitchFamily="65" charset="-120"/>
              </a:rPr>
              <a:t>。</a:t>
            </a:r>
          </a:p>
        </p:txBody>
      </p:sp>
      <p:sp>
        <p:nvSpPr>
          <p:cNvPr id="25604" name="五邊形 19"/>
          <p:cNvSpPr>
            <a:spLocks noChangeArrowheads="1"/>
          </p:cNvSpPr>
          <p:nvPr/>
        </p:nvSpPr>
        <p:spPr bwMode="auto">
          <a:xfrm>
            <a:off x="127000" y="1257300"/>
            <a:ext cx="4187825" cy="466725"/>
          </a:xfrm>
          <a:prstGeom prst="homePlate">
            <a:avLst>
              <a:gd name="adj" fmla="val 66382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>
                <a:latin typeface="標楷體" pitchFamily="65" charset="-120"/>
                <a:ea typeface="標楷體" pitchFamily="65" charset="-120"/>
              </a:rPr>
              <a:t>案例說明</a:t>
            </a:r>
            <a:r>
              <a:rPr lang="en-US" altLang="zh-TW">
                <a:latin typeface="標楷體" pitchFamily="65" charset="-120"/>
                <a:ea typeface="標楷體" pitchFamily="65" charset="-120"/>
              </a:rPr>
              <a:t>:</a:t>
            </a:r>
            <a:r>
              <a:rPr lang="zh-TW" altLang="en-US">
                <a:latin typeface="標楷體" pitchFamily="65" charset="-120"/>
                <a:ea typeface="標楷體" pitchFamily="65" charset="-120"/>
              </a:rPr>
              <a:t>檔案欄位長度修改</a:t>
            </a:r>
          </a:p>
        </p:txBody>
      </p:sp>
      <p:sp>
        <p:nvSpPr>
          <p:cNvPr id="25605" name="五邊形 16"/>
          <p:cNvSpPr>
            <a:spLocks noChangeArrowheads="1"/>
          </p:cNvSpPr>
          <p:nvPr/>
        </p:nvSpPr>
        <p:spPr bwMode="auto">
          <a:xfrm>
            <a:off x="139700" y="2855913"/>
            <a:ext cx="3937000" cy="436562"/>
          </a:xfrm>
          <a:prstGeom prst="homePlate">
            <a:avLst>
              <a:gd name="adj" fmla="val 45926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 sz="2200">
                <a:latin typeface="標楷體" pitchFamily="65" charset="-120"/>
                <a:ea typeface="標楷體" pitchFamily="65" charset="-120"/>
              </a:rPr>
              <a:t>ERP</a:t>
            </a:r>
            <a:r>
              <a:rPr lang="zh-TW" altLang="en-US" sz="2200">
                <a:latin typeface="標楷體" pitchFamily="65" charset="-120"/>
                <a:ea typeface="標楷體" pitchFamily="65" charset="-120"/>
              </a:rPr>
              <a:t>電腦檔案欄位異動明細表</a:t>
            </a:r>
            <a:endParaRPr lang="en-US" altLang="zh-TW" sz="220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5606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kumimoji="0" lang="zh-TW" altLang="en-US" sz="3600">
                <a:latin typeface="標楷體" pitchFamily="65" charset="-120"/>
                <a:ea typeface="標楷體" pitchFamily="65" charset="-120"/>
              </a:rPr>
              <a:t>資訊部改善實例報告</a:t>
            </a:r>
            <a:endParaRPr lang="zh-TW" altLang="en-US" sz="3600">
              <a:solidFill>
                <a:schemeClr val="tx2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5618" name="Rectangle 23"/>
          <p:cNvSpPr>
            <a:spLocks noChangeArrowheads="1"/>
          </p:cNvSpPr>
          <p:nvPr/>
        </p:nvSpPr>
        <p:spPr bwMode="auto">
          <a:xfrm>
            <a:off x="-1588" y="725488"/>
            <a:ext cx="9144001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一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.</a:t>
            </a:r>
            <a:r>
              <a:rPr kumimoji="0" lang="zh-TW" altLang="en-US" sz="320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程式檔案關聯管理機制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】</a:t>
            </a:r>
            <a:endParaRPr lang="zh-TW" altLang="en-US" sz="32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62" name="Picture 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81150" y="2763838"/>
            <a:ext cx="6688138" cy="3833812"/>
          </a:xfrm>
          <a:prstGeom prst="rect">
            <a:avLst/>
          </a:prstGeom>
          <a:noFill/>
        </p:spPr>
      </p:pic>
      <p:sp>
        <p:nvSpPr>
          <p:cNvPr id="27652" name="圓角矩形 14"/>
          <p:cNvSpPr>
            <a:spLocks noChangeArrowheads="1"/>
          </p:cNvSpPr>
          <p:nvPr/>
        </p:nvSpPr>
        <p:spPr bwMode="auto">
          <a:xfrm>
            <a:off x="309563" y="1795463"/>
            <a:ext cx="8680450" cy="920750"/>
          </a:xfrm>
          <a:prstGeom prst="roundRect">
            <a:avLst>
              <a:gd name="adj" fmla="val 7097"/>
            </a:avLst>
          </a:prstGeom>
          <a:noFill/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>
              <a:lnSpc>
                <a:spcPct val="90000"/>
              </a:lnSpc>
            </a:pPr>
            <a:r>
              <a:rPr lang="zh-TW" altLang="en-US" sz="2300">
                <a:latin typeface="標楷體" pitchFamily="65" charset="-120"/>
                <a:ea typeface="標楷體" pitchFamily="65" charset="-120"/>
              </a:rPr>
              <a:t>主管覆核後，</a:t>
            </a:r>
            <a:r>
              <a:rPr lang="zh-TW" altLang="en-US">
                <a:latin typeface="標楷體" pitchFamily="65" charset="-120"/>
                <a:ea typeface="標楷體" pitchFamily="65" charset="-120"/>
              </a:rPr>
              <a:t>經由</a:t>
            </a:r>
            <a:r>
              <a:rPr lang="zh-TW" altLang="en-US" sz="2300">
                <a:latin typeface="標楷體" pitchFamily="65" charset="-120"/>
                <a:ea typeface="標楷體" pitchFamily="65" charset="-120"/>
              </a:rPr>
              <a:t>電腦查核檔案有異動後，即自動傳送</a:t>
            </a:r>
            <a:r>
              <a:rPr lang="en-US" altLang="zh-TW" sz="2300">
                <a:latin typeface="標楷體" pitchFamily="65" charset="-120"/>
                <a:ea typeface="標楷體" pitchFamily="65" charset="-120"/>
              </a:rPr>
              <a:t>OA</a:t>
            </a:r>
            <a:r>
              <a:rPr lang="zh-TW" altLang="en-US" sz="2300">
                <a:latin typeface="標楷體" pitchFamily="65" charset="-120"/>
                <a:ea typeface="標楷體" pitchFamily="65" charset="-120"/>
              </a:rPr>
              <a:t>「電腦檔案欄位異動通知單」予化工部營管作業程式人員配合修改程式</a:t>
            </a:r>
            <a:r>
              <a:rPr lang="zh-TW" altLang="en-US">
                <a:latin typeface="標楷體" pitchFamily="65" charset="-120"/>
                <a:ea typeface="標楷體" pitchFamily="65" charset="-120"/>
              </a:rPr>
              <a:t>。</a:t>
            </a:r>
          </a:p>
        </p:txBody>
      </p:sp>
      <p:sp>
        <p:nvSpPr>
          <p:cNvPr id="27653" name="五邊形 19"/>
          <p:cNvSpPr>
            <a:spLocks noChangeArrowheads="1"/>
          </p:cNvSpPr>
          <p:nvPr/>
        </p:nvSpPr>
        <p:spPr bwMode="auto">
          <a:xfrm>
            <a:off x="101600" y="1295400"/>
            <a:ext cx="4160838" cy="466725"/>
          </a:xfrm>
          <a:prstGeom prst="homePlate">
            <a:avLst>
              <a:gd name="adj" fmla="val 61455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>
                <a:latin typeface="標楷體" pitchFamily="65" charset="-120"/>
                <a:ea typeface="標楷體" pitchFamily="65" charset="-120"/>
              </a:rPr>
              <a:t>案例說明</a:t>
            </a:r>
            <a:r>
              <a:rPr lang="en-US" altLang="zh-TW">
                <a:latin typeface="標楷體" pitchFamily="65" charset="-120"/>
                <a:ea typeface="標楷體" pitchFamily="65" charset="-120"/>
              </a:rPr>
              <a:t>:</a:t>
            </a:r>
            <a:r>
              <a:rPr lang="zh-TW" altLang="en-US">
                <a:latin typeface="標楷體" pitchFamily="65" charset="-120"/>
                <a:ea typeface="標楷體" pitchFamily="65" charset="-120"/>
              </a:rPr>
              <a:t>關聯程式修改通知</a:t>
            </a:r>
          </a:p>
        </p:txBody>
      </p:sp>
      <p:sp>
        <p:nvSpPr>
          <p:cNvPr id="27654" name="五邊形 16"/>
          <p:cNvSpPr>
            <a:spLocks noChangeArrowheads="1"/>
          </p:cNvSpPr>
          <p:nvPr/>
        </p:nvSpPr>
        <p:spPr bwMode="auto">
          <a:xfrm>
            <a:off x="92075" y="2781300"/>
            <a:ext cx="3717925" cy="436563"/>
          </a:xfrm>
          <a:prstGeom prst="homePlate">
            <a:avLst>
              <a:gd name="adj" fmla="val 45933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 sz="2200">
                <a:latin typeface="標楷體" pitchFamily="65" charset="-120"/>
                <a:ea typeface="標楷體" pitchFamily="65" charset="-120"/>
              </a:rPr>
              <a:t>OA</a:t>
            </a:r>
            <a:r>
              <a:rPr lang="zh-TW" altLang="en-US" sz="2200">
                <a:latin typeface="標楷體" pitchFamily="65" charset="-120"/>
                <a:ea typeface="標楷體" pitchFamily="65" charset="-120"/>
              </a:rPr>
              <a:t>電腦檔案欄位異動通知單</a:t>
            </a:r>
            <a:endParaRPr lang="en-US" altLang="zh-TW" sz="220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7655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kumimoji="0" lang="zh-TW" altLang="en-US" sz="3600">
                <a:latin typeface="標楷體" pitchFamily="65" charset="-120"/>
                <a:ea typeface="標楷體" pitchFamily="65" charset="-120"/>
              </a:rPr>
              <a:t>資訊部改善實例報告</a:t>
            </a:r>
            <a:endParaRPr lang="zh-TW" altLang="en-US" sz="3600">
              <a:solidFill>
                <a:schemeClr val="tx2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7664" name="Rectangle 16"/>
          <p:cNvSpPr>
            <a:spLocks noChangeArrowheads="1"/>
          </p:cNvSpPr>
          <p:nvPr/>
        </p:nvSpPr>
        <p:spPr bwMode="auto">
          <a:xfrm>
            <a:off x="2457450" y="4257675"/>
            <a:ext cx="6448425" cy="3810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>
            <a:prstShdw prst="shdw17" dist="17961" dir="2700000">
              <a:srgbClr val="FF0000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 algn="ctr"/>
            <a:endParaRPr lang="zh-TW" altLang="en-US">
              <a:solidFill>
                <a:srgbClr val="0000CC"/>
              </a:solidFill>
            </a:endParaRPr>
          </a:p>
        </p:txBody>
      </p:sp>
      <p:pic>
        <p:nvPicPr>
          <p:cNvPr id="27669" name="Picture 21"/>
          <p:cNvPicPr>
            <a:picLocks noChangeAspect="1" noChangeArrowheads="1"/>
          </p:cNvPicPr>
          <p:nvPr/>
        </p:nvPicPr>
        <p:blipFill>
          <a:blip r:embed="rId4" cstate="print"/>
          <a:srcRect t="17778"/>
          <a:stretch>
            <a:fillRect/>
          </a:stretch>
        </p:blipFill>
        <p:spPr bwMode="auto">
          <a:xfrm>
            <a:off x="2487613" y="4286250"/>
            <a:ext cx="6389687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70" name="Rectangle 23"/>
          <p:cNvSpPr>
            <a:spLocks noChangeArrowheads="1"/>
          </p:cNvSpPr>
          <p:nvPr/>
        </p:nvSpPr>
        <p:spPr bwMode="auto">
          <a:xfrm>
            <a:off x="-1588" y="725488"/>
            <a:ext cx="9144001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一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.</a:t>
            </a:r>
            <a:r>
              <a:rPr kumimoji="0" lang="zh-TW" altLang="en-US" sz="320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程式檔案關聯管理機制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】</a:t>
            </a:r>
            <a:endParaRPr lang="zh-TW" altLang="en-US" sz="32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五邊形 10"/>
          <p:cNvSpPr>
            <a:spLocks noChangeArrowheads="1"/>
          </p:cNvSpPr>
          <p:nvPr/>
        </p:nvSpPr>
        <p:spPr bwMode="auto">
          <a:xfrm>
            <a:off x="123825" y="1311275"/>
            <a:ext cx="1898650" cy="461963"/>
          </a:xfrm>
          <a:prstGeom prst="homePlate">
            <a:avLst>
              <a:gd name="adj" fmla="val 46522"/>
            </a:avLst>
          </a:prstGeom>
          <a:solidFill>
            <a:srgbClr val="FFCCFF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統計數據</a:t>
            </a:r>
          </a:p>
        </p:txBody>
      </p:sp>
      <p:sp>
        <p:nvSpPr>
          <p:cNvPr id="125955" name="文字方塊 12"/>
          <p:cNvSpPr txBox="1">
            <a:spLocks noChangeArrowheads="1"/>
          </p:cNvSpPr>
          <p:nvPr/>
        </p:nvSpPr>
        <p:spPr bwMode="auto">
          <a:xfrm>
            <a:off x="2078038" y="1428750"/>
            <a:ext cx="34083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TW" altLang="en-US" sz="2000">
                <a:latin typeface="標楷體" pitchFamily="65" charset="-120"/>
                <a:ea typeface="標楷體" pitchFamily="65" charset="-120"/>
              </a:rPr>
              <a:t>資料期間：</a:t>
            </a:r>
            <a:r>
              <a:rPr lang="en-US" altLang="zh-TW" sz="2000">
                <a:latin typeface="標楷體" pitchFamily="65" charset="-120"/>
                <a:ea typeface="標楷體" pitchFamily="65" charset="-120"/>
              </a:rPr>
              <a:t>2018/3/1~6/30</a:t>
            </a:r>
            <a:endParaRPr lang="zh-TW" altLang="en-US" sz="200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25956" name="文字方塊 13"/>
          <p:cNvSpPr txBox="1">
            <a:spLocks noChangeArrowheads="1"/>
          </p:cNvSpPr>
          <p:nvPr/>
        </p:nvSpPr>
        <p:spPr bwMode="auto">
          <a:xfrm>
            <a:off x="7777163" y="1428750"/>
            <a:ext cx="121126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 sz="2000">
                <a:latin typeface="標楷體" pitchFamily="65" charset="-120"/>
                <a:ea typeface="標楷體" pitchFamily="65" charset="-120"/>
              </a:rPr>
              <a:t>單位：筆</a:t>
            </a:r>
          </a:p>
        </p:txBody>
      </p:sp>
      <p:sp>
        <p:nvSpPr>
          <p:cNvPr id="125957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kumimoji="0" lang="zh-TW" altLang="en-US" sz="3600">
                <a:latin typeface="標楷體" pitchFamily="65" charset="-120"/>
                <a:ea typeface="標楷體" pitchFamily="65" charset="-120"/>
              </a:rPr>
              <a:t>資訊部改善實例報告</a:t>
            </a:r>
            <a:endParaRPr lang="zh-TW" altLang="en-US" sz="3600">
              <a:solidFill>
                <a:schemeClr val="tx2"/>
              </a:solidFill>
              <a:latin typeface="標楷體" pitchFamily="65" charset="-120"/>
              <a:ea typeface="標楷體" pitchFamily="65" charset="-120"/>
            </a:endParaRPr>
          </a:p>
        </p:txBody>
      </p:sp>
      <p:graphicFrame>
        <p:nvGraphicFramePr>
          <p:cNvPr id="126002" name="Group 50"/>
          <p:cNvGraphicFramePr>
            <a:graphicFrameLocks noGrp="1"/>
          </p:cNvGraphicFramePr>
          <p:nvPr/>
        </p:nvGraphicFramePr>
        <p:xfrm>
          <a:off x="249238" y="1762125"/>
          <a:ext cx="8629650" cy="4784729"/>
        </p:xfrm>
        <a:graphic>
          <a:graphicData uri="http://schemas.openxmlformats.org/drawingml/2006/table">
            <a:tbl>
              <a:tblPr/>
              <a:tblGrid>
                <a:gridCol w="4841875"/>
                <a:gridCol w="1816100"/>
                <a:gridCol w="1971675"/>
              </a:tblGrid>
              <a:tr h="898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資訊部組別</a:t>
                      </a:r>
                      <a:r>
                        <a:rPr kumimoji="0" lang="en-US" altLang="zh-TW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(</a:t>
                      </a:r>
                      <a:r>
                        <a:rPr kumimoji="0" lang="zh-TW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機能組</a:t>
                      </a:r>
                      <a:r>
                        <a:rPr kumimoji="0" lang="en-US" altLang="zh-TW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15211" marR="15211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來文接件數</a:t>
                      </a:r>
                    </a:p>
                  </a:txBody>
                  <a:tcPr marL="15211" marR="15211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配合修改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程式件數</a:t>
                      </a:r>
                      <a:endParaRPr kumimoji="0" lang="en-US" altLang="zh-TW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5211" marR="15211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應用一組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(</a:t>
                      </a: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產銷一組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)</a:t>
                      </a:r>
                      <a:endParaRPr kumimoji="0" lang="zh-TW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221</a:t>
                      </a:r>
                    </a:p>
                  </a:txBody>
                  <a:tcPr marL="7620" marR="7620" marT="7619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altLang="zh-TW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44</a:t>
                      </a:r>
                    </a:p>
                  </a:txBody>
                  <a:tcPr marL="7620" marR="7620" marT="7619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58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應用二組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(</a:t>
                      </a: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產銷二組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)</a:t>
                      </a:r>
                      <a:endParaRPr kumimoji="0" lang="zh-TW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215</a:t>
                      </a:r>
                    </a:p>
                  </a:txBody>
                  <a:tcPr marL="7620" marR="7620" marT="7619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189</a:t>
                      </a:r>
                    </a:p>
                  </a:txBody>
                  <a:tcPr marL="7620" marR="7620" marT="7619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應用三組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(</a:t>
                      </a: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產銷三組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)</a:t>
                      </a:r>
                      <a:endParaRPr kumimoji="0" lang="zh-TW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71</a:t>
                      </a:r>
                    </a:p>
                  </a:txBody>
                  <a:tcPr marL="7620" marR="7620" marT="7619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97</a:t>
                      </a:r>
                    </a:p>
                  </a:txBody>
                  <a:tcPr marL="7620" marR="7620" marT="7619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應用四組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(</a:t>
                      </a: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人事組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)</a:t>
                      </a:r>
                      <a:endParaRPr kumimoji="0" lang="zh-TW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535</a:t>
                      </a:r>
                    </a:p>
                  </a:txBody>
                  <a:tcPr marL="7620" marR="7620" marT="7619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393</a:t>
                      </a:r>
                    </a:p>
                  </a:txBody>
                  <a:tcPr marL="7620" marR="7620" marT="7619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應用五組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(</a:t>
                      </a: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財務組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)</a:t>
                      </a:r>
                      <a:endParaRPr kumimoji="0" lang="zh-TW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218</a:t>
                      </a:r>
                    </a:p>
                  </a:txBody>
                  <a:tcPr marL="7620" marR="7620" marT="7619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133</a:t>
                      </a:r>
                    </a:p>
                  </a:txBody>
                  <a:tcPr marL="7620" marR="7620" marT="7619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應用六組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(</a:t>
                      </a: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資材組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)</a:t>
                      </a:r>
                      <a:endParaRPr kumimoji="0" lang="zh-TW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358</a:t>
                      </a:r>
                    </a:p>
                  </a:txBody>
                  <a:tcPr marL="7620" marR="7620" marT="7619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2,194</a:t>
                      </a:r>
                    </a:p>
                  </a:txBody>
                  <a:tcPr marL="7620" marR="7620" marT="7619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31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應用七組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(</a:t>
                      </a: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工程組、保養組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       (</a:t>
                      </a: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安衛環中心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)</a:t>
                      </a:r>
                      <a:endParaRPr kumimoji="0" lang="zh-TW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422</a:t>
                      </a:r>
                    </a:p>
                  </a:txBody>
                  <a:tcPr marL="7620" marR="7620" marT="7619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215</a:t>
                      </a:r>
                    </a:p>
                  </a:txBody>
                  <a:tcPr marL="7620" marR="7620" marT="7619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合計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2,040</a:t>
                      </a:r>
                    </a:p>
                  </a:txBody>
                  <a:tcPr marL="7620" marR="7620" marT="7619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3,265</a:t>
                      </a:r>
                    </a:p>
                  </a:txBody>
                  <a:tcPr marL="7620" marR="7620" marT="7619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6001" name="Rectangle 23"/>
          <p:cNvSpPr>
            <a:spLocks noChangeArrowheads="1"/>
          </p:cNvSpPr>
          <p:nvPr/>
        </p:nvSpPr>
        <p:spPr bwMode="auto">
          <a:xfrm>
            <a:off x="-1588" y="725488"/>
            <a:ext cx="9144001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一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.</a:t>
            </a:r>
            <a:r>
              <a:rPr kumimoji="0" lang="zh-TW" altLang="en-US" sz="320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程式檔案關聯管理機制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】</a:t>
            </a:r>
            <a:endParaRPr lang="zh-TW" altLang="en-US" sz="32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圓角矩形 14"/>
          <p:cNvSpPr>
            <a:spLocks noChangeArrowheads="1"/>
          </p:cNvSpPr>
          <p:nvPr/>
        </p:nvSpPr>
        <p:spPr bwMode="auto">
          <a:xfrm>
            <a:off x="309563" y="1809750"/>
            <a:ext cx="8680450" cy="1778000"/>
          </a:xfrm>
          <a:prstGeom prst="roundRect">
            <a:avLst>
              <a:gd name="adj" fmla="val 7097"/>
            </a:avLst>
          </a:prstGeom>
          <a:noFill/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marL="265113" indent="-265113"/>
            <a:r>
              <a:rPr lang="en-US" altLang="zh-TW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1.</a:t>
            </a:r>
            <a:r>
              <a:rPr lang="zh-TW" altLang="en-US" u="sng" dirty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未建立驗收文件標準</a:t>
            </a:r>
            <a:r>
              <a:rPr lang="zh-TW" altLang="en-US" dirty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：</a:t>
            </a:r>
            <a:r>
              <a:rPr lang="zh-TW" altLang="en-US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只附螢幕或報表畫面且未附制度以供對</a:t>
            </a:r>
          </a:p>
          <a:p>
            <a:pPr marL="265113" indent="-265113"/>
            <a:r>
              <a:rPr lang="zh-TW" altLang="en-US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  照，</a:t>
            </a:r>
            <a:r>
              <a:rPr kumimoji="0" lang="zh-TW" altLang="en-US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不便於後續驗收。</a:t>
            </a:r>
          </a:p>
          <a:p>
            <a:pPr marL="265113" indent="-265113"/>
            <a:r>
              <a:rPr kumimoji="0" lang="en-US" altLang="zh-TW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2.</a:t>
            </a:r>
            <a:r>
              <a:rPr kumimoji="0" lang="zh-TW" altLang="en-US" u="sng" dirty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電腦未強制管制須</a:t>
            </a:r>
            <a:r>
              <a:rPr lang="zh-TW" altLang="en-US" u="sng" dirty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檢附驗收文件</a:t>
            </a:r>
            <a:r>
              <a:rPr lang="zh-TW" altLang="en-US" dirty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：</a:t>
            </a:r>
            <a:r>
              <a:rPr lang="zh-TW" altLang="en-US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易造成文件遺漏。</a:t>
            </a:r>
          </a:p>
        </p:txBody>
      </p:sp>
      <p:sp>
        <p:nvSpPr>
          <p:cNvPr id="111619" name="五邊形 8"/>
          <p:cNvSpPr>
            <a:spLocks noChangeArrowheads="1"/>
          </p:cNvSpPr>
          <p:nvPr/>
        </p:nvSpPr>
        <p:spPr bwMode="auto">
          <a:xfrm>
            <a:off x="123825" y="1374775"/>
            <a:ext cx="2233613" cy="466725"/>
          </a:xfrm>
          <a:prstGeom prst="homePlate">
            <a:avLst>
              <a:gd name="adj" fmla="val 45996"/>
            </a:avLst>
          </a:prstGeom>
          <a:solidFill>
            <a:srgbClr val="FFFF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>
                <a:latin typeface="標楷體" pitchFamily="65" charset="-120"/>
                <a:ea typeface="標楷體" pitchFamily="65" charset="-120"/>
              </a:rPr>
              <a:t>改善前作法</a:t>
            </a:r>
          </a:p>
        </p:txBody>
      </p:sp>
      <p:sp>
        <p:nvSpPr>
          <p:cNvPr id="111620" name="圓角矩形 14"/>
          <p:cNvSpPr>
            <a:spLocks noChangeArrowheads="1"/>
          </p:cNvSpPr>
          <p:nvPr/>
        </p:nvSpPr>
        <p:spPr bwMode="auto">
          <a:xfrm>
            <a:off x="309563" y="4179888"/>
            <a:ext cx="8680450" cy="2133600"/>
          </a:xfrm>
          <a:prstGeom prst="roundRect">
            <a:avLst>
              <a:gd name="adj" fmla="val 7097"/>
            </a:avLst>
          </a:prstGeom>
          <a:noFill/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marL="266700" indent="-266700"/>
            <a:r>
              <a:rPr lang="en-US" altLang="zh-TW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en-US" u="sng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訂定驗收文件標準</a:t>
            </a:r>
            <a:r>
              <a:rPr lang="zh-TW" altLang="en-US">
                <a:solidFill>
                  <a:srgbClr val="0000CC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：</a:t>
            </a:r>
            <a:r>
              <a:rPr lang="zh-TW" altLang="en-US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已將內容要求標準及範例等納入程式員辦事細則。</a:t>
            </a:r>
            <a:endParaRPr lang="en-US" altLang="zh-TW">
              <a:latin typeface="標楷體" pitchFamily="65" charset="-120"/>
              <a:ea typeface="標楷體" pitchFamily="65" charset="-120"/>
              <a:cs typeface="Times New Roman" pitchFamily="18" charset="0"/>
            </a:endParaRPr>
          </a:p>
          <a:p>
            <a:pPr marL="266700" indent="-266700"/>
            <a:r>
              <a:rPr kumimoji="0" lang="en-US" altLang="zh-TW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2.</a:t>
            </a:r>
            <a:r>
              <a:rPr kumimoji="0" lang="zh-TW" altLang="en-US" u="sng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電腦強制</a:t>
            </a:r>
            <a:r>
              <a:rPr lang="zh-TW" altLang="en-US" u="sng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檢附驗收文件</a:t>
            </a:r>
            <a:r>
              <a:rPr kumimoji="0" lang="zh-TW" altLang="en-US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。</a:t>
            </a:r>
          </a:p>
        </p:txBody>
      </p:sp>
      <p:sp>
        <p:nvSpPr>
          <p:cNvPr id="111621" name="五邊形 10"/>
          <p:cNvSpPr>
            <a:spLocks noChangeArrowheads="1"/>
          </p:cNvSpPr>
          <p:nvPr/>
        </p:nvSpPr>
        <p:spPr bwMode="auto">
          <a:xfrm>
            <a:off x="152400" y="3667125"/>
            <a:ext cx="1898650" cy="466725"/>
          </a:xfrm>
          <a:prstGeom prst="homePlate">
            <a:avLst>
              <a:gd name="adj" fmla="val 46048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>
                <a:latin typeface="標楷體" pitchFamily="65" charset="-120"/>
                <a:ea typeface="標楷體" pitchFamily="65" charset="-120"/>
              </a:rPr>
              <a:t>改善作法</a:t>
            </a:r>
          </a:p>
        </p:txBody>
      </p:sp>
      <p:sp>
        <p:nvSpPr>
          <p:cNvPr id="111622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kumimoji="0" lang="zh-TW" altLang="en-US" sz="3600">
                <a:latin typeface="標楷體" pitchFamily="65" charset="-120"/>
                <a:ea typeface="標楷體" pitchFamily="65" charset="-120"/>
              </a:rPr>
              <a:t>資訊部改善實例報告</a:t>
            </a:r>
            <a:endParaRPr lang="zh-TW" altLang="en-US" sz="3600">
              <a:solidFill>
                <a:schemeClr val="tx2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11623" name="Rectangle 23"/>
          <p:cNvSpPr>
            <a:spLocks noChangeArrowheads="1"/>
          </p:cNvSpPr>
          <p:nvPr/>
        </p:nvSpPr>
        <p:spPr bwMode="auto">
          <a:xfrm>
            <a:off x="0" y="725488"/>
            <a:ext cx="914400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二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.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強化程式測試及驗收文件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】</a:t>
            </a:r>
            <a:endParaRPr lang="zh-TW" altLang="en-US" sz="32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五邊形 6"/>
          <p:cNvSpPr>
            <a:spLocks noChangeArrowheads="1"/>
          </p:cNvSpPr>
          <p:nvPr/>
        </p:nvSpPr>
        <p:spPr bwMode="auto">
          <a:xfrm>
            <a:off x="98425" y="1306513"/>
            <a:ext cx="5730875" cy="461962"/>
          </a:xfrm>
          <a:prstGeom prst="homePlate">
            <a:avLst>
              <a:gd name="adj" fmla="val 46521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改善作法</a:t>
            </a:r>
            <a:r>
              <a:rPr lang="en-US" altLang="zh-TW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-</a:t>
            </a:r>
            <a:r>
              <a:rPr lang="zh-TW" altLang="en-US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各類案件驗收時應檢附內容</a:t>
            </a:r>
          </a:p>
        </p:txBody>
      </p:sp>
      <p:sp>
        <p:nvSpPr>
          <p:cNvPr id="165891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kumimoji="0" lang="zh-TW" altLang="en-US" sz="3600">
                <a:latin typeface="標楷體" pitchFamily="65" charset="-120"/>
                <a:ea typeface="標楷體" pitchFamily="65" charset="-120"/>
              </a:rPr>
              <a:t>資訊部改善實例報告</a:t>
            </a:r>
            <a:endParaRPr lang="zh-TW" altLang="en-US" sz="3600">
              <a:solidFill>
                <a:schemeClr val="tx2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65895" name="Rectangle 23"/>
          <p:cNvSpPr>
            <a:spLocks noChangeArrowheads="1"/>
          </p:cNvSpPr>
          <p:nvPr/>
        </p:nvSpPr>
        <p:spPr bwMode="auto">
          <a:xfrm>
            <a:off x="0" y="725488"/>
            <a:ext cx="914400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二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.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強化程式測試及驗收文件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】</a:t>
            </a:r>
            <a:endParaRPr lang="zh-TW" altLang="en-US" sz="32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165896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7475" y="1930400"/>
            <a:ext cx="8978900" cy="412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圓角矩形 14"/>
          <p:cNvSpPr>
            <a:spLocks noChangeArrowheads="1"/>
          </p:cNvSpPr>
          <p:nvPr/>
        </p:nvSpPr>
        <p:spPr bwMode="auto">
          <a:xfrm>
            <a:off x="185738" y="1757363"/>
            <a:ext cx="8842375" cy="1020762"/>
          </a:xfrm>
          <a:prstGeom prst="roundRect">
            <a:avLst>
              <a:gd name="adj" fmla="val 7097"/>
            </a:avLst>
          </a:prstGeom>
          <a:noFill/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>
              <a:lnSpc>
                <a:spcPct val="80000"/>
              </a:lnSpc>
            </a:pP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併車交運相互測試</a:t>
            </a: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(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電子部→化工部</a:t>
            </a: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):</a:t>
            </a:r>
          </a:p>
          <a:p>
            <a:pPr>
              <a:lnSpc>
                <a:spcPct val="80000"/>
              </a:lnSpc>
            </a:pP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於電子部營管作業「車行及承運資料輸入」畫面輸入交運資料</a:t>
            </a: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(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此</a:t>
            </a:r>
          </a:p>
          <a:p>
            <a:pPr>
              <a:lnSpc>
                <a:spcPct val="80000"/>
              </a:lnSpc>
            </a:pP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例為載運</a:t>
            </a: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EPOXY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環氧樹脂</a:t>
            </a: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503.2 KG) 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，以便於化工部做併車交運。</a:t>
            </a:r>
            <a:endParaRPr lang="en-US" altLang="zh-TW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7891" name="五邊形 19"/>
          <p:cNvSpPr>
            <a:spLocks noChangeArrowheads="1"/>
          </p:cNvSpPr>
          <p:nvPr/>
        </p:nvSpPr>
        <p:spPr bwMode="auto">
          <a:xfrm>
            <a:off x="123825" y="1295400"/>
            <a:ext cx="2441575" cy="466725"/>
          </a:xfrm>
          <a:prstGeom prst="homePlate">
            <a:avLst>
              <a:gd name="adj" fmla="val 59215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>
                <a:latin typeface="標楷體" pitchFamily="65" charset="-120"/>
                <a:ea typeface="標楷體" pitchFamily="65" charset="-120"/>
              </a:rPr>
              <a:t>程式模擬測試</a:t>
            </a:r>
          </a:p>
        </p:txBody>
      </p:sp>
      <p:sp>
        <p:nvSpPr>
          <p:cNvPr id="37892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kumimoji="0" lang="zh-TW" altLang="en-US" sz="3600">
                <a:latin typeface="標楷體" pitchFamily="65" charset="-120"/>
                <a:ea typeface="標楷體" pitchFamily="65" charset="-120"/>
              </a:rPr>
              <a:t>資訊部改善實例報告</a:t>
            </a:r>
            <a:endParaRPr lang="zh-TW" altLang="en-US" sz="3600">
              <a:solidFill>
                <a:schemeClr val="tx2"/>
              </a:solidFill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37920" name="Picture 3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8125" y="2938463"/>
            <a:ext cx="8705850" cy="457200"/>
          </a:xfrm>
          <a:prstGeom prst="rect">
            <a:avLst/>
          </a:prstGeom>
          <a:noFill/>
        </p:spPr>
      </p:pic>
      <p:sp>
        <p:nvSpPr>
          <p:cNvPr id="37921" name="Rectangle 33"/>
          <p:cNvSpPr>
            <a:spLocks noChangeArrowheads="1"/>
          </p:cNvSpPr>
          <p:nvPr/>
        </p:nvSpPr>
        <p:spPr bwMode="auto">
          <a:xfrm>
            <a:off x="3032125" y="2913063"/>
            <a:ext cx="4044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r>
              <a:rPr lang="zh-TW" altLang="en-US">
                <a:ea typeface="標楷體" pitchFamily="65" charset="-120"/>
              </a:rPr>
              <a:t>車行及承運資料輸入</a:t>
            </a:r>
            <a:r>
              <a:rPr lang="en-US" altLang="zh-TW">
                <a:ea typeface="標楷體" pitchFamily="65" charset="-120"/>
              </a:rPr>
              <a:t>(</a:t>
            </a:r>
            <a:r>
              <a:rPr lang="zh-TW" altLang="en-US">
                <a:ea typeface="標楷體" pitchFamily="65" charset="-120"/>
              </a:rPr>
              <a:t>電子部</a:t>
            </a:r>
            <a:r>
              <a:rPr lang="en-US" altLang="zh-TW">
                <a:ea typeface="標楷體" pitchFamily="65" charset="-120"/>
              </a:rPr>
              <a:t>)</a:t>
            </a:r>
          </a:p>
        </p:txBody>
      </p:sp>
      <p:pic>
        <p:nvPicPr>
          <p:cNvPr id="37922" name="Picture 34"/>
          <p:cNvPicPr>
            <a:picLocks noChangeAspect="1" noChangeArrowheads="1"/>
          </p:cNvPicPr>
          <p:nvPr/>
        </p:nvPicPr>
        <p:blipFill>
          <a:blip r:embed="rId4" cstate="print"/>
          <a:srcRect l="17291" t="31590" r="42188" b="48425"/>
          <a:stretch>
            <a:fillRect/>
          </a:stretch>
        </p:blipFill>
        <p:spPr bwMode="auto">
          <a:xfrm>
            <a:off x="238125" y="3351213"/>
            <a:ext cx="8693150" cy="2411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7901" name="Rectangle 27"/>
          <p:cNvSpPr>
            <a:spLocks noChangeArrowheads="1"/>
          </p:cNvSpPr>
          <p:nvPr/>
        </p:nvSpPr>
        <p:spPr bwMode="auto">
          <a:xfrm>
            <a:off x="395288" y="4673600"/>
            <a:ext cx="8393112" cy="108585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7923" name="Rectangle 23"/>
          <p:cNvSpPr>
            <a:spLocks noChangeArrowheads="1"/>
          </p:cNvSpPr>
          <p:nvPr/>
        </p:nvSpPr>
        <p:spPr bwMode="auto">
          <a:xfrm>
            <a:off x="0" y="725488"/>
            <a:ext cx="914400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二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.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強化程式測試及驗收文件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】</a:t>
            </a:r>
            <a:endParaRPr lang="zh-TW" altLang="en-US" sz="32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32" name="Picture 20"/>
          <p:cNvPicPr>
            <a:picLocks noChangeAspect="1" noChangeArrowheads="1"/>
          </p:cNvPicPr>
          <p:nvPr/>
        </p:nvPicPr>
        <p:blipFill>
          <a:blip r:embed="rId3" cstate="print"/>
          <a:srcRect r="34357" b="50258"/>
          <a:stretch>
            <a:fillRect/>
          </a:stretch>
        </p:blipFill>
        <p:spPr bwMode="auto">
          <a:xfrm>
            <a:off x="166688" y="3021013"/>
            <a:ext cx="8705850" cy="3151187"/>
          </a:xfrm>
          <a:prstGeom prst="rect">
            <a:avLst/>
          </a:prstGeom>
          <a:noFill/>
        </p:spPr>
      </p:pic>
      <p:sp>
        <p:nvSpPr>
          <p:cNvPr id="115714" name="圓角矩形 14"/>
          <p:cNvSpPr>
            <a:spLocks noChangeArrowheads="1"/>
          </p:cNvSpPr>
          <p:nvPr/>
        </p:nvSpPr>
        <p:spPr bwMode="auto">
          <a:xfrm>
            <a:off x="309563" y="1757363"/>
            <a:ext cx="8680450" cy="1020762"/>
          </a:xfrm>
          <a:prstGeom prst="roundRect">
            <a:avLst>
              <a:gd name="adj" fmla="val 7097"/>
            </a:avLst>
          </a:prstGeom>
          <a:noFill/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>
              <a:lnSpc>
                <a:spcPct val="90000"/>
              </a:lnSpc>
            </a:pPr>
            <a:r>
              <a:rPr lang="zh-TW" altLang="en-US">
                <a:latin typeface="標楷體" pitchFamily="65" charset="-120"/>
                <a:ea typeface="標楷體" pitchFamily="65" charset="-120"/>
              </a:rPr>
              <a:t>併車交運相互測試</a:t>
            </a:r>
            <a:r>
              <a:rPr lang="en-US" altLang="zh-TW">
                <a:latin typeface="標楷體" pitchFamily="65" charset="-120"/>
                <a:ea typeface="標楷體" pitchFamily="65" charset="-120"/>
              </a:rPr>
              <a:t>(</a:t>
            </a:r>
            <a:r>
              <a:rPr lang="zh-TW" altLang="en-US">
                <a:latin typeface="標楷體" pitchFamily="65" charset="-120"/>
                <a:ea typeface="標楷體" pitchFamily="65" charset="-120"/>
              </a:rPr>
              <a:t>電子部→化工部</a:t>
            </a:r>
            <a:r>
              <a:rPr lang="en-US" altLang="zh-TW">
                <a:latin typeface="標楷體" pitchFamily="65" charset="-120"/>
                <a:ea typeface="標楷體" pitchFamily="65" charset="-120"/>
              </a:rPr>
              <a:t>):</a:t>
            </a:r>
            <a:endParaRPr lang="zh-TW" altLang="en-US">
              <a:latin typeface="標楷體" pitchFamily="65" charset="-120"/>
              <a:ea typeface="標楷體" pitchFamily="65" charset="-120"/>
            </a:endParaRPr>
          </a:p>
          <a:p>
            <a:pPr>
              <a:lnSpc>
                <a:spcPct val="90000"/>
              </a:lnSpc>
            </a:pPr>
            <a:r>
              <a:rPr lang="zh-TW" altLang="en-US">
                <a:latin typeface="標楷體" pitchFamily="65" charset="-120"/>
                <a:ea typeface="標楷體" pitchFamily="65" charset="-120"/>
              </a:rPr>
              <a:t>於化工部營管作業「車行及承運資料輸入」畫面輸入交運資料</a:t>
            </a:r>
          </a:p>
          <a:p>
            <a:pPr>
              <a:lnSpc>
                <a:spcPct val="90000"/>
              </a:lnSpc>
            </a:pPr>
            <a:r>
              <a:rPr lang="zh-TW" altLang="en-US">
                <a:latin typeface="標楷體" pitchFamily="65" charset="-120"/>
                <a:ea typeface="標楷體" pitchFamily="65" charset="-120"/>
              </a:rPr>
              <a:t>後，自動將電子部交運資料帶入併車交運資料中。</a:t>
            </a:r>
          </a:p>
        </p:txBody>
      </p:sp>
      <p:sp>
        <p:nvSpPr>
          <p:cNvPr id="115715" name="五邊形 19"/>
          <p:cNvSpPr>
            <a:spLocks noChangeArrowheads="1"/>
          </p:cNvSpPr>
          <p:nvPr/>
        </p:nvSpPr>
        <p:spPr bwMode="auto">
          <a:xfrm>
            <a:off x="123825" y="1266825"/>
            <a:ext cx="2441575" cy="466725"/>
          </a:xfrm>
          <a:prstGeom prst="homePlate">
            <a:avLst>
              <a:gd name="adj" fmla="val 59215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>
                <a:latin typeface="標楷體" pitchFamily="65" charset="-120"/>
                <a:ea typeface="標楷體" pitchFamily="65" charset="-120"/>
              </a:rPr>
              <a:t>程式模擬測試</a:t>
            </a:r>
          </a:p>
        </p:txBody>
      </p:sp>
      <p:sp>
        <p:nvSpPr>
          <p:cNvPr id="115716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kumimoji="0" lang="zh-TW" altLang="en-US" sz="3600">
                <a:latin typeface="標楷體" pitchFamily="65" charset="-120"/>
                <a:ea typeface="標楷體" pitchFamily="65" charset="-120"/>
              </a:rPr>
              <a:t>資訊部改善實例報告</a:t>
            </a:r>
            <a:endParaRPr lang="zh-TW" altLang="en-US" sz="3600">
              <a:solidFill>
                <a:schemeClr val="tx2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15723" name="Rectangle 26"/>
          <p:cNvSpPr>
            <a:spLocks noChangeArrowheads="1"/>
          </p:cNvSpPr>
          <p:nvPr/>
        </p:nvSpPr>
        <p:spPr bwMode="auto">
          <a:xfrm>
            <a:off x="487363" y="5332413"/>
            <a:ext cx="8275637" cy="1192212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pic>
        <p:nvPicPr>
          <p:cNvPr id="115727" name="Picture 29"/>
          <p:cNvPicPr>
            <a:picLocks noChangeAspect="1" noChangeArrowheads="1"/>
          </p:cNvPicPr>
          <p:nvPr/>
        </p:nvPicPr>
        <p:blipFill>
          <a:blip r:embed="rId4" cstate="print"/>
          <a:srcRect r="6686" b="31381"/>
          <a:stretch>
            <a:fillRect/>
          </a:stretch>
        </p:blipFill>
        <p:spPr bwMode="auto">
          <a:xfrm>
            <a:off x="584200" y="5364163"/>
            <a:ext cx="8016875" cy="1090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5728" name="Picture 30"/>
          <p:cNvPicPr>
            <a:picLocks noChangeAspect="1" noChangeArrowheads="1"/>
          </p:cNvPicPr>
          <p:nvPr/>
        </p:nvPicPr>
        <p:blipFill>
          <a:blip r:embed="rId5" cstate="print"/>
          <a:srcRect r="853"/>
          <a:stretch>
            <a:fillRect/>
          </a:stretch>
        </p:blipFill>
        <p:spPr bwMode="auto">
          <a:xfrm>
            <a:off x="776288" y="5370513"/>
            <a:ext cx="7842250" cy="37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5737" name="Picture 2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52400" y="2805113"/>
            <a:ext cx="8705850" cy="457200"/>
          </a:xfrm>
          <a:prstGeom prst="rect">
            <a:avLst/>
          </a:prstGeom>
          <a:noFill/>
        </p:spPr>
      </p:pic>
      <p:sp>
        <p:nvSpPr>
          <p:cNvPr id="115736" name="Rectangle 24"/>
          <p:cNvSpPr>
            <a:spLocks noChangeArrowheads="1"/>
          </p:cNvSpPr>
          <p:nvPr/>
        </p:nvSpPr>
        <p:spPr bwMode="auto">
          <a:xfrm>
            <a:off x="2870200" y="2760663"/>
            <a:ext cx="4044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r>
              <a:rPr lang="zh-TW" altLang="en-US">
                <a:ea typeface="標楷體" pitchFamily="65" charset="-120"/>
              </a:rPr>
              <a:t>車行及承運資料輸入</a:t>
            </a:r>
            <a:r>
              <a:rPr lang="en-US" altLang="zh-TW">
                <a:ea typeface="標楷體" pitchFamily="65" charset="-120"/>
              </a:rPr>
              <a:t>(</a:t>
            </a:r>
            <a:r>
              <a:rPr lang="zh-TW" altLang="en-US">
                <a:ea typeface="標楷體" pitchFamily="65" charset="-120"/>
              </a:rPr>
              <a:t>化工部</a:t>
            </a:r>
            <a:r>
              <a:rPr lang="en-US" altLang="zh-TW">
                <a:ea typeface="標楷體" pitchFamily="65" charset="-120"/>
              </a:rPr>
              <a:t>)</a:t>
            </a:r>
          </a:p>
        </p:txBody>
      </p:sp>
      <p:sp>
        <p:nvSpPr>
          <p:cNvPr id="115739" name="Rectangle 23"/>
          <p:cNvSpPr>
            <a:spLocks noChangeArrowheads="1"/>
          </p:cNvSpPr>
          <p:nvPr/>
        </p:nvSpPr>
        <p:spPr bwMode="auto">
          <a:xfrm>
            <a:off x="0" y="725488"/>
            <a:ext cx="914400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二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.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強化程式測試及驗收文件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】</a:t>
            </a:r>
            <a:endParaRPr lang="zh-TW" altLang="en-US" sz="32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15742" name="圓角矩形圖說文字 9"/>
          <p:cNvSpPr>
            <a:spLocks noChangeArrowheads="1"/>
          </p:cNvSpPr>
          <p:nvPr/>
        </p:nvSpPr>
        <p:spPr bwMode="auto">
          <a:xfrm>
            <a:off x="5981700" y="5054600"/>
            <a:ext cx="3028950" cy="579438"/>
          </a:xfrm>
          <a:prstGeom prst="wedgeRoundRectCallout">
            <a:avLst>
              <a:gd name="adj1" fmla="val -6815"/>
              <a:gd name="adj2" fmla="val 91644"/>
              <a:gd name="adj3" fmla="val 16667"/>
            </a:avLst>
          </a:prstGeom>
          <a:solidFill>
            <a:srgbClr val="FFFF99"/>
          </a:solidFill>
          <a:ln w="28575" algn="ctr">
            <a:solidFill>
              <a:srgbClr val="0000CC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/>
            <a:r>
              <a:rPr lang="zh-TW" altLang="en-US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電子部併車交運資料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52" name="Picture 28"/>
          <p:cNvPicPr>
            <a:picLocks noChangeAspect="1" noChangeArrowheads="1"/>
          </p:cNvPicPr>
          <p:nvPr/>
        </p:nvPicPr>
        <p:blipFill>
          <a:blip r:embed="rId3" cstate="print"/>
          <a:srcRect l="897" r="35786" b="56334"/>
          <a:stretch>
            <a:fillRect/>
          </a:stretch>
        </p:blipFill>
        <p:spPr bwMode="auto">
          <a:xfrm>
            <a:off x="252413" y="3181350"/>
            <a:ext cx="8688387" cy="2871788"/>
          </a:xfrm>
          <a:prstGeom prst="rect">
            <a:avLst/>
          </a:prstGeom>
          <a:noFill/>
        </p:spPr>
      </p:pic>
      <p:sp>
        <p:nvSpPr>
          <p:cNvPr id="103426" name="圓角矩形 14"/>
          <p:cNvSpPr>
            <a:spLocks noChangeArrowheads="1"/>
          </p:cNvSpPr>
          <p:nvPr/>
        </p:nvSpPr>
        <p:spPr bwMode="auto">
          <a:xfrm>
            <a:off x="309563" y="1757363"/>
            <a:ext cx="8680450" cy="1258887"/>
          </a:xfrm>
          <a:prstGeom prst="roundRect">
            <a:avLst>
              <a:gd name="adj" fmla="val 7097"/>
            </a:avLst>
          </a:prstGeom>
          <a:noFill/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併車交運相互測試</a:t>
            </a: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(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化工部→電子部</a:t>
            </a: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):</a:t>
            </a:r>
          </a:p>
          <a:p>
            <a:pPr>
              <a:lnSpc>
                <a:spcPct val="80000"/>
              </a:lnSpc>
            </a:pP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於化工部營管作業「車行及承運資料輸入」畫面輸入交運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資料  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(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此例</a:t>
            </a:r>
            <a:r>
              <a:rPr lang="zh-TW" altLang="en-US" sz="2300" dirty="0">
                <a:latin typeface="標楷體" pitchFamily="65" charset="-120"/>
                <a:ea typeface="標楷體" pitchFamily="65" charset="-120"/>
              </a:rPr>
              <a:t>為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安定劑兩張交運單分別</a:t>
            </a:r>
            <a:r>
              <a:rPr lang="zh-TW" altLang="en-US" sz="2300" dirty="0" smtClean="0">
                <a:latin typeface="標楷體" pitchFamily="65" charset="-120"/>
                <a:ea typeface="標楷體" pitchFamily="65" charset="-120"/>
              </a:rPr>
              <a:t>為 </a:t>
            </a:r>
            <a:r>
              <a:rPr lang="en-US" altLang="zh-TW" sz="2300" dirty="0" smtClean="0">
                <a:latin typeface="標楷體" pitchFamily="65" charset="-120"/>
                <a:ea typeface="標楷體" pitchFamily="65" charset="-120"/>
              </a:rPr>
              <a:t>219 KG</a:t>
            </a:r>
            <a:r>
              <a:rPr lang="zh-TW" altLang="en-US" sz="2300" dirty="0" smtClean="0">
                <a:latin typeface="標楷體" pitchFamily="65" charset="-120"/>
                <a:ea typeface="標楷體" pitchFamily="65" charset="-120"/>
              </a:rPr>
              <a:t> 及 </a:t>
            </a:r>
            <a:r>
              <a:rPr lang="en-US" altLang="zh-TW" sz="2300" dirty="0" smtClean="0">
                <a:latin typeface="標楷體" pitchFamily="65" charset="-120"/>
                <a:ea typeface="標楷體" pitchFamily="65" charset="-120"/>
              </a:rPr>
              <a:t>6,360 </a:t>
            </a:r>
            <a:r>
              <a:rPr lang="en-US" altLang="zh-TW" sz="2300" dirty="0">
                <a:latin typeface="標楷體" pitchFamily="65" charset="-120"/>
                <a:ea typeface="標楷體" pitchFamily="65" charset="-120"/>
              </a:rPr>
              <a:t>KG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)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，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以便於電子部做併車交運。</a:t>
            </a:r>
            <a:endParaRPr lang="en-US" altLang="zh-TW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03428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kumimoji="0" lang="zh-TW" altLang="en-US" sz="3600">
                <a:latin typeface="標楷體" pitchFamily="65" charset="-120"/>
                <a:ea typeface="標楷體" pitchFamily="65" charset="-120"/>
              </a:rPr>
              <a:t>資訊部改善實例報告</a:t>
            </a:r>
            <a:endParaRPr lang="zh-TW" altLang="en-US" sz="3600">
              <a:solidFill>
                <a:schemeClr val="tx2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03435" name="Rectangle 26"/>
          <p:cNvSpPr>
            <a:spLocks noChangeArrowheads="1"/>
          </p:cNvSpPr>
          <p:nvPr/>
        </p:nvSpPr>
        <p:spPr bwMode="auto">
          <a:xfrm>
            <a:off x="385763" y="4086225"/>
            <a:ext cx="8370887" cy="1265238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3451" name="五邊形 19"/>
          <p:cNvSpPr>
            <a:spLocks noChangeArrowheads="1"/>
          </p:cNvSpPr>
          <p:nvPr/>
        </p:nvSpPr>
        <p:spPr bwMode="auto">
          <a:xfrm>
            <a:off x="123825" y="1257300"/>
            <a:ext cx="2441575" cy="466725"/>
          </a:xfrm>
          <a:prstGeom prst="homePlate">
            <a:avLst>
              <a:gd name="adj" fmla="val 59215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>
                <a:latin typeface="標楷體" pitchFamily="65" charset="-120"/>
                <a:ea typeface="標楷體" pitchFamily="65" charset="-120"/>
              </a:rPr>
              <a:t>程式模擬測試</a:t>
            </a:r>
          </a:p>
        </p:txBody>
      </p:sp>
      <p:pic>
        <p:nvPicPr>
          <p:cNvPr id="103458" name="Picture 3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7175" y="3033713"/>
            <a:ext cx="8705850" cy="457200"/>
          </a:xfrm>
          <a:prstGeom prst="rect">
            <a:avLst/>
          </a:prstGeom>
          <a:noFill/>
        </p:spPr>
      </p:pic>
      <p:sp>
        <p:nvSpPr>
          <p:cNvPr id="103459" name="Rectangle 35"/>
          <p:cNvSpPr>
            <a:spLocks noChangeArrowheads="1"/>
          </p:cNvSpPr>
          <p:nvPr/>
        </p:nvSpPr>
        <p:spPr bwMode="auto">
          <a:xfrm>
            <a:off x="3041650" y="3009900"/>
            <a:ext cx="414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r>
              <a:rPr lang="zh-TW" altLang="en-US">
                <a:ea typeface="標楷體" pitchFamily="65" charset="-120"/>
              </a:rPr>
              <a:t>車行及承運資料輸入</a:t>
            </a:r>
            <a:r>
              <a:rPr lang="en-US" altLang="zh-TW">
                <a:latin typeface="標楷體" pitchFamily="65" charset="-120"/>
                <a:ea typeface="標楷體" pitchFamily="65" charset="-120"/>
              </a:rPr>
              <a:t>(</a:t>
            </a:r>
            <a:r>
              <a:rPr lang="zh-TW" altLang="en-US">
                <a:latin typeface="標楷體" pitchFamily="65" charset="-120"/>
                <a:ea typeface="標楷體" pitchFamily="65" charset="-120"/>
              </a:rPr>
              <a:t>化工部</a:t>
            </a:r>
            <a:r>
              <a:rPr lang="en-US" altLang="zh-TW">
                <a:latin typeface="標楷體" pitchFamily="65" charset="-120"/>
                <a:ea typeface="標楷體" pitchFamily="65" charset="-120"/>
              </a:rPr>
              <a:t>)</a:t>
            </a:r>
          </a:p>
        </p:txBody>
      </p:sp>
      <p:sp>
        <p:nvSpPr>
          <p:cNvPr id="103460" name="Rectangle 23"/>
          <p:cNvSpPr>
            <a:spLocks noChangeArrowheads="1"/>
          </p:cNvSpPr>
          <p:nvPr/>
        </p:nvSpPr>
        <p:spPr bwMode="auto">
          <a:xfrm>
            <a:off x="0" y="725488"/>
            <a:ext cx="914400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二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.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強化程式測試及驗收文件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】</a:t>
            </a:r>
            <a:endParaRPr lang="zh-TW" altLang="en-US" sz="32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781" name="Picture 21"/>
          <p:cNvPicPr>
            <a:picLocks noChangeAspect="1" noChangeArrowheads="1"/>
          </p:cNvPicPr>
          <p:nvPr/>
        </p:nvPicPr>
        <p:blipFill>
          <a:blip r:embed="rId3" cstate="print"/>
          <a:srcRect r="27057" b="57635"/>
          <a:stretch>
            <a:fillRect/>
          </a:stretch>
        </p:blipFill>
        <p:spPr bwMode="auto">
          <a:xfrm>
            <a:off x="204788" y="2840038"/>
            <a:ext cx="8796337" cy="2676525"/>
          </a:xfrm>
          <a:prstGeom prst="rect">
            <a:avLst/>
          </a:prstGeom>
          <a:noFill/>
        </p:spPr>
      </p:pic>
      <p:sp>
        <p:nvSpPr>
          <p:cNvPr id="117763" name="圓角矩形 14"/>
          <p:cNvSpPr>
            <a:spLocks noChangeArrowheads="1"/>
          </p:cNvSpPr>
          <p:nvPr/>
        </p:nvSpPr>
        <p:spPr bwMode="auto">
          <a:xfrm>
            <a:off x="309563" y="1757363"/>
            <a:ext cx="8680450" cy="1039812"/>
          </a:xfrm>
          <a:prstGeom prst="roundRect">
            <a:avLst>
              <a:gd name="adj" fmla="val 7097"/>
            </a:avLst>
          </a:prstGeom>
          <a:noFill/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>
              <a:lnSpc>
                <a:spcPct val="95000"/>
              </a:lnSpc>
            </a:pPr>
            <a:r>
              <a:rPr lang="zh-TW" altLang="en-US">
                <a:latin typeface="標楷體" pitchFamily="65" charset="-120"/>
                <a:ea typeface="標楷體" pitchFamily="65" charset="-120"/>
              </a:rPr>
              <a:t>併車交運相互測試</a:t>
            </a:r>
            <a:r>
              <a:rPr lang="en-US" altLang="zh-TW">
                <a:latin typeface="標楷體" pitchFamily="65" charset="-120"/>
                <a:ea typeface="標楷體" pitchFamily="65" charset="-120"/>
              </a:rPr>
              <a:t>(</a:t>
            </a:r>
            <a:r>
              <a:rPr lang="zh-TW" altLang="en-US">
                <a:latin typeface="標楷體" pitchFamily="65" charset="-120"/>
                <a:ea typeface="標楷體" pitchFamily="65" charset="-120"/>
              </a:rPr>
              <a:t>化工部→電子部</a:t>
            </a:r>
            <a:r>
              <a:rPr lang="en-US" altLang="zh-TW">
                <a:latin typeface="標楷體" pitchFamily="65" charset="-120"/>
                <a:ea typeface="標楷體" pitchFamily="65" charset="-120"/>
              </a:rPr>
              <a:t>):</a:t>
            </a:r>
            <a:endParaRPr lang="zh-TW" altLang="en-US">
              <a:latin typeface="標楷體" pitchFamily="65" charset="-120"/>
              <a:ea typeface="標楷體" pitchFamily="65" charset="-120"/>
            </a:endParaRPr>
          </a:p>
          <a:p>
            <a:pPr>
              <a:lnSpc>
                <a:spcPct val="95000"/>
              </a:lnSpc>
            </a:pPr>
            <a:r>
              <a:rPr lang="zh-TW" altLang="en-US">
                <a:latin typeface="標楷體" pitchFamily="65" charset="-120"/>
                <a:ea typeface="標楷體" pitchFamily="65" charset="-120"/>
              </a:rPr>
              <a:t>於電子部營管作業「車行及承運資料輸入」畫面輸入交運資料</a:t>
            </a:r>
          </a:p>
          <a:p>
            <a:pPr>
              <a:lnSpc>
                <a:spcPct val="95000"/>
              </a:lnSpc>
            </a:pPr>
            <a:r>
              <a:rPr lang="zh-TW" altLang="en-US">
                <a:latin typeface="標楷體" pitchFamily="65" charset="-120"/>
                <a:ea typeface="標楷體" pitchFamily="65" charset="-120"/>
              </a:rPr>
              <a:t>後，自動將化工部交運資料帶入併車交運資料中。</a:t>
            </a:r>
            <a:endParaRPr lang="en-US" altLang="zh-TW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17764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kumimoji="0" lang="zh-TW" altLang="en-US" sz="3600">
                <a:latin typeface="標楷體" pitchFamily="65" charset="-120"/>
                <a:ea typeface="標楷體" pitchFamily="65" charset="-120"/>
              </a:rPr>
              <a:t>資訊部改善實例報告</a:t>
            </a:r>
            <a:endParaRPr lang="zh-TW" altLang="en-US" sz="3600">
              <a:solidFill>
                <a:schemeClr val="tx2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17770" name="五邊形 19"/>
          <p:cNvSpPr>
            <a:spLocks noChangeArrowheads="1"/>
          </p:cNvSpPr>
          <p:nvPr/>
        </p:nvSpPr>
        <p:spPr bwMode="auto">
          <a:xfrm>
            <a:off x="123825" y="1276350"/>
            <a:ext cx="2441575" cy="466725"/>
          </a:xfrm>
          <a:prstGeom prst="homePlate">
            <a:avLst>
              <a:gd name="adj" fmla="val 59215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>
                <a:latin typeface="標楷體" pitchFamily="65" charset="-120"/>
                <a:ea typeface="標楷體" pitchFamily="65" charset="-120"/>
              </a:rPr>
              <a:t>程式模擬測試</a:t>
            </a:r>
          </a:p>
        </p:txBody>
      </p:sp>
      <p:pic>
        <p:nvPicPr>
          <p:cNvPr id="117775" name="Picture 15"/>
          <p:cNvPicPr>
            <a:picLocks noChangeAspect="1" noChangeArrowheads="1"/>
          </p:cNvPicPr>
          <p:nvPr/>
        </p:nvPicPr>
        <p:blipFill>
          <a:blip r:embed="rId4" cstate="print"/>
          <a:srcRect r="11845" b="4161"/>
          <a:stretch>
            <a:fillRect/>
          </a:stretch>
        </p:blipFill>
        <p:spPr bwMode="auto">
          <a:xfrm>
            <a:off x="601663" y="5310188"/>
            <a:ext cx="7689850" cy="1268412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</p:pic>
      <p:pic>
        <p:nvPicPr>
          <p:cNvPr id="117786" name="Picture 2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38125" y="2830513"/>
            <a:ext cx="8772525" cy="371475"/>
          </a:xfrm>
          <a:prstGeom prst="rect">
            <a:avLst/>
          </a:prstGeom>
          <a:noFill/>
        </p:spPr>
      </p:pic>
      <p:sp>
        <p:nvSpPr>
          <p:cNvPr id="117787" name="Rectangle 27"/>
          <p:cNvSpPr>
            <a:spLocks noChangeArrowheads="1"/>
          </p:cNvSpPr>
          <p:nvPr/>
        </p:nvSpPr>
        <p:spPr bwMode="auto">
          <a:xfrm>
            <a:off x="2860675" y="2759075"/>
            <a:ext cx="414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r>
              <a:rPr lang="zh-TW" altLang="en-US">
                <a:ea typeface="標楷體" pitchFamily="65" charset="-120"/>
              </a:rPr>
              <a:t>車行及承運資料輸入</a:t>
            </a:r>
            <a:r>
              <a:rPr lang="en-US" altLang="zh-TW">
                <a:latin typeface="標楷體" pitchFamily="65" charset="-120"/>
                <a:ea typeface="標楷體" pitchFamily="65" charset="-120"/>
              </a:rPr>
              <a:t>(</a:t>
            </a:r>
            <a:r>
              <a:rPr lang="zh-TW" altLang="en-US">
                <a:latin typeface="標楷體" pitchFamily="65" charset="-120"/>
                <a:ea typeface="標楷體" pitchFamily="65" charset="-120"/>
              </a:rPr>
              <a:t>電子部</a:t>
            </a:r>
            <a:r>
              <a:rPr lang="en-US" altLang="zh-TW">
                <a:latin typeface="標楷體" pitchFamily="65" charset="-120"/>
                <a:ea typeface="標楷體" pitchFamily="65" charset="-120"/>
              </a:rPr>
              <a:t>)</a:t>
            </a:r>
            <a:endParaRPr lang="zh-TW" altLang="en-US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17788" name="Rectangle 23"/>
          <p:cNvSpPr>
            <a:spLocks noChangeArrowheads="1"/>
          </p:cNvSpPr>
          <p:nvPr/>
        </p:nvSpPr>
        <p:spPr bwMode="auto">
          <a:xfrm>
            <a:off x="0" y="725488"/>
            <a:ext cx="914400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二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.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強化程式測試及驗收文件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】</a:t>
            </a:r>
            <a:endParaRPr lang="zh-TW" altLang="en-US" sz="32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17789" name="圓角矩形圖說文字 9"/>
          <p:cNvSpPr>
            <a:spLocks noChangeArrowheads="1"/>
          </p:cNvSpPr>
          <p:nvPr/>
        </p:nvSpPr>
        <p:spPr bwMode="auto">
          <a:xfrm>
            <a:off x="5810250" y="4978400"/>
            <a:ext cx="3143250" cy="579438"/>
          </a:xfrm>
          <a:prstGeom prst="wedgeRoundRectCallout">
            <a:avLst>
              <a:gd name="adj1" fmla="val -32426"/>
              <a:gd name="adj2" fmla="val 71644"/>
              <a:gd name="adj3" fmla="val 16667"/>
            </a:avLst>
          </a:prstGeom>
          <a:solidFill>
            <a:srgbClr val="FFFF99"/>
          </a:solidFill>
          <a:ln w="28575" algn="ctr">
            <a:solidFill>
              <a:srgbClr val="0000CC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/>
            <a:r>
              <a:rPr lang="zh-TW" altLang="en-US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化工部併車交運資料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圓角矩形 14"/>
          <p:cNvSpPr>
            <a:spLocks noChangeArrowheads="1"/>
          </p:cNvSpPr>
          <p:nvPr/>
        </p:nvSpPr>
        <p:spPr bwMode="auto">
          <a:xfrm>
            <a:off x="309563" y="1757363"/>
            <a:ext cx="8680450" cy="1038225"/>
          </a:xfrm>
          <a:prstGeom prst="roundRect">
            <a:avLst>
              <a:gd name="adj" fmla="val 7097"/>
            </a:avLst>
          </a:prstGeom>
          <a:noFill/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r>
              <a:rPr lang="zh-TW" altLang="en-US" sz="2300" dirty="0">
                <a:latin typeface="標楷體" pitchFamily="65" charset="-120"/>
                <a:ea typeface="標楷體" pitchFamily="65" charset="-120"/>
              </a:rPr>
              <a:t>負責化工部營管作業程式員依制度規劃於「車行及承運資料輸入」畫面增加擷取各事業部併車交運資料功能，並附制度畫面以</a:t>
            </a:r>
            <a:r>
              <a:rPr lang="zh-TW" altLang="en-US" sz="2300" dirty="0" smtClean="0">
                <a:latin typeface="標楷體" pitchFamily="65" charset="-120"/>
                <a:ea typeface="標楷體" pitchFamily="65" charset="-120"/>
              </a:rPr>
              <a:t>供驗收時對照使用</a:t>
            </a:r>
            <a:r>
              <a:rPr lang="zh-TW" altLang="en-US" sz="2300" dirty="0">
                <a:latin typeface="標楷體" pitchFamily="65" charset="-120"/>
                <a:ea typeface="標楷體" pitchFamily="65" charset="-120"/>
              </a:rPr>
              <a:t>。</a:t>
            </a:r>
            <a:endParaRPr lang="en-US" altLang="zh-TW" sz="23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5844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kumimoji="0" lang="zh-TW" altLang="en-US" sz="3600">
                <a:latin typeface="標楷體" pitchFamily="65" charset="-120"/>
                <a:ea typeface="標楷體" pitchFamily="65" charset="-120"/>
              </a:rPr>
              <a:t>資訊部改善實例報告</a:t>
            </a:r>
            <a:endParaRPr lang="zh-TW" altLang="en-US" sz="3600">
              <a:solidFill>
                <a:schemeClr val="tx2"/>
              </a:solidFill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35848" name="Picture 24"/>
          <p:cNvPicPr>
            <a:picLocks noChangeAspect="1" noChangeArrowheads="1"/>
          </p:cNvPicPr>
          <p:nvPr/>
        </p:nvPicPr>
        <p:blipFill>
          <a:blip r:embed="rId3" cstate="print"/>
          <a:srcRect r="7336"/>
          <a:stretch>
            <a:fillRect/>
          </a:stretch>
        </p:blipFill>
        <p:spPr bwMode="auto">
          <a:xfrm>
            <a:off x="0" y="2878138"/>
            <a:ext cx="439102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849" name="Picture 25"/>
          <p:cNvPicPr>
            <a:picLocks noChangeAspect="1" noChangeArrowheads="1"/>
          </p:cNvPicPr>
          <p:nvPr/>
        </p:nvPicPr>
        <p:blipFill>
          <a:blip r:embed="rId4" cstate="print"/>
          <a:srcRect t="14876"/>
          <a:stretch>
            <a:fillRect/>
          </a:stretch>
        </p:blipFill>
        <p:spPr bwMode="auto">
          <a:xfrm>
            <a:off x="4378325" y="2882900"/>
            <a:ext cx="4765675" cy="32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855" name="Picture 1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410075" y="3197225"/>
            <a:ext cx="4733925" cy="2863850"/>
          </a:xfrm>
          <a:prstGeom prst="rect">
            <a:avLst/>
          </a:prstGeom>
          <a:noFill/>
        </p:spPr>
      </p:pic>
      <p:pic>
        <p:nvPicPr>
          <p:cNvPr id="35856" name="Picture 16"/>
          <p:cNvPicPr>
            <a:picLocks noChangeAspect="1" noChangeArrowheads="1"/>
          </p:cNvPicPr>
          <p:nvPr/>
        </p:nvPicPr>
        <p:blipFill>
          <a:blip r:embed="rId6" cstate="print"/>
          <a:srcRect l="10735" t="24733" r="53070" b="28702"/>
          <a:stretch>
            <a:fillRect/>
          </a:stretch>
        </p:blipFill>
        <p:spPr bwMode="auto">
          <a:xfrm>
            <a:off x="0" y="3400425"/>
            <a:ext cx="4424363" cy="320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5859" name="五邊形 19"/>
          <p:cNvSpPr>
            <a:spLocks noChangeArrowheads="1"/>
          </p:cNvSpPr>
          <p:nvPr/>
        </p:nvSpPr>
        <p:spPr bwMode="auto">
          <a:xfrm>
            <a:off x="123825" y="1276350"/>
            <a:ext cx="2222500" cy="466725"/>
          </a:xfrm>
          <a:prstGeom prst="homePlate">
            <a:avLst>
              <a:gd name="adj" fmla="val 53902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>
                <a:latin typeface="標楷體" pitchFamily="65" charset="-120"/>
                <a:ea typeface="標楷體" pitchFamily="65" charset="-120"/>
              </a:rPr>
              <a:t>測試文件整理</a:t>
            </a:r>
          </a:p>
        </p:txBody>
      </p:sp>
      <p:sp>
        <p:nvSpPr>
          <p:cNvPr id="35862" name="Rectangle 23"/>
          <p:cNvSpPr>
            <a:spLocks noChangeArrowheads="1"/>
          </p:cNvSpPr>
          <p:nvPr/>
        </p:nvSpPr>
        <p:spPr bwMode="auto">
          <a:xfrm>
            <a:off x="0" y="725488"/>
            <a:ext cx="914400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二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.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強化程式測試及驗收文件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】</a:t>
            </a:r>
            <a:endParaRPr lang="zh-TW" altLang="en-US" sz="32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35863" name="Picture 23"/>
          <p:cNvPicPr>
            <a:picLocks noChangeAspect="1" noChangeArrowheads="1"/>
          </p:cNvPicPr>
          <p:nvPr/>
        </p:nvPicPr>
        <p:blipFill>
          <a:blip r:embed="rId7" cstate="print"/>
          <a:srcRect r="5081"/>
          <a:stretch>
            <a:fillRect/>
          </a:stretch>
        </p:blipFill>
        <p:spPr bwMode="auto">
          <a:xfrm>
            <a:off x="4398963" y="2897188"/>
            <a:ext cx="4745037" cy="303212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09" name="Picture 17"/>
          <p:cNvPicPr>
            <a:picLocks noChangeAspect="1" noChangeArrowheads="1"/>
          </p:cNvPicPr>
          <p:nvPr/>
        </p:nvPicPr>
        <p:blipFill>
          <a:blip r:embed="rId3" cstate="print"/>
          <a:srcRect l="52806" t="17673" r="16486" b="41826"/>
          <a:stretch>
            <a:fillRect/>
          </a:stretch>
        </p:blipFill>
        <p:spPr bwMode="auto">
          <a:xfrm>
            <a:off x="0" y="3486150"/>
            <a:ext cx="4421188" cy="307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3794" name="圓角矩形 14"/>
          <p:cNvSpPr>
            <a:spLocks noChangeArrowheads="1"/>
          </p:cNvSpPr>
          <p:nvPr/>
        </p:nvSpPr>
        <p:spPr bwMode="auto">
          <a:xfrm>
            <a:off x="309563" y="1766888"/>
            <a:ext cx="8680450" cy="1123950"/>
          </a:xfrm>
          <a:prstGeom prst="roundRect">
            <a:avLst>
              <a:gd name="adj" fmla="val 7097"/>
            </a:avLst>
          </a:prstGeom>
          <a:noFill/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r>
              <a:rPr lang="zh-TW" altLang="en-US" sz="2300" dirty="0">
                <a:latin typeface="標楷體" pitchFamily="65" charset="-120"/>
                <a:ea typeface="標楷體" pitchFamily="65" charset="-120"/>
              </a:rPr>
              <a:t>負責電子部營管作業程式員依制度規劃於「車行及承運資料輸入」畫面增加擷取各事業部併車交運資料功能，並附制度畫面以</a:t>
            </a:r>
            <a:r>
              <a:rPr lang="zh-TW" altLang="en-US" sz="2300" dirty="0" smtClean="0">
                <a:latin typeface="標楷體" pitchFamily="65" charset="-120"/>
                <a:ea typeface="標楷體" pitchFamily="65" charset="-120"/>
              </a:rPr>
              <a:t>供驗收時對照使用</a:t>
            </a:r>
            <a:r>
              <a:rPr lang="zh-TW" altLang="en-US" sz="2300" dirty="0">
                <a:latin typeface="標楷體" pitchFamily="65" charset="-120"/>
                <a:ea typeface="標楷體" pitchFamily="65" charset="-120"/>
              </a:rPr>
              <a:t>。</a:t>
            </a:r>
            <a:endParaRPr lang="en-US" altLang="zh-TW" sz="23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3795" name="五邊形 19"/>
          <p:cNvSpPr>
            <a:spLocks noChangeArrowheads="1"/>
          </p:cNvSpPr>
          <p:nvPr/>
        </p:nvSpPr>
        <p:spPr bwMode="auto">
          <a:xfrm>
            <a:off x="123825" y="1276350"/>
            <a:ext cx="2222500" cy="466725"/>
          </a:xfrm>
          <a:prstGeom prst="homePlate">
            <a:avLst>
              <a:gd name="adj" fmla="val 53902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>
                <a:latin typeface="標楷體" pitchFamily="65" charset="-120"/>
                <a:ea typeface="標楷體" pitchFamily="65" charset="-120"/>
              </a:rPr>
              <a:t>測試文件整理</a:t>
            </a:r>
          </a:p>
        </p:txBody>
      </p:sp>
      <p:sp>
        <p:nvSpPr>
          <p:cNvPr id="33796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kumimoji="0" lang="zh-TW" altLang="en-US" sz="3600">
                <a:latin typeface="標楷體" pitchFamily="65" charset="-120"/>
                <a:ea typeface="標楷體" pitchFamily="65" charset="-120"/>
              </a:rPr>
              <a:t>資訊部改善實例報告</a:t>
            </a:r>
            <a:endParaRPr lang="zh-TW" altLang="en-US" sz="3600">
              <a:solidFill>
                <a:schemeClr val="tx2"/>
              </a:solidFill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33804" name="Picture 34"/>
          <p:cNvPicPr>
            <a:picLocks noChangeAspect="1" noChangeArrowheads="1"/>
          </p:cNvPicPr>
          <p:nvPr/>
        </p:nvPicPr>
        <p:blipFill>
          <a:blip r:embed="rId4" cstate="print"/>
          <a:srcRect r="25542"/>
          <a:stretch>
            <a:fillRect/>
          </a:stretch>
        </p:blipFill>
        <p:spPr bwMode="auto">
          <a:xfrm>
            <a:off x="0" y="3055938"/>
            <a:ext cx="448468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812" name="Picture 2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445000" y="3319463"/>
            <a:ext cx="4699000" cy="2908300"/>
          </a:xfrm>
          <a:prstGeom prst="rect">
            <a:avLst/>
          </a:prstGeom>
          <a:noFill/>
        </p:spPr>
      </p:pic>
      <p:pic>
        <p:nvPicPr>
          <p:cNvPr id="33813" name="Picture 21"/>
          <p:cNvPicPr>
            <a:picLocks noChangeAspect="1" noChangeArrowheads="1"/>
          </p:cNvPicPr>
          <p:nvPr/>
        </p:nvPicPr>
        <p:blipFill>
          <a:blip r:embed="rId6" cstate="print"/>
          <a:srcRect l="10056" r="14627"/>
          <a:stretch>
            <a:fillRect/>
          </a:stretch>
        </p:blipFill>
        <p:spPr bwMode="auto">
          <a:xfrm>
            <a:off x="7770813" y="5176838"/>
            <a:ext cx="1230312" cy="222250"/>
          </a:xfrm>
          <a:prstGeom prst="rect">
            <a:avLst/>
          </a:prstGeom>
          <a:noFill/>
        </p:spPr>
      </p:pic>
      <p:sp>
        <p:nvSpPr>
          <p:cNvPr id="33818" name="Rectangle 23"/>
          <p:cNvSpPr>
            <a:spLocks noChangeArrowheads="1"/>
          </p:cNvSpPr>
          <p:nvPr/>
        </p:nvSpPr>
        <p:spPr bwMode="auto">
          <a:xfrm>
            <a:off x="0" y="725488"/>
            <a:ext cx="914400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二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.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強化程式測試及驗收文件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】</a:t>
            </a:r>
            <a:endParaRPr lang="zh-TW" altLang="en-US" sz="32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33819" name="Picture 27"/>
          <p:cNvPicPr>
            <a:picLocks noChangeAspect="1" noChangeArrowheads="1"/>
          </p:cNvPicPr>
          <p:nvPr/>
        </p:nvPicPr>
        <p:blipFill>
          <a:blip r:embed="rId7" cstate="print"/>
          <a:srcRect r="8804" b="4500"/>
          <a:stretch>
            <a:fillRect/>
          </a:stretch>
        </p:blipFill>
        <p:spPr bwMode="auto">
          <a:xfrm>
            <a:off x="4462463" y="3040063"/>
            <a:ext cx="4643437" cy="300037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圓角矩形 14"/>
          <p:cNvSpPr>
            <a:spLocks noChangeArrowheads="1"/>
          </p:cNvSpPr>
          <p:nvPr/>
        </p:nvSpPr>
        <p:spPr bwMode="auto">
          <a:xfrm>
            <a:off x="309563" y="4021138"/>
            <a:ext cx="8680450" cy="1250950"/>
          </a:xfrm>
          <a:prstGeom prst="roundRect">
            <a:avLst>
              <a:gd name="adj" fmla="val 7097"/>
            </a:avLst>
          </a:prstGeom>
          <a:noFill/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marL="360363" indent="-360363"/>
            <a:endParaRPr lang="zh-TW" altLang="en-US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87395" name="五邊形 8"/>
          <p:cNvSpPr>
            <a:spLocks noChangeArrowheads="1"/>
          </p:cNvSpPr>
          <p:nvPr/>
        </p:nvSpPr>
        <p:spPr bwMode="auto">
          <a:xfrm>
            <a:off x="123825" y="3654425"/>
            <a:ext cx="1898650" cy="461963"/>
          </a:xfrm>
          <a:prstGeom prst="homePlate">
            <a:avLst>
              <a:gd name="adj" fmla="val 46522"/>
            </a:avLst>
          </a:prstGeom>
          <a:solidFill>
            <a:srgbClr val="FFFF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問題點</a:t>
            </a:r>
          </a:p>
        </p:txBody>
      </p:sp>
      <p:sp>
        <p:nvSpPr>
          <p:cNvPr id="187396" name="圓角矩形 14"/>
          <p:cNvSpPr>
            <a:spLocks noChangeArrowheads="1"/>
          </p:cNvSpPr>
          <p:nvPr/>
        </p:nvSpPr>
        <p:spPr bwMode="auto">
          <a:xfrm>
            <a:off x="309563" y="1662113"/>
            <a:ext cx="8680450" cy="1662112"/>
          </a:xfrm>
          <a:prstGeom prst="roundRect">
            <a:avLst>
              <a:gd name="adj" fmla="val 7097"/>
            </a:avLst>
          </a:prstGeom>
          <a:noFill/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marL="357188" indent="-357188"/>
            <a:endParaRPr lang="zh-TW" altLang="en-US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87397" name="五邊形 12"/>
          <p:cNvSpPr>
            <a:spLocks noChangeArrowheads="1"/>
          </p:cNvSpPr>
          <p:nvPr/>
        </p:nvSpPr>
        <p:spPr bwMode="auto">
          <a:xfrm>
            <a:off x="123825" y="1295400"/>
            <a:ext cx="1898650" cy="466725"/>
          </a:xfrm>
          <a:prstGeom prst="homePlate">
            <a:avLst>
              <a:gd name="adj" fmla="val 46048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>
                <a:latin typeface="標楷體" pitchFamily="65" charset="-120"/>
                <a:ea typeface="標楷體" pitchFamily="65" charset="-120"/>
              </a:rPr>
              <a:t>改善前作法</a:t>
            </a:r>
            <a:endParaRPr lang="en-US" altLang="zh-TW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87398" name="文字方塊 6"/>
          <p:cNvSpPr txBox="1">
            <a:spLocks noChangeArrowheads="1"/>
          </p:cNvSpPr>
          <p:nvPr/>
        </p:nvSpPr>
        <p:spPr bwMode="auto">
          <a:xfrm>
            <a:off x="639763" y="4446588"/>
            <a:ext cx="48768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ts val="2400"/>
              </a:lnSpc>
            </a:pPr>
            <a:r>
              <a:rPr kumimoji="0" lang="zh-TW" altLang="en-US">
                <a:solidFill>
                  <a:srgbClr val="FF0000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人工漏開</a:t>
            </a:r>
            <a:r>
              <a:rPr kumimoji="0" lang="zh-TW" altLang="en-US" u="sng">
                <a:solidFill>
                  <a:srgbClr val="FF0000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程式派送單及驗收單</a:t>
            </a:r>
            <a:r>
              <a:rPr kumimoji="0" lang="zh-TW" altLang="en-US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。</a:t>
            </a:r>
          </a:p>
        </p:txBody>
      </p:sp>
      <p:sp>
        <p:nvSpPr>
          <p:cNvPr id="187399" name="文字方塊 7"/>
          <p:cNvSpPr txBox="1">
            <a:spLocks noChangeArrowheads="1"/>
          </p:cNvSpPr>
          <p:nvPr/>
        </p:nvSpPr>
        <p:spPr bwMode="auto">
          <a:xfrm>
            <a:off x="644525" y="2159000"/>
            <a:ext cx="7818438" cy="706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ts val="2400"/>
              </a:lnSpc>
            </a:pPr>
            <a:r>
              <a:rPr kumimoji="0" lang="zh-TW" altLang="en-US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交辦單結案後，</a:t>
            </a:r>
            <a:r>
              <a:rPr kumimoji="0" lang="zh-TW" altLang="en-US">
                <a:solidFill>
                  <a:srgbClr val="0000CC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由程式</a:t>
            </a:r>
            <a:r>
              <a:rPr kumimoji="0" lang="zh-TW" altLang="en-US" b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人</a:t>
            </a:r>
            <a:r>
              <a:rPr kumimoji="0" lang="zh-TW" altLang="en-US">
                <a:solidFill>
                  <a:srgbClr val="0000CC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員自行以</a:t>
            </a:r>
            <a:r>
              <a:rPr kumimoji="0" lang="zh-TW" altLang="en-US" u="sng">
                <a:solidFill>
                  <a:srgbClr val="0000CC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人工方式開立</a:t>
            </a:r>
            <a:r>
              <a:rPr kumimoji="0" lang="en-US" altLang="zh-TW" u="sng">
                <a:solidFill>
                  <a:srgbClr val="0000CC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OA</a:t>
            </a:r>
            <a:r>
              <a:rPr kumimoji="0" lang="zh-TW" altLang="en-US" u="sng">
                <a:solidFill>
                  <a:srgbClr val="0000CC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程式派送單及驗收單</a:t>
            </a:r>
            <a:r>
              <a:rPr kumimoji="0" lang="zh-TW" altLang="en-US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。</a:t>
            </a:r>
          </a:p>
        </p:txBody>
      </p:sp>
      <p:sp>
        <p:nvSpPr>
          <p:cNvPr id="187400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kumimoji="0" lang="zh-TW" altLang="en-US" sz="3600">
                <a:latin typeface="標楷體" pitchFamily="65" charset="-120"/>
                <a:ea typeface="標楷體" pitchFamily="65" charset="-120"/>
              </a:rPr>
              <a:t>資訊部改善實例報告</a:t>
            </a:r>
            <a:endParaRPr lang="zh-TW" altLang="en-US" sz="3600">
              <a:solidFill>
                <a:schemeClr val="tx2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87401" name="Rectangle 23"/>
          <p:cNvSpPr>
            <a:spLocks noChangeArrowheads="1"/>
          </p:cNvSpPr>
          <p:nvPr/>
        </p:nvSpPr>
        <p:spPr bwMode="auto">
          <a:xfrm>
            <a:off x="-1588" y="725488"/>
            <a:ext cx="9144001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三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.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電腦自動開立</a:t>
            </a:r>
            <a:r>
              <a:rPr lang="zh-TW" altLang="en-US" sz="3200">
                <a:latin typeface="標楷體" pitchFamily="65" charset="-120"/>
                <a:ea typeface="標楷體" pitchFamily="65" charset="-120"/>
              </a:rPr>
              <a:t>程式派送單及驗收單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】</a:t>
            </a:r>
            <a:endParaRPr lang="zh-TW" altLang="en-US" sz="32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圓角矩形 14"/>
          <p:cNvSpPr>
            <a:spLocks noChangeArrowheads="1"/>
          </p:cNvSpPr>
          <p:nvPr/>
        </p:nvSpPr>
        <p:spPr bwMode="auto">
          <a:xfrm>
            <a:off x="309563" y="1666875"/>
            <a:ext cx="8680450" cy="1304925"/>
          </a:xfrm>
          <a:prstGeom prst="roundRect">
            <a:avLst>
              <a:gd name="adj" fmla="val 7097"/>
            </a:avLst>
          </a:prstGeom>
          <a:noFill/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endParaRPr lang="zh-TW" altLang="en-US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89443" name="五邊形 10"/>
          <p:cNvSpPr>
            <a:spLocks noChangeArrowheads="1"/>
          </p:cNvSpPr>
          <p:nvPr/>
        </p:nvSpPr>
        <p:spPr bwMode="auto">
          <a:xfrm>
            <a:off x="123825" y="1300163"/>
            <a:ext cx="1898650" cy="461962"/>
          </a:xfrm>
          <a:prstGeom prst="homePlate">
            <a:avLst>
              <a:gd name="adj" fmla="val 46523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改善作法</a:t>
            </a:r>
          </a:p>
        </p:txBody>
      </p:sp>
      <p:sp>
        <p:nvSpPr>
          <p:cNvPr id="189444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endParaRPr lang="zh-TW" altLang="en-US" sz="360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89445" name="五邊形 6"/>
          <p:cNvSpPr>
            <a:spLocks noChangeArrowheads="1"/>
          </p:cNvSpPr>
          <p:nvPr/>
        </p:nvSpPr>
        <p:spPr bwMode="auto">
          <a:xfrm>
            <a:off x="123825" y="3067050"/>
            <a:ext cx="1898650" cy="461963"/>
          </a:xfrm>
          <a:prstGeom prst="homePlate">
            <a:avLst>
              <a:gd name="adj" fmla="val 46522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>
                <a:latin typeface="標楷體" pitchFamily="65" charset="-120"/>
                <a:ea typeface="標楷體" pitchFamily="65" charset="-120"/>
              </a:rPr>
              <a:t>作業流程</a:t>
            </a:r>
          </a:p>
        </p:txBody>
      </p:sp>
      <p:sp>
        <p:nvSpPr>
          <p:cNvPr id="189446" name="文字方塊 6"/>
          <p:cNvSpPr txBox="1">
            <a:spLocks noChangeArrowheads="1"/>
          </p:cNvSpPr>
          <p:nvPr/>
        </p:nvSpPr>
        <p:spPr bwMode="auto">
          <a:xfrm>
            <a:off x="757238" y="1965325"/>
            <a:ext cx="7818437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ts val="2400"/>
              </a:lnSpc>
            </a:pPr>
            <a:r>
              <a:rPr kumimoji="0" lang="zh-TW" altLang="en-US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交辦單結案後，</a:t>
            </a:r>
            <a:r>
              <a:rPr kumimoji="0" lang="zh-TW" altLang="en-US">
                <a:solidFill>
                  <a:srgbClr val="0000CC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由電腦於</a:t>
            </a:r>
            <a:r>
              <a:rPr kumimoji="0" lang="en-US" altLang="zh-TW">
                <a:solidFill>
                  <a:srgbClr val="0000CC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OA</a:t>
            </a:r>
            <a:r>
              <a:rPr kumimoji="0" lang="zh-TW" altLang="en-US">
                <a:solidFill>
                  <a:srgbClr val="0000CC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系統</a:t>
            </a:r>
            <a:r>
              <a:rPr kumimoji="0" lang="zh-TW" altLang="en-US" u="sng">
                <a:solidFill>
                  <a:srgbClr val="0000CC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自動開立程式派送單及驗收單</a:t>
            </a:r>
            <a:r>
              <a:rPr kumimoji="0" lang="zh-TW" altLang="en-US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。</a:t>
            </a:r>
          </a:p>
        </p:txBody>
      </p:sp>
      <p:sp>
        <p:nvSpPr>
          <p:cNvPr id="189447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kumimoji="0" lang="zh-TW" altLang="en-US" sz="3600">
                <a:latin typeface="標楷體" pitchFamily="65" charset="-120"/>
                <a:ea typeface="標楷體" pitchFamily="65" charset="-120"/>
              </a:rPr>
              <a:t>資訊部改善實例報告</a:t>
            </a:r>
            <a:endParaRPr lang="zh-TW" altLang="en-US" sz="3600">
              <a:solidFill>
                <a:schemeClr val="tx2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89448" name="Rectangle 23"/>
          <p:cNvSpPr>
            <a:spLocks noChangeArrowheads="1"/>
          </p:cNvSpPr>
          <p:nvPr/>
        </p:nvSpPr>
        <p:spPr bwMode="auto">
          <a:xfrm>
            <a:off x="-1588" y="725488"/>
            <a:ext cx="9144001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三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.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電腦自動開立</a:t>
            </a:r>
            <a:r>
              <a:rPr lang="zh-TW" altLang="en-US" sz="3200">
                <a:latin typeface="標楷體" pitchFamily="65" charset="-120"/>
                <a:ea typeface="標楷體" pitchFamily="65" charset="-120"/>
              </a:rPr>
              <a:t>程式派送單及驗收單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】</a:t>
            </a:r>
            <a:endParaRPr lang="zh-TW" altLang="en-US" sz="32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  <p:cxnSp>
        <p:nvCxnSpPr>
          <p:cNvPr id="189449" name="肘形接點 21"/>
          <p:cNvCxnSpPr>
            <a:cxnSpLocks noChangeShapeType="1"/>
          </p:cNvCxnSpPr>
          <p:nvPr/>
        </p:nvCxnSpPr>
        <p:spPr bwMode="auto">
          <a:xfrm>
            <a:off x="4576763" y="5981700"/>
            <a:ext cx="438150" cy="0"/>
          </a:xfrm>
          <a:prstGeom prst="straightConnector1">
            <a:avLst/>
          </a:prstGeom>
          <a:noFill/>
          <a:ln w="76200" algn="ctr">
            <a:solidFill>
              <a:srgbClr val="0000CC"/>
            </a:solidFill>
            <a:round/>
            <a:headEnd/>
            <a:tailEnd type="triangle" w="med" len="med"/>
          </a:ln>
          <a:effectLst/>
        </p:spPr>
      </p:cxnSp>
      <p:sp>
        <p:nvSpPr>
          <p:cNvPr id="189450" name="矩形 22"/>
          <p:cNvSpPr>
            <a:spLocks noChangeArrowheads="1"/>
          </p:cNvSpPr>
          <p:nvPr/>
        </p:nvSpPr>
        <p:spPr bwMode="auto">
          <a:xfrm>
            <a:off x="4983163" y="5357813"/>
            <a:ext cx="1736725" cy="1208087"/>
          </a:xfrm>
          <a:prstGeom prst="rect">
            <a:avLst/>
          </a:prstGeom>
          <a:noFill/>
          <a:ln w="5715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 eaLnBrk="1" hangingPunct="1"/>
            <a:r>
              <a:rPr lang="zh-TW" altLang="en-US">
                <a:latin typeface="標楷體" pitchFamily="65" charset="-120"/>
                <a:ea typeface="標楷體" pitchFamily="65" charset="-120"/>
              </a:rPr>
              <a:t>檢附</a:t>
            </a:r>
            <a:endParaRPr lang="en-US" altLang="zh-TW">
              <a:latin typeface="標楷體" pitchFamily="65" charset="-120"/>
              <a:ea typeface="標楷體" pitchFamily="65" charset="-120"/>
            </a:endParaRPr>
          </a:p>
          <a:p>
            <a:pPr algn="ctr" eaLnBrk="1" hangingPunct="1"/>
            <a:r>
              <a:rPr lang="zh-TW" altLang="en-US" u="sng">
                <a:latin typeface="標楷體" pitchFamily="65" charset="-120"/>
                <a:ea typeface="標楷體" pitchFamily="65" charset="-120"/>
              </a:rPr>
              <a:t>測試文件</a:t>
            </a:r>
            <a:endParaRPr lang="en-US" altLang="zh-TW" u="sng">
              <a:latin typeface="標楷體" pitchFamily="65" charset="-120"/>
              <a:ea typeface="標楷體" pitchFamily="65" charset="-120"/>
            </a:endParaRPr>
          </a:p>
          <a:p>
            <a:pPr algn="ctr" eaLnBrk="1" hangingPunct="1"/>
            <a:r>
              <a:rPr lang="zh-TW" altLang="en-US" u="sng">
                <a:latin typeface="標楷體" pitchFamily="65" charset="-120"/>
                <a:ea typeface="標楷體" pitchFamily="65" charset="-120"/>
              </a:rPr>
              <a:t>呈核驗收</a:t>
            </a:r>
          </a:p>
        </p:txBody>
      </p:sp>
      <p:sp>
        <p:nvSpPr>
          <p:cNvPr id="189451" name="矩形 23"/>
          <p:cNvSpPr>
            <a:spLocks noChangeArrowheads="1"/>
          </p:cNvSpPr>
          <p:nvPr/>
        </p:nvSpPr>
        <p:spPr bwMode="auto">
          <a:xfrm>
            <a:off x="7173913" y="5357813"/>
            <a:ext cx="1554162" cy="1208087"/>
          </a:xfrm>
          <a:prstGeom prst="rect">
            <a:avLst/>
          </a:prstGeom>
          <a:noFill/>
          <a:ln w="5715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 eaLnBrk="1" hangingPunct="1"/>
            <a:r>
              <a:rPr lang="zh-TW" altLang="en-US">
                <a:latin typeface="標楷體" pitchFamily="65" charset="-120"/>
                <a:ea typeface="標楷體" pitchFamily="65" charset="-120"/>
              </a:rPr>
              <a:t>現場部門</a:t>
            </a:r>
            <a:endParaRPr lang="en-US" altLang="zh-TW">
              <a:latin typeface="標楷體" pitchFamily="65" charset="-120"/>
              <a:ea typeface="標楷體" pitchFamily="65" charset="-120"/>
            </a:endParaRPr>
          </a:p>
          <a:p>
            <a:pPr algn="ctr" eaLnBrk="1" hangingPunct="1"/>
            <a:r>
              <a:rPr lang="zh-TW" altLang="en-US">
                <a:latin typeface="標楷體" pitchFamily="65" charset="-120"/>
                <a:ea typeface="標楷體" pitchFamily="65" charset="-120"/>
              </a:rPr>
              <a:t>及機能組</a:t>
            </a:r>
            <a:endParaRPr lang="en-US" altLang="zh-TW">
              <a:latin typeface="標楷體" pitchFamily="65" charset="-120"/>
              <a:ea typeface="標楷體" pitchFamily="65" charset="-120"/>
            </a:endParaRPr>
          </a:p>
          <a:p>
            <a:pPr algn="ctr" eaLnBrk="1" hangingPunct="1"/>
            <a:r>
              <a:rPr lang="zh-TW" altLang="en-US" u="sng">
                <a:latin typeface="標楷體" pitchFamily="65" charset="-120"/>
                <a:ea typeface="標楷體" pitchFamily="65" charset="-120"/>
              </a:rPr>
              <a:t>確認驗收</a:t>
            </a:r>
          </a:p>
        </p:txBody>
      </p:sp>
      <p:sp>
        <p:nvSpPr>
          <p:cNvPr id="189452" name="矩形 24"/>
          <p:cNvSpPr>
            <a:spLocks noChangeArrowheads="1"/>
          </p:cNvSpPr>
          <p:nvPr/>
        </p:nvSpPr>
        <p:spPr bwMode="auto">
          <a:xfrm>
            <a:off x="400050" y="4484688"/>
            <a:ext cx="1549400" cy="1206500"/>
          </a:xfrm>
          <a:prstGeom prst="rect">
            <a:avLst/>
          </a:prstGeom>
          <a:noFill/>
          <a:ln w="5715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 eaLnBrk="1" hangingPunct="1"/>
            <a:r>
              <a:rPr lang="zh-TW" altLang="en-US">
                <a:latin typeface="標楷體" pitchFamily="65" charset="-120"/>
                <a:ea typeface="標楷體" pitchFamily="65" charset="-120"/>
              </a:rPr>
              <a:t>資訊部</a:t>
            </a:r>
            <a:endParaRPr lang="en-US" altLang="zh-TW">
              <a:latin typeface="標楷體" pitchFamily="65" charset="-120"/>
              <a:ea typeface="標楷體" pitchFamily="65" charset="-120"/>
            </a:endParaRPr>
          </a:p>
          <a:p>
            <a:pPr algn="ctr" eaLnBrk="1" hangingPunct="1"/>
            <a:r>
              <a:rPr lang="zh-TW" altLang="en-US" u="sng">
                <a:latin typeface="標楷體" pitchFamily="65" charset="-120"/>
                <a:ea typeface="標楷體" pitchFamily="65" charset="-120"/>
              </a:rPr>
              <a:t>交辦單結案</a:t>
            </a:r>
            <a:endParaRPr lang="zh-TW" altLang="en-US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89453" name="矩形 25"/>
          <p:cNvSpPr>
            <a:spLocks noChangeArrowheads="1"/>
          </p:cNvSpPr>
          <p:nvPr/>
        </p:nvSpPr>
        <p:spPr bwMode="auto">
          <a:xfrm>
            <a:off x="4983163" y="3640138"/>
            <a:ext cx="1736725" cy="1208087"/>
          </a:xfrm>
          <a:prstGeom prst="rect">
            <a:avLst/>
          </a:prstGeom>
          <a:noFill/>
          <a:ln w="5715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 eaLnBrk="1" hangingPunct="1"/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檢附</a:t>
            </a:r>
            <a:endParaRPr lang="en-US" altLang="zh-TW" dirty="0">
              <a:latin typeface="標楷體" pitchFamily="65" charset="-120"/>
              <a:ea typeface="標楷體" pitchFamily="65" charset="-120"/>
            </a:endParaRPr>
          </a:p>
          <a:p>
            <a:pPr algn="ctr" eaLnBrk="1" hangingPunct="1"/>
            <a:r>
              <a:rPr lang="zh-TW" altLang="en-US" u="sng" dirty="0" smtClean="0">
                <a:latin typeface="標楷體" pitchFamily="65" charset="-120"/>
                <a:ea typeface="標楷體" pitchFamily="65" charset="-120"/>
              </a:rPr>
              <a:t>修改後程式</a:t>
            </a:r>
            <a:endParaRPr lang="en-US" altLang="zh-TW" u="sng" dirty="0">
              <a:latin typeface="標楷體" pitchFamily="65" charset="-120"/>
              <a:ea typeface="標楷體" pitchFamily="65" charset="-120"/>
            </a:endParaRPr>
          </a:p>
          <a:p>
            <a:pPr algn="ctr" eaLnBrk="1" hangingPunct="1"/>
            <a:r>
              <a:rPr lang="zh-TW" altLang="en-US" u="sng" dirty="0">
                <a:latin typeface="標楷體" pitchFamily="65" charset="-120"/>
                <a:ea typeface="標楷體" pitchFamily="65" charset="-120"/>
              </a:rPr>
              <a:t>呈核派送</a:t>
            </a:r>
          </a:p>
        </p:txBody>
      </p:sp>
      <p:cxnSp>
        <p:nvCxnSpPr>
          <p:cNvPr id="189454" name="肘形接點 26"/>
          <p:cNvCxnSpPr>
            <a:cxnSpLocks noChangeShapeType="1"/>
          </p:cNvCxnSpPr>
          <p:nvPr/>
        </p:nvCxnSpPr>
        <p:spPr bwMode="auto">
          <a:xfrm>
            <a:off x="6721475" y="5981700"/>
            <a:ext cx="436563" cy="0"/>
          </a:xfrm>
          <a:prstGeom prst="straightConnector1">
            <a:avLst/>
          </a:prstGeom>
          <a:noFill/>
          <a:ln w="76200" algn="ctr">
            <a:solidFill>
              <a:srgbClr val="0000CC"/>
            </a:solidFill>
            <a:round/>
            <a:headEnd/>
            <a:tailEnd type="triangle" w="med" len="med"/>
          </a:ln>
          <a:effectLst/>
        </p:spPr>
      </p:cxnSp>
      <p:cxnSp>
        <p:nvCxnSpPr>
          <p:cNvPr id="189455" name="肘形接點 27"/>
          <p:cNvCxnSpPr>
            <a:cxnSpLocks noChangeShapeType="1"/>
          </p:cNvCxnSpPr>
          <p:nvPr/>
        </p:nvCxnSpPr>
        <p:spPr bwMode="auto">
          <a:xfrm>
            <a:off x="4567238" y="4243388"/>
            <a:ext cx="438150" cy="0"/>
          </a:xfrm>
          <a:prstGeom prst="straightConnector1">
            <a:avLst/>
          </a:prstGeom>
          <a:noFill/>
          <a:ln w="76200" algn="ctr">
            <a:solidFill>
              <a:srgbClr val="0000CC"/>
            </a:solidFill>
            <a:round/>
            <a:headEnd/>
            <a:tailEnd type="triangle" w="med" len="med"/>
          </a:ln>
          <a:effectLst/>
        </p:spPr>
      </p:cxnSp>
      <p:cxnSp>
        <p:nvCxnSpPr>
          <p:cNvPr id="189456" name="肘形接點 28"/>
          <p:cNvCxnSpPr>
            <a:cxnSpLocks noChangeShapeType="1"/>
          </p:cNvCxnSpPr>
          <p:nvPr/>
        </p:nvCxnSpPr>
        <p:spPr bwMode="auto">
          <a:xfrm>
            <a:off x="2497138" y="5984875"/>
            <a:ext cx="438150" cy="0"/>
          </a:xfrm>
          <a:prstGeom prst="bentConnector3">
            <a:avLst>
              <a:gd name="adj1" fmla="val 50000"/>
            </a:avLst>
          </a:prstGeom>
          <a:noFill/>
          <a:ln w="76200" algn="ctr">
            <a:solidFill>
              <a:srgbClr val="0000CC"/>
            </a:solidFill>
            <a:round/>
            <a:headEnd/>
            <a:tailEnd type="triangle" w="med" len="med"/>
          </a:ln>
          <a:effectLst/>
        </p:spPr>
      </p:cxnSp>
      <p:sp>
        <p:nvSpPr>
          <p:cNvPr id="189457" name="矩形 29"/>
          <p:cNvSpPr>
            <a:spLocks noChangeArrowheads="1"/>
          </p:cNvSpPr>
          <p:nvPr/>
        </p:nvSpPr>
        <p:spPr bwMode="auto">
          <a:xfrm>
            <a:off x="2935288" y="5360988"/>
            <a:ext cx="1660525" cy="1208087"/>
          </a:xfrm>
          <a:prstGeom prst="rect">
            <a:avLst/>
          </a:prstGeom>
          <a:noFill/>
          <a:ln w="5715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 eaLnBrk="1" hangingPunct="1"/>
            <a:r>
              <a:rPr lang="zh-TW" altLang="en-US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自動開立</a:t>
            </a:r>
            <a:endParaRPr lang="en-US" altLang="zh-TW">
              <a:solidFill>
                <a:srgbClr val="0000CC"/>
              </a:solidFill>
              <a:latin typeface="標楷體" pitchFamily="65" charset="-120"/>
              <a:ea typeface="標楷體" pitchFamily="65" charset="-120"/>
            </a:endParaRPr>
          </a:p>
          <a:p>
            <a:pPr algn="ctr" eaLnBrk="1" hangingPunct="1"/>
            <a:r>
              <a:rPr lang="zh-TW" altLang="en-US" u="sng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驗收單</a:t>
            </a:r>
          </a:p>
        </p:txBody>
      </p:sp>
      <p:sp>
        <p:nvSpPr>
          <p:cNvPr id="189458" name="矩形 30"/>
          <p:cNvSpPr>
            <a:spLocks noChangeArrowheads="1"/>
          </p:cNvSpPr>
          <p:nvPr/>
        </p:nvSpPr>
        <p:spPr bwMode="auto">
          <a:xfrm>
            <a:off x="2935288" y="3643313"/>
            <a:ext cx="1660525" cy="1206500"/>
          </a:xfrm>
          <a:prstGeom prst="rect">
            <a:avLst/>
          </a:prstGeom>
          <a:noFill/>
          <a:ln w="5715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 eaLnBrk="1" hangingPunct="1"/>
            <a:r>
              <a:rPr lang="zh-TW" altLang="en-US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自動開立</a:t>
            </a:r>
            <a:endParaRPr lang="en-US" altLang="zh-TW">
              <a:solidFill>
                <a:srgbClr val="0000CC"/>
              </a:solidFill>
              <a:latin typeface="標楷體" pitchFamily="65" charset="-120"/>
              <a:ea typeface="標楷體" pitchFamily="65" charset="-120"/>
            </a:endParaRPr>
          </a:p>
          <a:p>
            <a:pPr algn="ctr" eaLnBrk="1" hangingPunct="1"/>
            <a:r>
              <a:rPr lang="zh-TW" altLang="en-US" u="sng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程式派送單</a:t>
            </a:r>
          </a:p>
        </p:txBody>
      </p:sp>
      <p:cxnSp>
        <p:nvCxnSpPr>
          <p:cNvPr id="189459" name="肘形接點 31"/>
          <p:cNvCxnSpPr>
            <a:cxnSpLocks noChangeShapeType="1"/>
          </p:cNvCxnSpPr>
          <p:nvPr/>
        </p:nvCxnSpPr>
        <p:spPr bwMode="auto">
          <a:xfrm>
            <a:off x="2478088" y="4237038"/>
            <a:ext cx="436562" cy="0"/>
          </a:xfrm>
          <a:prstGeom prst="bentConnector3">
            <a:avLst>
              <a:gd name="adj1" fmla="val 50000"/>
            </a:avLst>
          </a:prstGeom>
          <a:noFill/>
          <a:ln w="76200" algn="ctr">
            <a:solidFill>
              <a:srgbClr val="0000CC"/>
            </a:solidFill>
            <a:round/>
            <a:headEnd/>
            <a:tailEnd type="triangle" w="med" len="med"/>
          </a:ln>
          <a:effectLst/>
        </p:spPr>
      </p:cxnSp>
      <p:cxnSp>
        <p:nvCxnSpPr>
          <p:cNvPr id="189460" name="肘形接點 32"/>
          <p:cNvCxnSpPr>
            <a:cxnSpLocks noChangeShapeType="1"/>
          </p:cNvCxnSpPr>
          <p:nvPr/>
        </p:nvCxnSpPr>
        <p:spPr bwMode="auto">
          <a:xfrm>
            <a:off x="2005013" y="5087938"/>
            <a:ext cx="436562" cy="0"/>
          </a:xfrm>
          <a:prstGeom prst="bentConnector3">
            <a:avLst>
              <a:gd name="adj1" fmla="val 50000"/>
            </a:avLst>
          </a:prstGeom>
          <a:noFill/>
          <a:ln w="76200" algn="ctr">
            <a:solidFill>
              <a:srgbClr val="0000CC"/>
            </a:solidFill>
            <a:round/>
            <a:headEnd/>
            <a:tailEnd/>
          </a:ln>
          <a:effectLst/>
        </p:spPr>
      </p:cxnSp>
      <p:cxnSp>
        <p:nvCxnSpPr>
          <p:cNvPr id="189461" name="肘形接點 33"/>
          <p:cNvCxnSpPr>
            <a:cxnSpLocks noChangeShapeType="1"/>
          </p:cNvCxnSpPr>
          <p:nvPr/>
        </p:nvCxnSpPr>
        <p:spPr bwMode="auto">
          <a:xfrm rot="5400000" flipH="1" flipV="1">
            <a:off x="1552575" y="5114925"/>
            <a:ext cx="1828800" cy="0"/>
          </a:xfrm>
          <a:prstGeom prst="bentConnector3">
            <a:avLst>
              <a:gd name="adj1" fmla="val 50000"/>
            </a:avLst>
          </a:prstGeom>
          <a:noFill/>
          <a:ln w="76200" algn="ctr">
            <a:solidFill>
              <a:srgbClr val="0000CC"/>
            </a:solidFill>
            <a:round/>
            <a:headEnd/>
            <a:tailEnd/>
          </a:ln>
          <a:effectLst/>
        </p:spPr>
      </p:cxnSp>
      <p:sp>
        <p:nvSpPr>
          <p:cNvPr id="189462" name="矩形 34"/>
          <p:cNvSpPr>
            <a:spLocks noChangeArrowheads="1"/>
          </p:cNvSpPr>
          <p:nvPr/>
        </p:nvSpPr>
        <p:spPr bwMode="auto">
          <a:xfrm>
            <a:off x="7165975" y="3640138"/>
            <a:ext cx="1554163" cy="1208087"/>
          </a:xfrm>
          <a:prstGeom prst="rect">
            <a:avLst/>
          </a:prstGeom>
          <a:noFill/>
          <a:ln w="5715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 eaLnBrk="1" hangingPunct="1"/>
            <a:r>
              <a:rPr lang="zh-TW" altLang="en-US" u="sng" dirty="0" smtClean="0">
                <a:latin typeface="標楷體" pitchFamily="65" charset="-120"/>
                <a:ea typeface="標楷體" pitchFamily="65" charset="-120"/>
              </a:rPr>
              <a:t>程式版本</a:t>
            </a:r>
            <a:endParaRPr lang="en-US" altLang="zh-TW" u="sng" dirty="0" smtClean="0">
              <a:latin typeface="標楷體" pitchFamily="65" charset="-120"/>
              <a:ea typeface="標楷體" pitchFamily="65" charset="-120"/>
            </a:endParaRPr>
          </a:p>
          <a:p>
            <a:pPr algn="ctr" eaLnBrk="1" hangingPunct="1"/>
            <a:r>
              <a:rPr lang="zh-TW" altLang="en-US" u="sng" dirty="0" smtClean="0">
                <a:latin typeface="標楷體" pitchFamily="65" charset="-120"/>
                <a:ea typeface="標楷體" pitchFamily="65" charset="-120"/>
              </a:rPr>
              <a:t>更新</a:t>
            </a:r>
            <a:endParaRPr lang="zh-TW" altLang="en-US" u="sng" dirty="0">
              <a:latin typeface="標楷體" pitchFamily="65" charset="-120"/>
              <a:ea typeface="標楷體" pitchFamily="65" charset="-120"/>
            </a:endParaRPr>
          </a:p>
        </p:txBody>
      </p:sp>
      <p:cxnSp>
        <p:nvCxnSpPr>
          <p:cNvPr id="189463" name="肘形接點 35"/>
          <p:cNvCxnSpPr>
            <a:cxnSpLocks noChangeShapeType="1"/>
          </p:cNvCxnSpPr>
          <p:nvPr/>
        </p:nvCxnSpPr>
        <p:spPr bwMode="auto">
          <a:xfrm>
            <a:off x="6707188" y="4243388"/>
            <a:ext cx="438150" cy="0"/>
          </a:xfrm>
          <a:prstGeom prst="straightConnector1">
            <a:avLst/>
          </a:prstGeom>
          <a:noFill/>
          <a:ln w="76200" algn="ctr">
            <a:solidFill>
              <a:srgbClr val="0000CC"/>
            </a:solidFill>
            <a:round/>
            <a:headEnd/>
            <a:tailEnd type="triangle" w="med" len="med"/>
          </a:ln>
          <a:effectLst/>
        </p:spPr>
      </p:cxnSp>
      <p:sp>
        <p:nvSpPr>
          <p:cNvPr id="189464" name="矩形 29"/>
          <p:cNvSpPr>
            <a:spLocks noChangeArrowheads="1"/>
          </p:cNvSpPr>
          <p:nvPr/>
        </p:nvSpPr>
        <p:spPr bwMode="auto">
          <a:xfrm>
            <a:off x="2935288" y="5360988"/>
            <a:ext cx="1660525" cy="1208087"/>
          </a:xfrm>
          <a:prstGeom prst="rect">
            <a:avLst/>
          </a:prstGeom>
          <a:noFill/>
          <a:ln w="5715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 eaLnBrk="1" hangingPunct="1"/>
            <a:endParaRPr lang="zh-TW" altLang="en-US" u="sng">
              <a:solidFill>
                <a:srgbClr val="0000CC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89465" name="矩形 30"/>
          <p:cNvSpPr>
            <a:spLocks noChangeArrowheads="1"/>
          </p:cNvSpPr>
          <p:nvPr/>
        </p:nvSpPr>
        <p:spPr bwMode="auto">
          <a:xfrm>
            <a:off x="2935288" y="3643313"/>
            <a:ext cx="1660525" cy="1206500"/>
          </a:xfrm>
          <a:prstGeom prst="rect">
            <a:avLst/>
          </a:prstGeom>
          <a:noFill/>
          <a:ln w="5715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 eaLnBrk="1" hangingPunct="1"/>
            <a:endParaRPr lang="zh-TW" altLang="en-US" u="sng">
              <a:solidFill>
                <a:srgbClr val="0000CC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五邊形 10"/>
          <p:cNvSpPr>
            <a:spLocks noChangeArrowheads="1"/>
          </p:cNvSpPr>
          <p:nvPr/>
        </p:nvSpPr>
        <p:spPr bwMode="auto">
          <a:xfrm>
            <a:off x="123825" y="1300163"/>
            <a:ext cx="1898650" cy="466725"/>
          </a:xfrm>
          <a:prstGeom prst="homePlate">
            <a:avLst>
              <a:gd name="adj" fmla="val 46048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 </a:t>
            </a:r>
            <a:r>
              <a:rPr lang="zh-TW" altLang="en-US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案例說明</a:t>
            </a:r>
          </a:p>
        </p:txBody>
      </p:sp>
      <p:sp>
        <p:nvSpPr>
          <p:cNvPr id="191491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kumimoji="0" lang="zh-TW" altLang="en-US" sz="3600">
                <a:latin typeface="標楷體" pitchFamily="65" charset="-120"/>
                <a:ea typeface="標楷體" pitchFamily="65" charset="-120"/>
              </a:rPr>
              <a:t>資訊部改善實例報告</a:t>
            </a:r>
            <a:endParaRPr lang="zh-TW" altLang="en-US" sz="3600">
              <a:solidFill>
                <a:schemeClr val="tx2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91492" name="Rectangle 23"/>
          <p:cNvSpPr>
            <a:spLocks noChangeArrowheads="1"/>
          </p:cNvSpPr>
          <p:nvPr/>
        </p:nvSpPr>
        <p:spPr bwMode="auto">
          <a:xfrm>
            <a:off x="-1588" y="725488"/>
            <a:ext cx="9144001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三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.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電腦自動開立</a:t>
            </a:r>
            <a:r>
              <a:rPr lang="zh-TW" altLang="en-US" sz="320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程式派送單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及驗收單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】</a:t>
            </a:r>
            <a:endParaRPr lang="zh-TW" altLang="en-US" sz="32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91493" name="文字方塊 6"/>
          <p:cNvSpPr txBox="1">
            <a:spLocks noChangeArrowheads="1"/>
          </p:cNvSpPr>
          <p:nvPr/>
        </p:nvSpPr>
        <p:spPr bwMode="auto">
          <a:xfrm>
            <a:off x="2084388" y="1365250"/>
            <a:ext cx="565308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ts val="2400"/>
              </a:lnSpc>
            </a:pPr>
            <a:r>
              <a:rPr kumimoji="0" lang="zh-TW" altLang="en-US">
                <a:solidFill>
                  <a:srgbClr val="0000CC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程式開發完成後，交辦單辦理結案。</a:t>
            </a:r>
          </a:p>
        </p:txBody>
      </p:sp>
      <p:pic>
        <p:nvPicPr>
          <p:cNvPr id="191494" name="圖片 3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9413" y="1830388"/>
            <a:ext cx="8486775" cy="474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五邊形 10"/>
          <p:cNvSpPr>
            <a:spLocks noChangeArrowheads="1"/>
          </p:cNvSpPr>
          <p:nvPr/>
        </p:nvSpPr>
        <p:spPr bwMode="auto">
          <a:xfrm>
            <a:off x="123825" y="1370013"/>
            <a:ext cx="1898650" cy="466725"/>
          </a:xfrm>
          <a:prstGeom prst="homePlate">
            <a:avLst>
              <a:gd name="adj" fmla="val 46048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 </a:t>
            </a:r>
            <a:r>
              <a:rPr lang="zh-TW" altLang="en-US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案例說明</a:t>
            </a:r>
          </a:p>
        </p:txBody>
      </p:sp>
      <p:sp>
        <p:nvSpPr>
          <p:cNvPr id="192515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kumimoji="0" lang="zh-TW" altLang="en-US" sz="3600">
                <a:latin typeface="標楷體" pitchFamily="65" charset="-120"/>
                <a:ea typeface="標楷體" pitchFamily="65" charset="-120"/>
              </a:rPr>
              <a:t>資訊部改善實例報告</a:t>
            </a:r>
            <a:endParaRPr lang="zh-TW" altLang="en-US" sz="3600">
              <a:solidFill>
                <a:schemeClr val="tx2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92516" name="Rectangle 23"/>
          <p:cNvSpPr>
            <a:spLocks noChangeArrowheads="1"/>
          </p:cNvSpPr>
          <p:nvPr/>
        </p:nvSpPr>
        <p:spPr bwMode="auto">
          <a:xfrm>
            <a:off x="-1588" y="725488"/>
            <a:ext cx="9144001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三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.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電腦自動開立</a:t>
            </a:r>
            <a:r>
              <a:rPr lang="zh-TW" altLang="en-US" sz="320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程式派送單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及驗收單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】</a:t>
            </a:r>
            <a:endParaRPr lang="zh-TW" altLang="en-US" sz="32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92517" name="文字方塊 6"/>
          <p:cNvSpPr txBox="1">
            <a:spLocks noChangeArrowheads="1"/>
          </p:cNvSpPr>
          <p:nvPr/>
        </p:nvSpPr>
        <p:spPr bwMode="auto">
          <a:xfrm>
            <a:off x="1982788" y="1289050"/>
            <a:ext cx="7332662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ts val="2400"/>
              </a:lnSpc>
            </a:pPr>
            <a:r>
              <a:rPr kumimoji="0" lang="zh-TW" altLang="en-US" dirty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交辦單結案後，電腦自動開立程式派送單，經檢</a:t>
            </a:r>
            <a:r>
              <a:rPr kumimoji="0" lang="zh-TW" altLang="en-US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附修改後程式</a:t>
            </a:r>
            <a:r>
              <a:rPr kumimoji="0" lang="zh-TW" altLang="en-US" dirty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、說明修改原因及修改時間後送呈小組長審核派送。</a:t>
            </a:r>
          </a:p>
        </p:txBody>
      </p:sp>
      <p:pic>
        <p:nvPicPr>
          <p:cNvPr id="192518" name="圖片 3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950" y="2305050"/>
            <a:ext cx="8902700" cy="250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2519" name="圖片 4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3350" y="4875213"/>
            <a:ext cx="8789988" cy="172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圓角矩形 14"/>
          <p:cNvSpPr>
            <a:spLocks noChangeArrowheads="1"/>
          </p:cNvSpPr>
          <p:nvPr/>
        </p:nvSpPr>
        <p:spPr bwMode="auto">
          <a:xfrm>
            <a:off x="309563" y="1666875"/>
            <a:ext cx="8680450" cy="1381125"/>
          </a:xfrm>
          <a:prstGeom prst="roundRect">
            <a:avLst>
              <a:gd name="adj" fmla="val 7097"/>
            </a:avLst>
          </a:prstGeom>
          <a:noFill/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endParaRPr lang="zh-TW" altLang="en-US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50179" name="五邊形 10"/>
          <p:cNvSpPr>
            <a:spLocks noChangeArrowheads="1"/>
          </p:cNvSpPr>
          <p:nvPr/>
        </p:nvSpPr>
        <p:spPr bwMode="auto">
          <a:xfrm>
            <a:off x="123825" y="1300163"/>
            <a:ext cx="1898650" cy="466725"/>
          </a:xfrm>
          <a:prstGeom prst="homePlate">
            <a:avLst>
              <a:gd name="adj" fmla="val 46048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176213"/>
            <a:r>
              <a:rPr lang="zh-TW" altLang="en-US">
                <a:latin typeface="標楷體" pitchFamily="65" charset="-120"/>
                <a:ea typeface="標楷體" pitchFamily="65" charset="-120"/>
              </a:rPr>
              <a:t>作    法</a:t>
            </a:r>
          </a:p>
        </p:txBody>
      </p:sp>
      <p:sp>
        <p:nvSpPr>
          <p:cNvPr id="50180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endParaRPr lang="zh-TW" altLang="en-US" sz="360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50181" name="五邊形 6"/>
          <p:cNvSpPr>
            <a:spLocks noChangeArrowheads="1"/>
          </p:cNvSpPr>
          <p:nvPr/>
        </p:nvSpPr>
        <p:spPr bwMode="auto">
          <a:xfrm>
            <a:off x="123825" y="3067050"/>
            <a:ext cx="1898650" cy="466725"/>
          </a:xfrm>
          <a:prstGeom prst="homePlate">
            <a:avLst>
              <a:gd name="adj" fmla="val 46048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>
                <a:latin typeface="標楷體" pitchFamily="65" charset="-120"/>
                <a:ea typeface="標楷體" pitchFamily="65" charset="-120"/>
              </a:rPr>
              <a:t>作業流程</a:t>
            </a:r>
          </a:p>
        </p:txBody>
      </p:sp>
      <p:sp>
        <p:nvSpPr>
          <p:cNvPr id="50182" name="文字方塊 6"/>
          <p:cNvSpPr txBox="1">
            <a:spLocks noChangeArrowheads="1"/>
          </p:cNvSpPr>
          <p:nvPr/>
        </p:nvSpPr>
        <p:spPr bwMode="auto">
          <a:xfrm>
            <a:off x="361950" y="1722438"/>
            <a:ext cx="8782050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ts val="2400"/>
              </a:lnSpc>
            </a:pPr>
            <a:r>
              <a:rPr kumimoji="0" lang="zh-TW" altLang="en-US" sz="230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負責電子部及化工部營管作業程式員交辦單結案後，電腦於</a:t>
            </a:r>
            <a:r>
              <a:rPr kumimoji="0" lang="en-US" altLang="zh-TW" sz="230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OA</a:t>
            </a:r>
            <a:r>
              <a:rPr kumimoji="0" lang="zh-TW" altLang="en-US" sz="230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系統自動開立驗收單，由主接件程式人員檢附驗收文件</a:t>
            </a:r>
            <a:r>
              <a:rPr kumimoji="0" lang="en-US" altLang="zh-TW" sz="230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(</a:t>
            </a:r>
            <a:r>
              <a:rPr kumimoji="0" lang="zh-TW" altLang="en-US" sz="230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一制度一測試文件</a:t>
            </a:r>
            <a:r>
              <a:rPr kumimoji="0" lang="en-US" altLang="zh-TW" sz="230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)</a:t>
            </a:r>
            <a:r>
              <a:rPr kumimoji="0" lang="zh-TW" altLang="en-US" sz="230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，經呈核給小組長及組長審核後，傳送給現場反應部門驗收，最後再由機能組驗收後，正式上線。</a:t>
            </a:r>
          </a:p>
          <a:p>
            <a:pPr>
              <a:lnSpc>
                <a:spcPts val="2400"/>
              </a:lnSpc>
            </a:pPr>
            <a:endParaRPr kumimoji="0" lang="zh-TW" altLang="en-US">
              <a:latin typeface="標楷體" pitchFamily="65" charset="-120"/>
              <a:ea typeface="標楷體" pitchFamily="65" charset="-120"/>
              <a:cs typeface="Times New Roman" pitchFamily="18" charset="0"/>
            </a:endParaRPr>
          </a:p>
        </p:txBody>
      </p:sp>
      <p:cxnSp>
        <p:nvCxnSpPr>
          <p:cNvPr id="50184" name="直線單箭頭接點 26"/>
          <p:cNvCxnSpPr>
            <a:cxnSpLocks noChangeShapeType="1"/>
            <a:stCxn id="50203" idx="3"/>
            <a:endCxn id="50187" idx="1"/>
          </p:cNvCxnSpPr>
          <p:nvPr/>
        </p:nvCxnSpPr>
        <p:spPr bwMode="auto">
          <a:xfrm flipV="1">
            <a:off x="2001838" y="4057650"/>
            <a:ext cx="1866900" cy="4763"/>
          </a:xfrm>
          <a:prstGeom prst="straightConnector1">
            <a:avLst/>
          </a:prstGeom>
          <a:noFill/>
          <a:ln w="76200" algn="ctr">
            <a:solidFill>
              <a:srgbClr val="0000CC"/>
            </a:solidFill>
            <a:round/>
            <a:headEnd/>
            <a:tailEnd type="triangle" w="med" len="med"/>
          </a:ln>
        </p:spPr>
      </p:cxnSp>
      <p:sp>
        <p:nvSpPr>
          <p:cNvPr id="50185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kumimoji="0" lang="zh-TW" altLang="en-US" sz="3600">
                <a:latin typeface="標楷體" pitchFamily="65" charset="-120"/>
                <a:ea typeface="標楷體" pitchFamily="65" charset="-120"/>
              </a:rPr>
              <a:t>資訊部改善實例報告</a:t>
            </a:r>
            <a:endParaRPr lang="zh-TW" altLang="en-US" sz="3600">
              <a:solidFill>
                <a:schemeClr val="tx2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50187" name="矩形 18"/>
          <p:cNvSpPr>
            <a:spLocks noChangeArrowheads="1"/>
          </p:cNvSpPr>
          <p:nvPr/>
        </p:nvSpPr>
        <p:spPr bwMode="auto">
          <a:xfrm>
            <a:off x="3897313" y="3614738"/>
            <a:ext cx="1443037" cy="885825"/>
          </a:xfrm>
          <a:prstGeom prst="rect">
            <a:avLst/>
          </a:prstGeom>
          <a:noFill/>
          <a:ln w="57150" cmpd="dbl" algn="ctr">
            <a:solidFill>
              <a:srgbClr val="0000CC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/>
            <a:r>
              <a:rPr lang="zh-TW" altLang="en-US" sz="230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電腦開立</a:t>
            </a:r>
          </a:p>
          <a:p>
            <a:pPr algn="ctr"/>
            <a:r>
              <a:rPr lang="zh-TW" altLang="en-US" sz="230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驗收單</a:t>
            </a:r>
          </a:p>
        </p:txBody>
      </p:sp>
      <p:sp>
        <p:nvSpPr>
          <p:cNvPr id="50188" name="矩形 18"/>
          <p:cNvSpPr>
            <a:spLocks noChangeArrowheads="1"/>
          </p:cNvSpPr>
          <p:nvPr/>
        </p:nvSpPr>
        <p:spPr bwMode="auto">
          <a:xfrm>
            <a:off x="6989763" y="3606800"/>
            <a:ext cx="1709737" cy="885825"/>
          </a:xfrm>
          <a:prstGeom prst="rect">
            <a:avLst/>
          </a:prstGeom>
          <a:noFill/>
          <a:ln w="57150" cmpd="dbl" algn="ctr">
            <a:solidFill>
              <a:srgbClr val="0000CC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just">
              <a:lnSpc>
                <a:spcPct val="90000"/>
              </a:lnSpc>
            </a:pPr>
            <a:r>
              <a:rPr lang="zh-TW" altLang="en-US" sz="210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檢附驗收文件</a:t>
            </a:r>
            <a:r>
              <a:rPr lang="en-US" altLang="zh-TW" sz="210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(</a:t>
            </a:r>
            <a:r>
              <a:rPr lang="zh-TW" altLang="en-US" sz="210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一制度一測試文件</a:t>
            </a:r>
            <a:r>
              <a:rPr lang="en-US" altLang="zh-TW" sz="210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)</a:t>
            </a:r>
            <a:endParaRPr lang="zh-TW" altLang="en-US" sz="2100">
              <a:solidFill>
                <a:srgbClr val="0000CC"/>
              </a:solidFill>
              <a:latin typeface="標楷體" pitchFamily="65" charset="-120"/>
              <a:ea typeface="標楷體" pitchFamily="65" charset="-120"/>
            </a:endParaRPr>
          </a:p>
        </p:txBody>
      </p:sp>
      <p:cxnSp>
        <p:nvCxnSpPr>
          <p:cNvPr id="50189" name="直線單箭頭接點 26"/>
          <p:cNvCxnSpPr>
            <a:cxnSpLocks noChangeShapeType="1"/>
            <a:stCxn id="50187" idx="3"/>
            <a:endCxn id="50188" idx="1"/>
          </p:cNvCxnSpPr>
          <p:nvPr/>
        </p:nvCxnSpPr>
        <p:spPr bwMode="auto">
          <a:xfrm flipV="1">
            <a:off x="5368925" y="4049713"/>
            <a:ext cx="1592263" cy="7937"/>
          </a:xfrm>
          <a:prstGeom prst="straightConnector1">
            <a:avLst/>
          </a:prstGeom>
          <a:noFill/>
          <a:ln w="76200" algn="ctr">
            <a:solidFill>
              <a:srgbClr val="0000CC"/>
            </a:solidFill>
            <a:round/>
            <a:headEnd/>
            <a:tailEnd type="triangle" w="med" len="med"/>
          </a:ln>
        </p:spPr>
      </p:cxnSp>
      <p:sp>
        <p:nvSpPr>
          <p:cNvPr id="50192" name="矩形 18"/>
          <p:cNvSpPr>
            <a:spLocks noChangeArrowheads="1"/>
          </p:cNvSpPr>
          <p:nvPr/>
        </p:nvSpPr>
        <p:spPr bwMode="auto">
          <a:xfrm>
            <a:off x="2751138" y="5138738"/>
            <a:ext cx="1443037" cy="885825"/>
          </a:xfrm>
          <a:prstGeom prst="rect">
            <a:avLst/>
          </a:prstGeom>
          <a:noFill/>
          <a:ln w="57150" cmpd="dbl" algn="ctr">
            <a:solidFill>
              <a:srgbClr val="0000CC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/>
            <a:r>
              <a:rPr lang="zh-TW" altLang="en-US" sz="2300">
                <a:latin typeface="標楷體" pitchFamily="65" charset="-120"/>
                <a:ea typeface="標楷體" pitchFamily="65" charset="-120"/>
              </a:rPr>
              <a:t>現場部門</a:t>
            </a:r>
          </a:p>
          <a:p>
            <a:pPr algn="ctr"/>
            <a:r>
              <a:rPr lang="zh-TW" altLang="en-US" sz="2300">
                <a:latin typeface="標楷體" pitchFamily="65" charset="-120"/>
                <a:ea typeface="標楷體" pitchFamily="65" charset="-120"/>
              </a:rPr>
              <a:t>驗收</a:t>
            </a:r>
          </a:p>
        </p:txBody>
      </p:sp>
      <p:sp>
        <p:nvSpPr>
          <p:cNvPr id="50193" name="矩形 18"/>
          <p:cNvSpPr>
            <a:spLocks noChangeArrowheads="1"/>
          </p:cNvSpPr>
          <p:nvPr/>
        </p:nvSpPr>
        <p:spPr bwMode="auto">
          <a:xfrm>
            <a:off x="4991100" y="5143500"/>
            <a:ext cx="1443038" cy="885825"/>
          </a:xfrm>
          <a:prstGeom prst="rect">
            <a:avLst/>
          </a:prstGeom>
          <a:noFill/>
          <a:ln w="57150" cmpd="dbl" algn="ctr">
            <a:solidFill>
              <a:srgbClr val="0000CC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>
              <a:lnSpc>
                <a:spcPct val="85000"/>
              </a:lnSpc>
            </a:pPr>
            <a:r>
              <a:rPr lang="zh-TW" altLang="en-US" sz="2300">
                <a:latin typeface="標楷體" pitchFamily="65" charset="-120"/>
                <a:ea typeface="標楷體" pitchFamily="65" charset="-120"/>
              </a:rPr>
              <a:t>機能組</a:t>
            </a:r>
          </a:p>
          <a:p>
            <a:pPr algn="ctr">
              <a:lnSpc>
                <a:spcPct val="85000"/>
              </a:lnSpc>
            </a:pPr>
            <a:r>
              <a:rPr lang="zh-TW" altLang="en-US" sz="2300">
                <a:latin typeface="標楷體" pitchFamily="65" charset="-120"/>
                <a:ea typeface="標楷體" pitchFamily="65" charset="-120"/>
              </a:rPr>
              <a:t>驗收</a:t>
            </a:r>
          </a:p>
        </p:txBody>
      </p:sp>
      <p:cxnSp>
        <p:nvCxnSpPr>
          <p:cNvPr id="50198" name="直線單箭頭接點 26"/>
          <p:cNvCxnSpPr>
            <a:cxnSpLocks noChangeShapeType="1"/>
            <a:stCxn id="50193" idx="3"/>
            <a:endCxn id="50201" idx="1"/>
          </p:cNvCxnSpPr>
          <p:nvPr/>
        </p:nvCxnSpPr>
        <p:spPr bwMode="auto">
          <a:xfrm>
            <a:off x="6462713" y="5586413"/>
            <a:ext cx="498475" cy="9525"/>
          </a:xfrm>
          <a:prstGeom prst="straightConnector1">
            <a:avLst/>
          </a:prstGeom>
          <a:noFill/>
          <a:ln w="76200" algn="ctr">
            <a:solidFill>
              <a:srgbClr val="0000CC"/>
            </a:solidFill>
            <a:round/>
            <a:headEnd/>
            <a:tailEnd type="triangle" w="med" len="med"/>
          </a:ln>
        </p:spPr>
      </p:cxnSp>
      <p:cxnSp>
        <p:nvCxnSpPr>
          <p:cNvPr id="50199" name="直線單箭頭接點 26"/>
          <p:cNvCxnSpPr>
            <a:cxnSpLocks noChangeShapeType="1"/>
            <a:stCxn id="50188" idx="2"/>
            <a:endCxn id="50202" idx="0"/>
          </p:cNvCxnSpPr>
          <p:nvPr/>
        </p:nvCxnSpPr>
        <p:spPr bwMode="auto">
          <a:xfrm rot="5400000">
            <a:off x="4300537" y="1570038"/>
            <a:ext cx="593725" cy="6496050"/>
          </a:xfrm>
          <a:prstGeom prst="bentConnector3">
            <a:avLst>
              <a:gd name="adj1" fmla="val 50000"/>
            </a:avLst>
          </a:prstGeom>
          <a:noFill/>
          <a:ln w="76200" algn="ctr">
            <a:solidFill>
              <a:srgbClr val="0000CC"/>
            </a:solidFill>
            <a:miter lim="800000"/>
            <a:headEnd/>
            <a:tailEnd type="triangle" w="med" len="med"/>
          </a:ln>
        </p:spPr>
      </p:cxnSp>
      <p:sp>
        <p:nvSpPr>
          <p:cNvPr id="50201" name="矩形 18"/>
          <p:cNvSpPr>
            <a:spLocks noChangeArrowheads="1"/>
          </p:cNvSpPr>
          <p:nvPr/>
        </p:nvSpPr>
        <p:spPr bwMode="auto">
          <a:xfrm>
            <a:off x="6989763" y="5153025"/>
            <a:ext cx="1728787" cy="885825"/>
          </a:xfrm>
          <a:prstGeom prst="rect">
            <a:avLst/>
          </a:prstGeom>
          <a:noFill/>
          <a:ln w="57150" cmpd="dbl" algn="ctr">
            <a:solidFill>
              <a:srgbClr val="0000CC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/>
            <a:r>
              <a:rPr lang="zh-TW" altLang="en-US" sz="2300">
                <a:latin typeface="標楷體" pitchFamily="65" charset="-120"/>
                <a:ea typeface="標楷體" pitchFamily="65" charset="-120"/>
              </a:rPr>
              <a:t>安排上線</a:t>
            </a:r>
          </a:p>
        </p:txBody>
      </p:sp>
      <p:sp>
        <p:nvSpPr>
          <p:cNvPr id="50202" name="矩形 18"/>
          <p:cNvSpPr>
            <a:spLocks noChangeArrowheads="1"/>
          </p:cNvSpPr>
          <p:nvPr/>
        </p:nvSpPr>
        <p:spPr bwMode="auto">
          <a:xfrm>
            <a:off x="627063" y="5143500"/>
            <a:ext cx="1443037" cy="885825"/>
          </a:xfrm>
          <a:prstGeom prst="rect">
            <a:avLst/>
          </a:prstGeom>
          <a:noFill/>
          <a:ln w="57150" cmpd="dbl" algn="ctr">
            <a:solidFill>
              <a:srgbClr val="0000CC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>
              <a:lnSpc>
                <a:spcPct val="90000"/>
              </a:lnSpc>
            </a:pPr>
            <a:r>
              <a:rPr lang="zh-TW" altLang="en-US" sz="2200">
                <a:latin typeface="標楷體" pitchFamily="65" charset="-120"/>
                <a:ea typeface="標楷體" pitchFamily="65" charset="-120"/>
              </a:rPr>
              <a:t>小組長</a:t>
            </a:r>
            <a:r>
              <a:rPr lang="en-US" altLang="zh-TW" sz="2200">
                <a:latin typeface="標楷體" pitchFamily="65" charset="-120"/>
                <a:ea typeface="標楷體" pitchFamily="65" charset="-120"/>
              </a:rPr>
              <a:t>/</a:t>
            </a:r>
          </a:p>
          <a:p>
            <a:pPr algn="ctr">
              <a:lnSpc>
                <a:spcPct val="90000"/>
              </a:lnSpc>
            </a:pPr>
            <a:r>
              <a:rPr lang="zh-TW" altLang="en-US" sz="2200">
                <a:latin typeface="標楷體" pitchFamily="65" charset="-120"/>
                <a:ea typeface="標楷體" pitchFamily="65" charset="-120"/>
              </a:rPr>
              <a:t>組長審核</a:t>
            </a:r>
            <a:endParaRPr lang="en-US" altLang="zh-TW" sz="230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50203" name="矩形 18"/>
          <p:cNvSpPr>
            <a:spLocks noChangeArrowheads="1"/>
          </p:cNvSpPr>
          <p:nvPr/>
        </p:nvSpPr>
        <p:spPr bwMode="auto">
          <a:xfrm>
            <a:off x="530225" y="3619500"/>
            <a:ext cx="1443038" cy="885825"/>
          </a:xfrm>
          <a:prstGeom prst="rect">
            <a:avLst/>
          </a:prstGeom>
          <a:noFill/>
          <a:ln w="57150" cmpd="dbl" algn="ctr">
            <a:solidFill>
              <a:srgbClr val="0000CC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/>
            <a:r>
              <a:rPr lang="zh-TW" altLang="en-US" sz="2300">
                <a:latin typeface="標楷體" pitchFamily="65" charset="-120"/>
                <a:ea typeface="標楷體" pitchFamily="65" charset="-120"/>
              </a:rPr>
              <a:t>交辦單</a:t>
            </a:r>
          </a:p>
          <a:p>
            <a:pPr algn="ctr"/>
            <a:r>
              <a:rPr lang="zh-TW" altLang="en-US" sz="2300">
                <a:latin typeface="標楷體" pitchFamily="65" charset="-120"/>
                <a:ea typeface="標楷體" pitchFamily="65" charset="-120"/>
              </a:rPr>
              <a:t>結案</a:t>
            </a:r>
            <a:endParaRPr lang="en-US" altLang="zh-TW" sz="2300">
              <a:latin typeface="標楷體" pitchFamily="65" charset="-120"/>
              <a:ea typeface="標楷體" pitchFamily="65" charset="-120"/>
            </a:endParaRPr>
          </a:p>
        </p:txBody>
      </p:sp>
      <p:cxnSp>
        <p:nvCxnSpPr>
          <p:cNvPr id="50204" name="直線單箭頭接點 26"/>
          <p:cNvCxnSpPr>
            <a:cxnSpLocks noChangeShapeType="1"/>
            <a:stCxn id="50202" idx="3"/>
            <a:endCxn id="50192" idx="1"/>
          </p:cNvCxnSpPr>
          <p:nvPr/>
        </p:nvCxnSpPr>
        <p:spPr bwMode="auto">
          <a:xfrm flipV="1">
            <a:off x="2098675" y="5581650"/>
            <a:ext cx="623888" cy="4763"/>
          </a:xfrm>
          <a:prstGeom prst="straightConnector1">
            <a:avLst/>
          </a:prstGeom>
          <a:noFill/>
          <a:ln w="76200" algn="ctr">
            <a:solidFill>
              <a:srgbClr val="0000CC"/>
            </a:solidFill>
            <a:round/>
            <a:headEnd/>
            <a:tailEnd type="triangle" w="med" len="med"/>
          </a:ln>
        </p:spPr>
      </p:cxnSp>
      <p:cxnSp>
        <p:nvCxnSpPr>
          <p:cNvPr id="50206" name="直線單箭頭接點 26"/>
          <p:cNvCxnSpPr>
            <a:cxnSpLocks noChangeShapeType="1"/>
            <a:stCxn id="50192" idx="3"/>
            <a:endCxn id="50193" idx="1"/>
          </p:cNvCxnSpPr>
          <p:nvPr/>
        </p:nvCxnSpPr>
        <p:spPr bwMode="auto">
          <a:xfrm>
            <a:off x="4222750" y="5581650"/>
            <a:ext cx="739775" cy="4763"/>
          </a:xfrm>
          <a:prstGeom prst="straightConnector1">
            <a:avLst/>
          </a:prstGeom>
          <a:noFill/>
          <a:ln w="76200" algn="ctr">
            <a:solidFill>
              <a:srgbClr val="0000CC"/>
            </a:solidFill>
            <a:round/>
            <a:headEnd/>
            <a:tailEnd type="triangle" w="med" len="med"/>
          </a:ln>
        </p:spPr>
      </p:cxnSp>
      <p:sp>
        <p:nvSpPr>
          <p:cNvPr id="50207" name="Rectangle 23"/>
          <p:cNvSpPr>
            <a:spLocks noChangeArrowheads="1"/>
          </p:cNvSpPr>
          <p:nvPr/>
        </p:nvSpPr>
        <p:spPr bwMode="auto">
          <a:xfrm>
            <a:off x="-1588" y="725488"/>
            <a:ext cx="9144001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三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.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電腦自動開立程式派送單及</a:t>
            </a:r>
            <a:r>
              <a:rPr lang="zh-TW" altLang="en-US" sz="320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驗收單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】</a:t>
            </a:r>
            <a:endParaRPr lang="zh-TW" altLang="en-US" sz="32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13"/>
          <p:cNvPicPr>
            <a:picLocks noChangeAspect="1" noChangeArrowheads="1"/>
          </p:cNvPicPr>
          <p:nvPr/>
        </p:nvPicPr>
        <p:blipFill>
          <a:blip r:embed="rId3" cstate="print"/>
          <a:srcRect l="34450" t="15137" r="31844" b="55260"/>
          <a:stretch>
            <a:fillRect/>
          </a:stretch>
        </p:blipFill>
        <p:spPr bwMode="auto">
          <a:xfrm>
            <a:off x="271463" y="2578100"/>
            <a:ext cx="8872537" cy="373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229" name="Rectangle 19"/>
          <p:cNvSpPr>
            <a:spLocks noChangeArrowheads="1"/>
          </p:cNvSpPr>
          <p:nvPr/>
        </p:nvSpPr>
        <p:spPr bwMode="auto">
          <a:xfrm>
            <a:off x="523875" y="6194425"/>
            <a:ext cx="3841750" cy="336550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TW" altLang="en-US" sz="1600">
                <a:ea typeface="標楷體" pitchFamily="65" charset="-120"/>
              </a:rPr>
              <a:t>電子部交運管理電腦作業</a:t>
            </a:r>
          </a:p>
        </p:txBody>
      </p:sp>
      <p:sp>
        <p:nvSpPr>
          <p:cNvPr id="52237" name="Rectangle 19"/>
          <p:cNvSpPr>
            <a:spLocks noChangeArrowheads="1"/>
          </p:cNvSpPr>
          <p:nvPr/>
        </p:nvSpPr>
        <p:spPr bwMode="auto">
          <a:xfrm>
            <a:off x="4387850" y="6191250"/>
            <a:ext cx="3784600" cy="336550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TW" altLang="en-US" sz="1600">
                <a:ea typeface="標楷體" pitchFamily="65" charset="-120"/>
              </a:rPr>
              <a:t>化工部交運管理電腦作業</a:t>
            </a:r>
          </a:p>
        </p:txBody>
      </p:sp>
      <p:sp>
        <p:nvSpPr>
          <p:cNvPr id="52231" name="圓角矩形 14"/>
          <p:cNvSpPr>
            <a:spLocks noChangeArrowheads="1"/>
          </p:cNvSpPr>
          <p:nvPr/>
        </p:nvSpPr>
        <p:spPr bwMode="auto">
          <a:xfrm>
            <a:off x="309563" y="1728788"/>
            <a:ext cx="8680450" cy="923925"/>
          </a:xfrm>
          <a:prstGeom prst="roundRect">
            <a:avLst>
              <a:gd name="adj" fmla="val 7097"/>
            </a:avLst>
          </a:prstGeom>
          <a:noFill/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>
              <a:lnSpc>
                <a:spcPct val="80000"/>
              </a:lnSpc>
            </a:pPr>
            <a:r>
              <a:rPr lang="zh-TW" altLang="en-US">
                <a:latin typeface="標楷體" pitchFamily="65" charset="-120"/>
                <a:ea typeface="標楷體" pitchFamily="65" charset="-120"/>
              </a:rPr>
              <a:t>電腦已管制須檢附其測試</a:t>
            </a:r>
            <a:r>
              <a:rPr lang="en-US" altLang="zh-TW">
                <a:latin typeface="標楷體" pitchFamily="65" charset="-120"/>
                <a:ea typeface="標楷體" pitchFamily="65" charset="-120"/>
              </a:rPr>
              <a:t>(</a:t>
            </a:r>
            <a:r>
              <a:rPr lang="zh-TW" altLang="en-US">
                <a:latin typeface="標楷體" pitchFamily="65" charset="-120"/>
                <a:ea typeface="標楷體" pitchFamily="65" charset="-120"/>
              </a:rPr>
              <a:t>驗收</a:t>
            </a:r>
            <a:r>
              <a:rPr lang="en-US" altLang="zh-TW">
                <a:latin typeface="標楷體" pitchFamily="65" charset="-120"/>
                <a:ea typeface="標楷體" pitchFamily="65" charset="-120"/>
              </a:rPr>
              <a:t>)</a:t>
            </a:r>
            <a:r>
              <a:rPr lang="zh-TW" altLang="en-US">
                <a:latin typeface="標楷體" pitchFamily="65" charset="-120"/>
                <a:ea typeface="標楷體" pitchFamily="65" charset="-120"/>
              </a:rPr>
              <a:t>文件，以下兩檔案為電子部及化工部交運管理電腦作業驗收文件。</a:t>
            </a:r>
            <a:endParaRPr lang="en-US" altLang="zh-TW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52232" name="五邊形 19"/>
          <p:cNvSpPr>
            <a:spLocks noChangeArrowheads="1"/>
          </p:cNvSpPr>
          <p:nvPr/>
        </p:nvSpPr>
        <p:spPr bwMode="auto">
          <a:xfrm>
            <a:off x="123825" y="1295400"/>
            <a:ext cx="1898650" cy="466725"/>
          </a:xfrm>
          <a:prstGeom prst="homePlate">
            <a:avLst>
              <a:gd name="adj" fmla="val 46048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>
                <a:latin typeface="標楷體" pitchFamily="65" charset="-120"/>
                <a:ea typeface="標楷體" pitchFamily="65" charset="-120"/>
              </a:rPr>
              <a:t>程式驗收</a:t>
            </a:r>
          </a:p>
        </p:txBody>
      </p:sp>
      <p:sp>
        <p:nvSpPr>
          <p:cNvPr id="52233" name="五邊形 16"/>
          <p:cNvSpPr>
            <a:spLocks noChangeArrowheads="1"/>
          </p:cNvSpPr>
          <p:nvPr/>
        </p:nvSpPr>
        <p:spPr bwMode="auto">
          <a:xfrm>
            <a:off x="92075" y="2646363"/>
            <a:ext cx="2097088" cy="436562"/>
          </a:xfrm>
          <a:prstGeom prst="homePlate">
            <a:avLst>
              <a:gd name="adj" fmla="val 45946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 sz="2200">
                <a:latin typeface="標楷體" pitchFamily="65" charset="-120"/>
                <a:ea typeface="標楷體" pitchFamily="65" charset="-120"/>
              </a:rPr>
              <a:t>OA</a:t>
            </a:r>
            <a:r>
              <a:rPr lang="zh-TW" altLang="en-US" sz="2200">
                <a:latin typeface="標楷體" pitchFamily="65" charset="-120"/>
                <a:ea typeface="標楷體" pitchFamily="65" charset="-120"/>
              </a:rPr>
              <a:t>驗收單</a:t>
            </a:r>
            <a:endParaRPr lang="en-US" altLang="zh-TW" sz="220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52234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kumimoji="0" lang="zh-TW" altLang="en-US" sz="3600">
                <a:latin typeface="標楷體" pitchFamily="65" charset="-120"/>
                <a:ea typeface="標楷體" pitchFamily="65" charset="-120"/>
              </a:rPr>
              <a:t>資訊部改善實例報告</a:t>
            </a:r>
            <a:endParaRPr lang="zh-TW" altLang="en-US" sz="3600">
              <a:solidFill>
                <a:schemeClr val="tx2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52244" name="Rectangle 23"/>
          <p:cNvSpPr>
            <a:spLocks noChangeArrowheads="1"/>
          </p:cNvSpPr>
          <p:nvPr/>
        </p:nvSpPr>
        <p:spPr bwMode="auto">
          <a:xfrm>
            <a:off x="-1588" y="725488"/>
            <a:ext cx="9144001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三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.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電腦自動開立程式派送單及</a:t>
            </a:r>
            <a:r>
              <a:rPr lang="zh-TW" altLang="en-US" sz="320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驗收單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】</a:t>
            </a:r>
            <a:endParaRPr lang="zh-TW" altLang="en-US" sz="32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52250" name="Picture 26"/>
          <p:cNvPicPr>
            <a:picLocks noChangeAspect="1" noChangeArrowheads="1"/>
          </p:cNvPicPr>
          <p:nvPr/>
        </p:nvPicPr>
        <p:blipFill>
          <a:blip r:embed="rId4" cstate="print"/>
          <a:srcRect t="6195" b="5154"/>
          <a:stretch>
            <a:fillRect/>
          </a:stretch>
        </p:blipFill>
        <p:spPr bwMode="auto">
          <a:xfrm>
            <a:off x="533400" y="5319713"/>
            <a:ext cx="7481888" cy="81915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52252" name="Line 28"/>
          <p:cNvSpPr>
            <a:spLocks noChangeShapeType="1"/>
          </p:cNvSpPr>
          <p:nvPr/>
        </p:nvSpPr>
        <p:spPr bwMode="auto">
          <a:xfrm>
            <a:off x="4338638" y="5300663"/>
            <a:ext cx="0" cy="8810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>
            <a:prstShdw prst="shdw17" dist="17961" dir="2700000">
              <a:srgbClr val="FF0000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9" name="圓角矩形 14"/>
          <p:cNvSpPr>
            <a:spLocks noChangeArrowheads="1"/>
          </p:cNvSpPr>
          <p:nvPr/>
        </p:nvSpPr>
        <p:spPr bwMode="auto">
          <a:xfrm>
            <a:off x="309563" y="1728788"/>
            <a:ext cx="8680450" cy="923925"/>
          </a:xfrm>
          <a:prstGeom prst="roundRect">
            <a:avLst>
              <a:gd name="adj" fmla="val 7097"/>
            </a:avLst>
          </a:prstGeom>
          <a:noFill/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>
              <a:lnSpc>
                <a:spcPct val="80000"/>
              </a:lnSpc>
            </a:pPr>
            <a:r>
              <a:rPr lang="zh-TW" altLang="en-US">
                <a:latin typeface="標楷體" pitchFamily="65" charset="-120"/>
                <a:ea typeface="標楷體" pitchFamily="65" charset="-120"/>
              </a:rPr>
              <a:t>小組長</a:t>
            </a:r>
            <a:r>
              <a:rPr lang="en-US" altLang="zh-TW">
                <a:latin typeface="標楷體" pitchFamily="65" charset="-120"/>
                <a:ea typeface="標楷體" pitchFamily="65" charset="-120"/>
              </a:rPr>
              <a:t>/</a:t>
            </a:r>
            <a:r>
              <a:rPr lang="zh-TW" altLang="en-US">
                <a:latin typeface="標楷體" pitchFamily="65" charset="-120"/>
                <a:ea typeface="標楷體" pitchFamily="65" charset="-120"/>
              </a:rPr>
              <a:t>組長逐項開啟並審核附加之驗收文件。</a:t>
            </a:r>
          </a:p>
        </p:txBody>
      </p:sp>
      <p:sp>
        <p:nvSpPr>
          <p:cNvPr id="105480" name="五邊形 19"/>
          <p:cNvSpPr>
            <a:spLocks noChangeArrowheads="1"/>
          </p:cNvSpPr>
          <p:nvPr/>
        </p:nvSpPr>
        <p:spPr bwMode="auto">
          <a:xfrm>
            <a:off x="190500" y="1295400"/>
            <a:ext cx="1581150" cy="466725"/>
          </a:xfrm>
          <a:prstGeom prst="homePlate">
            <a:avLst>
              <a:gd name="adj" fmla="val 38348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>
                <a:latin typeface="標楷體" pitchFamily="65" charset="-120"/>
                <a:ea typeface="標楷體" pitchFamily="65" charset="-120"/>
              </a:rPr>
              <a:t>程式驗收</a:t>
            </a:r>
          </a:p>
        </p:txBody>
      </p:sp>
      <p:sp>
        <p:nvSpPr>
          <p:cNvPr id="105481" name="五邊形 16"/>
          <p:cNvSpPr>
            <a:spLocks noChangeArrowheads="1"/>
          </p:cNvSpPr>
          <p:nvPr/>
        </p:nvSpPr>
        <p:spPr bwMode="auto">
          <a:xfrm>
            <a:off x="152400" y="2646363"/>
            <a:ext cx="2192338" cy="466725"/>
          </a:xfrm>
          <a:prstGeom prst="homePlate">
            <a:avLst>
              <a:gd name="adj" fmla="val 44929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>
                <a:latin typeface="標楷體" pitchFamily="65" charset="-120"/>
                <a:ea typeface="標楷體" pitchFamily="65" charset="-120"/>
              </a:rPr>
              <a:t>審核驗收文件</a:t>
            </a:r>
            <a:endParaRPr lang="en-US" altLang="zh-TW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05482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kumimoji="0" lang="zh-TW" altLang="en-US" sz="3600">
                <a:latin typeface="標楷體" pitchFamily="65" charset="-120"/>
                <a:ea typeface="標楷體" pitchFamily="65" charset="-120"/>
              </a:rPr>
              <a:t>資訊部改善實例報告</a:t>
            </a:r>
            <a:endParaRPr lang="zh-TW" altLang="en-US" sz="3600">
              <a:solidFill>
                <a:schemeClr val="tx2"/>
              </a:solidFill>
              <a:latin typeface="標楷體" pitchFamily="65" charset="-120"/>
              <a:ea typeface="標楷體" pitchFamily="65" charset="-120"/>
            </a:endParaRP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28575" y="3302000"/>
            <a:ext cx="4116388" cy="3498850"/>
            <a:chOff x="-1801" y="1834"/>
            <a:chExt cx="2833" cy="2372"/>
          </a:xfrm>
        </p:grpSpPr>
        <p:pic>
          <p:nvPicPr>
            <p:cNvPr id="105492" name="Picture 30"/>
            <p:cNvPicPr>
              <a:picLocks noChangeAspect="1" noChangeArrowheads="1"/>
            </p:cNvPicPr>
            <p:nvPr/>
          </p:nvPicPr>
          <p:blipFill>
            <a:blip r:embed="rId3" cstate="print"/>
            <a:srcRect l="10416" t="17461" r="56554" b="32664"/>
            <a:stretch>
              <a:fillRect/>
            </a:stretch>
          </p:blipFill>
          <p:spPr bwMode="auto">
            <a:xfrm>
              <a:off x="-1788" y="1834"/>
              <a:ext cx="2793" cy="23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05493" name="Picture 21"/>
            <p:cNvPicPr>
              <a:picLocks noChangeAspect="1" noChangeArrowheads="1"/>
            </p:cNvPicPr>
            <p:nvPr/>
          </p:nvPicPr>
          <p:blipFill>
            <a:blip r:embed="rId4" cstate="print"/>
            <a:srcRect l="52519" t="17673" r="16486" b="41826"/>
            <a:stretch>
              <a:fillRect/>
            </a:stretch>
          </p:blipFill>
          <p:spPr bwMode="auto">
            <a:xfrm>
              <a:off x="-1801" y="2082"/>
              <a:ext cx="2833" cy="20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pic>
        <p:nvPicPr>
          <p:cNvPr id="105495" name="Picture 34"/>
          <p:cNvPicPr>
            <a:picLocks noChangeAspect="1" noChangeArrowheads="1"/>
          </p:cNvPicPr>
          <p:nvPr/>
        </p:nvPicPr>
        <p:blipFill>
          <a:blip r:embed="rId5" cstate="print"/>
          <a:srcRect r="25542"/>
          <a:stretch>
            <a:fillRect/>
          </a:stretch>
        </p:blipFill>
        <p:spPr bwMode="auto">
          <a:xfrm>
            <a:off x="28575" y="3208338"/>
            <a:ext cx="448468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5500" name="Rectangle 23"/>
          <p:cNvSpPr>
            <a:spLocks noChangeArrowheads="1"/>
          </p:cNvSpPr>
          <p:nvPr/>
        </p:nvSpPr>
        <p:spPr bwMode="auto">
          <a:xfrm>
            <a:off x="-1588" y="725488"/>
            <a:ext cx="9144001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三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.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電腦自動開立程式派送單及</a:t>
            </a:r>
            <a:r>
              <a:rPr lang="zh-TW" altLang="en-US" sz="320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驗收單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】</a:t>
            </a:r>
            <a:endParaRPr lang="zh-TW" altLang="en-US" sz="32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105502" name="Picture 30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445000" y="3490913"/>
            <a:ext cx="4699000" cy="2908300"/>
          </a:xfrm>
          <a:prstGeom prst="rect">
            <a:avLst/>
          </a:prstGeom>
          <a:noFill/>
        </p:spPr>
      </p:pic>
      <p:pic>
        <p:nvPicPr>
          <p:cNvPr id="105503" name="Picture 31"/>
          <p:cNvPicPr>
            <a:picLocks noChangeAspect="1" noChangeArrowheads="1"/>
          </p:cNvPicPr>
          <p:nvPr/>
        </p:nvPicPr>
        <p:blipFill>
          <a:blip r:embed="rId7" cstate="print"/>
          <a:srcRect l="10056" r="14627"/>
          <a:stretch>
            <a:fillRect/>
          </a:stretch>
        </p:blipFill>
        <p:spPr bwMode="auto">
          <a:xfrm>
            <a:off x="7770813" y="5348288"/>
            <a:ext cx="1230312" cy="222250"/>
          </a:xfrm>
          <a:prstGeom prst="rect">
            <a:avLst/>
          </a:prstGeom>
          <a:noFill/>
        </p:spPr>
      </p:pic>
      <p:pic>
        <p:nvPicPr>
          <p:cNvPr id="105504" name="Picture 32"/>
          <p:cNvPicPr>
            <a:picLocks noChangeAspect="1" noChangeArrowheads="1"/>
          </p:cNvPicPr>
          <p:nvPr/>
        </p:nvPicPr>
        <p:blipFill>
          <a:blip r:embed="rId8" cstate="print"/>
          <a:srcRect r="8804" b="4500"/>
          <a:stretch>
            <a:fillRect/>
          </a:stretch>
        </p:blipFill>
        <p:spPr bwMode="auto">
          <a:xfrm>
            <a:off x="4462463" y="3211513"/>
            <a:ext cx="4643437" cy="300037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84" name="Picture 12"/>
          <p:cNvPicPr>
            <a:picLocks noChangeAspect="1" noChangeArrowheads="1"/>
          </p:cNvPicPr>
          <p:nvPr/>
        </p:nvPicPr>
        <p:blipFill>
          <a:blip r:embed="rId3" cstate="print"/>
          <a:srcRect t="4066" b="19316"/>
          <a:stretch>
            <a:fillRect/>
          </a:stretch>
        </p:blipFill>
        <p:spPr bwMode="auto">
          <a:xfrm>
            <a:off x="1592263" y="2317750"/>
            <a:ext cx="7143750" cy="3768725"/>
          </a:xfrm>
          <a:prstGeom prst="rect">
            <a:avLst/>
          </a:prstGeom>
          <a:noFill/>
        </p:spPr>
      </p:pic>
      <p:sp>
        <p:nvSpPr>
          <p:cNvPr id="54275" name="圓角矩形 14"/>
          <p:cNvSpPr>
            <a:spLocks noChangeArrowheads="1"/>
          </p:cNvSpPr>
          <p:nvPr/>
        </p:nvSpPr>
        <p:spPr bwMode="auto">
          <a:xfrm>
            <a:off x="309563" y="1738313"/>
            <a:ext cx="8680450" cy="587375"/>
          </a:xfrm>
          <a:prstGeom prst="roundRect">
            <a:avLst>
              <a:gd name="adj" fmla="val 7097"/>
            </a:avLst>
          </a:prstGeom>
          <a:noFill/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r>
              <a:rPr lang="zh-TW" altLang="en-US">
                <a:latin typeface="標楷體" pitchFamily="65" charset="-120"/>
                <a:ea typeface="標楷體" pitchFamily="65" charset="-120"/>
              </a:rPr>
              <a:t>現場反應部門驗收</a:t>
            </a:r>
            <a:r>
              <a:rPr lang="en-US" altLang="zh-TW">
                <a:latin typeface="標楷體" pitchFamily="65" charset="-120"/>
                <a:ea typeface="標楷體" pitchFamily="65" charset="-120"/>
              </a:rPr>
              <a:t>&lt;</a:t>
            </a:r>
            <a:r>
              <a:rPr lang="zh-TW" altLang="en-US">
                <a:latin typeface="標楷體" pitchFamily="65" charset="-120"/>
                <a:ea typeface="標楷體" pitchFamily="65" charset="-120"/>
              </a:rPr>
              <a:t>確認</a:t>
            </a:r>
            <a:r>
              <a:rPr lang="en-US" altLang="zh-TW">
                <a:latin typeface="標楷體" pitchFamily="65" charset="-120"/>
                <a:ea typeface="標楷體" pitchFamily="65" charset="-120"/>
              </a:rPr>
              <a:t>&gt; </a:t>
            </a:r>
            <a:r>
              <a:rPr lang="zh-TW" altLang="en-US">
                <a:latin typeface="標楷體" pitchFamily="65" charset="-120"/>
                <a:ea typeface="標楷體" pitchFamily="65" charset="-120"/>
              </a:rPr>
              <a:t>。</a:t>
            </a:r>
          </a:p>
        </p:txBody>
      </p:sp>
      <p:sp>
        <p:nvSpPr>
          <p:cNvPr id="54276" name="五邊形 19"/>
          <p:cNvSpPr>
            <a:spLocks noChangeArrowheads="1"/>
          </p:cNvSpPr>
          <p:nvPr/>
        </p:nvSpPr>
        <p:spPr bwMode="auto">
          <a:xfrm>
            <a:off x="152400" y="1244600"/>
            <a:ext cx="1590675" cy="466725"/>
          </a:xfrm>
          <a:prstGeom prst="homePlate">
            <a:avLst>
              <a:gd name="adj" fmla="val 31652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TW" altLang="en-US">
                <a:latin typeface="標楷體" pitchFamily="65" charset="-120"/>
                <a:ea typeface="標楷體" pitchFamily="65" charset="-120"/>
              </a:rPr>
              <a:t>驗收確認</a:t>
            </a:r>
          </a:p>
        </p:txBody>
      </p:sp>
      <p:sp>
        <p:nvSpPr>
          <p:cNvPr id="54277" name="五邊形 16"/>
          <p:cNvSpPr>
            <a:spLocks noChangeArrowheads="1"/>
          </p:cNvSpPr>
          <p:nvPr/>
        </p:nvSpPr>
        <p:spPr bwMode="auto">
          <a:xfrm>
            <a:off x="177800" y="2360613"/>
            <a:ext cx="1487488" cy="436562"/>
          </a:xfrm>
          <a:prstGeom prst="homePlate">
            <a:avLst>
              <a:gd name="adj" fmla="val 32590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 sz="2200">
                <a:latin typeface="標楷體" pitchFamily="65" charset="-120"/>
                <a:ea typeface="標楷體" pitchFamily="65" charset="-120"/>
              </a:rPr>
              <a:t>OA</a:t>
            </a:r>
            <a:r>
              <a:rPr lang="zh-TW" altLang="en-US" sz="2200">
                <a:latin typeface="標楷體" pitchFamily="65" charset="-120"/>
                <a:ea typeface="標楷體" pitchFamily="65" charset="-120"/>
              </a:rPr>
              <a:t>驗收單</a:t>
            </a:r>
            <a:endParaRPr lang="en-US" altLang="zh-TW" sz="220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54278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kumimoji="0" lang="zh-TW" altLang="en-US" sz="3600">
                <a:latin typeface="標楷體" pitchFamily="65" charset="-120"/>
                <a:ea typeface="標楷體" pitchFamily="65" charset="-120"/>
              </a:rPr>
              <a:t>資訊部改善實例報告</a:t>
            </a:r>
            <a:endParaRPr lang="zh-TW" altLang="en-US" sz="3600">
              <a:solidFill>
                <a:schemeClr val="tx2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54281" name="Rectangle 14"/>
          <p:cNvSpPr>
            <a:spLocks noChangeArrowheads="1"/>
          </p:cNvSpPr>
          <p:nvPr/>
        </p:nvSpPr>
        <p:spPr bwMode="auto">
          <a:xfrm>
            <a:off x="1614488" y="5395913"/>
            <a:ext cx="4346575" cy="1131887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4290" name="五邊形 19"/>
          <p:cNvSpPr>
            <a:spLocks noChangeArrowheads="1"/>
          </p:cNvSpPr>
          <p:nvPr/>
        </p:nvSpPr>
        <p:spPr bwMode="auto">
          <a:xfrm>
            <a:off x="152400" y="1244600"/>
            <a:ext cx="1590675" cy="466725"/>
          </a:xfrm>
          <a:prstGeom prst="homePlate">
            <a:avLst>
              <a:gd name="adj" fmla="val 31652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TW" altLang="en-US">
                <a:latin typeface="標楷體" pitchFamily="65" charset="-120"/>
                <a:ea typeface="標楷體" pitchFamily="65" charset="-120"/>
              </a:rPr>
              <a:t>驗收確認</a:t>
            </a:r>
          </a:p>
        </p:txBody>
      </p:sp>
      <p:sp>
        <p:nvSpPr>
          <p:cNvPr id="54291" name="五邊形 16"/>
          <p:cNvSpPr>
            <a:spLocks noChangeArrowheads="1"/>
          </p:cNvSpPr>
          <p:nvPr/>
        </p:nvSpPr>
        <p:spPr bwMode="auto">
          <a:xfrm>
            <a:off x="177800" y="2360613"/>
            <a:ext cx="1487488" cy="436562"/>
          </a:xfrm>
          <a:prstGeom prst="homePlate">
            <a:avLst>
              <a:gd name="adj" fmla="val 32590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 sz="2200">
                <a:latin typeface="標楷體" pitchFamily="65" charset="-120"/>
                <a:ea typeface="標楷體" pitchFamily="65" charset="-120"/>
              </a:rPr>
              <a:t>OA</a:t>
            </a:r>
            <a:r>
              <a:rPr lang="zh-TW" altLang="en-US" sz="2200">
                <a:latin typeface="標楷體" pitchFamily="65" charset="-120"/>
                <a:ea typeface="標楷體" pitchFamily="65" charset="-120"/>
              </a:rPr>
              <a:t>驗收單</a:t>
            </a:r>
            <a:endParaRPr lang="en-US" altLang="zh-TW" sz="2200"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54293" name="Picture 2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14488" y="5416550"/>
            <a:ext cx="4287837" cy="109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4294" name="Rectangle 23"/>
          <p:cNvSpPr>
            <a:spLocks noChangeArrowheads="1"/>
          </p:cNvSpPr>
          <p:nvPr/>
        </p:nvSpPr>
        <p:spPr bwMode="auto">
          <a:xfrm>
            <a:off x="-1588" y="725488"/>
            <a:ext cx="9144001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三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.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電腦自動開立程式派送單及</a:t>
            </a:r>
            <a:r>
              <a:rPr lang="zh-TW" altLang="en-US" sz="320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驗收單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】</a:t>
            </a:r>
            <a:endParaRPr lang="zh-TW" altLang="en-US" sz="32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532" name="Picture 12"/>
          <p:cNvPicPr>
            <a:picLocks noChangeAspect="1" noChangeArrowheads="1"/>
          </p:cNvPicPr>
          <p:nvPr/>
        </p:nvPicPr>
        <p:blipFill>
          <a:blip r:embed="rId3" cstate="print"/>
          <a:srcRect t="2834" b="7578"/>
          <a:stretch>
            <a:fillRect/>
          </a:stretch>
        </p:blipFill>
        <p:spPr bwMode="auto">
          <a:xfrm>
            <a:off x="1209675" y="2324100"/>
            <a:ext cx="5500688" cy="4016375"/>
          </a:xfrm>
          <a:prstGeom prst="rect">
            <a:avLst/>
          </a:prstGeom>
          <a:noFill/>
        </p:spPr>
      </p:pic>
      <p:sp>
        <p:nvSpPr>
          <p:cNvPr id="107523" name="圓角矩形 14"/>
          <p:cNvSpPr>
            <a:spLocks noChangeArrowheads="1"/>
          </p:cNvSpPr>
          <p:nvPr/>
        </p:nvSpPr>
        <p:spPr bwMode="auto">
          <a:xfrm>
            <a:off x="309563" y="1738313"/>
            <a:ext cx="8680450" cy="561975"/>
          </a:xfrm>
          <a:prstGeom prst="roundRect">
            <a:avLst>
              <a:gd name="adj" fmla="val 7097"/>
            </a:avLst>
          </a:prstGeom>
          <a:noFill/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r>
              <a:rPr lang="zh-TW" altLang="en-US">
                <a:latin typeface="標楷體" pitchFamily="65" charset="-120"/>
                <a:ea typeface="標楷體" pitchFamily="65" charset="-120"/>
              </a:rPr>
              <a:t>機能組驗收</a:t>
            </a:r>
            <a:r>
              <a:rPr lang="en-US" altLang="zh-TW">
                <a:latin typeface="標楷體" pitchFamily="65" charset="-120"/>
                <a:ea typeface="標楷體" pitchFamily="65" charset="-120"/>
              </a:rPr>
              <a:t>&lt;</a:t>
            </a:r>
            <a:r>
              <a:rPr lang="zh-TW" altLang="en-US">
                <a:latin typeface="標楷體" pitchFamily="65" charset="-120"/>
                <a:ea typeface="標楷體" pitchFamily="65" charset="-120"/>
              </a:rPr>
              <a:t>確認</a:t>
            </a:r>
            <a:r>
              <a:rPr lang="en-US" altLang="zh-TW">
                <a:latin typeface="標楷體" pitchFamily="65" charset="-120"/>
                <a:ea typeface="標楷體" pitchFamily="65" charset="-120"/>
              </a:rPr>
              <a:t>&gt;</a:t>
            </a:r>
            <a:r>
              <a:rPr lang="zh-TW" altLang="en-US">
                <a:latin typeface="標楷體" pitchFamily="65" charset="-120"/>
                <a:ea typeface="標楷體" pitchFamily="65" charset="-120"/>
              </a:rPr>
              <a:t>。</a:t>
            </a:r>
          </a:p>
        </p:txBody>
      </p:sp>
      <p:sp>
        <p:nvSpPr>
          <p:cNvPr id="107526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kumimoji="0" lang="zh-TW" altLang="en-US" sz="3600">
                <a:latin typeface="標楷體" pitchFamily="65" charset="-120"/>
                <a:ea typeface="標楷體" pitchFamily="65" charset="-120"/>
              </a:rPr>
              <a:t>資訊部改善實例報告</a:t>
            </a:r>
            <a:endParaRPr lang="zh-TW" altLang="en-US" sz="3600">
              <a:solidFill>
                <a:schemeClr val="tx2"/>
              </a:solidFill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107533" name="Picture 13"/>
          <p:cNvPicPr>
            <a:picLocks noChangeAspect="1" noChangeArrowheads="1"/>
          </p:cNvPicPr>
          <p:nvPr/>
        </p:nvPicPr>
        <p:blipFill>
          <a:blip r:embed="rId4" cstate="print"/>
          <a:srcRect t="49922"/>
          <a:stretch>
            <a:fillRect/>
          </a:stretch>
        </p:blipFill>
        <p:spPr bwMode="auto">
          <a:xfrm>
            <a:off x="1239838" y="5245100"/>
            <a:ext cx="4152900" cy="109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7534" name="Rectangle 14"/>
          <p:cNvSpPr>
            <a:spLocks noChangeArrowheads="1"/>
          </p:cNvSpPr>
          <p:nvPr/>
        </p:nvSpPr>
        <p:spPr bwMode="auto">
          <a:xfrm>
            <a:off x="1276350" y="5243513"/>
            <a:ext cx="4087813" cy="1084262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7538" name="五邊形 19">
            <a:hlinkClick r:id="" action="ppaction://customshow?id=7&amp;return=true"/>
          </p:cNvPr>
          <p:cNvSpPr>
            <a:spLocks noChangeArrowheads="1"/>
          </p:cNvSpPr>
          <p:nvPr/>
        </p:nvSpPr>
        <p:spPr bwMode="auto">
          <a:xfrm>
            <a:off x="152400" y="1244600"/>
            <a:ext cx="1590675" cy="466725"/>
          </a:xfrm>
          <a:prstGeom prst="homePlate">
            <a:avLst>
              <a:gd name="adj" fmla="val 31652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TW" altLang="en-US">
                <a:latin typeface="標楷體" pitchFamily="65" charset="-120"/>
                <a:ea typeface="標楷體" pitchFamily="65" charset="-120"/>
              </a:rPr>
              <a:t>驗收確認</a:t>
            </a:r>
          </a:p>
        </p:txBody>
      </p:sp>
      <p:sp>
        <p:nvSpPr>
          <p:cNvPr id="107539" name="五邊形 16"/>
          <p:cNvSpPr>
            <a:spLocks noChangeArrowheads="1"/>
          </p:cNvSpPr>
          <p:nvPr/>
        </p:nvSpPr>
        <p:spPr bwMode="auto">
          <a:xfrm>
            <a:off x="177800" y="2360613"/>
            <a:ext cx="1487488" cy="436562"/>
          </a:xfrm>
          <a:prstGeom prst="homePlate">
            <a:avLst>
              <a:gd name="adj" fmla="val 32590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 sz="2200">
                <a:latin typeface="標楷體" pitchFamily="65" charset="-120"/>
                <a:ea typeface="標楷體" pitchFamily="65" charset="-120"/>
              </a:rPr>
              <a:t>OA</a:t>
            </a:r>
            <a:r>
              <a:rPr lang="zh-TW" altLang="en-US" sz="2200">
                <a:latin typeface="標楷體" pitchFamily="65" charset="-120"/>
                <a:ea typeface="標楷體" pitchFamily="65" charset="-120"/>
              </a:rPr>
              <a:t>驗收單</a:t>
            </a:r>
            <a:endParaRPr lang="en-US" altLang="zh-TW" sz="220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07540" name="Rectangle 23"/>
          <p:cNvSpPr>
            <a:spLocks noChangeArrowheads="1"/>
          </p:cNvSpPr>
          <p:nvPr/>
        </p:nvSpPr>
        <p:spPr bwMode="auto">
          <a:xfrm>
            <a:off x="-1588" y="725488"/>
            <a:ext cx="9144001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三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.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電腦自動開立程式派送單及</a:t>
            </a:r>
            <a:r>
              <a:rPr lang="zh-TW" altLang="en-US" sz="320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驗收單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】</a:t>
            </a:r>
            <a:endParaRPr lang="zh-TW" altLang="en-US" sz="32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kumimoji="0" lang="zh-TW" altLang="en-US" sz="3600">
                <a:latin typeface="標楷體" pitchFamily="65" charset="-120"/>
                <a:ea typeface="標楷體" pitchFamily="65" charset="-120"/>
              </a:rPr>
              <a:t>資訊部改善實例報告</a:t>
            </a:r>
            <a:endParaRPr lang="zh-TW" altLang="en-US" sz="3600">
              <a:solidFill>
                <a:schemeClr val="tx2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35172" name="五邊形 26">
            <a:hlinkClick r:id="" action="ppaction://customshow?id=7&amp;return=true"/>
          </p:cNvPr>
          <p:cNvSpPr>
            <a:spLocks noChangeArrowheads="1"/>
          </p:cNvSpPr>
          <p:nvPr/>
        </p:nvSpPr>
        <p:spPr bwMode="auto">
          <a:xfrm>
            <a:off x="123825" y="1311275"/>
            <a:ext cx="1898650" cy="461963"/>
          </a:xfrm>
          <a:prstGeom prst="homePlate">
            <a:avLst>
              <a:gd name="adj" fmla="val 46522"/>
            </a:avLst>
          </a:prstGeom>
          <a:solidFill>
            <a:srgbClr val="FFCCFF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統計數據</a:t>
            </a:r>
          </a:p>
        </p:txBody>
      </p:sp>
      <p:sp>
        <p:nvSpPr>
          <p:cNvPr id="135173" name="文字方塊 29"/>
          <p:cNvSpPr txBox="1">
            <a:spLocks noChangeArrowheads="1"/>
          </p:cNvSpPr>
          <p:nvPr/>
        </p:nvSpPr>
        <p:spPr bwMode="auto">
          <a:xfrm>
            <a:off x="2078038" y="1428750"/>
            <a:ext cx="33655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TW" altLang="en-US" sz="2000">
                <a:latin typeface="標楷體" pitchFamily="65" charset="-120"/>
                <a:ea typeface="標楷體" pitchFamily="65" charset="-120"/>
              </a:rPr>
              <a:t>資料期間：</a:t>
            </a:r>
            <a:r>
              <a:rPr lang="en-US" altLang="zh-TW" sz="2000">
                <a:latin typeface="標楷體" pitchFamily="65" charset="-120"/>
                <a:ea typeface="標楷體" pitchFamily="65" charset="-120"/>
              </a:rPr>
              <a:t>2018/2/1~6/30</a:t>
            </a:r>
            <a:endParaRPr lang="zh-TW" altLang="en-US" sz="200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35174" name="文字方塊 30"/>
          <p:cNvSpPr txBox="1">
            <a:spLocks noChangeArrowheads="1"/>
          </p:cNvSpPr>
          <p:nvPr/>
        </p:nvSpPr>
        <p:spPr bwMode="auto">
          <a:xfrm>
            <a:off x="7496175" y="1428750"/>
            <a:ext cx="1200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 sz="2000">
                <a:latin typeface="標楷體" pitchFamily="65" charset="-120"/>
                <a:ea typeface="標楷體" pitchFamily="65" charset="-120"/>
              </a:rPr>
              <a:t>單位：筆</a:t>
            </a:r>
          </a:p>
        </p:txBody>
      </p:sp>
      <p:graphicFrame>
        <p:nvGraphicFramePr>
          <p:cNvPr id="135228" name="Group 60"/>
          <p:cNvGraphicFramePr>
            <a:graphicFrameLocks noGrp="1"/>
          </p:cNvGraphicFramePr>
          <p:nvPr/>
        </p:nvGraphicFramePr>
        <p:xfrm>
          <a:off x="249238" y="1762125"/>
          <a:ext cx="8713787" cy="4775204"/>
        </p:xfrm>
        <a:graphic>
          <a:graphicData uri="http://schemas.openxmlformats.org/drawingml/2006/table">
            <a:tbl>
              <a:tblPr/>
              <a:tblGrid>
                <a:gridCol w="3968750"/>
                <a:gridCol w="1646237"/>
                <a:gridCol w="1589088"/>
                <a:gridCol w="1509712"/>
              </a:tblGrid>
              <a:tr h="898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資訊部組別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(</a:t>
                      </a: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機能組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15211" marR="15211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交辦單銷案筆數</a:t>
                      </a:r>
                    </a:p>
                  </a:txBody>
                  <a:tcPr marL="15211" marR="15211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程式派送單筆數</a:t>
                      </a:r>
                    </a:p>
                  </a:txBody>
                  <a:tcPr marL="15211" marR="15211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驗收單</a:t>
                      </a:r>
                      <a:endParaRPr kumimoji="0" lang="en-US" altLang="zh-TW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筆數</a:t>
                      </a:r>
                    </a:p>
                  </a:txBody>
                  <a:tcPr marL="15211" marR="15211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應用一組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(</a:t>
                      </a: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產銷一組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)</a:t>
                      </a:r>
                      <a:endParaRPr kumimoji="0" lang="zh-TW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232</a:t>
                      </a:r>
                    </a:p>
                  </a:txBody>
                  <a:tcPr marL="7620" marR="7620" marT="7619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232</a:t>
                      </a:r>
                    </a:p>
                  </a:txBody>
                  <a:tcPr marL="7620" marR="7620" marT="7619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232</a:t>
                      </a:r>
                    </a:p>
                  </a:txBody>
                  <a:tcPr marL="7620" marR="7620" marT="7619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應用二組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(</a:t>
                      </a: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產銷二組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)</a:t>
                      </a:r>
                      <a:endParaRPr kumimoji="0" lang="zh-TW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260</a:t>
                      </a:r>
                    </a:p>
                  </a:txBody>
                  <a:tcPr marL="7620" marR="7620" marT="7619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260</a:t>
                      </a:r>
                    </a:p>
                  </a:txBody>
                  <a:tcPr marL="7620" marR="7620" marT="7619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260</a:t>
                      </a:r>
                    </a:p>
                  </a:txBody>
                  <a:tcPr marL="7620" marR="7620" marT="7619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應用三組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(</a:t>
                      </a: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產銷三組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)</a:t>
                      </a:r>
                      <a:endParaRPr kumimoji="0" lang="zh-TW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86</a:t>
                      </a:r>
                    </a:p>
                  </a:txBody>
                  <a:tcPr marL="7620" marR="7620" marT="7619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86</a:t>
                      </a:r>
                    </a:p>
                  </a:txBody>
                  <a:tcPr marL="7620" marR="7620" marT="7619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86</a:t>
                      </a:r>
                    </a:p>
                  </a:txBody>
                  <a:tcPr marL="7620" marR="7620" marT="7619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應用四組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(</a:t>
                      </a: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人事組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)</a:t>
                      </a:r>
                      <a:endParaRPr kumimoji="0" lang="zh-TW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576</a:t>
                      </a:r>
                    </a:p>
                  </a:txBody>
                  <a:tcPr marL="7620" marR="7620" marT="7619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576</a:t>
                      </a:r>
                    </a:p>
                  </a:txBody>
                  <a:tcPr marL="7620" marR="7620" marT="7619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576</a:t>
                      </a:r>
                    </a:p>
                  </a:txBody>
                  <a:tcPr marL="7620" marR="7620" marT="7619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應用五組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(</a:t>
                      </a: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財務組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)</a:t>
                      </a:r>
                      <a:endParaRPr kumimoji="0" lang="zh-TW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225</a:t>
                      </a:r>
                    </a:p>
                  </a:txBody>
                  <a:tcPr marL="7620" marR="7620" marT="7619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225</a:t>
                      </a:r>
                    </a:p>
                  </a:txBody>
                  <a:tcPr marL="7620" marR="7620" marT="7619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225</a:t>
                      </a:r>
                    </a:p>
                  </a:txBody>
                  <a:tcPr marL="7620" marR="7620" marT="7619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應用六組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(</a:t>
                      </a: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資材組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)</a:t>
                      </a:r>
                      <a:endParaRPr kumimoji="0" lang="zh-TW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418</a:t>
                      </a:r>
                    </a:p>
                  </a:txBody>
                  <a:tcPr marL="7620" marR="7620" marT="7619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418</a:t>
                      </a:r>
                    </a:p>
                  </a:txBody>
                  <a:tcPr marL="7620" marR="7620" marT="7619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418</a:t>
                      </a:r>
                    </a:p>
                  </a:txBody>
                  <a:tcPr marL="7620" marR="7620" marT="7619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31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應用七組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(</a:t>
                      </a: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工程組、保養組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       (</a:t>
                      </a: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安衛環中心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)</a:t>
                      </a:r>
                      <a:endParaRPr kumimoji="0" lang="zh-TW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496</a:t>
                      </a:r>
                    </a:p>
                  </a:txBody>
                  <a:tcPr marL="7620" marR="7620" marT="7619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496</a:t>
                      </a:r>
                    </a:p>
                  </a:txBody>
                  <a:tcPr marL="7620" marR="7620" marT="7619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496</a:t>
                      </a:r>
                    </a:p>
                  </a:txBody>
                  <a:tcPr marL="7620" marR="7620" marT="7619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合計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2,293</a:t>
                      </a:r>
                    </a:p>
                  </a:txBody>
                  <a:tcPr marL="7620" marR="7620" marT="7619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2,293</a:t>
                      </a:r>
                    </a:p>
                  </a:txBody>
                  <a:tcPr marL="7620" marR="7620" marT="7619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2,293</a:t>
                      </a:r>
                    </a:p>
                  </a:txBody>
                  <a:tcPr marL="7620" marR="7620" marT="7619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5227" name="Rectangle 23"/>
          <p:cNvSpPr>
            <a:spLocks noChangeArrowheads="1"/>
          </p:cNvSpPr>
          <p:nvPr/>
        </p:nvSpPr>
        <p:spPr bwMode="auto">
          <a:xfrm>
            <a:off x="-1588" y="725488"/>
            <a:ext cx="9144001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三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.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電腦自動開立程式派送單及驗收單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】</a:t>
            </a:r>
            <a:endParaRPr lang="zh-TW" altLang="en-US" sz="32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圓角矩形 14"/>
          <p:cNvSpPr>
            <a:spLocks noChangeArrowheads="1"/>
          </p:cNvSpPr>
          <p:nvPr/>
        </p:nvSpPr>
        <p:spPr bwMode="auto">
          <a:xfrm>
            <a:off x="309563" y="3100388"/>
            <a:ext cx="8680450" cy="1598612"/>
          </a:xfrm>
          <a:prstGeom prst="roundRect">
            <a:avLst>
              <a:gd name="adj" fmla="val 7097"/>
            </a:avLst>
          </a:prstGeom>
          <a:noFill/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eaLnBrk="1" hangingPunct="1"/>
            <a:r>
              <a:rPr lang="zh-TW" altLang="en-US" dirty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針對</a:t>
            </a:r>
            <a:r>
              <a:rPr lang="en-US" altLang="zh-TW" dirty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OA</a:t>
            </a:r>
            <a:r>
              <a:rPr lang="zh-TW" altLang="en-US" dirty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表單，</a:t>
            </a:r>
            <a:r>
              <a:rPr lang="zh-TW" altLang="en-US" u="sng" dirty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依各表單性質設定「查核週期」</a:t>
            </a:r>
            <a:r>
              <a:rPr lang="en-US" altLang="zh-TW" dirty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(</a:t>
            </a:r>
            <a:r>
              <a:rPr lang="zh-TW" altLang="en-US" dirty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月</a:t>
            </a:r>
            <a:r>
              <a:rPr lang="en-US" altLang="zh-TW" dirty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/</a:t>
            </a:r>
            <a:r>
              <a:rPr lang="zh-TW" altLang="en-US" dirty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季</a:t>
            </a:r>
            <a:r>
              <a:rPr lang="en-US" altLang="zh-TW" dirty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/</a:t>
            </a:r>
            <a:r>
              <a:rPr lang="zh-TW" altLang="en-US" dirty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半年</a:t>
            </a:r>
            <a:r>
              <a:rPr lang="en-US" altLang="zh-TW" dirty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/</a:t>
            </a:r>
            <a:r>
              <a:rPr lang="zh-TW" altLang="en-US" dirty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年</a:t>
            </a:r>
            <a:r>
              <a:rPr lang="en-US" altLang="zh-TW" dirty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)</a:t>
            </a:r>
          </a:p>
          <a:p>
            <a:pPr eaLnBrk="1" hangingPunct="1"/>
            <a:r>
              <a:rPr lang="zh-TW" altLang="en-US" dirty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，屆查核週期時，</a:t>
            </a:r>
            <a:r>
              <a:rPr lang="zh-TW" altLang="en-US" u="sng" dirty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由電腦自動比對</a:t>
            </a:r>
            <a:r>
              <a:rPr lang="zh-TW" altLang="en-US" dirty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出表資料，</a:t>
            </a:r>
            <a:r>
              <a:rPr lang="zh-TW" altLang="en-US" u="sng" dirty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倘該</a:t>
            </a:r>
            <a:r>
              <a:rPr lang="en-US" altLang="zh-TW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OA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表單於</a:t>
            </a:r>
            <a:r>
              <a:rPr lang="zh-TW" altLang="en-US" u="sng" dirty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週期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內均</a:t>
            </a:r>
            <a:r>
              <a:rPr lang="zh-TW" altLang="en-US" u="sng" dirty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未出表，</a:t>
            </a:r>
            <a:r>
              <a:rPr lang="zh-TW" altLang="en-US" u="sng" dirty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傳送</a:t>
            </a:r>
            <a:r>
              <a:rPr lang="en-US" altLang="zh-TW" u="sng" dirty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OA</a:t>
            </a:r>
            <a:r>
              <a:rPr lang="zh-TW" altLang="en-US" u="sng" dirty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「電腦作業異常反應單」</a:t>
            </a:r>
            <a:r>
              <a:rPr lang="zh-TW" altLang="en-US" dirty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予程式人員確認原</a:t>
            </a:r>
            <a:endParaRPr lang="en-US" altLang="zh-TW" dirty="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  <a:p>
            <a:pPr eaLnBrk="1" hangingPunct="1"/>
            <a:r>
              <a:rPr lang="zh-TW" altLang="en-US" dirty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因，結果需呈組長核簽後始可銷案。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grpSp>
        <p:nvGrpSpPr>
          <p:cNvPr id="2" name="群組 30"/>
          <p:cNvGrpSpPr>
            <a:grpSpLocks/>
          </p:cNvGrpSpPr>
          <p:nvPr/>
        </p:nvGrpSpPr>
        <p:grpSpPr bwMode="auto">
          <a:xfrm>
            <a:off x="1357313" y="4924425"/>
            <a:ext cx="7397750" cy="1911350"/>
            <a:chOff x="380439" y="4330896"/>
            <a:chExt cx="8317461" cy="2620838"/>
          </a:xfrm>
        </p:grpSpPr>
        <p:sp>
          <p:nvSpPr>
            <p:cNvPr id="194564" name="Text Box 32"/>
            <p:cNvSpPr txBox="1">
              <a:spLocks noChangeArrowheads="1"/>
            </p:cNvSpPr>
            <p:nvPr/>
          </p:nvSpPr>
          <p:spPr bwMode="auto">
            <a:xfrm>
              <a:off x="380439" y="5558670"/>
              <a:ext cx="1723549" cy="9709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zh-TW" altLang="en-US" sz="2000">
                  <a:latin typeface="標楷體" pitchFamily="65" charset="-120"/>
                  <a:ea typeface="標楷體" pitchFamily="65" charset="-120"/>
                </a:rPr>
                <a:t>建立各</a:t>
              </a:r>
              <a:r>
                <a:rPr lang="en-US" altLang="zh-TW" sz="2000">
                  <a:latin typeface="標楷體" pitchFamily="65" charset="-120"/>
                  <a:ea typeface="標楷體" pitchFamily="65" charset="-120"/>
                </a:rPr>
                <a:t>OA</a:t>
              </a:r>
              <a:r>
                <a:rPr lang="zh-TW" altLang="en-US" sz="2000">
                  <a:latin typeface="標楷體" pitchFamily="65" charset="-120"/>
                  <a:ea typeface="標楷體" pitchFamily="65" charset="-120"/>
                </a:rPr>
                <a:t>表單</a:t>
              </a:r>
              <a:endParaRPr lang="en-US" altLang="zh-TW" sz="2000">
                <a:latin typeface="標楷體" pitchFamily="65" charset="-120"/>
                <a:ea typeface="標楷體" pitchFamily="65" charset="-120"/>
              </a:endParaRPr>
            </a:p>
            <a:p>
              <a:pPr algn="ctr"/>
              <a:r>
                <a:rPr lang="en-US" altLang="zh-TW" sz="2000">
                  <a:latin typeface="標楷體" pitchFamily="65" charset="-120"/>
                  <a:ea typeface="標楷體" pitchFamily="65" charset="-120"/>
                </a:rPr>
                <a:t>『</a:t>
              </a:r>
              <a:r>
                <a:rPr lang="zh-TW" altLang="en-US" sz="2000">
                  <a:latin typeface="標楷體" pitchFamily="65" charset="-120"/>
                  <a:ea typeface="標楷體" pitchFamily="65" charset="-120"/>
                </a:rPr>
                <a:t>查核週期</a:t>
              </a:r>
              <a:r>
                <a:rPr lang="en-US" altLang="zh-TW" sz="2000">
                  <a:latin typeface="標楷體" pitchFamily="65" charset="-120"/>
                  <a:ea typeface="標楷體" pitchFamily="65" charset="-120"/>
                </a:rPr>
                <a:t>』</a:t>
              </a:r>
            </a:p>
          </p:txBody>
        </p:sp>
        <p:sp>
          <p:nvSpPr>
            <p:cNvPr id="194565" name="Text Box 32"/>
            <p:cNvSpPr txBox="1">
              <a:spLocks noChangeArrowheads="1"/>
            </p:cNvSpPr>
            <p:nvPr/>
          </p:nvSpPr>
          <p:spPr bwMode="auto">
            <a:xfrm>
              <a:off x="2851088" y="5558670"/>
              <a:ext cx="1210588" cy="9709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zh-TW" altLang="en-US" sz="2000" u="sng">
                  <a:solidFill>
                    <a:srgbClr val="0000CC"/>
                  </a:solidFill>
                  <a:latin typeface="標楷體" pitchFamily="65" charset="-120"/>
                  <a:ea typeface="標楷體" pitchFamily="65" charset="-120"/>
                </a:rPr>
                <a:t>電腦比對</a:t>
              </a:r>
              <a:endParaRPr lang="en-US" altLang="zh-TW" sz="2000" u="sng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endParaRPr>
            </a:p>
            <a:p>
              <a:pPr algn="ctr"/>
              <a:r>
                <a:rPr lang="zh-TW" altLang="en-US" sz="2000">
                  <a:latin typeface="標楷體" pitchFamily="65" charset="-120"/>
                  <a:ea typeface="標楷體" pitchFamily="65" charset="-120"/>
                </a:rPr>
                <a:t>出表資料</a:t>
              </a:r>
              <a:endParaRPr lang="en-US" altLang="zh-TW" sz="2000">
                <a:latin typeface="標楷體" pitchFamily="65" charset="-120"/>
                <a:ea typeface="標楷體" pitchFamily="65" charset="-120"/>
              </a:endParaRPr>
            </a:p>
          </p:txBody>
        </p:sp>
        <p:sp>
          <p:nvSpPr>
            <p:cNvPr id="194566" name="Text Box 32"/>
            <p:cNvSpPr txBox="1">
              <a:spLocks noChangeArrowheads="1"/>
            </p:cNvSpPr>
            <p:nvPr/>
          </p:nvSpPr>
          <p:spPr bwMode="auto">
            <a:xfrm>
              <a:off x="7230832" y="5558670"/>
              <a:ext cx="1467068" cy="13930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kumimoji="0" lang="zh-TW" altLang="en-US" sz="2000" u="sng">
                  <a:solidFill>
                    <a:srgbClr val="0000CC"/>
                  </a:solidFill>
                  <a:latin typeface="標楷體" pitchFamily="65" charset="-120"/>
                  <a:ea typeface="標楷體" pitchFamily="65" charset="-120"/>
                </a:rPr>
                <a:t>程式人員</a:t>
              </a:r>
              <a:endParaRPr kumimoji="0" lang="en-US" altLang="zh-TW" sz="2000" u="sng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endParaRPr>
            </a:p>
            <a:p>
              <a:pPr algn="ctr"/>
              <a:r>
                <a:rPr lang="zh-TW" altLang="en-US" sz="2000">
                  <a:latin typeface="標楷體" pitchFamily="65" charset="-120"/>
                  <a:ea typeface="標楷體" pitchFamily="65" charset="-120"/>
                </a:rPr>
                <a:t>瞭解原因後</a:t>
              </a:r>
            </a:p>
            <a:p>
              <a:pPr algn="ctr"/>
              <a:r>
                <a:rPr lang="zh-TW" altLang="en-US" sz="2000">
                  <a:latin typeface="標楷體" pitchFamily="65" charset="-120"/>
                  <a:ea typeface="標楷體" pitchFamily="65" charset="-120"/>
                </a:rPr>
                <a:t>呈組長核簽</a:t>
              </a:r>
              <a:endParaRPr lang="en-US" altLang="zh-TW" sz="2000">
                <a:latin typeface="標楷體" pitchFamily="65" charset="-120"/>
                <a:ea typeface="標楷體" pitchFamily="65" charset="-120"/>
              </a:endParaRPr>
            </a:p>
          </p:txBody>
        </p:sp>
        <p:graphicFrame>
          <p:nvGraphicFramePr>
            <p:cNvPr id="194567" name="Object 31"/>
            <p:cNvGraphicFramePr>
              <a:graphicFrameLocks noChangeAspect="1"/>
            </p:cNvGraphicFramePr>
            <p:nvPr/>
          </p:nvGraphicFramePr>
          <p:xfrm>
            <a:off x="525100" y="4405745"/>
            <a:ext cx="1301750" cy="1178792"/>
          </p:xfrm>
          <a:graphic>
            <a:graphicData uri="http://schemas.openxmlformats.org/presentationml/2006/ole">
              <p:oleObj spid="_x0000_s2805762" name="Clip" r:id="rId4" imgW="2013509" imgH="1930298" progId="">
                <p:embed/>
              </p:oleObj>
            </a:graphicData>
          </a:graphic>
        </p:graphicFrame>
        <p:graphicFrame>
          <p:nvGraphicFramePr>
            <p:cNvPr id="194568" name="Object 12"/>
            <p:cNvGraphicFramePr>
              <a:graphicFrameLocks noChangeAspect="1"/>
            </p:cNvGraphicFramePr>
            <p:nvPr/>
          </p:nvGraphicFramePr>
          <p:xfrm>
            <a:off x="2746182" y="4440855"/>
            <a:ext cx="798513" cy="1049862"/>
          </p:xfrm>
          <a:graphic>
            <a:graphicData uri="http://schemas.openxmlformats.org/presentationml/2006/ole">
              <p:oleObj spid="_x0000_s2805763" name="Visio" r:id="rId5" imgW="828190" imgH="1127805" progId="Visio.Drawing.11">
                <p:embed/>
              </p:oleObj>
            </a:graphicData>
          </a:graphic>
        </p:graphicFrame>
        <p:sp>
          <p:nvSpPr>
            <p:cNvPr id="194569" name="AutoShape 116"/>
            <p:cNvSpPr>
              <a:spLocks noChangeArrowheads="1"/>
            </p:cNvSpPr>
            <p:nvPr/>
          </p:nvSpPr>
          <p:spPr bwMode="auto">
            <a:xfrm>
              <a:off x="3581207" y="4829181"/>
              <a:ext cx="450850" cy="577117"/>
            </a:xfrm>
            <a:prstGeom prst="can">
              <a:avLst>
                <a:gd name="adj" fmla="val 29951"/>
              </a:avLst>
            </a:prstGeom>
            <a:solidFill>
              <a:srgbClr val="FF505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spcBef>
                  <a:spcPct val="50000"/>
                </a:spcBef>
              </a:pPr>
              <a:endParaRPr kumimoji="0" lang="zh-TW" altLang="zh-TW" sz="1800">
                <a:latin typeface="標楷體" pitchFamily="65" charset="-120"/>
                <a:ea typeface="標楷體" pitchFamily="65" charset="-120"/>
              </a:endParaRPr>
            </a:p>
          </p:txBody>
        </p:sp>
        <p:pic>
          <p:nvPicPr>
            <p:cNvPr id="194570" name="Picture 41" descr="BD04969_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7254875" y="4330896"/>
              <a:ext cx="1374775" cy="12279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4571" name="Text Box 32"/>
            <p:cNvSpPr txBox="1">
              <a:spLocks noChangeArrowheads="1"/>
            </p:cNvSpPr>
            <p:nvPr/>
          </p:nvSpPr>
          <p:spPr bwMode="auto">
            <a:xfrm>
              <a:off x="4963897" y="5558670"/>
              <a:ext cx="1723549" cy="9709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zh-TW" altLang="en-US" sz="2000">
                  <a:latin typeface="標楷體" pitchFamily="65" charset="-120"/>
                  <a:ea typeface="標楷體" pitchFamily="65" charset="-120"/>
                </a:rPr>
                <a:t>超過週期</a:t>
              </a:r>
              <a:endParaRPr lang="en-US" altLang="zh-TW" sz="2000">
                <a:latin typeface="標楷體" pitchFamily="65" charset="-120"/>
                <a:ea typeface="標楷體" pitchFamily="65" charset="-120"/>
              </a:endParaRPr>
            </a:p>
            <a:p>
              <a:pPr algn="ctr"/>
              <a:r>
                <a:rPr lang="zh-TW" altLang="en-US" sz="2000">
                  <a:latin typeface="標楷體" pitchFamily="65" charset="-120"/>
                  <a:ea typeface="標楷體" pitchFamily="65" charset="-120"/>
                </a:rPr>
                <a:t>未出表</a:t>
              </a:r>
              <a:r>
                <a:rPr lang="en-US" altLang="zh-TW" sz="2000">
                  <a:latin typeface="標楷體" pitchFamily="65" charset="-120"/>
                  <a:ea typeface="標楷體" pitchFamily="65" charset="-120"/>
                </a:rPr>
                <a:t>OA</a:t>
              </a:r>
              <a:r>
                <a:rPr lang="zh-TW" altLang="en-US" sz="2000">
                  <a:latin typeface="標楷體" pitchFamily="65" charset="-120"/>
                  <a:ea typeface="標楷體" pitchFamily="65" charset="-120"/>
                </a:rPr>
                <a:t>反應</a:t>
              </a:r>
              <a:endParaRPr lang="en-US" altLang="zh-TW" sz="2000">
                <a:latin typeface="標楷體" pitchFamily="65" charset="-120"/>
                <a:ea typeface="標楷體" pitchFamily="65" charset="-120"/>
              </a:endParaRPr>
            </a:p>
          </p:txBody>
        </p:sp>
        <p:pic>
          <p:nvPicPr>
            <p:cNvPr id="194572" name="圖片 4"/>
            <p:cNvPicPr>
              <a:picLocks noChangeAspect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5107094" y="4460950"/>
              <a:ext cx="1411288" cy="10397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4573" name="向右箭號 27"/>
            <p:cNvSpPr>
              <a:spLocks noChangeArrowheads="1"/>
            </p:cNvSpPr>
            <p:nvPr/>
          </p:nvSpPr>
          <p:spPr bwMode="auto">
            <a:xfrm>
              <a:off x="2185535" y="5153886"/>
              <a:ext cx="471063" cy="415636"/>
            </a:xfrm>
            <a:prstGeom prst="rightArrow">
              <a:avLst>
                <a:gd name="adj1" fmla="val 50000"/>
                <a:gd name="adj2" fmla="val 49999"/>
              </a:avLst>
            </a:prstGeom>
            <a:solidFill>
              <a:schemeClr val="accent2"/>
            </a:solidFill>
            <a:ln w="28575" algn="ctr">
              <a:solidFill>
                <a:srgbClr val="0000CC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/>
            <a:lstStyle/>
            <a:p>
              <a:pPr algn="ctr" eaLnBrk="1" hangingPunct="1"/>
              <a:endParaRPr lang="zh-TW" altLang="en-US"/>
            </a:p>
          </p:txBody>
        </p:sp>
        <p:sp>
          <p:nvSpPr>
            <p:cNvPr id="194574" name="向右箭號 28"/>
            <p:cNvSpPr>
              <a:spLocks noChangeArrowheads="1"/>
            </p:cNvSpPr>
            <p:nvPr/>
          </p:nvSpPr>
          <p:spPr bwMode="auto">
            <a:xfrm>
              <a:off x="4387176" y="5153886"/>
              <a:ext cx="471063" cy="415636"/>
            </a:xfrm>
            <a:prstGeom prst="rightArrow">
              <a:avLst>
                <a:gd name="adj1" fmla="val 50000"/>
                <a:gd name="adj2" fmla="val 49999"/>
              </a:avLst>
            </a:prstGeom>
            <a:solidFill>
              <a:schemeClr val="accent2"/>
            </a:solidFill>
            <a:ln w="28575" algn="ctr">
              <a:solidFill>
                <a:srgbClr val="0000CC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/>
            <a:lstStyle/>
            <a:p>
              <a:pPr algn="ctr" eaLnBrk="1" hangingPunct="1"/>
              <a:endParaRPr lang="zh-TW" altLang="en-US"/>
            </a:p>
          </p:txBody>
        </p:sp>
        <p:sp>
          <p:nvSpPr>
            <p:cNvPr id="194575" name="向右箭號 29"/>
            <p:cNvSpPr>
              <a:spLocks noChangeArrowheads="1"/>
            </p:cNvSpPr>
            <p:nvPr/>
          </p:nvSpPr>
          <p:spPr bwMode="auto">
            <a:xfrm>
              <a:off x="6611264" y="5153886"/>
              <a:ext cx="471063" cy="415636"/>
            </a:xfrm>
            <a:prstGeom prst="rightArrow">
              <a:avLst>
                <a:gd name="adj1" fmla="val 50000"/>
                <a:gd name="adj2" fmla="val 49999"/>
              </a:avLst>
            </a:prstGeom>
            <a:solidFill>
              <a:schemeClr val="accent2"/>
            </a:solidFill>
            <a:ln w="28575" algn="ctr">
              <a:solidFill>
                <a:srgbClr val="0000CC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/>
            <a:lstStyle/>
            <a:p>
              <a:pPr algn="ctr" eaLnBrk="1" hangingPunct="1"/>
              <a:endParaRPr lang="zh-TW" altLang="en-US"/>
            </a:p>
          </p:txBody>
        </p:sp>
      </p:grpSp>
      <p:sp>
        <p:nvSpPr>
          <p:cNvPr id="194576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kumimoji="0" lang="zh-TW" altLang="en-US" sz="3600">
                <a:latin typeface="標楷體" pitchFamily="65" charset="-120"/>
                <a:ea typeface="標楷體" pitchFamily="65" charset="-120"/>
              </a:rPr>
              <a:t>資訊部改善實例報告</a:t>
            </a:r>
            <a:endParaRPr lang="zh-TW" altLang="en-US" sz="3600">
              <a:solidFill>
                <a:schemeClr val="tx2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94577" name="Rectangle 23"/>
          <p:cNvSpPr>
            <a:spLocks noChangeArrowheads="1"/>
          </p:cNvSpPr>
          <p:nvPr/>
        </p:nvSpPr>
        <p:spPr bwMode="auto">
          <a:xfrm>
            <a:off x="-1588" y="725488"/>
            <a:ext cx="9144001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四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.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電腦反應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OA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未出表管理機制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】</a:t>
            </a:r>
            <a:endParaRPr lang="zh-TW" altLang="en-US" sz="32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94578" name="五邊形 30"/>
          <p:cNvSpPr>
            <a:spLocks noChangeArrowheads="1"/>
          </p:cNvSpPr>
          <p:nvPr/>
        </p:nvSpPr>
        <p:spPr bwMode="auto">
          <a:xfrm>
            <a:off x="95250" y="4778375"/>
            <a:ext cx="1604963" cy="461963"/>
          </a:xfrm>
          <a:prstGeom prst="homePlate">
            <a:avLst>
              <a:gd name="adj" fmla="val 46532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作業流程</a:t>
            </a:r>
          </a:p>
        </p:txBody>
      </p:sp>
      <p:sp>
        <p:nvSpPr>
          <p:cNvPr id="194579" name="五邊形 32">
            <a:hlinkClick r:id="" action="ppaction://customshow?id=12&amp;return=true"/>
          </p:cNvPr>
          <p:cNvSpPr>
            <a:spLocks noChangeArrowheads="1"/>
          </p:cNvSpPr>
          <p:nvPr/>
        </p:nvSpPr>
        <p:spPr bwMode="auto">
          <a:xfrm>
            <a:off x="98425" y="2587625"/>
            <a:ext cx="1603375" cy="460375"/>
          </a:xfrm>
          <a:prstGeom prst="homePlate">
            <a:avLst>
              <a:gd name="adj" fmla="val 46646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改善作法</a:t>
            </a:r>
          </a:p>
        </p:txBody>
      </p:sp>
      <p:sp>
        <p:nvSpPr>
          <p:cNvPr id="194580" name="圓角矩形 14"/>
          <p:cNvSpPr>
            <a:spLocks noChangeArrowheads="1"/>
          </p:cNvSpPr>
          <p:nvPr/>
        </p:nvSpPr>
        <p:spPr bwMode="auto">
          <a:xfrm>
            <a:off x="306388" y="1687513"/>
            <a:ext cx="8680450" cy="830262"/>
          </a:xfrm>
          <a:prstGeom prst="roundRect">
            <a:avLst>
              <a:gd name="adj" fmla="val 7097"/>
            </a:avLst>
          </a:prstGeom>
          <a:noFill/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eaLnBrk="1" hangingPunct="1"/>
            <a:r>
              <a:rPr kumimoji="0" lang="en-US" altLang="zh-TW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OA</a:t>
            </a:r>
            <a:r>
              <a:rPr kumimoji="0" lang="zh-TW" altLang="en-US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作業上線後，由程式人員自行追蹤作業執行狀況。</a:t>
            </a:r>
            <a:r>
              <a:rPr kumimoji="0" lang="en-US" altLang="zh-TW">
                <a:solidFill>
                  <a:srgbClr val="FF0000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OA</a:t>
            </a:r>
            <a:r>
              <a:rPr kumimoji="0" lang="zh-TW" altLang="en-US">
                <a:solidFill>
                  <a:srgbClr val="FF0000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作業若未正常出表無自動反應機制。</a:t>
            </a:r>
            <a:endParaRPr lang="zh-TW" altLang="en-US">
              <a:latin typeface="標楷體" pitchFamily="65" charset="-12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94581" name="五邊形 34"/>
          <p:cNvSpPr>
            <a:spLocks noChangeArrowheads="1"/>
          </p:cNvSpPr>
          <p:nvPr/>
        </p:nvSpPr>
        <p:spPr bwMode="auto">
          <a:xfrm>
            <a:off x="95250" y="1304925"/>
            <a:ext cx="1604963" cy="460375"/>
          </a:xfrm>
          <a:prstGeom prst="homePlate">
            <a:avLst>
              <a:gd name="adj" fmla="val 46693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改善原由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五邊形 10">
            <a:hlinkClick r:id="" action="ppaction://customshow?id=19&amp;return=true"/>
          </p:cNvPr>
          <p:cNvSpPr>
            <a:spLocks noChangeArrowheads="1"/>
          </p:cNvSpPr>
          <p:nvPr/>
        </p:nvSpPr>
        <p:spPr bwMode="auto">
          <a:xfrm>
            <a:off x="123825" y="1311275"/>
            <a:ext cx="1898650" cy="461963"/>
          </a:xfrm>
          <a:prstGeom prst="homePlate">
            <a:avLst>
              <a:gd name="adj" fmla="val 46522"/>
            </a:avLst>
          </a:prstGeom>
          <a:solidFill>
            <a:srgbClr val="FFCCFF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統計數據</a:t>
            </a:r>
          </a:p>
        </p:txBody>
      </p:sp>
      <p:sp>
        <p:nvSpPr>
          <p:cNvPr id="156675" name="文字方塊 12"/>
          <p:cNvSpPr txBox="1">
            <a:spLocks noChangeArrowheads="1"/>
          </p:cNvSpPr>
          <p:nvPr/>
        </p:nvSpPr>
        <p:spPr bwMode="auto">
          <a:xfrm>
            <a:off x="2078038" y="1428750"/>
            <a:ext cx="34083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TW" altLang="en-US" sz="2000">
                <a:latin typeface="標楷體" pitchFamily="65" charset="-120"/>
                <a:ea typeface="標楷體" pitchFamily="65" charset="-120"/>
              </a:rPr>
              <a:t>資料期間：</a:t>
            </a:r>
            <a:r>
              <a:rPr lang="en-US" altLang="zh-TW" sz="2000">
                <a:latin typeface="標楷體" pitchFamily="65" charset="-120"/>
                <a:ea typeface="標楷體" pitchFamily="65" charset="-120"/>
              </a:rPr>
              <a:t>2018/6/1~6/30</a:t>
            </a:r>
            <a:endParaRPr lang="zh-TW" altLang="en-US" sz="200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56676" name="文字方塊 13"/>
          <p:cNvSpPr txBox="1">
            <a:spLocks noChangeArrowheads="1"/>
          </p:cNvSpPr>
          <p:nvPr/>
        </p:nvSpPr>
        <p:spPr bwMode="auto">
          <a:xfrm>
            <a:off x="7496175" y="1428750"/>
            <a:ext cx="1200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 sz="2000">
                <a:latin typeface="標楷體" pitchFamily="65" charset="-120"/>
                <a:ea typeface="標楷體" pitchFamily="65" charset="-120"/>
              </a:rPr>
              <a:t>單位：筆</a:t>
            </a:r>
          </a:p>
        </p:txBody>
      </p:sp>
      <p:sp>
        <p:nvSpPr>
          <p:cNvPr id="156677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kumimoji="0" lang="zh-TW" altLang="en-US" sz="3600">
                <a:latin typeface="標楷體" pitchFamily="65" charset="-120"/>
                <a:ea typeface="標楷體" pitchFamily="65" charset="-120"/>
              </a:rPr>
              <a:t>資訊部改善實例報告</a:t>
            </a:r>
            <a:endParaRPr lang="zh-TW" altLang="en-US" sz="3600">
              <a:solidFill>
                <a:schemeClr val="tx2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56709" name="Rectangle 23"/>
          <p:cNvSpPr>
            <a:spLocks noChangeArrowheads="1"/>
          </p:cNvSpPr>
          <p:nvPr/>
        </p:nvSpPr>
        <p:spPr bwMode="auto">
          <a:xfrm>
            <a:off x="0" y="725488"/>
            <a:ext cx="914400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四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.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電腦反應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OA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未出表管理機制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】</a:t>
            </a:r>
            <a:endParaRPr lang="zh-TW" altLang="en-US" sz="32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  <p:graphicFrame>
        <p:nvGraphicFramePr>
          <p:cNvPr id="156738" name="Group 66"/>
          <p:cNvGraphicFramePr>
            <a:graphicFrameLocks noGrp="1"/>
          </p:cNvGraphicFramePr>
          <p:nvPr/>
        </p:nvGraphicFramePr>
        <p:xfrm>
          <a:off x="407988" y="2260600"/>
          <a:ext cx="8488362" cy="2578101"/>
        </p:xfrm>
        <a:graphic>
          <a:graphicData uri="http://schemas.openxmlformats.org/drawingml/2006/table">
            <a:tbl>
              <a:tblPr/>
              <a:tblGrid>
                <a:gridCol w="1023937"/>
                <a:gridCol w="6035675"/>
                <a:gridCol w="1428750"/>
              </a:tblGrid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</a:rPr>
                        <a:t>OA</a:t>
                      </a:r>
                      <a:r>
                        <a:rPr kumimoji="1" lang="zh-TW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</a:rPr>
                        <a:t>未出表原因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</a:rPr>
                        <a:t>件數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</a:tr>
              <a:tr h="588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</a:rPr>
                        <a:t> </a:t>
                      </a:r>
                      <a:r>
                        <a:rPr kumimoji="1" lang="zh-TW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</a:rPr>
                        <a:t>週期內無資料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</a:rPr>
                        <a:t>21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</a:rPr>
                        <a:t> </a:t>
                      </a:r>
                      <a:r>
                        <a:rPr kumimoji="1" lang="zh-TW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</a:rPr>
                        <a:t>程式錯誤</a:t>
                      </a:r>
                      <a:endParaRPr kumimoji="1" lang="en-US" altLang="zh-TW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</a:rPr>
                        <a:t> </a:t>
                      </a:r>
                      <a:r>
                        <a:rPr kumimoji="1" lang="en-US" altLang="zh-TW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</a:rPr>
                        <a:t>2</a:t>
                      </a:r>
                      <a:endParaRPr kumimoji="1" lang="zh-TW" alt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88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</a:rPr>
                        <a:t> 總          計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</a:rPr>
                        <a:t>23</a:t>
                      </a:r>
                      <a:endParaRPr kumimoji="1" lang="zh-TW" alt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五邊形 12">
            <a:hlinkClick r:id="" action="ppaction://customshow?id=20&amp;return=true"/>
          </p:cNvPr>
          <p:cNvSpPr>
            <a:spLocks noChangeArrowheads="1"/>
          </p:cNvSpPr>
          <p:nvPr/>
        </p:nvSpPr>
        <p:spPr bwMode="auto">
          <a:xfrm>
            <a:off x="123825" y="1295400"/>
            <a:ext cx="1898650" cy="461963"/>
          </a:xfrm>
          <a:prstGeom prst="homePlate">
            <a:avLst>
              <a:gd name="adj" fmla="val 46522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>
                <a:latin typeface="標楷體" pitchFamily="65" charset="-120"/>
                <a:ea typeface="標楷體" pitchFamily="65" charset="-120"/>
              </a:rPr>
              <a:t>表單名稱</a:t>
            </a:r>
          </a:p>
        </p:txBody>
      </p:sp>
      <p:sp>
        <p:nvSpPr>
          <p:cNvPr id="9" name="＞形箭號 8">
            <a:hlinkClick r:id="" action="ppaction://customshow?id=17&amp;return=true"/>
          </p:cNvPr>
          <p:cNvSpPr/>
          <p:nvPr/>
        </p:nvSpPr>
        <p:spPr bwMode="auto">
          <a:xfrm>
            <a:off x="1995488" y="1289050"/>
            <a:ext cx="6361112" cy="484188"/>
          </a:xfrm>
          <a:prstGeom prst="chevron">
            <a:avLst>
              <a:gd name="adj" fmla="val 41429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lIns="0" tIns="0" rIns="0" bIns="0" anchor="ctr"/>
          <a:lstStyle/>
          <a:p>
            <a:pPr algn="ctr">
              <a:defRPr/>
            </a:pPr>
            <a:r>
              <a:rPr lang="zh-TW" altLang="en-US" dirty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非正式料號編填異常加強管制立案通知</a:t>
            </a:r>
          </a:p>
        </p:txBody>
      </p:sp>
      <p:sp>
        <p:nvSpPr>
          <p:cNvPr id="196612" name="圓角矩形 14"/>
          <p:cNvSpPr>
            <a:spLocks noChangeArrowheads="1"/>
          </p:cNvSpPr>
          <p:nvPr/>
        </p:nvSpPr>
        <p:spPr bwMode="auto">
          <a:xfrm>
            <a:off x="323850" y="5456238"/>
            <a:ext cx="8678863" cy="1071562"/>
          </a:xfrm>
          <a:prstGeom prst="roundRect">
            <a:avLst>
              <a:gd name="adj" fmla="val 7097"/>
            </a:avLst>
          </a:prstGeom>
          <a:noFill/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r>
              <a:rPr lang="zh-TW" altLang="en-US" u="sng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係因程式邏輯錯誤</a:t>
            </a:r>
            <a:r>
              <a:rPr lang="en-US" altLang="zh-TW" u="sng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(</a:t>
            </a:r>
            <a:r>
              <a:rPr lang="zh-TW" altLang="en-US" u="sng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部門中文名稱欄位寬度不足</a:t>
            </a:r>
            <a:r>
              <a:rPr lang="en-US" altLang="zh-TW" u="sng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)</a:t>
            </a:r>
            <a:r>
              <a:rPr lang="zh-TW" altLang="en-US" u="sng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導致未出表</a:t>
            </a:r>
            <a:r>
              <a:rPr lang="zh-TW" altLang="en-US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，已配合修正程式並補傳近一季資料。</a:t>
            </a:r>
            <a:endParaRPr lang="zh-TW" altLang="en-US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96613" name="五邊形 15">
            <a:hlinkClick r:id="" action="ppaction://customshow?id=18&amp;return=true"/>
          </p:cNvPr>
          <p:cNvSpPr>
            <a:spLocks noChangeArrowheads="1"/>
          </p:cNvSpPr>
          <p:nvPr/>
        </p:nvSpPr>
        <p:spPr bwMode="auto">
          <a:xfrm>
            <a:off x="207963" y="5097463"/>
            <a:ext cx="3178175" cy="461962"/>
          </a:xfrm>
          <a:prstGeom prst="homePlate">
            <a:avLst>
              <a:gd name="adj" fmla="val 46502"/>
            </a:avLst>
          </a:prstGeom>
          <a:solidFill>
            <a:srgbClr val="FFFF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>
                <a:latin typeface="標楷體" pitchFamily="65" charset="-120"/>
                <a:ea typeface="標楷體" pitchFamily="65" charset="-120"/>
              </a:rPr>
              <a:t>異常原因及處理對策</a:t>
            </a:r>
          </a:p>
        </p:txBody>
      </p:sp>
      <p:sp>
        <p:nvSpPr>
          <p:cNvPr id="196614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kumimoji="0" lang="zh-TW" altLang="en-US" sz="3600">
                <a:latin typeface="標楷體" pitchFamily="65" charset="-120"/>
                <a:ea typeface="標楷體" pitchFamily="65" charset="-120"/>
              </a:rPr>
              <a:t>資訊部改善實例報告</a:t>
            </a:r>
            <a:endParaRPr lang="zh-TW" altLang="en-US" sz="360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96615" name="Rectangle 23"/>
          <p:cNvSpPr>
            <a:spLocks noChangeArrowheads="1"/>
          </p:cNvSpPr>
          <p:nvPr/>
        </p:nvSpPr>
        <p:spPr bwMode="auto">
          <a:xfrm>
            <a:off x="-1588" y="725488"/>
            <a:ext cx="9144001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四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.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電腦反應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OA</a:t>
            </a:r>
            <a:r>
              <a:rPr lang="zh-TW" altLang="en-US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未出表管理機制</a:t>
            </a:r>
            <a:r>
              <a:rPr lang="en-US" altLang="zh-TW" sz="32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】</a:t>
            </a:r>
            <a:endParaRPr lang="zh-TW" altLang="en-US" sz="320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196616" name="圖片 1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6088" y="2024063"/>
            <a:ext cx="8201025" cy="287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342900" y="1512888"/>
          <a:ext cx="8491538" cy="44735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8735">
                  <a:extLst>
                    <a:ext uri="{9D8B030D-6E8A-4147-A177-3AD203B41FA5}"/>
                  </a:extLst>
                </a:gridCol>
                <a:gridCol w="6309926">
                  <a:extLst>
                    <a:ext uri="{9D8B030D-6E8A-4147-A177-3AD203B41FA5}"/>
                  </a:extLst>
                </a:gridCol>
                <a:gridCol w="1252877">
                  <a:extLst>
                    <a:ext uri="{9D8B030D-6E8A-4147-A177-3AD203B41FA5}"/>
                  </a:extLst>
                </a:gridCol>
              </a:tblGrid>
              <a:tr h="105564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 smtClean="0">
                          <a:latin typeface="標楷體" pitchFamily="65" charset="-120"/>
                          <a:ea typeface="標楷體" pitchFamily="65" charset="-120"/>
                        </a:rPr>
                        <a:t>項次</a:t>
                      </a:r>
                      <a:endParaRPr lang="zh-TW" altLang="en-US" sz="2800" b="1" dirty="0"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56" marR="91456" marT="45748" marB="457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 smtClean="0">
                          <a:latin typeface="標楷體" pitchFamily="65" charset="-120"/>
                          <a:ea typeface="標楷體" pitchFamily="65" charset="-120"/>
                        </a:rPr>
                        <a:t>報告項目</a:t>
                      </a:r>
                      <a:endParaRPr lang="zh-TW" altLang="en-US" sz="2800" b="1" dirty="0"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56" marR="91456" marT="45748" marB="457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 smtClean="0">
                          <a:latin typeface="標楷體" pitchFamily="65" charset="-120"/>
                          <a:ea typeface="標楷體" pitchFamily="65" charset="-120"/>
                        </a:rPr>
                        <a:t>報告人</a:t>
                      </a:r>
                      <a:endParaRPr lang="zh-TW" altLang="en-US" sz="2800" b="1" dirty="0"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56" marR="91456" marT="45748" marB="457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/>
                </a:extLst>
              </a:tr>
              <a:tr h="130665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 smtClean="0">
                          <a:latin typeface="標楷體" pitchFamily="65" charset="-120"/>
                          <a:ea typeface="標楷體" pitchFamily="65" charset="-120"/>
                        </a:rPr>
                        <a:t>壹</a:t>
                      </a:r>
                      <a:endParaRPr lang="en-US" altLang="zh-TW" sz="2800" b="1" dirty="0" smtClean="0"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56" marR="91456" marT="45748" marB="457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800" b="1" kern="1200" dirty="0" smtClean="0">
                          <a:solidFill>
                            <a:srgbClr val="0000CC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資訊部改善實例報告</a:t>
                      </a:r>
                      <a:endParaRPr kumimoji="0" lang="en-US" altLang="zh-TW" sz="2800" b="1" kern="1200" dirty="0" smtClean="0">
                        <a:solidFill>
                          <a:srgbClr val="0000CC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1456" marR="91456" marT="45748" marB="457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latin typeface="標楷體" pitchFamily="65" charset="-120"/>
                          <a:ea typeface="標楷體" pitchFamily="65" charset="-120"/>
                        </a:rPr>
                        <a:t>李毅宏</a:t>
                      </a:r>
                      <a:endParaRPr lang="en-US" altLang="zh-TW" sz="2800" b="1" dirty="0" smtClean="0">
                        <a:latin typeface="標楷體" pitchFamily="65" charset="-120"/>
                        <a:ea typeface="標楷體" pitchFamily="65" charset="-12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latin typeface="標楷體" pitchFamily="65" charset="-120"/>
                          <a:ea typeface="標楷體" pitchFamily="65" charset="-120"/>
                        </a:rPr>
                        <a:t>蔡尚祐</a:t>
                      </a:r>
                      <a:endParaRPr lang="en-US" altLang="zh-TW" sz="2800" b="1" dirty="0" smtClean="0"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56" marR="91456" marT="45748" marB="457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05564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latin typeface="標楷體" pitchFamily="65" charset="-120"/>
                          <a:ea typeface="標楷體" pitchFamily="65" charset="-120"/>
                        </a:rPr>
                        <a:t>貳</a:t>
                      </a:r>
                      <a:endParaRPr lang="zh-TW" altLang="en-US" sz="2800" b="1" dirty="0"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56" marR="91456" marT="45748" marB="457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800" b="1" kern="1200" dirty="0" smtClean="0">
                          <a:solidFill>
                            <a:srgbClr val="0000CC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作業密碼改由電腦自動更新檢討</a:t>
                      </a:r>
                    </a:p>
                  </a:txBody>
                  <a:tcPr marL="91456" marR="91456" marT="45748" marB="457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latin typeface="標楷體" pitchFamily="65" charset="-120"/>
                          <a:ea typeface="標楷體" pitchFamily="65" charset="-120"/>
                        </a:rPr>
                        <a:t>蔡尚祐</a:t>
                      </a:r>
                      <a:endParaRPr lang="en-US" altLang="zh-TW" sz="2800" b="1" dirty="0" smtClean="0"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56" marR="91456" marT="45748" marB="457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05564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latin typeface="標楷體" pitchFamily="65" charset="-120"/>
                          <a:ea typeface="標楷體" pitchFamily="65" charset="-120"/>
                        </a:rPr>
                        <a:t>參</a:t>
                      </a:r>
                      <a:endParaRPr lang="zh-TW" altLang="en-US" sz="2800" b="1" dirty="0"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56" marR="91456" marT="45748" marB="457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800" b="1" kern="1200" noProof="0" dirty="0" smtClean="0">
                          <a:solidFill>
                            <a:srgbClr val="0000CC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規章制度管理機制檢討改善</a:t>
                      </a:r>
                      <a:endParaRPr kumimoji="0" lang="zh-TW" altLang="en-US" sz="2800" b="1" kern="1200" dirty="0">
                        <a:solidFill>
                          <a:srgbClr val="0000CC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1456" marR="91456" marT="45748" marB="457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 smtClean="0">
                          <a:latin typeface="標楷體" pitchFamily="65" charset="-120"/>
                          <a:ea typeface="標楷體" pitchFamily="65" charset="-120"/>
                        </a:rPr>
                        <a:t>李毅宏</a:t>
                      </a:r>
                      <a:endParaRPr lang="zh-TW" altLang="en-US" sz="2800" b="1" dirty="0"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56" marR="91456" marT="45748" marB="457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  <p:sp>
        <p:nvSpPr>
          <p:cNvPr id="7" name="手繪多邊形 6"/>
          <p:cNvSpPr/>
          <p:nvPr/>
        </p:nvSpPr>
        <p:spPr bwMode="auto">
          <a:xfrm>
            <a:off x="311150" y="4079875"/>
            <a:ext cx="392113" cy="555625"/>
          </a:xfrm>
          <a:custGeom>
            <a:avLst/>
            <a:gdLst>
              <a:gd name="connsiteX0" fmla="*/ 0 w 352540"/>
              <a:gd name="connsiteY0" fmla="*/ 253388 h 478795"/>
              <a:gd name="connsiteX1" fmla="*/ 55085 w 352540"/>
              <a:gd name="connsiteY1" fmla="*/ 242371 h 478795"/>
              <a:gd name="connsiteX2" fmla="*/ 110169 w 352540"/>
              <a:gd name="connsiteY2" fmla="*/ 473725 h 478795"/>
              <a:gd name="connsiteX3" fmla="*/ 143220 w 352540"/>
              <a:gd name="connsiteY3" fmla="*/ 407624 h 478795"/>
              <a:gd name="connsiteX4" fmla="*/ 352540 w 352540"/>
              <a:gd name="connsiteY4" fmla="*/ 0 h 478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2540" h="478795">
                <a:moveTo>
                  <a:pt x="0" y="253388"/>
                </a:moveTo>
                <a:cubicBezTo>
                  <a:pt x="18362" y="229518"/>
                  <a:pt x="36724" y="205648"/>
                  <a:pt x="55085" y="242371"/>
                </a:cubicBezTo>
                <a:cubicBezTo>
                  <a:pt x="73447" y="279094"/>
                  <a:pt x="95480" y="446183"/>
                  <a:pt x="110169" y="473725"/>
                </a:cubicBezTo>
                <a:cubicBezTo>
                  <a:pt x="124858" y="501267"/>
                  <a:pt x="143220" y="407624"/>
                  <a:pt x="143220" y="407624"/>
                </a:cubicBezTo>
                <a:lnTo>
                  <a:pt x="352540" y="0"/>
                </a:lnTo>
              </a:path>
            </a:pathLst>
          </a:custGeom>
          <a:noFill/>
          <a:ln w="508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anchor="ctr"/>
          <a:lstStyle/>
          <a:p>
            <a:pPr algn="ctr">
              <a:defRPr/>
            </a:pPr>
            <a:endParaRPr lang="zh-TW" altLang="en-US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150553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kumimoji="0" lang="zh-TW" altLang="en-US" sz="360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資訊部電腦管理作業稽查改善報告</a:t>
            </a:r>
            <a:endParaRPr lang="zh-TW" altLang="en-US" sz="3600">
              <a:solidFill>
                <a:schemeClr val="tx2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058" name="圖片 1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317750"/>
            <a:ext cx="8153400" cy="305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3059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endParaRPr lang="zh-TW" altLang="en-US" sz="360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73060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kumimoji="0" lang="zh-TW" altLang="en-US" sz="3600" dirty="0" smtClean="0">
                <a:latin typeface="標楷體" pitchFamily="65" charset="-120"/>
                <a:ea typeface="標楷體" pitchFamily="65" charset="-120"/>
              </a:rPr>
              <a:t>作業密碼</a:t>
            </a:r>
            <a:r>
              <a:rPr kumimoji="0" lang="zh-TW" altLang="en-US" sz="3600" dirty="0">
                <a:latin typeface="標楷體" pitchFamily="65" charset="-120"/>
                <a:ea typeface="標楷體" pitchFamily="65" charset="-120"/>
              </a:rPr>
              <a:t>改由電腦自動更新檢討</a:t>
            </a:r>
            <a:endParaRPr lang="zh-TW" altLang="en-US" sz="36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73061" name="圓角矩形圖說文字 17"/>
          <p:cNvSpPr>
            <a:spLocks noChangeArrowheads="1"/>
          </p:cNvSpPr>
          <p:nvPr/>
        </p:nvSpPr>
        <p:spPr bwMode="auto">
          <a:xfrm>
            <a:off x="6684963" y="4848225"/>
            <a:ext cx="2473325" cy="692150"/>
          </a:xfrm>
          <a:prstGeom prst="wedgeRoundRectCallout">
            <a:avLst>
              <a:gd name="adj1" fmla="val 1542"/>
              <a:gd name="adj2" fmla="val -248949"/>
              <a:gd name="adj3" fmla="val 16667"/>
            </a:avLst>
          </a:prstGeom>
          <a:solidFill>
            <a:srgbClr val="FFFF00"/>
          </a:solidFill>
          <a:ln w="28575" algn="ctr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lIns="0" tIns="0" rIns="0" bIns="0" anchor="ctr"/>
          <a:lstStyle/>
          <a:p>
            <a:pPr algn="ctr" eaLnBrk="1" hangingPunct="1"/>
            <a:r>
              <a:rPr lang="zh-TW" altLang="en-US" sz="220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資料庫密碼修改</a:t>
            </a:r>
            <a:endParaRPr lang="en-US" altLang="zh-TW" sz="2200">
              <a:solidFill>
                <a:srgbClr val="0000CC"/>
              </a:solidFill>
              <a:latin typeface="標楷體" pitchFamily="65" charset="-120"/>
              <a:ea typeface="標楷體" pitchFamily="65" charset="-120"/>
            </a:endParaRPr>
          </a:p>
          <a:p>
            <a:pPr algn="ctr" eaLnBrk="1" hangingPunct="1"/>
            <a:r>
              <a:rPr lang="zh-TW" altLang="en-US" sz="220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平均  </a:t>
            </a:r>
            <a:r>
              <a:rPr lang="en-US" altLang="zh-TW" sz="220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346</a:t>
            </a:r>
            <a:r>
              <a:rPr lang="zh-TW" altLang="en-US" sz="220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個</a:t>
            </a:r>
            <a:r>
              <a:rPr lang="en-US" altLang="zh-TW" sz="220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/</a:t>
            </a:r>
            <a:r>
              <a:rPr lang="zh-TW" altLang="en-US" sz="220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人</a:t>
            </a:r>
          </a:p>
        </p:txBody>
      </p:sp>
      <p:sp>
        <p:nvSpPr>
          <p:cNvPr id="173062" name="圓角矩形 14"/>
          <p:cNvSpPr>
            <a:spLocks noChangeArrowheads="1"/>
          </p:cNvSpPr>
          <p:nvPr/>
        </p:nvSpPr>
        <p:spPr bwMode="auto">
          <a:xfrm>
            <a:off x="309563" y="5797550"/>
            <a:ext cx="8680450" cy="771525"/>
          </a:xfrm>
          <a:prstGeom prst="roundRect">
            <a:avLst>
              <a:gd name="adj" fmla="val 7097"/>
            </a:avLst>
          </a:prstGeom>
          <a:noFill/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marL="360363" indent="-360363" eaLnBrk="1" hangingPunct="1"/>
            <a:r>
              <a:rPr lang="zh-TW" altLang="en-US">
                <a:latin typeface="標楷體" pitchFamily="65" charset="-120"/>
                <a:ea typeface="標楷體" pitchFamily="65" charset="-120"/>
              </a:rPr>
              <a:t>執行密碼變更需程式員</a:t>
            </a:r>
            <a:r>
              <a:rPr lang="zh-TW" altLang="en-US" u="sng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人工作業，恐有發生遺漏</a:t>
            </a:r>
            <a:r>
              <a:rPr lang="zh-TW" altLang="en-US">
                <a:latin typeface="標楷體" pitchFamily="65" charset="-120"/>
                <a:ea typeface="標楷體" pitchFamily="65" charset="-120"/>
              </a:rPr>
              <a:t>情形。</a:t>
            </a:r>
          </a:p>
        </p:txBody>
      </p:sp>
      <p:sp>
        <p:nvSpPr>
          <p:cNvPr id="173063" name="五邊形 19"/>
          <p:cNvSpPr>
            <a:spLocks noChangeArrowheads="1"/>
          </p:cNvSpPr>
          <p:nvPr/>
        </p:nvSpPr>
        <p:spPr bwMode="auto">
          <a:xfrm>
            <a:off x="123825" y="5432425"/>
            <a:ext cx="1898650" cy="461963"/>
          </a:xfrm>
          <a:prstGeom prst="homePlate">
            <a:avLst>
              <a:gd name="adj" fmla="val 46522"/>
            </a:avLst>
          </a:prstGeom>
          <a:solidFill>
            <a:srgbClr val="FFFF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問題點</a:t>
            </a:r>
          </a:p>
        </p:txBody>
      </p:sp>
      <p:sp>
        <p:nvSpPr>
          <p:cNvPr id="173064" name="圓角矩形 14"/>
          <p:cNvSpPr>
            <a:spLocks noChangeArrowheads="1"/>
          </p:cNvSpPr>
          <p:nvPr/>
        </p:nvSpPr>
        <p:spPr bwMode="auto">
          <a:xfrm>
            <a:off x="311150" y="1662113"/>
            <a:ext cx="8680450" cy="650875"/>
          </a:xfrm>
          <a:prstGeom prst="roundRect">
            <a:avLst>
              <a:gd name="adj" fmla="val 7097"/>
            </a:avLst>
          </a:prstGeom>
          <a:noFill/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marL="360363" indent="-360363" eaLnBrk="1" hangingPunct="1"/>
            <a:r>
              <a:rPr lang="zh-TW" altLang="en-US">
                <a:latin typeface="標楷體" pitchFamily="65" charset="-120"/>
                <a:ea typeface="標楷體" pitchFamily="65" charset="-120"/>
              </a:rPr>
              <a:t>配合資訊安全規定，每三個月進行密碼變更。</a:t>
            </a:r>
          </a:p>
        </p:txBody>
      </p:sp>
      <p:sp>
        <p:nvSpPr>
          <p:cNvPr id="173065" name="五邊形 12"/>
          <p:cNvSpPr>
            <a:spLocks noChangeArrowheads="1"/>
          </p:cNvSpPr>
          <p:nvPr/>
        </p:nvSpPr>
        <p:spPr bwMode="auto">
          <a:xfrm>
            <a:off x="123825" y="1295400"/>
            <a:ext cx="1898650" cy="466725"/>
          </a:xfrm>
          <a:prstGeom prst="homePlate">
            <a:avLst>
              <a:gd name="adj" fmla="val 46048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>
                <a:latin typeface="標楷體" pitchFamily="65" charset="-120"/>
                <a:ea typeface="標楷體" pitchFamily="65" charset="-120"/>
              </a:rPr>
              <a:t>改善前作法</a:t>
            </a:r>
            <a:endParaRPr lang="en-US" altLang="zh-TW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73066" name="圓角矩形圖說文字 14"/>
          <p:cNvSpPr>
            <a:spLocks noChangeArrowheads="1"/>
          </p:cNvSpPr>
          <p:nvPr/>
        </p:nvSpPr>
        <p:spPr bwMode="auto">
          <a:xfrm>
            <a:off x="6684963" y="1889125"/>
            <a:ext cx="2473325" cy="692150"/>
          </a:xfrm>
          <a:prstGeom prst="wedgeRoundRectCallout">
            <a:avLst>
              <a:gd name="adj1" fmla="val 2250"/>
              <a:gd name="adj2" fmla="val 121833"/>
              <a:gd name="adj3" fmla="val 16667"/>
            </a:avLst>
          </a:prstGeom>
          <a:solidFill>
            <a:srgbClr val="FFFF00"/>
          </a:solidFill>
          <a:ln w="28575" algn="ctr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lIns="0" tIns="0" rIns="0" bIns="0" anchor="ctr"/>
          <a:lstStyle/>
          <a:p>
            <a:pPr algn="ctr"/>
            <a:r>
              <a:rPr lang="zh-TW" altLang="en-US" sz="220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排程主機密碼修改</a:t>
            </a:r>
            <a:endParaRPr lang="en-US" altLang="zh-TW" sz="2200">
              <a:solidFill>
                <a:srgbClr val="0000CC"/>
              </a:solidFill>
              <a:latin typeface="標楷體" pitchFamily="65" charset="-120"/>
              <a:ea typeface="標楷體" pitchFamily="65" charset="-120"/>
            </a:endParaRPr>
          </a:p>
          <a:p>
            <a:pPr algn="ctr" eaLnBrk="1" hangingPunct="1"/>
            <a:r>
              <a:rPr lang="zh-TW" altLang="en-US" sz="220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平均 </a:t>
            </a:r>
            <a:r>
              <a:rPr lang="en-US" altLang="zh-TW" sz="220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57</a:t>
            </a:r>
            <a:r>
              <a:rPr lang="zh-TW" altLang="en-US" sz="220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個</a:t>
            </a:r>
            <a:r>
              <a:rPr lang="en-US" altLang="zh-TW" sz="220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/</a:t>
            </a:r>
            <a:r>
              <a:rPr lang="zh-TW" altLang="en-US" sz="220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人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圓角矩形 14"/>
          <p:cNvSpPr>
            <a:spLocks noChangeArrowheads="1"/>
          </p:cNvSpPr>
          <p:nvPr/>
        </p:nvSpPr>
        <p:spPr bwMode="auto">
          <a:xfrm>
            <a:off x="309563" y="1666875"/>
            <a:ext cx="8680450" cy="990600"/>
          </a:xfrm>
          <a:prstGeom prst="roundRect">
            <a:avLst>
              <a:gd name="adj" fmla="val 7097"/>
            </a:avLst>
          </a:prstGeom>
          <a:noFill/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eaLnBrk="1" hangingPunct="1"/>
            <a:r>
              <a:rPr lang="zh-TW" altLang="zh-TW" u="sng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增設自動化變更密碼標準</a:t>
            </a:r>
            <a:r>
              <a:rPr lang="zh-TW" altLang="en-US" u="sng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作業程式</a:t>
            </a:r>
            <a:r>
              <a:rPr lang="zh-TW" altLang="en-US">
                <a:latin typeface="標楷體" pitchFamily="65" charset="-120"/>
                <a:ea typeface="標楷體" pitchFamily="65" charset="-120"/>
              </a:rPr>
              <a:t>。</a:t>
            </a:r>
            <a:endParaRPr lang="en-US" altLang="zh-TW">
              <a:latin typeface="標楷體" pitchFamily="65" charset="-120"/>
              <a:ea typeface="標楷體" pitchFamily="65" charset="-120"/>
            </a:endParaRPr>
          </a:p>
          <a:p>
            <a:pPr eaLnBrk="1" hangingPunct="1"/>
            <a:r>
              <a:rPr lang="en-US" altLang="zh-TW">
                <a:latin typeface="標楷體" pitchFamily="65" charset="-120"/>
                <a:ea typeface="標楷體" pitchFamily="65" charset="-120"/>
              </a:rPr>
              <a:t>(</a:t>
            </a:r>
            <a:r>
              <a:rPr lang="zh-TW" altLang="en-US">
                <a:latin typeface="標楷體" pitchFamily="65" charset="-120"/>
                <a:ea typeface="標楷體" pitchFamily="65" charset="-120"/>
              </a:rPr>
              <a:t>程式</a:t>
            </a:r>
            <a:r>
              <a:rPr lang="en-US" altLang="zh-TW">
                <a:latin typeface="標楷體" pitchFamily="65" charset="-120"/>
                <a:ea typeface="標楷體" pitchFamily="65" charset="-120"/>
              </a:rPr>
              <a:t>7/E</a:t>
            </a:r>
            <a:r>
              <a:rPr lang="zh-TW" altLang="en-US">
                <a:latin typeface="標楷體" pitchFamily="65" charset="-120"/>
                <a:ea typeface="標楷體" pitchFamily="65" charset="-120"/>
              </a:rPr>
              <a:t>已完成，配合改密碼週期於</a:t>
            </a:r>
            <a:r>
              <a:rPr lang="en-US" altLang="zh-TW">
                <a:latin typeface="標楷體" pitchFamily="65" charset="-120"/>
                <a:ea typeface="標楷體" pitchFamily="65" charset="-120"/>
              </a:rPr>
              <a:t>10</a:t>
            </a:r>
            <a:r>
              <a:rPr lang="zh-TW" altLang="en-US">
                <a:latin typeface="標楷體" pitchFamily="65" charset="-120"/>
                <a:ea typeface="標楷體" pitchFamily="65" charset="-120"/>
              </a:rPr>
              <a:t>月上線實施</a:t>
            </a:r>
            <a:r>
              <a:rPr lang="en-US" altLang="zh-TW">
                <a:latin typeface="標楷體" pitchFamily="65" charset="-120"/>
                <a:ea typeface="標楷體" pitchFamily="65" charset="-120"/>
              </a:rPr>
              <a:t>)</a:t>
            </a:r>
            <a:endParaRPr lang="zh-TW" altLang="en-US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75107" name="五邊形 10"/>
          <p:cNvSpPr>
            <a:spLocks noChangeArrowheads="1"/>
          </p:cNvSpPr>
          <p:nvPr/>
        </p:nvSpPr>
        <p:spPr bwMode="auto">
          <a:xfrm>
            <a:off x="123825" y="1300163"/>
            <a:ext cx="1898650" cy="461962"/>
          </a:xfrm>
          <a:prstGeom prst="homePlate">
            <a:avLst>
              <a:gd name="adj" fmla="val 46523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改善作法</a:t>
            </a:r>
          </a:p>
        </p:txBody>
      </p:sp>
      <p:sp>
        <p:nvSpPr>
          <p:cNvPr id="175108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kumimoji="0" lang="zh-TW" altLang="en-US" sz="3600" dirty="0" smtClean="0">
                <a:latin typeface="標楷體" pitchFamily="65" charset="-120"/>
                <a:ea typeface="標楷體" pitchFamily="65" charset="-120"/>
              </a:rPr>
              <a:t>作業密碼</a:t>
            </a:r>
            <a:r>
              <a:rPr kumimoji="0" lang="zh-TW" altLang="en-US" sz="3600" dirty="0">
                <a:latin typeface="標楷體" pitchFamily="65" charset="-120"/>
                <a:ea typeface="標楷體" pitchFamily="65" charset="-120"/>
              </a:rPr>
              <a:t>改由電腦自動更新檢討</a:t>
            </a:r>
            <a:endParaRPr lang="zh-TW" altLang="en-US" sz="36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75109" name="五邊形 6"/>
          <p:cNvSpPr>
            <a:spLocks noChangeArrowheads="1"/>
          </p:cNvSpPr>
          <p:nvPr/>
        </p:nvSpPr>
        <p:spPr bwMode="auto">
          <a:xfrm>
            <a:off x="123825" y="2727325"/>
            <a:ext cx="1898650" cy="461963"/>
          </a:xfrm>
          <a:prstGeom prst="homePlate">
            <a:avLst>
              <a:gd name="adj" fmla="val 46522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>
                <a:latin typeface="標楷體" pitchFamily="65" charset="-120"/>
                <a:ea typeface="標楷體" pitchFamily="65" charset="-120"/>
              </a:rPr>
              <a:t>作業流程</a:t>
            </a:r>
          </a:p>
        </p:txBody>
      </p:sp>
      <p:sp>
        <p:nvSpPr>
          <p:cNvPr id="175110" name="矩形 22"/>
          <p:cNvSpPr>
            <a:spLocks noChangeArrowheads="1"/>
          </p:cNvSpPr>
          <p:nvPr/>
        </p:nvSpPr>
        <p:spPr bwMode="auto">
          <a:xfrm>
            <a:off x="2095500" y="3149600"/>
            <a:ext cx="1549400" cy="1208088"/>
          </a:xfrm>
          <a:prstGeom prst="rect">
            <a:avLst/>
          </a:prstGeom>
          <a:noFill/>
          <a:ln w="5715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 eaLnBrk="1" hangingPunct="1"/>
            <a:r>
              <a:rPr lang="zh-TW" altLang="en-US">
                <a:latin typeface="標楷體" pitchFamily="65" charset="-120"/>
                <a:ea typeface="標楷體" pitchFamily="65" charset="-120"/>
              </a:rPr>
              <a:t>應用軟體</a:t>
            </a:r>
            <a:endParaRPr lang="en-US" altLang="zh-TW">
              <a:latin typeface="標楷體" pitchFamily="65" charset="-120"/>
              <a:ea typeface="標楷體" pitchFamily="65" charset="-120"/>
            </a:endParaRPr>
          </a:p>
          <a:p>
            <a:pPr algn="ctr" eaLnBrk="1" hangingPunct="1"/>
            <a:r>
              <a:rPr lang="zh-TW" altLang="en-US">
                <a:latin typeface="標楷體" pitchFamily="65" charset="-120"/>
                <a:ea typeface="標楷體" pitchFamily="65" charset="-120"/>
              </a:rPr>
              <a:t>管理作業</a:t>
            </a:r>
            <a:endParaRPr lang="en-US" altLang="zh-TW">
              <a:latin typeface="標楷體" pitchFamily="65" charset="-120"/>
              <a:ea typeface="標楷體" pitchFamily="65" charset="-120"/>
            </a:endParaRPr>
          </a:p>
          <a:p>
            <a:pPr algn="ctr" eaLnBrk="1" hangingPunct="1"/>
            <a:r>
              <a:rPr lang="zh-TW" altLang="en-US">
                <a:latin typeface="標楷體" pitchFamily="65" charset="-120"/>
                <a:ea typeface="標楷體" pitchFamily="65" charset="-120"/>
              </a:rPr>
              <a:t>帳號資料</a:t>
            </a:r>
          </a:p>
        </p:txBody>
      </p:sp>
      <p:cxnSp>
        <p:nvCxnSpPr>
          <p:cNvPr id="175111" name="肘形接點 29"/>
          <p:cNvCxnSpPr>
            <a:cxnSpLocks noChangeShapeType="1"/>
            <a:stCxn id="175110" idx="3"/>
            <a:endCxn id="175112" idx="1"/>
          </p:cNvCxnSpPr>
          <p:nvPr/>
        </p:nvCxnSpPr>
        <p:spPr bwMode="auto">
          <a:xfrm>
            <a:off x="3644900" y="3754438"/>
            <a:ext cx="849313" cy="0"/>
          </a:xfrm>
          <a:prstGeom prst="bentConnector3">
            <a:avLst>
              <a:gd name="adj1" fmla="val 50000"/>
            </a:avLst>
          </a:prstGeom>
          <a:noFill/>
          <a:ln w="76200" algn="ctr">
            <a:solidFill>
              <a:srgbClr val="0000CC"/>
            </a:solidFill>
            <a:round/>
            <a:headEnd/>
            <a:tailEnd type="triangle" w="med" len="med"/>
          </a:ln>
          <a:effectLst/>
        </p:spPr>
      </p:cxnSp>
      <p:sp>
        <p:nvSpPr>
          <p:cNvPr id="175112" name="矩形 30"/>
          <p:cNvSpPr>
            <a:spLocks noChangeArrowheads="1"/>
          </p:cNvSpPr>
          <p:nvPr/>
        </p:nvSpPr>
        <p:spPr bwMode="auto">
          <a:xfrm>
            <a:off x="4494213" y="3149600"/>
            <a:ext cx="1554162" cy="1208088"/>
          </a:xfrm>
          <a:prstGeom prst="rect">
            <a:avLst/>
          </a:prstGeom>
          <a:noFill/>
          <a:ln w="5715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 eaLnBrk="1" hangingPunct="1"/>
            <a:r>
              <a:rPr lang="zh-TW" altLang="en-US">
                <a:latin typeface="標楷體" pitchFamily="65" charset="-120"/>
                <a:ea typeface="標楷體" pitchFamily="65" charset="-120"/>
              </a:rPr>
              <a:t>程式員</a:t>
            </a:r>
            <a:endParaRPr lang="en-US" altLang="zh-TW">
              <a:latin typeface="標楷體" pitchFamily="65" charset="-120"/>
              <a:ea typeface="標楷體" pitchFamily="65" charset="-120"/>
            </a:endParaRPr>
          </a:p>
          <a:p>
            <a:pPr algn="ctr" eaLnBrk="1" hangingPunct="1"/>
            <a:r>
              <a:rPr lang="zh-TW" altLang="en-US">
                <a:latin typeface="標楷體" pitchFamily="65" charset="-120"/>
                <a:ea typeface="標楷體" pitchFamily="65" charset="-120"/>
              </a:rPr>
              <a:t>設定</a:t>
            </a:r>
            <a:endParaRPr lang="en-US" altLang="zh-TW">
              <a:latin typeface="標楷體" pitchFamily="65" charset="-120"/>
              <a:ea typeface="標楷體" pitchFamily="65" charset="-120"/>
            </a:endParaRPr>
          </a:p>
          <a:p>
            <a:pPr algn="ctr" eaLnBrk="1" hangingPunct="1"/>
            <a:r>
              <a:rPr lang="zh-TW" altLang="en-US">
                <a:latin typeface="標楷體" pitchFamily="65" charset="-120"/>
                <a:ea typeface="標楷體" pitchFamily="65" charset="-120"/>
              </a:rPr>
              <a:t>新密碼</a:t>
            </a:r>
          </a:p>
        </p:txBody>
      </p:sp>
      <p:sp>
        <p:nvSpPr>
          <p:cNvPr id="175113" name="矩形 31"/>
          <p:cNvSpPr>
            <a:spLocks noChangeArrowheads="1"/>
          </p:cNvSpPr>
          <p:nvPr/>
        </p:nvSpPr>
        <p:spPr bwMode="auto">
          <a:xfrm>
            <a:off x="6953250" y="3148013"/>
            <a:ext cx="1554163" cy="1206500"/>
          </a:xfrm>
          <a:prstGeom prst="rect">
            <a:avLst/>
          </a:prstGeom>
          <a:noFill/>
          <a:ln w="5715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 eaLnBrk="1" hangingPunct="1"/>
            <a:r>
              <a:rPr lang="zh-TW" altLang="en-US">
                <a:latin typeface="標楷體" pitchFamily="65" charset="-120"/>
                <a:ea typeface="標楷體" pitchFamily="65" charset="-120"/>
              </a:rPr>
              <a:t>自動變更</a:t>
            </a:r>
            <a:endParaRPr lang="en-US" altLang="zh-TW">
              <a:latin typeface="標楷體" pitchFamily="65" charset="-120"/>
              <a:ea typeface="標楷體" pitchFamily="65" charset="-120"/>
            </a:endParaRPr>
          </a:p>
          <a:p>
            <a:pPr algn="ctr" eaLnBrk="1" hangingPunct="1"/>
            <a:r>
              <a:rPr lang="zh-TW" altLang="en-US">
                <a:latin typeface="標楷體" pitchFamily="65" charset="-120"/>
                <a:ea typeface="標楷體" pitchFamily="65" charset="-120"/>
              </a:rPr>
              <a:t>資料庫</a:t>
            </a:r>
            <a:endParaRPr lang="en-US" altLang="zh-TW">
              <a:latin typeface="標楷體" pitchFamily="65" charset="-120"/>
              <a:ea typeface="標楷體" pitchFamily="65" charset="-120"/>
            </a:endParaRPr>
          </a:p>
          <a:p>
            <a:pPr algn="ctr" eaLnBrk="1" hangingPunct="1"/>
            <a:r>
              <a:rPr lang="zh-TW" altLang="en-US">
                <a:latin typeface="標楷體" pitchFamily="65" charset="-120"/>
                <a:ea typeface="標楷體" pitchFamily="65" charset="-120"/>
              </a:rPr>
              <a:t>密碼</a:t>
            </a:r>
          </a:p>
        </p:txBody>
      </p:sp>
      <p:sp>
        <p:nvSpPr>
          <p:cNvPr id="175114" name="矩形 33"/>
          <p:cNvSpPr>
            <a:spLocks noChangeArrowheads="1"/>
          </p:cNvSpPr>
          <p:nvPr/>
        </p:nvSpPr>
        <p:spPr bwMode="auto">
          <a:xfrm>
            <a:off x="6953250" y="4733925"/>
            <a:ext cx="1554163" cy="1208088"/>
          </a:xfrm>
          <a:prstGeom prst="rect">
            <a:avLst/>
          </a:prstGeom>
          <a:noFill/>
          <a:ln w="5715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 eaLnBrk="1" hangingPunct="1"/>
            <a:r>
              <a:rPr lang="zh-TW" altLang="en-US">
                <a:latin typeface="標楷體" pitchFamily="65" charset="-120"/>
                <a:ea typeface="標楷體" pitchFamily="65" charset="-120"/>
              </a:rPr>
              <a:t>自動變更</a:t>
            </a:r>
            <a:endParaRPr lang="en-US" altLang="zh-TW">
              <a:latin typeface="標楷體" pitchFamily="65" charset="-120"/>
              <a:ea typeface="標楷體" pitchFamily="65" charset="-120"/>
            </a:endParaRPr>
          </a:p>
          <a:p>
            <a:pPr algn="ctr" eaLnBrk="1" hangingPunct="1"/>
            <a:r>
              <a:rPr lang="zh-TW" altLang="en-US">
                <a:latin typeface="標楷體" pitchFamily="65" charset="-120"/>
                <a:ea typeface="標楷體" pitchFamily="65" charset="-120"/>
              </a:rPr>
              <a:t>排程主機</a:t>
            </a:r>
            <a:endParaRPr lang="en-US" altLang="zh-TW">
              <a:latin typeface="標楷體" pitchFamily="65" charset="-120"/>
              <a:ea typeface="標楷體" pitchFamily="65" charset="-120"/>
            </a:endParaRPr>
          </a:p>
          <a:p>
            <a:pPr algn="ctr" eaLnBrk="1" hangingPunct="1"/>
            <a:r>
              <a:rPr lang="zh-TW" altLang="en-US">
                <a:latin typeface="標楷體" pitchFamily="65" charset="-120"/>
                <a:ea typeface="標楷體" pitchFamily="65" charset="-120"/>
              </a:rPr>
              <a:t>密碼</a:t>
            </a:r>
          </a:p>
        </p:txBody>
      </p:sp>
      <p:cxnSp>
        <p:nvCxnSpPr>
          <p:cNvPr id="175115" name="肘形接點 34"/>
          <p:cNvCxnSpPr>
            <a:cxnSpLocks noChangeShapeType="1"/>
            <a:stCxn id="175112" idx="3"/>
            <a:endCxn id="175113" idx="1"/>
          </p:cNvCxnSpPr>
          <p:nvPr/>
        </p:nvCxnSpPr>
        <p:spPr bwMode="auto">
          <a:xfrm flipV="1">
            <a:off x="6048375" y="3751263"/>
            <a:ext cx="904875" cy="3175"/>
          </a:xfrm>
          <a:prstGeom prst="bentConnector3">
            <a:avLst>
              <a:gd name="adj1" fmla="val 50000"/>
            </a:avLst>
          </a:prstGeom>
          <a:noFill/>
          <a:ln w="76200" algn="ctr">
            <a:solidFill>
              <a:srgbClr val="0000CC"/>
            </a:solidFill>
            <a:round/>
            <a:headEnd/>
            <a:tailEnd type="triangle" w="med" len="med"/>
          </a:ln>
          <a:effectLst/>
        </p:spPr>
      </p:cxnSp>
      <p:cxnSp>
        <p:nvCxnSpPr>
          <p:cNvPr id="175116" name="肘形接點 36"/>
          <p:cNvCxnSpPr>
            <a:cxnSpLocks noChangeShapeType="1"/>
            <a:stCxn id="175112" idx="3"/>
            <a:endCxn id="175114" idx="1"/>
          </p:cNvCxnSpPr>
          <p:nvPr/>
        </p:nvCxnSpPr>
        <p:spPr bwMode="auto">
          <a:xfrm>
            <a:off x="6048375" y="3754438"/>
            <a:ext cx="904875" cy="1582737"/>
          </a:xfrm>
          <a:prstGeom prst="bentConnector3">
            <a:avLst>
              <a:gd name="adj1" fmla="val 50000"/>
            </a:avLst>
          </a:prstGeom>
          <a:noFill/>
          <a:ln w="76200" algn="ctr">
            <a:solidFill>
              <a:srgbClr val="0000CC"/>
            </a:solidFill>
            <a:round/>
            <a:headEnd/>
            <a:tailEnd type="triangle" w="med" len="med"/>
          </a:ln>
          <a:effectLst/>
        </p:spPr>
      </p:cxnSp>
      <p:pic>
        <p:nvPicPr>
          <p:cNvPr id="175117" name="圖片 2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9225" y="4659313"/>
            <a:ext cx="6161088" cy="158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28159087"/>
              </p:ext>
            </p:extLst>
          </p:nvPr>
        </p:nvGraphicFramePr>
        <p:xfrm>
          <a:off x="342894" y="1513311"/>
          <a:ext cx="8491107" cy="44731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868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30960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25281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105554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 smtClean="0">
                          <a:latin typeface="標楷體" pitchFamily="65" charset="-120"/>
                          <a:ea typeface="標楷體" pitchFamily="65" charset="-120"/>
                        </a:rPr>
                        <a:t>項次</a:t>
                      </a:r>
                      <a:endParaRPr lang="zh-TW" altLang="en-US" sz="2800" b="1" dirty="0"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51" marR="91451" marT="45744" marB="457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 smtClean="0">
                          <a:latin typeface="標楷體" pitchFamily="65" charset="-120"/>
                          <a:ea typeface="標楷體" pitchFamily="65" charset="-120"/>
                        </a:rPr>
                        <a:t>報告項目</a:t>
                      </a:r>
                      <a:endParaRPr lang="zh-TW" altLang="en-US" sz="2800" b="1" dirty="0"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51" marR="91451" marT="45744" marB="457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 smtClean="0">
                          <a:latin typeface="標楷體" pitchFamily="65" charset="-120"/>
                          <a:ea typeface="標楷體" pitchFamily="65" charset="-120"/>
                        </a:rPr>
                        <a:t>報告人</a:t>
                      </a:r>
                      <a:endParaRPr lang="zh-TW" altLang="en-US" sz="2800" b="1" dirty="0"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51" marR="91451" marT="45744" marB="457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30652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 smtClean="0">
                          <a:latin typeface="標楷體" pitchFamily="65" charset="-120"/>
                          <a:ea typeface="標楷體" pitchFamily="65" charset="-120"/>
                        </a:rPr>
                        <a:t>壹</a:t>
                      </a:r>
                      <a:endParaRPr lang="en-US" altLang="zh-TW" sz="2800" b="1" dirty="0" smtClean="0"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51" marR="91451" marT="45744" marB="457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800" b="1" kern="1200" dirty="0" smtClean="0">
                          <a:solidFill>
                            <a:srgbClr val="0000CC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資訊部改善實例報告</a:t>
                      </a:r>
                      <a:endParaRPr kumimoji="0" lang="en-US" altLang="zh-TW" sz="2800" b="1" kern="1200" dirty="0" smtClean="0">
                        <a:solidFill>
                          <a:srgbClr val="0000CC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1451" marR="91451" marT="45744" marB="457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latin typeface="標楷體" pitchFamily="65" charset="-120"/>
                          <a:ea typeface="標楷體" pitchFamily="65" charset="-120"/>
                        </a:rPr>
                        <a:t>李毅宏</a:t>
                      </a:r>
                      <a:endParaRPr lang="en-US" altLang="zh-TW" sz="2800" b="1" dirty="0" smtClean="0">
                        <a:latin typeface="標楷體" pitchFamily="65" charset="-120"/>
                        <a:ea typeface="標楷體" pitchFamily="65" charset="-12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latin typeface="標楷體" pitchFamily="65" charset="-120"/>
                          <a:ea typeface="標楷體" pitchFamily="65" charset="-120"/>
                        </a:rPr>
                        <a:t>蔡尚祐</a:t>
                      </a:r>
                      <a:endParaRPr lang="en-US" altLang="zh-TW" sz="2800" b="1" dirty="0" smtClean="0"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51" marR="91451" marT="45744" marB="457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05554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latin typeface="標楷體" pitchFamily="65" charset="-120"/>
                          <a:ea typeface="標楷體" pitchFamily="65" charset="-120"/>
                        </a:rPr>
                        <a:t>貳</a:t>
                      </a:r>
                      <a:endParaRPr lang="zh-TW" altLang="en-US" sz="2800" b="1" dirty="0"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51" marR="91451" marT="45744" marB="457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800" b="1" kern="1200" dirty="0" smtClean="0">
                          <a:solidFill>
                            <a:srgbClr val="0000CC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作業密碼改由電腦自動更新檢討</a:t>
                      </a:r>
                    </a:p>
                  </a:txBody>
                  <a:tcPr marL="91451" marR="91451" marT="45744" marB="457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latin typeface="標楷體" pitchFamily="65" charset="-120"/>
                          <a:ea typeface="標楷體" pitchFamily="65" charset="-120"/>
                        </a:rPr>
                        <a:t>蔡尚祐</a:t>
                      </a:r>
                      <a:endParaRPr lang="en-US" altLang="zh-TW" sz="2800" b="1" dirty="0" smtClean="0"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51" marR="91451" marT="45744" marB="457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05554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latin typeface="標楷體" pitchFamily="65" charset="-120"/>
                          <a:ea typeface="標楷體" pitchFamily="65" charset="-120"/>
                        </a:rPr>
                        <a:t>參</a:t>
                      </a:r>
                      <a:endParaRPr lang="zh-TW" altLang="en-US" sz="2800" b="1" dirty="0"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51" marR="91451" marT="45744" marB="457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800" b="1" kern="1200" noProof="0" dirty="0" smtClean="0">
                          <a:solidFill>
                            <a:srgbClr val="0000CC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規章制度管理機制檢討改善</a:t>
                      </a:r>
                      <a:endParaRPr kumimoji="0" lang="zh-TW" altLang="en-US" sz="2800" b="1" kern="1200" dirty="0">
                        <a:solidFill>
                          <a:srgbClr val="0000CC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1451" marR="91451" marT="45744" marB="457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 smtClean="0">
                          <a:latin typeface="標楷體" pitchFamily="65" charset="-120"/>
                          <a:ea typeface="標楷體" pitchFamily="65" charset="-120"/>
                        </a:rPr>
                        <a:t>李毅宏</a:t>
                      </a:r>
                      <a:endParaRPr lang="zh-TW" altLang="en-US" sz="2800" b="1" dirty="0"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51" marR="91451" marT="45744" marB="457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手繪多邊形 6"/>
          <p:cNvSpPr/>
          <p:nvPr/>
        </p:nvSpPr>
        <p:spPr bwMode="auto">
          <a:xfrm>
            <a:off x="311258" y="5148436"/>
            <a:ext cx="391991" cy="556351"/>
          </a:xfrm>
          <a:custGeom>
            <a:avLst/>
            <a:gdLst>
              <a:gd name="connsiteX0" fmla="*/ 0 w 352540"/>
              <a:gd name="connsiteY0" fmla="*/ 253388 h 478795"/>
              <a:gd name="connsiteX1" fmla="*/ 55085 w 352540"/>
              <a:gd name="connsiteY1" fmla="*/ 242371 h 478795"/>
              <a:gd name="connsiteX2" fmla="*/ 110169 w 352540"/>
              <a:gd name="connsiteY2" fmla="*/ 473725 h 478795"/>
              <a:gd name="connsiteX3" fmla="*/ 143220 w 352540"/>
              <a:gd name="connsiteY3" fmla="*/ 407624 h 478795"/>
              <a:gd name="connsiteX4" fmla="*/ 352540 w 352540"/>
              <a:gd name="connsiteY4" fmla="*/ 0 h 478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2540" h="478795">
                <a:moveTo>
                  <a:pt x="0" y="253388"/>
                </a:moveTo>
                <a:cubicBezTo>
                  <a:pt x="18362" y="229518"/>
                  <a:pt x="36724" y="205648"/>
                  <a:pt x="55085" y="242371"/>
                </a:cubicBezTo>
                <a:cubicBezTo>
                  <a:pt x="73447" y="279094"/>
                  <a:pt x="95480" y="446183"/>
                  <a:pt x="110169" y="473725"/>
                </a:cubicBezTo>
                <a:cubicBezTo>
                  <a:pt x="124858" y="501267"/>
                  <a:pt x="143220" y="407624"/>
                  <a:pt x="143220" y="407624"/>
                </a:cubicBezTo>
                <a:lnTo>
                  <a:pt x="352540" y="0"/>
                </a:lnTo>
              </a:path>
            </a:pathLst>
          </a:custGeom>
          <a:noFill/>
          <a:ln w="508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rtlCol="0" anchor="ctr"/>
          <a:lstStyle/>
          <a:p>
            <a:pPr algn="ctr"/>
            <a:endParaRPr lang="zh-TW" altLang="en-US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8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kumimoji="0" lang="zh-TW" altLang="en-US" sz="3600" dirty="0" smtClean="0">
                <a:solidFill>
                  <a:srgbClr val="000000"/>
                </a:solidFill>
                <a:latin typeface="標楷體"/>
                <a:ea typeface="標楷體" pitchFamily="65" charset="-120"/>
              </a:rPr>
              <a:t>資訊部電腦管理作業改善報告</a:t>
            </a:r>
            <a:endParaRPr lang="zh-TW" altLang="en-US" sz="3600" dirty="0">
              <a:solidFill>
                <a:schemeClr val="tx2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683062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3896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05045" y="2279813"/>
            <a:ext cx="3861575" cy="2924328"/>
          </a:xfrm>
          <a:prstGeom prst="rect">
            <a:avLst/>
          </a:prstGeom>
          <a:noFill/>
          <a:ln w="19050">
            <a:solidFill>
              <a:srgbClr val="0000CC"/>
            </a:solidFill>
            <a:miter lim="800000"/>
            <a:headEnd/>
            <a:tailEnd/>
          </a:ln>
        </p:spPr>
      </p:pic>
      <p:sp>
        <p:nvSpPr>
          <p:cNvPr id="6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lang="zh-TW" altLang="en-US" sz="3600" dirty="0" smtClean="0">
                <a:latin typeface="標楷體" pitchFamily="65" charset="-120"/>
                <a:ea typeface="標楷體" pitchFamily="65" charset="-120"/>
              </a:rPr>
              <a:t>規章制度定期總檢討作業規定</a:t>
            </a:r>
            <a:endParaRPr lang="zh-TW" altLang="en-US" sz="36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1" name="五邊形 30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53923" y="1267144"/>
            <a:ext cx="8091271" cy="461665"/>
          </a:xfrm>
          <a:prstGeom prst="homePlate">
            <a:avLst>
              <a:gd name="adj" fmla="val 46543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人事組「規章及表單管理辦法」規章制度定期總檢討作業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7769150" y="4791185"/>
            <a:ext cx="1240647" cy="427703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charset="-120"/>
            </a:endParaRPr>
          </a:p>
        </p:txBody>
      </p:sp>
      <p:sp>
        <p:nvSpPr>
          <p:cNvPr id="39" name="五邊形 16"/>
          <p:cNvSpPr>
            <a:spLocks noChangeArrowheads="1"/>
          </p:cNvSpPr>
          <p:nvPr/>
        </p:nvSpPr>
        <p:spPr bwMode="auto">
          <a:xfrm>
            <a:off x="5058800" y="1886036"/>
            <a:ext cx="4071136" cy="369332"/>
          </a:xfrm>
          <a:prstGeom prst="homePlate">
            <a:avLst>
              <a:gd name="adj" fmla="val 46543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sz="1800" dirty="0" smtClean="0">
                <a:latin typeface="標楷體" pitchFamily="65" charset="-120"/>
                <a:ea typeface="標楷體" pitchFamily="65" charset="-120"/>
              </a:rPr>
              <a:t>範例：河靜受訂及交運管理電腦作業</a:t>
            </a:r>
            <a:endParaRPr lang="en-US" altLang="zh-TW" sz="18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40" name="圓角矩形 14"/>
          <p:cNvSpPr>
            <a:spLocks noChangeArrowheads="1"/>
          </p:cNvSpPr>
          <p:nvPr/>
        </p:nvSpPr>
        <p:spPr bwMode="auto">
          <a:xfrm>
            <a:off x="67154" y="4331520"/>
            <a:ext cx="5022165" cy="2214473"/>
          </a:xfrm>
          <a:prstGeom prst="roundRect">
            <a:avLst>
              <a:gd name="adj" fmla="val 7097"/>
            </a:avLst>
          </a:prstGeom>
          <a:solidFill>
            <a:schemeClr val="bg1"/>
          </a:solidFill>
          <a:ln w="38100" cmpd="dbl" algn="ctr">
            <a:solidFill>
              <a:srgbClr val="0000CC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marL="1798638" indent="-1798638"/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原訂日期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：規章制度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頒佈生效日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。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pPr marL="1798638" indent="-1798638"/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檢討週期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：新頒佈或需頻繁檢討者為</a:t>
            </a:r>
            <a:r>
              <a:rPr lang="en-US" altLang="zh-TW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1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年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；其他則為</a:t>
            </a:r>
            <a:r>
              <a:rPr lang="en-US" altLang="zh-TW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2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年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(2018/1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改為</a:t>
            </a:r>
            <a:r>
              <a:rPr lang="en-US" altLang="zh-TW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3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年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)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。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pPr marL="1798638" indent="-1798638"/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3.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新訂日期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：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最近一次總檢討日期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。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2213897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44029" y="5343175"/>
            <a:ext cx="3767129" cy="1197139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</p:pic>
      <p:sp>
        <p:nvSpPr>
          <p:cNvPr id="47" name="圓角矩形 14"/>
          <p:cNvSpPr>
            <a:spLocks noChangeArrowheads="1"/>
          </p:cNvSpPr>
          <p:nvPr/>
        </p:nvSpPr>
        <p:spPr bwMode="auto">
          <a:xfrm>
            <a:off x="82060" y="2300738"/>
            <a:ext cx="5024512" cy="1314659"/>
          </a:xfrm>
          <a:prstGeom prst="roundRect">
            <a:avLst>
              <a:gd name="adj" fmla="val 7097"/>
            </a:avLst>
          </a:prstGeom>
          <a:solidFill>
            <a:schemeClr val="bg1"/>
          </a:solidFill>
          <a:ln w="38100" cmpd="dbl" algn="ctr">
            <a:solidFill>
              <a:srgbClr val="0000CC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為使所有規章制度均能由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機能組主動檢討是否仍符合實務需求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，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2008/8/1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已實施「規章制度定期總檢討作業」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48" name="五邊形 16">
            <a:hlinkClick r:id="" action="ppaction://customshow?id=8&amp;return=true"/>
          </p:cNvPr>
          <p:cNvSpPr>
            <a:spLocks noChangeArrowheads="1"/>
          </p:cNvSpPr>
          <p:nvPr/>
        </p:nvSpPr>
        <p:spPr bwMode="auto">
          <a:xfrm>
            <a:off x="56273" y="1783359"/>
            <a:ext cx="1631850" cy="461665"/>
          </a:xfrm>
          <a:prstGeom prst="homePlate">
            <a:avLst>
              <a:gd name="adj" fmla="val 46543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管理目的</a:t>
            </a:r>
            <a:endParaRPr lang="en-US" altLang="zh-TW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49" name="五邊形 16">
            <a:hlinkClick r:id="" action="ppaction://customshow?id=0&amp;return=true"/>
          </p:cNvPr>
          <p:cNvSpPr>
            <a:spLocks noChangeArrowheads="1"/>
          </p:cNvSpPr>
          <p:nvPr/>
        </p:nvSpPr>
        <p:spPr bwMode="auto">
          <a:xfrm>
            <a:off x="53925" y="3811843"/>
            <a:ext cx="1631850" cy="461665"/>
          </a:xfrm>
          <a:prstGeom prst="homePlate">
            <a:avLst>
              <a:gd name="adj" fmla="val 46543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名詞說明</a:t>
            </a:r>
            <a:endParaRPr lang="en-US" altLang="zh-TW" dirty="0"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五邊形 12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67993" y="1970544"/>
            <a:ext cx="2126567" cy="461665"/>
          </a:xfrm>
          <a:prstGeom prst="homePlate">
            <a:avLst>
              <a:gd name="adj" fmla="val 46543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電腦作業流程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53" name="流程圖: 儲存資料 52"/>
          <p:cNvSpPr/>
          <p:nvPr/>
        </p:nvSpPr>
        <p:spPr bwMode="auto">
          <a:xfrm>
            <a:off x="266693" y="2475914"/>
            <a:ext cx="1933582" cy="1077165"/>
          </a:xfrm>
          <a:prstGeom prst="flowChartOnlineStorage">
            <a:avLst/>
          </a:prstGeom>
          <a:noFill/>
          <a:ln w="28575" cap="flat" cmpd="sng" algn="ctr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各制度</a:t>
            </a:r>
            <a:endParaRPr lang="en-US" altLang="zh-TW" sz="2200" dirty="0" smtClean="0">
              <a:latin typeface="標楷體" pitchFamily="65" charset="-120"/>
              <a:ea typeface="標楷體" pitchFamily="65" charset="-120"/>
            </a:endParaRPr>
          </a:p>
          <a:p>
            <a:pPr algn="ctr" eaLnBrk="1" hangingPunct="1"/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新訂日期資料檔</a:t>
            </a:r>
          </a:p>
        </p:txBody>
      </p:sp>
      <p:grpSp>
        <p:nvGrpSpPr>
          <p:cNvPr id="2" name="群組 50"/>
          <p:cNvGrpSpPr/>
          <p:nvPr/>
        </p:nvGrpSpPr>
        <p:grpSpPr>
          <a:xfrm>
            <a:off x="1233483" y="3567148"/>
            <a:ext cx="4959010" cy="1601023"/>
            <a:chOff x="1233483" y="3222746"/>
            <a:chExt cx="4959010" cy="1705976"/>
          </a:xfrm>
        </p:grpSpPr>
        <p:sp>
          <p:nvSpPr>
            <p:cNvPr id="38" name="流程圖: 文件 37"/>
            <p:cNvSpPr/>
            <p:nvPr/>
          </p:nvSpPr>
          <p:spPr bwMode="auto">
            <a:xfrm>
              <a:off x="3886227" y="3548081"/>
              <a:ext cx="1643061" cy="1085849"/>
            </a:xfrm>
            <a:prstGeom prst="flowChartDocument">
              <a:avLst/>
            </a:prstGeom>
            <a:noFill/>
            <a:ln w="57150" cap="flat" cmpd="dbl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US" altLang="zh-TW" sz="2200" u="sng" dirty="0" smtClean="0">
                  <a:solidFill>
                    <a:srgbClr val="FF0000"/>
                  </a:solidFill>
                  <a:latin typeface="標楷體" pitchFamily="65" charset="-120"/>
                  <a:ea typeface="標楷體" pitchFamily="65" charset="-120"/>
                </a:rPr>
                <a:t>OA</a:t>
              </a:r>
              <a:r>
                <a:rPr lang="zh-TW" altLang="en-US" sz="2200" u="sng" dirty="0" smtClean="0">
                  <a:solidFill>
                    <a:srgbClr val="FF0000"/>
                  </a:solidFill>
                  <a:latin typeface="標楷體" pitchFamily="65" charset="-120"/>
                  <a:ea typeface="標楷體" pitchFamily="65" charset="-120"/>
                </a:rPr>
                <a:t>交辦單</a:t>
              </a:r>
            </a:p>
          </p:txBody>
        </p:sp>
        <p:cxnSp>
          <p:nvCxnSpPr>
            <p:cNvPr id="46" name="肘形接點 61"/>
            <p:cNvCxnSpPr>
              <a:stCxn id="53" idx="2"/>
              <a:endCxn id="38" idx="1"/>
            </p:cNvCxnSpPr>
            <p:nvPr/>
          </p:nvCxnSpPr>
          <p:spPr bwMode="auto">
            <a:xfrm rot="16200000" flipH="1">
              <a:off x="2125725" y="2330504"/>
              <a:ext cx="868260" cy="2652743"/>
            </a:xfrm>
            <a:prstGeom prst="bentConnector2">
              <a:avLst/>
            </a:prstGeom>
            <a:solidFill>
              <a:srgbClr val="CCFFCC"/>
            </a:solidFill>
            <a:ln w="76200" cap="flat" cmpd="sng" algn="ctr">
              <a:solidFill>
                <a:srgbClr val="0000CC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4" name="文字方塊 63"/>
            <p:cNvSpPr txBox="1"/>
            <p:nvPr/>
          </p:nvSpPr>
          <p:spPr>
            <a:xfrm>
              <a:off x="1851735" y="3690414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dirty="0" smtClean="0">
                  <a:latin typeface="標楷體" pitchFamily="65" charset="-120"/>
                  <a:ea typeface="標楷體" pitchFamily="65" charset="-120"/>
                </a:rPr>
                <a:t>屆期前二個月</a:t>
              </a:r>
              <a:endParaRPr lang="zh-TW" altLang="en-US" sz="2000" dirty="0">
                <a:latin typeface="標楷體" pitchFamily="65" charset="-120"/>
                <a:ea typeface="標楷體" pitchFamily="65" charset="-120"/>
              </a:endParaRPr>
            </a:p>
          </p:txBody>
        </p:sp>
        <p:sp>
          <p:nvSpPr>
            <p:cNvPr id="115" name="文字方塊 114"/>
            <p:cNvSpPr txBox="1"/>
            <p:nvPr/>
          </p:nvSpPr>
          <p:spPr>
            <a:xfrm>
              <a:off x="3186541" y="4528612"/>
              <a:ext cx="30059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2000" dirty="0" smtClean="0">
                  <a:latin typeface="標楷體" pitchFamily="65" charset="-120"/>
                  <a:ea typeface="標楷體" pitchFamily="65" charset="-120"/>
                </a:rPr>
                <a:t>電腦自動開立予制度專人</a:t>
              </a:r>
              <a:endParaRPr lang="zh-TW" altLang="en-US" sz="2000" dirty="0">
                <a:latin typeface="標楷體" pitchFamily="65" charset="-120"/>
                <a:ea typeface="標楷體" pitchFamily="65" charset="-120"/>
              </a:endParaRPr>
            </a:p>
          </p:txBody>
        </p:sp>
      </p:grpSp>
      <p:grpSp>
        <p:nvGrpSpPr>
          <p:cNvPr id="3" name="群組 53"/>
          <p:cNvGrpSpPr/>
          <p:nvPr/>
        </p:nvGrpSpPr>
        <p:grpSpPr>
          <a:xfrm>
            <a:off x="803565" y="3580046"/>
            <a:ext cx="7769004" cy="3082064"/>
            <a:chOff x="803565" y="3369104"/>
            <a:chExt cx="7769004" cy="3150881"/>
          </a:xfrm>
        </p:grpSpPr>
        <p:sp>
          <p:nvSpPr>
            <p:cNvPr id="108" name="文字方塊 107"/>
            <p:cNvSpPr txBox="1"/>
            <p:nvPr/>
          </p:nvSpPr>
          <p:spPr>
            <a:xfrm>
              <a:off x="893266" y="5441442"/>
              <a:ext cx="1980029" cy="7236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2000" dirty="0" smtClean="0">
                  <a:latin typeface="標楷體" pitchFamily="65" charset="-120"/>
                  <a:ea typeface="標楷體" pitchFamily="65" charset="-120"/>
                </a:rPr>
                <a:t>呈准後更新制度</a:t>
              </a:r>
              <a:endParaRPr lang="en-US" altLang="zh-TW" sz="2000" dirty="0" smtClean="0">
                <a:latin typeface="標楷體" pitchFamily="65" charset="-120"/>
                <a:ea typeface="標楷體" pitchFamily="65" charset="-120"/>
              </a:endParaRPr>
            </a:p>
            <a:p>
              <a:pPr algn="ctr"/>
              <a:r>
                <a:rPr lang="zh-TW" altLang="en-US" sz="2000" dirty="0" smtClean="0">
                  <a:latin typeface="標楷體" pitchFamily="65" charset="-120"/>
                  <a:ea typeface="標楷體" pitchFamily="65" charset="-120"/>
                </a:rPr>
                <a:t>「新訂日期」</a:t>
              </a:r>
              <a:endParaRPr lang="zh-TW" altLang="en-US" sz="2000" dirty="0">
                <a:latin typeface="標楷體" pitchFamily="65" charset="-120"/>
                <a:ea typeface="標楷體" pitchFamily="65" charset="-120"/>
              </a:endParaRPr>
            </a:p>
          </p:txBody>
        </p:sp>
        <p:cxnSp>
          <p:nvCxnSpPr>
            <p:cNvPr id="112" name="肘形接點 61"/>
            <p:cNvCxnSpPr>
              <a:stCxn id="91" idx="1"/>
            </p:cNvCxnSpPr>
            <p:nvPr/>
          </p:nvCxnSpPr>
          <p:spPr bwMode="auto">
            <a:xfrm rot="10800000">
              <a:off x="803565" y="3369104"/>
              <a:ext cx="2739777" cy="2782189"/>
            </a:xfrm>
            <a:prstGeom prst="bentConnector2">
              <a:avLst/>
            </a:prstGeom>
            <a:solidFill>
              <a:srgbClr val="CCFFCC"/>
            </a:solidFill>
            <a:ln w="76200" cap="flat" cmpd="sng" algn="ctr">
              <a:solidFill>
                <a:srgbClr val="0000CC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7" name="矩形 116"/>
            <p:cNvSpPr/>
            <p:nvPr/>
          </p:nvSpPr>
          <p:spPr bwMode="auto">
            <a:xfrm>
              <a:off x="6942096" y="5534148"/>
              <a:ext cx="1630473" cy="985837"/>
            </a:xfrm>
            <a:prstGeom prst="rect">
              <a:avLst/>
            </a:prstGeom>
            <a:noFill/>
            <a:ln w="57150" cmpd="dbl" algn="ctr">
              <a:solidFill>
                <a:srgbClr val="0000FF"/>
              </a:solidFill>
              <a:round/>
              <a:headEnd/>
              <a:tailEnd type="triangle" w="med" len="med"/>
            </a:ln>
            <a:extLst/>
          </p:spPr>
          <p:txBody>
            <a:bodyPr lIns="0" tIns="0" rIns="0" bIns="0" anchor="ctr"/>
            <a:lstStyle/>
            <a:p>
              <a:pPr algn="ctr" eaLnBrk="1" hangingPunct="1"/>
              <a:r>
                <a:rPr lang="en-US" altLang="zh-TW" sz="2200" dirty="0" smtClean="0">
                  <a:latin typeface="標楷體" pitchFamily="65" charset="-120"/>
                  <a:ea typeface="標楷體" pitchFamily="65" charset="-120"/>
                </a:rPr>
                <a:t>OA</a:t>
              </a:r>
              <a:r>
                <a:rPr lang="zh-TW" altLang="en-US" sz="2200" dirty="0" smtClean="0">
                  <a:latin typeface="標楷體" pitchFamily="65" charset="-120"/>
                  <a:ea typeface="標楷體" pitchFamily="65" charset="-120"/>
                </a:rPr>
                <a:t>交辦單</a:t>
              </a:r>
              <a:endParaRPr lang="en-US" altLang="zh-TW" sz="2200" dirty="0" smtClean="0">
                <a:latin typeface="標楷體" pitchFamily="65" charset="-120"/>
                <a:ea typeface="標楷體" pitchFamily="65" charset="-120"/>
              </a:endParaRPr>
            </a:p>
            <a:p>
              <a:pPr algn="ctr" eaLnBrk="1" hangingPunct="1"/>
              <a:r>
                <a:rPr lang="zh-TW" altLang="en-US" sz="2200" dirty="0" smtClean="0">
                  <a:latin typeface="標楷體" pitchFamily="65" charset="-120"/>
                  <a:ea typeface="標楷體" pitchFamily="65" charset="-120"/>
                </a:rPr>
                <a:t>呈核銷案</a:t>
              </a:r>
              <a:endParaRPr lang="zh-TW" altLang="en-US" sz="2200" dirty="0">
                <a:latin typeface="標楷體" pitchFamily="65" charset="-120"/>
                <a:ea typeface="標楷體" pitchFamily="65" charset="-120"/>
              </a:endParaRPr>
            </a:p>
          </p:txBody>
        </p:sp>
        <p:cxnSp>
          <p:nvCxnSpPr>
            <p:cNvPr id="118" name="肘形接點 61"/>
            <p:cNvCxnSpPr>
              <a:stCxn id="91" idx="3"/>
              <a:endCxn id="117" idx="1"/>
            </p:cNvCxnSpPr>
            <p:nvPr/>
          </p:nvCxnSpPr>
          <p:spPr bwMode="auto">
            <a:xfrm flipV="1">
              <a:off x="5772191" y="6027066"/>
              <a:ext cx="1169905" cy="3324"/>
            </a:xfrm>
            <a:prstGeom prst="bentConnector3">
              <a:avLst>
                <a:gd name="adj1" fmla="val 50000"/>
              </a:avLst>
            </a:prstGeom>
            <a:solidFill>
              <a:srgbClr val="CCFFCC"/>
            </a:solidFill>
            <a:ln w="76200" cap="flat" cmpd="sng" algn="ctr">
              <a:solidFill>
                <a:srgbClr val="0000CC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" name="群組 55"/>
          <p:cNvGrpSpPr/>
          <p:nvPr/>
        </p:nvGrpSpPr>
        <p:grpSpPr>
          <a:xfrm>
            <a:off x="1988225" y="2991556"/>
            <a:ext cx="5728543" cy="783171"/>
            <a:chOff x="1988225" y="2609422"/>
            <a:chExt cx="5728543" cy="834511"/>
          </a:xfrm>
        </p:grpSpPr>
        <p:sp>
          <p:nvSpPr>
            <p:cNvPr id="137" name="文字方塊 136"/>
            <p:cNvSpPr txBox="1"/>
            <p:nvPr/>
          </p:nvSpPr>
          <p:spPr>
            <a:xfrm>
              <a:off x="1988225" y="2609422"/>
              <a:ext cx="328808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eaLnBrk="1" hangingPunct="1"/>
              <a:r>
                <a:rPr lang="zh-TW" altLang="en-US" sz="2200" dirty="0" smtClean="0">
                  <a:solidFill>
                    <a:srgbClr val="FF0000"/>
                  </a:solidFill>
                  <a:latin typeface="標楷體" pitchFamily="65" charset="-120"/>
                  <a:ea typeface="標楷體" pitchFamily="65" charset="-120"/>
                </a:rPr>
                <a:t>逾期未更新「新訂日期」</a:t>
              </a:r>
            </a:p>
          </p:txBody>
        </p:sp>
        <p:sp>
          <p:nvSpPr>
            <p:cNvPr id="153" name="文字方塊 152"/>
            <p:cNvSpPr txBox="1"/>
            <p:nvPr/>
          </p:nvSpPr>
          <p:spPr>
            <a:xfrm>
              <a:off x="5095537" y="3043823"/>
              <a:ext cx="26212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2000" dirty="0" smtClean="0">
                  <a:solidFill>
                    <a:srgbClr val="FF0000"/>
                  </a:solidFill>
                  <a:latin typeface="標楷體" pitchFamily="65" charset="-120"/>
                  <a:ea typeface="標楷體" pitchFamily="65" charset="-120"/>
                </a:rPr>
                <a:t>每月</a:t>
              </a:r>
              <a:r>
                <a:rPr lang="en-US" altLang="zh-TW" sz="2000" dirty="0" smtClean="0">
                  <a:solidFill>
                    <a:srgbClr val="FF0000"/>
                  </a:solidFill>
                  <a:latin typeface="標楷體" pitchFamily="65" charset="-120"/>
                  <a:ea typeface="標楷體" pitchFamily="65" charset="-120"/>
                </a:rPr>
                <a:t>1</a:t>
              </a:r>
              <a:r>
                <a:rPr lang="zh-TW" altLang="en-US" sz="2000" dirty="0" smtClean="0">
                  <a:solidFill>
                    <a:srgbClr val="FF0000"/>
                  </a:solidFill>
                  <a:latin typeface="標楷體" pitchFamily="65" charset="-120"/>
                  <a:ea typeface="標楷體" pitchFamily="65" charset="-120"/>
                </a:rPr>
                <a:t>日提示部門主管</a:t>
              </a:r>
              <a:endParaRPr lang="zh-TW" altLang="en-US" sz="2000" dirty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endParaRPr>
            </a:p>
          </p:txBody>
        </p:sp>
      </p:grpSp>
      <p:grpSp>
        <p:nvGrpSpPr>
          <p:cNvPr id="5" name="群組 54"/>
          <p:cNvGrpSpPr/>
          <p:nvPr/>
        </p:nvGrpSpPr>
        <p:grpSpPr>
          <a:xfrm>
            <a:off x="1878011" y="2538093"/>
            <a:ext cx="5616863" cy="956075"/>
            <a:chOff x="1878011" y="2126233"/>
            <a:chExt cx="5616863" cy="1018749"/>
          </a:xfrm>
        </p:grpSpPr>
        <p:sp>
          <p:nvSpPr>
            <p:cNvPr id="139" name="流程圖: 文件 138"/>
            <p:cNvSpPr/>
            <p:nvPr/>
          </p:nvSpPr>
          <p:spPr bwMode="auto">
            <a:xfrm>
              <a:off x="5266024" y="2126233"/>
              <a:ext cx="2228850" cy="1018749"/>
            </a:xfrm>
            <a:prstGeom prst="flowChartDocument">
              <a:avLst/>
            </a:prstGeom>
            <a:noFill/>
            <a:ln w="28575" cap="flat" cmpd="sng" algn="ctr">
              <a:solidFill>
                <a:srgbClr val="0000CC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US" altLang="zh-TW" sz="2200" u="sng" dirty="0" smtClean="0">
                  <a:solidFill>
                    <a:srgbClr val="FF0000"/>
                  </a:solidFill>
                  <a:latin typeface="標楷體" pitchFamily="65" charset="-120"/>
                  <a:ea typeface="標楷體" pitchFamily="65" charset="-120"/>
                </a:rPr>
                <a:t>OA</a:t>
              </a:r>
              <a:r>
                <a:rPr lang="zh-TW" altLang="en-US" sz="2200" u="sng" dirty="0" smtClean="0">
                  <a:solidFill>
                    <a:srgbClr val="0000CC"/>
                  </a:solidFill>
                  <a:latin typeface="標楷體" pitchFamily="65" charset="-120"/>
                  <a:ea typeface="標楷體" pitchFamily="65" charset="-120"/>
                </a:rPr>
                <a:t>規章制度定期總檢討提示表</a:t>
              </a:r>
            </a:p>
          </p:txBody>
        </p:sp>
        <p:cxnSp>
          <p:nvCxnSpPr>
            <p:cNvPr id="32" name="肘形接點 61"/>
            <p:cNvCxnSpPr>
              <a:stCxn id="53" idx="3"/>
              <a:endCxn id="139" idx="1"/>
            </p:cNvCxnSpPr>
            <p:nvPr/>
          </p:nvCxnSpPr>
          <p:spPr bwMode="auto">
            <a:xfrm>
              <a:off x="1878011" y="2633867"/>
              <a:ext cx="3388013" cy="1741"/>
            </a:xfrm>
            <a:prstGeom prst="bentConnector3">
              <a:avLst>
                <a:gd name="adj1" fmla="val 50000"/>
              </a:avLst>
            </a:prstGeom>
            <a:solidFill>
              <a:srgbClr val="CCFFCC"/>
            </a:solidFill>
            <a:ln w="76200" cap="flat" cmpd="sng" algn="ctr">
              <a:solidFill>
                <a:srgbClr val="0000CC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" name="文字方塊 41"/>
            <p:cNvSpPr txBox="1"/>
            <p:nvPr/>
          </p:nvSpPr>
          <p:spPr>
            <a:xfrm>
              <a:off x="2863117" y="2180268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dirty="0" smtClean="0">
                  <a:latin typeface="標楷體" pitchFamily="65" charset="-120"/>
                  <a:ea typeface="標楷體" pitchFamily="65" charset="-120"/>
                </a:rPr>
                <a:t>屆期前三個月</a:t>
              </a:r>
              <a:endParaRPr lang="zh-TW" altLang="en-US" sz="2000" dirty="0">
                <a:latin typeface="標楷體" pitchFamily="65" charset="-120"/>
                <a:ea typeface="標楷體" pitchFamily="65" charset="-120"/>
              </a:endParaRPr>
            </a:p>
          </p:txBody>
        </p:sp>
      </p:grpSp>
      <p:grpSp>
        <p:nvGrpSpPr>
          <p:cNvPr id="7" name="群組 51"/>
          <p:cNvGrpSpPr/>
          <p:nvPr/>
        </p:nvGrpSpPr>
        <p:grpSpPr>
          <a:xfrm>
            <a:off x="3543341" y="3016131"/>
            <a:ext cx="5143469" cy="3658728"/>
            <a:chOff x="3543341" y="2635608"/>
            <a:chExt cx="5143469" cy="3898571"/>
          </a:xfrm>
        </p:grpSpPr>
        <p:sp>
          <p:nvSpPr>
            <p:cNvPr id="65" name="矩形 64"/>
            <p:cNvSpPr/>
            <p:nvPr/>
          </p:nvSpPr>
          <p:spPr bwMode="auto">
            <a:xfrm>
              <a:off x="6889651" y="3533792"/>
              <a:ext cx="1797159" cy="1114425"/>
            </a:xfrm>
            <a:prstGeom prst="rect">
              <a:avLst/>
            </a:prstGeom>
            <a:noFill/>
            <a:ln w="57150" cmpd="dbl" algn="ctr">
              <a:solidFill>
                <a:srgbClr val="0000FF"/>
              </a:solidFill>
              <a:round/>
              <a:headEnd/>
              <a:tailEnd type="triangle" w="med" len="med"/>
            </a:ln>
            <a:extLst/>
          </p:spPr>
          <p:txBody>
            <a:bodyPr lIns="0" tIns="0" rIns="0" bIns="0" anchor="ctr"/>
            <a:lstStyle/>
            <a:p>
              <a:pPr algn="ctr" eaLnBrk="1" hangingPunct="1"/>
              <a:r>
                <a:rPr lang="zh-TW" altLang="en-US" sz="2200" dirty="0" smtClean="0">
                  <a:latin typeface="標楷體" pitchFamily="65" charset="-120"/>
                  <a:ea typeface="標楷體" pitchFamily="65" charset="-120"/>
                </a:rPr>
                <a:t>洽各公司</a:t>
              </a:r>
              <a:endParaRPr lang="en-US" altLang="zh-TW" sz="2200" dirty="0" smtClean="0">
                <a:latin typeface="標楷體" pitchFamily="65" charset="-120"/>
                <a:ea typeface="標楷體" pitchFamily="65" charset="-120"/>
              </a:endParaRPr>
            </a:p>
            <a:p>
              <a:pPr algn="ctr" eaLnBrk="1" hangingPunct="1"/>
              <a:r>
                <a:rPr lang="zh-TW" altLang="en-US" sz="2200" dirty="0" smtClean="0">
                  <a:latin typeface="標楷體" pitchFamily="65" charset="-120"/>
                  <a:ea typeface="標楷體" pitchFamily="65" charset="-120"/>
                </a:rPr>
                <a:t>檢討</a:t>
              </a:r>
              <a:endParaRPr lang="zh-TW" altLang="en-US" sz="2200" dirty="0">
                <a:latin typeface="標楷體" pitchFamily="65" charset="-120"/>
                <a:ea typeface="標楷體" pitchFamily="65" charset="-120"/>
              </a:endParaRPr>
            </a:p>
          </p:txBody>
        </p:sp>
        <p:cxnSp>
          <p:nvCxnSpPr>
            <p:cNvPr id="66" name="肘形接點 61"/>
            <p:cNvCxnSpPr>
              <a:stCxn id="38" idx="3"/>
              <a:endCxn id="65" idx="1"/>
            </p:cNvCxnSpPr>
            <p:nvPr/>
          </p:nvCxnSpPr>
          <p:spPr bwMode="auto">
            <a:xfrm flipV="1">
              <a:off x="5529288" y="4091005"/>
              <a:ext cx="1360363" cy="1"/>
            </a:xfrm>
            <a:prstGeom prst="bentConnector3">
              <a:avLst>
                <a:gd name="adj1" fmla="val 50000"/>
              </a:avLst>
            </a:prstGeom>
            <a:solidFill>
              <a:srgbClr val="CCFFCC"/>
            </a:solidFill>
            <a:ln w="76200" cap="flat" cmpd="sng" algn="ctr">
              <a:solidFill>
                <a:srgbClr val="0000CC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1" name="流程圖: 文件 90"/>
            <p:cNvSpPr/>
            <p:nvPr/>
          </p:nvSpPr>
          <p:spPr bwMode="auto">
            <a:xfrm>
              <a:off x="3543341" y="5486417"/>
              <a:ext cx="2228850" cy="1047762"/>
            </a:xfrm>
            <a:prstGeom prst="flowChartDocument">
              <a:avLst/>
            </a:prstGeom>
            <a:noFill/>
            <a:ln w="28575" cap="flat" cmpd="sng" algn="ctr">
              <a:solidFill>
                <a:srgbClr val="0000CC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US" altLang="zh-TW" sz="2200" u="sng" dirty="0" smtClean="0">
                  <a:solidFill>
                    <a:srgbClr val="FF0000"/>
                  </a:solidFill>
                  <a:latin typeface="標楷體" pitchFamily="65" charset="-120"/>
                  <a:ea typeface="標楷體" pitchFamily="65" charset="-120"/>
                </a:rPr>
                <a:t>OA</a:t>
              </a:r>
              <a:r>
                <a:rPr lang="zh-TW" altLang="en-US" sz="2200" u="sng" dirty="0" smtClean="0">
                  <a:solidFill>
                    <a:srgbClr val="0000CC"/>
                  </a:solidFill>
                  <a:latin typeface="標楷體" pitchFamily="65" charset="-120"/>
                  <a:ea typeface="標楷體" pitchFamily="65" charset="-120"/>
                </a:rPr>
                <a:t>網路知識庫</a:t>
              </a:r>
              <a:endParaRPr lang="en-US" altLang="zh-TW" sz="2200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endParaRPr>
            </a:p>
            <a:p>
              <a:pPr algn="ctr" eaLnBrk="1" hangingPunct="1"/>
              <a:r>
                <a:rPr lang="zh-TW" altLang="en-US" sz="2200" u="sng" dirty="0" smtClean="0">
                  <a:solidFill>
                    <a:srgbClr val="0000CC"/>
                  </a:solidFill>
                  <a:latin typeface="標楷體" pitchFamily="65" charset="-120"/>
                  <a:ea typeface="標楷體" pitchFamily="65" charset="-120"/>
                </a:rPr>
                <a:t>資料上傳申請單</a:t>
              </a:r>
            </a:p>
          </p:txBody>
        </p:sp>
        <p:cxnSp>
          <p:nvCxnSpPr>
            <p:cNvPr id="98" name="肘形接點 61"/>
            <p:cNvCxnSpPr>
              <a:stCxn id="65" idx="2"/>
              <a:endCxn id="91" idx="0"/>
            </p:cNvCxnSpPr>
            <p:nvPr/>
          </p:nvCxnSpPr>
          <p:spPr bwMode="auto">
            <a:xfrm rot="5400000">
              <a:off x="5803900" y="3502085"/>
              <a:ext cx="838200" cy="3130465"/>
            </a:xfrm>
            <a:prstGeom prst="bentConnector3">
              <a:avLst>
                <a:gd name="adj1" fmla="val 50000"/>
              </a:avLst>
            </a:prstGeom>
            <a:solidFill>
              <a:srgbClr val="CCFFCC"/>
            </a:solidFill>
            <a:ln w="76200" cap="flat" cmpd="sng" algn="ctr">
              <a:solidFill>
                <a:srgbClr val="0000CC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" name="肘形接點 61"/>
            <p:cNvCxnSpPr>
              <a:stCxn id="139" idx="3"/>
              <a:endCxn id="65" idx="0"/>
            </p:cNvCxnSpPr>
            <p:nvPr/>
          </p:nvCxnSpPr>
          <p:spPr bwMode="auto">
            <a:xfrm>
              <a:off x="7494874" y="2635608"/>
              <a:ext cx="293357" cy="898184"/>
            </a:xfrm>
            <a:prstGeom prst="bentConnector2">
              <a:avLst/>
            </a:prstGeom>
            <a:solidFill>
              <a:srgbClr val="CCFFCC"/>
            </a:solidFill>
            <a:ln w="76200" cap="flat" cmpd="sng" algn="ctr">
              <a:solidFill>
                <a:srgbClr val="0000CC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" name="圓角矩形 14"/>
          <p:cNvSpPr>
            <a:spLocks noChangeArrowheads="1"/>
          </p:cNvSpPr>
          <p:nvPr/>
        </p:nvSpPr>
        <p:spPr bwMode="auto">
          <a:xfrm>
            <a:off x="84408" y="1026941"/>
            <a:ext cx="8961121" cy="872190"/>
          </a:xfrm>
          <a:prstGeom prst="roundRect">
            <a:avLst>
              <a:gd name="adj" fmla="val 7097"/>
            </a:avLst>
          </a:prstGeom>
          <a:solidFill>
            <a:srgbClr val="FFFF99"/>
          </a:solidFill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eaLnBrk="1" hangingPunct="1"/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總檢討期限為「新訂日期」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+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「檢討週期」，屆期前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電腦自動立案以提示跟催各機能組檢討進度，避免制度長期未被檢視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。</a:t>
            </a:r>
            <a:endParaRPr lang="zh-TW" altLang="en-US" dirty="0">
              <a:solidFill>
                <a:srgbClr val="FF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3" name="圓角矩形 14"/>
          <p:cNvSpPr>
            <a:spLocks noChangeArrowheads="1"/>
          </p:cNvSpPr>
          <p:nvPr/>
        </p:nvSpPr>
        <p:spPr bwMode="auto">
          <a:xfrm>
            <a:off x="2276623" y="1969477"/>
            <a:ext cx="4588411" cy="490018"/>
          </a:xfrm>
          <a:prstGeom prst="roundRect">
            <a:avLst>
              <a:gd name="adj" fmla="val 7097"/>
            </a:avLst>
          </a:prstGeom>
          <a:solidFill>
            <a:srgbClr val="FFCCFF"/>
          </a:solidFill>
          <a:ln w="38100" cmpd="dbl" algn="ctr">
            <a:noFill/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eaLnBrk="1" hangingPunct="1"/>
            <a:r>
              <a:rPr lang="zh-TW" altLang="en-US" sz="2200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「</a:t>
            </a:r>
            <a:r>
              <a:rPr lang="zh-TW" altLang="en-US" sz="2200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新訂日期</a:t>
            </a:r>
            <a:r>
              <a:rPr lang="zh-TW" altLang="en-US" sz="2200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」是啟動立案的重要依據</a:t>
            </a:r>
            <a:endParaRPr lang="zh-TW" altLang="en-US" sz="2200" dirty="0">
              <a:solidFill>
                <a:srgbClr val="0000CC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1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lang="zh-TW" altLang="en-US" sz="3600" dirty="0" smtClean="0">
                <a:latin typeface="標楷體" pitchFamily="65" charset="-120"/>
                <a:ea typeface="標楷體" pitchFamily="65" charset="-120"/>
              </a:rPr>
              <a:t>規章制度定期總檢討作業規定</a:t>
            </a:r>
            <a:endParaRPr lang="zh-TW" altLang="en-US" sz="3600" dirty="0"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五邊形 3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124263" y="1756339"/>
            <a:ext cx="1898501" cy="461665"/>
          </a:xfrm>
          <a:prstGeom prst="homePlate">
            <a:avLst>
              <a:gd name="adj" fmla="val 46543"/>
            </a:avLst>
          </a:prstGeom>
          <a:solidFill>
            <a:srgbClr val="FFCCFF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統計數據</a:t>
            </a:r>
            <a:endParaRPr lang="zh-TW" altLang="en-US" dirty="0">
              <a:solidFill>
                <a:srgbClr val="0000CC"/>
              </a:solidFill>
              <a:latin typeface="標楷體" pitchFamily="65" charset="-120"/>
              <a:ea typeface="標楷體" pitchFamily="65" charset="-120"/>
            </a:endParaRPr>
          </a:p>
        </p:txBody>
      </p:sp>
      <p:graphicFrame>
        <p:nvGraphicFramePr>
          <p:cNvPr id="5" name="Group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656433496"/>
              </p:ext>
            </p:extLst>
          </p:nvPr>
        </p:nvGraphicFramePr>
        <p:xfrm>
          <a:off x="168813" y="2245028"/>
          <a:ext cx="8803735" cy="4349544"/>
        </p:xfrm>
        <a:graphic>
          <a:graphicData uri="http://schemas.openxmlformats.org/drawingml/2006/table">
            <a:tbl>
              <a:tblPr/>
              <a:tblGrid>
                <a:gridCol w="147710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56603"/>
                <a:gridCol w="920635"/>
                <a:gridCol w="920635"/>
                <a:gridCol w="920635"/>
                <a:gridCol w="920635"/>
                <a:gridCol w="920635"/>
                <a:gridCol w="883425"/>
                <a:gridCol w="883425"/>
              </a:tblGrid>
              <a:tr h="32826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機能組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制度</a:t>
                      </a:r>
                      <a:endParaRPr kumimoji="0" lang="en-US" altLang="zh-TW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筆數</a:t>
                      </a:r>
                      <a:endParaRPr kumimoji="0" lang="en-US" altLang="zh-TW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200" b="1" dirty="0" smtClean="0">
                          <a:solidFill>
                            <a:schemeClr val="tx1"/>
                          </a:solidFill>
                          <a:latin typeface="標楷體" pitchFamily="65" charset="-120"/>
                          <a:ea typeface="標楷體" pitchFamily="65" charset="-120"/>
                        </a:rPr>
                        <a:t>「新訂日期」</a:t>
                      </a:r>
                      <a:r>
                        <a:rPr lang="zh-TW" altLang="en-US" sz="2200" b="1" dirty="0" smtClean="0">
                          <a:solidFill>
                            <a:srgbClr val="FF0000"/>
                          </a:solidFill>
                          <a:latin typeface="標楷體" pitchFamily="65" charset="-120"/>
                          <a:ea typeface="標楷體" pitchFamily="65" charset="-120"/>
                        </a:rPr>
                        <a:t>不合理</a:t>
                      </a:r>
                      <a:r>
                        <a:rPr lang="en-US" altLang="zh-TW" sz="2200" b="1" dirty="0" smtClean="0">
                          <a:solidFill>
                            <a:srgbClr val="FF0000"/>
                          </a:solidFill>
                          <a:latin typeface="標楷體" pitchFamily="65" charset="-120"/>
                          <a:ea typeface="標楷體" pitchFamily="65" charset="-120"/>
                        </a:rPr>
                        <a:t>(</a:t>
                      </a:r>
                      <a:r>
                        <a:rPr lang="zh-TW" altLang="en-US" sz="2200" b="1" dirty="0" smtClean="0">
                          <a:solidFill>
                            <a:srgbClr val="FF0000"/>
                          </a:solidFill>
                          <a:latin typeface="標楷體" pitchFamily="65" charset="-120"/>
                          <a:ea typeface="標楷體" pitchFamily="65" charset="-120"/>
                        </a:rPr>
                        <a:t>逾二年以上</a:t>
                      </a:r>
                      <a:r>
                        <a:rPr lang="en-US" altLang="zh-TW" sz="2200" b="1" dirty="0" smtClean="0">
                          <a:solidFill>
                            <a:srgbClr val="FF0000"/>
                          </a:solidFill>
                          <a:latin typeface="標楷體" pitchFamily="65" charset="-120"/>
                          <a:ea typeface="標楷體" pitchFamily="65" charset="-120"/>
                        </a:rPr>
                        <a:t>)</a:t>
                      </a:r>
                      <a:r>
                        <a:rPr lang="zh-TW" altLang="en-US" sz="2200" b="1" dirty="0" smtClean="0">
                          <a:solidFill>
                            <a:srgbClr val="FF0000"/>
                          </a:solidFill>
                          <a:latin typeface="標楷體" pitchFamily="65" charset="-120"/>
                          <a:ea typeface="標楷體" pitchFamily="65" charset="-120"/>
                        </a:rPr>
                        <a:t>筆數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2826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2011</a:t>
                      </a: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年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2012</a:t>
                      </a: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年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2013</a:t>
                      </a: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年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2014</a:t>
                      </a: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年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2015</a:t>
                      </a: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年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小計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佔比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</a:tr>
              <a:tr h="369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人事組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684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1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1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8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1.5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9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財務組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318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0.0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9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資材管理組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908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1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1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71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73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8.0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9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工程管理組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326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12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3.7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9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保養管理組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145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12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9.7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9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產銷一組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318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0.0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9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產銷二組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410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0.0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9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產銷三組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183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7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3.8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9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安衛環中心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276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1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7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22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11.6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9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合計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3,568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1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4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9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132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148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4.1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7495483" y="1874148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單位：筆</a:t>
            </a:r>
            <a:r>
              <a:rPr lang="en-US" altLang="zh-TW" sz="2000" dirty="0" smtClean="0">
                <a:latin typeface="標楷體" pitchFamily="65" charset="-120"/>
                <a:ea typeface="標楷體" pitchFamily="65" charset="-120"/>
              </a:rPr>
              <a:t>,%</a:t>
            </a:r>
            <a:endParaRPr lang="zh-TW" altLang="en-US" sz="20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046573" y="1846447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資料日期：</a:t>
            </a:r>
            <a:r>
              <a:rPr lang="en-US" altLang="zh-TW" sz="2000" dirty="0" smtClean="0">
                <a:latin typeface="標楷體" pitchFamily="65" charset="-120"/>
                <a:ea typeface="標楷體" pitchFamily="65" charset="-120"/>
              </a:rPr>
              <a:t>2018/7/4</a:t>
            </a:r>
            <a:endParaRPr lang="zh-TW" altLang="en-US" sz="20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8" name="Rectangle 23"/>
          <p:cNvSpPr>
            <a:spLocks noChangeArrowheads="1"/>
          </p:cNvSpPr>
          <p:nvPr/>
        </p:nvSpPr>
        <p:spPr bwMode="auto">
          <a:xfrm>
            <a:off x="-2348" y="724727"/>
            <a:ext cx="91440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zh-TW" sz="3200" dirty="0" smtClean="0"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 dirty="0" smtClean="0">
                <a:latin typeface="標楷體" pitchFamily="65" charset="-120"/>
                <a:ea typeface="標楷體" pitchFamily="65" charset="-120"/>
              </a:rPr>
              <a:t>「新訂日期」小於</a:t>
            </a:r>
            <a:r>
              <a:rPr lang="en-US" altLang="zh-TW" sz="3200" dirty="0" smtClean="0">
                <a:latin typeface="標楷體" pitchFamily="65" charset="-120"/>
                <a:ea typeface="標楷體" pitchFamily="65" charset="-120"/>
              </a:rPr>
              <a:t>2016</a:t>
            </a:r>
            <a:r>
              <a:rPr lang="zh-TW" altLang="en-US" sz="3200" dirty="0" smtClean="0">
                <a:latin typeface="標楷體" pitchFamily="65" charset="-120"/>
                <a:ea typeface="標楷體" pitchFamily="65" charset="-120"/>
              </a:rPr>
              <a:t>年</a:t>
            </a:r>
            <a:r>
              <a:rPr lang="en-US" altLang="zh-TW" sz="3200" dirty="0" smtClean="0">
                <a:latin typeface="標楷體" pitchFamily="65" charset="-120"/>
                <a:ea typeface="標楷體" pitchFamily="65" charset="-120"/>
              </a:rPr>
              <a:t>】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</p:txBody>
      </p:sp>
      <p:sp>
        <p:nvSpPr>
          <p:cNvPr id="9" name="圓角矩形 14"/>
          <p:cNvSpPr>
            <a:spLocks noChangeArrowheads="1"/>
          </p:cNvSpPr>
          <p:nvPr/>
        </p:nvSpPr>
        <p:spPr bwMode="auto">
          <a:xfrm>
            <a:off x="140681" y="1266091"/>
            <a:ext cx="8834508" cy="464234"/>
          </a:xfrm>
          <a:prstGeom prst="roundRect">
            <a:avLst>
              <a:gd name="adj" fmla="val 7097"/>
            </a:avLst>
          </a:prstGeom>
          <a:solidFill>
            <a:srgbClr val="FFFF99"/>
          </a:solidFill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 eaLnBrk="1" hangingPunct="1"/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合理的「新訂日期」應介於</a:t>
            </a:r>
            <a:r>
              <a:rPr lang="en-US" altLang="zh-TW" sz="2200" dirty="0" smtClean="0">
                <a:latin typeface="標楷體" pitchFamily="65" charset="-120"/>
                <a:ea typeface="標楷體" pitchFamily="65" charset="-120"/>
              </a:rPr>
              <a:t>2016~2018</a:t>
            </a: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年之間。</a:t>
            </a:r>
            <a:endParaRPr lang="zh-TW" altLang="en-US" sz="2200" dirty="0">
              <a:solidFill>
                <a:srgbClr val="FF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1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lang="zh-TW" altLang="en-US" sz="3600" dirty="0" smtClean="0">
                <a:latin typeface="標楷體" pitchFamily="65" charset="-120"/>
                <a:ea typeface="標楷體" pitchFamily="65" charset="-120"/>
              </a:rPr>
              <a:t>規章制度定期總檢討執行狀況</a:t>
            </a:r>
            <a:endParaRPr lang="zh-TW" altLang="en-US" sz="3600" dirty="0"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87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3869" y="1434902"/>
            <a:ext cx="4539988" cy="5149728"/>
          </a:xfrm>
          <a:prstGeom prst="rect">
            <a:avLst/>
          </a:prstGeom>
          <a:noFill/>
          <a:ln w="19050">
            <a:solidFill>
              <a:srgbClr val="0000CC"/>
            </a:solidFill>
            <a:miter lim="800000"/>
            <a:headEnd/>
            <a:tailEnd/>
          </a:ln>
        </p:spPr>
      </p:pic>
      <p:sp>
        <p:nvSpPr>
          <p:cNvPr id="33" name="五邊形 16"/>
          <p:cNvSpPr>
            <a:spLocks noChangeArrowheads="1"/>
          </p:cNvSpPr>
          <p:nvPr/>
        </p:nvSpPr>
        <p:spPr bwMode="auto">
          <a:xfrm>
            <a:off x="147494" y="1993484"/>
            <a:ext cx="1538432" cy="430887"/>
          </a:xfrm>
          <a:prstGeom prst="homePlate">
            <a:avLst>
              <a:gd name="adj" fmla="val 46543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交辦單</a:t>
            </a:r>
            <a:endParaRPr lang="en-US" altLang="zh-TW" sz="2200" dirty="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2" name="Rectangle 23"/>
          <p:cNvSpPr>
            <a:spLocks noChangeArrowheads="1"/>
          </p:cNvSpPr>
          <p:nvPr/>
        </p:nvSpPr>
        <p:spPr bwMode="auto">
          <a:xfrm>
            <a:off x="-2348" y="724727"/>
            <a:ext cx="91440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zh-TW" sz="3200" dirty="0" smtClean="0"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 dirty="0" smtClean="0">
                <a:latin typeface="標楷體" pitchFamily="65" charset="-120"/>
                <a:ea typeface="標楷體" pitchFamily="65" charset="-120"/>
              </a:rPr>
              <a:t>交辦單已銷案，但未更新「新訂日期」</a:t>
            </a:r>
            <a:r>
              <a:rPr kumimoji="1" lang="en-US" altLang="zh-TW" sz="32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】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196948" y="1307669"/>
          <a:ext cx="8778240" cy="640080"/>
        </p:xfrm>
        <a:graphic>
          <a:graphicData uri="http://schemas.openxmlformats.org/drawingml/2006/table">
            <a:tbl>
              <a:tblPr/>
              <a:tblGrid>
                <a:gridCol w="1209821"/>
                <a:gridCol w="4853354"/>
                <a:gridCol w="1505243"/>
                <a:gridCol w="1209822"/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制度編號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制度名稱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新訂日期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檢討週期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</a:tr>
              <a:tr h="282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N00136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環保類查核改善意見反應單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OA</a:t>
                      </a: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電腦作業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2014/12/24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</a:t>
                      </a: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年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4" name="矩形 13"/>
          <p:cNvSpPr/>
          <p:nvPr/>
        </p:nvSpPr>
        <p:spPr bwMode="auto">
          <a:xfrm>
            <a:off x="214290" y="6239750"/>
            <a:ext cx="4554657" cy="350082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charset="-120"/>
            </a:endParaRPr>
          </a:p>
        </p:txBody>
      </p:sp>
      <p:pic>
        <p:nvPicPr>
          <p:cNvPr id="156877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0063" y="5176915"/>
            <a:ext cx="8829189" cy="1083214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</p:pic>
      <p:sp>
        <p:nvSpPr>
          <p:cNvPr id="11" name="圓角矩形 14"/>
          <p:cNvSpPr>
            <a:spLocks noChangeArrowheads="1"/>
          </p:cNvSpPr>
          <p:nvPr/>
        </p:nvSpPr>
        <p:spPr bwMode="auto">
          <a:xfrm>
            <a:off x="4502991" y="2356114"/>
            <a:ext cx="4519444" cy="2725507"/>
          </a:xfrm>
          <a:prstGeom prst="roundRect">
            <a:avLst>
              <a:gd name="adj" fmla="val 7097"/>
            </a:avLst>
          </a:prstGeom>
          <a:solidFill>
            <a:schemeClr val="bg1"/>
          </a:solidFill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eaLnBrk="1" hangingPunct="1"/>
            <a:r>
              <a:rPr lang="en-US" altLang="zh-TW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2016/10/24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自轉「交辦單」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，且</a:t>
            </a:r>
            <a:r>
              <a:rPr lang="zh-TW" altLang="en-US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已於</a:t>
            </a:r>
            <a:r>
              <a:rPr lang="en-US" altLang="zh-TW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2017/1/11</a:t>
            </a:r>
            <a:r>
              <a:rPr lang="zh-TW" altLang="en-US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銷案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，經查，有呈准完成檢討，但</a:t>
            </a:r>
            <a:r>
              <a:rPr lang="zh-TW" altLang="en-US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並未透過</a:t>
            </a:r>
            <a:r>
              <a:rPr lang="en-US" altLang="zh-TW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OA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「</a:t>
            </a:r>
            <a:r>
              <a:rPr kumimoji="0" lang="zh-TW" altLang="en-US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網路知識庫資料上傳申請單」</a:t>
            </a:r>
            <a:r>
              <a:rPr kumimoji="0" lang="zh-TW" altLang="en-US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更新</a:t>
            </a:r>
            <a:r>
              <a:rPr kumimoji="0" lang="en-US" altLang="zh-TW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『</a:t>
            </a:r>
            <a:r>
              <a:rPr kumimoji="0" lang="zh-TW" altLang="en-US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新訂日期</a:t>
            </a:r>
            <a:r>
              <a:rPr kumimoji="0" lang="en-US" altLang="zh-TW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』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，雖有持續提示，但</a:t>
            </a:r>
            <a:r>
              <a:rPr lang="zh-TW" altLang="en-US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電腦將</a:t>
            </a:r>
            <a:r>
              <a:rPr lang="zh-TW" altLang="en-US" u="sng" dirty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不會自轉「交辦單</a:t>
            </a:r>
            <a:r>
              <a:rPr lang="zh-TW" altLang="en-US" dirty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」</a:t>
            </a:r>
            <a:r>
              <a:rPr lang="zh-TW" altLang="en-US" u="sng" dirty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追蹤</a:t>
            </a:r>
            <a:r>
              <a:rPr lang="zh-TW" altLang="en-US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下次的檢討進度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。</a:t>
            </a:r>
            <a:endParaRPr lang="en-US" altLang="zh-TW" u="sng" dirty="0" smtClean="0">
              <a:solidFill>
                <a:srgbClr val="FF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3" name="五邊形 12">
            <a:hlinkClick r:id="" action="ppaction://customshow?id=11&amp;return=true"/>
          </p:cNvPr>
          <p:cNvSpPr>
            <a:spLocks noChangeArrowheads="1"/>
          </p:cNvSpPr>
          <p:nvPr/>
        </p:nvSpPr>
        <p:spPr bwMode="auto">
          <a:xfrm>
            <a:off x="4356628" y="2007215"/>
            <a:ext cx="1390212" cy="461665"/>
          </a:xfrm>
          <a:prstGeom prst="homePlate">
            <a:avLst>
              <a:gd name="adj" fmla="val 46543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說明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5" name="圓角矩形 14"/>
          <p:cNvSpPr>
            <a:spLocks noChangeArrowheads="1"/>
          </p:cNvSpPr>
          <p:nvPr/>
        </p:nvSpPr>
        <p:spPr bwMode="auto">
          <a:xfrm>
            <a:off x="8285870" y="829994"/>
            <a:ext cx="829993" cy="407964"/>
          </a:xfrm>
          <a:prstGeom prst="roundRect">
            <a:avLst>
              <a:gd name="adj" fmla="val 7097"/>
            </a:avLst>
          </a:prstGeom>
          <a:solidFill>
            <a:srgbClr val="FFFF99"/>
          </a:solidFill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 eaLnBrk="1" hangingPunct="1"/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案例一</a:t>
            </a:r>
            <a:endParaRPr lang="zh-TW" altLang="en-US" sz="20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6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lang="zh-TW" altLang="en-US" sz="3600" dirty="0" smtClean="0">
                <a:latin typeface="標楷體" pitchFamily="65" charset="-120"/>
                <a:ea typeface="標楷體" pitchFamily="65" charset="-120"/>
              </a:rPr>
              <a:t>規章制度定期總檢討執行狀況</a:t>
            </a:r>
            <a:endParaRPr lang="zh-TW" altLang="en-US" sz="3600" dirty="0"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672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514" y="1292762"/>
            <a:ext cx="6718570" cy="2983816"/>
          </a:xfrm>
          <a:prstGeom prst="rect">
            <a:avLst/>
          </a:prstGeom>
          <a:noFill/>
          <a:ln w="19050">
            <a:solidFill>
              <a:srgbClr val="0000CC"/>
            </a:solidFill>
            <a:miter lim="800000"/>
            <a:headEnd/>
            <a:tailEnd/>
          </a:ln>
        </p:spPr>
      </p:pic>
      <p:pic>
        <p:nvPicPr>
          <p:cNvPr id="156672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3309" y="3740173"/>
            <a:ext cx="7146974" cy="2801302"/>
          </a:xfrm>
          <a:prstGeom prst="rect">
            <a:avLst/>
          </a:prstGeom>
          <a:noFill/>
          <a:ln w="19050">
            <a:solidFill>
              <a:srgbClr val="0000CC"/>
            </a:solidFill>
            <a:miter lim="800000"/>
            <a:headEnd/>
            <a:tailEnd/>
          </a:ln>
        </p:spPr>
      </p:pic>
      <p:sp>
        <p:nvSpPr>
          <p:cNvPr id="35" name="矩形 34"/>
          <p:cNvSpPr/>
          <p:nvPr/>
        </p:nvSpPr>
        <p:spPr bwMode="auto">
          <a:xfrm>
            <a:off x="5092505" y="2717040"/>
            <a:ext cx="970671" cy="799881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charset="-12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114300" y="1810408"/>
            <a:ext cx="2052126" cy="257544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charset="-120"/>
            </a:endParaRPr>
          </a:p>
        </p:txBody>
      </p:sp>
      <p:sp>
        <p:nvSpPr>
          <p:cNvPr id="16" name="圓角矩形 14"/>
          <p:cNvSpPr>
            <a:spLocks noChangeArrowheads="1"/>
          </p:cNvSpPr>
          <p:nvPr/>
        </p:nvSpPr>
        <p:spPr bwMode="auto">
          <a:xfrm>
            <a:off x="2220922" y="1957606"/>
            <a:ext cx="2871789" cy="371475"/>
          </a:xfrm>
          <a:prstGeom prst="roundRect">
            <a:avLst>
              <a:gd name="adj" fmla="val 7097"/>
            </a:avLst>
          </a:prstGeom>
          <a:solidFill>
            <a:srgbClr val="FFFF99"/>
          </a:solidFill>
          <a:ln w="38100" cmpd="dbl" algn="ctr">
            <a:solidFill>
              <a:srgbClr val="0000CC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marL="271463" indent="-271463" algn="ctr" eaLnBrk="1" hangingPunct="1"/>
            <a:r>
              <a:rPr lang="zh-TW" altLang="en-US" sz="2200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每月</a:t>
            </a:r>
            <a:r>
              <a:rPr lang="en-US" altLang="zh-TW" sz="2200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1</a:t>
            </a:r>
            <a:r>
              <a:rPr lang="zh-TW" altLang="en-US" sz="2200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日提示部門主管</a:t>
            </a:r>
            <a:endParaRPr lang="zh-TW" altLang="en-US" sz="2200" dirty="0">
              <a:solidFill>
                <a:srgbClr val="FF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9" name="矩形 18"/>
          <p:cNvSpPr/>
          <p:nvPr/>
        </p:nvSpPr>
        <p:spPr bwMode="auto">
          <a:xfrm>
            <a:off x="457090" y="4320245"/>
            <a:ext cx="2052126" cy="326301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charset="-120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5614155" y="5444209"/>
            <a:ext cx="1018831" cy="857693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charset="-120"/>
            </a:endParaRPr>
          </a:p>
        </p:txBody>
      </p:sp>
      <p:sp>
        <p:nvSpPr>
          <p:cNvPr id="21" name="圓角矩形 14"/>
          <p:cNvSpPr>
            <a:spLocks noChangeArrowheads="1"/>
          </p:cNvSpPr>
          <p:nvPr/>
        </p:nvSpPr>
        <p:spPr bwMode="auto">
          <a:xfrm>
            <a:off x="6495318" y="2260821"/>
            <a:ext cx="2465802" cy="2015759"/>
          </a:xfrm>
          <a:prstGeom prst="roundRect">
            <a:avLst>
              <a:gd name="adj" fmla="val 7097"/>
            </a:avLst>
          </a:prstGeom>
          <a:solidFill>
            <a:schemeClr val="bg1"/>
          </a:solidFill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eaLnBrk="1" hangingPunct="1"/>
            <a:r>
              <a:rPr lang="en-US" altLang="zh-TW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2016/9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至</a:t>
            </a:r>
            <a:r>
              <a:rPr lang="en-US" altLang="zh-TW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2018/7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雖電腦持續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傳送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OA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提示部門主管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，但</a:t>
            </a:r>
            <a:r>
              <a:rPr lang="zh-TW" altLang="en-US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尚未完成處理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。</a:t>
            </a:r>
            <a:endParaRPr lang="en-US" altLang="zh-TW" u="sng" dirty="0" smtClean="0">
              <a:solidFill>
                <a:srgbClr val="FF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7" name="五邊形 16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6183971" y="2064885"/>
            <a:ext cx="1390212" cy="461665"/>
          </a:xfrm>
          <a:prstGeom prst="homePlate">
            <a:avLst>
              <a:gd name="adj" fmla="val 46543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說明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8" name="Rectangle 23"/>
          <p:cNvSpPr>
            <a:spLocks noChangeArrowheads="1"/>
          </p:cNvSpPr>
          <p:nvPr/>
        </p:nvSpPr>
        <p:spPr bwMode="auto">
          <a:xfrm>
            <a:off x="-2348" y="724727"/>
            <a:ext cx="91440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zh-TW" sz="3200" dirty="0" smtClean="0"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 dirty="0" smtClean="0">
                <a:latin typeface="標楷體" pitchFamily="65" charset="-120"/>
                <a:ea typeface="標楷體" pitchFamily="65" charset="-120"/>
              </a:rPr>
              <a:t>電腦持續提示，但未處理</a:t>
            </a:r>
            <a:r>
              <a:rPr kumimoji="1" lang="en-US" altLang="zh-TW" sz="32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】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138240237"/>
              </p:ext>
            </p:extLst>
          </p:nvPr>
        </p:nvGraphicFramePr>
        <p:xfrm>
          <a:off x="3657602" y="1307669"/>
          <a:ext cx="5439690" cy="609600"/>
        </p:xfrm>
        <a:graphic>
          <a:graphicData uri="http://schemas.openxmlformats.org/drawingml/2006/table">
            <a:tbl>
              <a:tblPr/>
              <a:tblGrid>
                <a:gridCol w="1050419"/>
                <a:gridCol w="4389271"/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制度編號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制度名稱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</a:tr>
              <a:tr h="282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N00136</a:t>
                      </a:r>
                      <a:endParaRPr kumimoji="0" lang="zh-TW" altLang="en-US" sz="2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環保類查核改善意見反應單</a:t>
                      </a:r>
                      <a:r>
                        <a:rPr kumimoji="0" lang="en-US" altLang="zh-TW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OA</a:t>
                      </a:r>
                      <a:r>
                        <a:rPr kumimoji="0" lang="zh-TW" altLang="en-US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電腦作業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5" name="圓角矩形 14"/>
          <p:cNvSpPr>
            <a:spLocks noChangeArrowheads="1"/>
          </p:cNvSpPr>
          <p:nvPr/>
        </p:nvSpPr>
        <p:spPr bwMode="auto">
          <a:xfrm>
            <a:off x="8285870" y="829994"/>
            <a:ext cx="829993" cy="407964"/>
          </a:xfrm>
          <a:prstGeom prst="roundRect">
            <a:avLst>
              <a:gd name="adj" fmla="val 7097"/>
            </a:avLst>
          </a:prstGeom>
          <a:solidFill>
            <a:srgbClr val="FFFF99"/>
          </a:solidFill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 eaLnBrk="1" hangingPunct="1"/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案例一</a:t>
            </a:r>
            <a:endParaRPr lang="zh-TW" altLang="en-US" sz="20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2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lang="zh-TW" altLang="en-US" sz="3600" dirty="0" smtClean="0">
                <a:latin typeface="標楷體" pitchFamily="65" charset="-120"/>
                <a:ea typeface="標楷體" pitchFamily="65" charset="-120"/>
              </a:rPr>
              <a:t>規章制度定期總檢討執行狀況</a:t>
            </a:r>
            <a:endParaRPr lang="zh-TW" altLang="en-US" sz="36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3" name="五邊形 16"/>
          <p:cNvSpPr>
            <a:spLocks noChangeArrowheads="1"/>
          </p:cNvSpPr>
          <p:nvPr/>
        </p:nvSpPr>
        <p:spPr bwMode="auto">
          <a:xfrm>
            <a:off x="20883" y="1304152"/>
            <a:ext cx="3636718" cy="430887"/>
          </a:xfrm>
          <a:prstGeom prst="homePlate">
            <a:avLst>
              <a:gd name="adj" fmla="val 46543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規章制度定期總檢討提示表</a:t>
            </a:r>
            <a:endParaRPr lang="en-US" altLang="zh-TW" sz="2200" dirty="0" smtClean="0"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80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729" y="1448972"/>
            <a:ext cx="5217791" cy="4561278"/>
          </a:xfrm>
          <a:prstGeom prst="rect">
            <a:avLst/>
          </a:prstGeom>
          <a:noFill/>
          <a:ln w="19050">
            <a:solidFill>
              <a:srgbClr val="0000CC"/>
            </a:solidFill>
            <a:miter lim="800000"/>
            <a:headEnd/>
            <a:tailEnd/>
          </a:ln>
        </p:spPr>
      </p:pic>
      <p:pic>
        <p:nvPicPr>
          <p:cNvPr id="123801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00394" y="3005136"/>
            <a:ext cx="7143750" cy="3590925"/>
          </a:xfrm>
          <a:prstGeom prst="rect">
            <a:avLst/>
          </a:prstGeom>
          <a:noFill/>
          <a:ln w="19050">
            <a:solidFill>
              <a:srgbClr val="0000CC"/>
            </a:solidFill>
            <a:miter lim="800000"/>
            <a:headEnd/>
            <a:tailEnd/>
          </a:ln>
        </p:spPr>
      </p:pic>
      <p:sp>
        <p:nvSpPr>
          <p:cNvPr id="7" name="圓角矩形 14"/>
          <p:cNvSpPr>
            <a:spLocks noChangeArrowheads="1"/>
          </p:cNvSpPr>
          <p:nvPr/>
        </p:nvSpPr>
        <p:spPr bwMode="auto">
          <a:xfrm>
            <a:off x="106336" y="3727930"/>
            <a:ext cx="3058895" cy="2926087"/>
          </a:xfrm>
          <a:prstGeom prst="roundRect">
            <a:avLst>
              <a:gd name="adj" fmla="val 7097"/>
            </a:avLst>
          </a:prstGeom>
          <a:solidFill>
            <a:schemeClr val="bg1"/>
          </a:solidFill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eaLnBrk="1" hangingPunct="1"/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該電腦作業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2011/6/30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上線，但遺漏將制度文件置於企業知識庫，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2017/6/2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補上傳文件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時，</a:t>
            </a:r>
            <a:r>
              <a:rPr lang="zh-TW" altLang="en-US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將「新訂日期」輸入為</a:t>
            </a:r>
            <a:r>
              <a:rPr lang="en-US" altLang="zh-TW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2011/6/30(</a:t>
            </a:r>
            <a:r>
              <a:rPr lang="zh-TW" altLang="en-US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上線日期</a:t>
            </a:r>
            <a:r>
              <a:rPr lang="en-US" altLang="zh-TW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)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。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grpSp>
        <p:nvGrpSpPr>
          <p:cNvPr id="2" name="群組 19"/>
          <p:cNvGrpSpPr/>
          <p:nvPr/>
        </p:nvGrpSpPr>
        <p:grpSpPr>
          <a:xfrm>
            <a:off x="3976705" y="3403195"/>
            <a:ext cx="5026609" cy="3198068"/>
            <a:chOff x="3976705" y="3403195"/>
            <a:chExt cx="5026609" cy="3198068"/>
          </a:xfrm>
        </p:grpSpPr>
        <p:sp>
          <p:nvSpPr>
            <p:cNvPr id="9" name="矩形 8"/>
            <p:cNvSpPr/>
            <p:nvPr/>
          </p:nvSpPr>
          <p:spPr bwMode="auto">
            <a:xfrm>
              <a:off x="3976705" y="5982141"/>
              <a:ext cx="1209662" cy="619122"/>
            </a:xfrm>
            <a:prstGeom prst="rect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charset="-120"/>
              </a:endParaRPr>
            </a:p>
          </p:txBody>
        </p:sp>
        <p:grpSp>
          <p:nvGrpSpPr>
            <p:cNvPr id="3" name="群組 15"/>
            <p:cNvGrpSpPr/>
            <p:nvPr/>
          </p:nvGrpSpPr>
          <p:grpSpPr>
            <a:xfrm>
              <a:off x="4768959" y="3403195"/>
              <a:ext cx="4234355" cy="3193306"/>
              <a:chOff x="4854687" y="3374619"/>
              <a:chExt cx="4234355" cy="3193306"/>
            </a:xfrm>
          </p:grpSpPr>
          <p:grpSp>
            <p:nvGrpSpPr>
              <p:cNvPr id="4" name="群組 12"/>
              <p:cNvGrpSpPr/>
              <p:nvPr/>
            </p:nvGrpSpPr>
            <p:grpSpPr>
              <a:xfrm>
                <a:off x="4854687" y="3374619"/>
                <a:ext cx="4234355" cy="3193306"/>
                <a:chOff x="4854687" y="3374619"/>
                <a:chExt cx="4234355" cy="3193306"/>
              </a:xfrm>
            </p:grpSpPr>
            <p:sp>
              <p:nvSpPr>
                <p:cNvPr id="10" name="圓角矩形 14">
                  <a:hlinkClick r:id="" action="ppaction://customshow?id=2&amp;return=true"/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54687" y="3374619"/>
                  <a:ext cx="4234355" cy="2066016"/>
                </a:xfrm>
                <a:prstGeom prst="roundRect">
                  <a:avLst>
                    <a:gd name="adj" fmla="val 7097"/>
                  </a:avLst>
                </a:prstGeom>
                <a:solidFill>
                  <a:srgbClr val="FFFF99"/>
                </a:solidFill>
                <a:ln w="38100" cmpd="dbl" algn="ctr">
                  <a:solidFill>
                    <a:srgbClr val="0000FF"/>
                  </a:solidFill>
                  <a:round/>
                  <a:headEnd/>
                  <a:tailEnd type="triangle" w="med" len="med"/>
                </a:ln>
              </p:spPr>
              <p:txBody>
                <a:bodyPr lIns="0" tIns="0" rIns="0" bIns="0" anchor="ctr"/>
                <a:lstStyle/>
                <a:p>
                  <a:pPr eaLnBrk="1" hangingPunct="1"/>
                  <a:r>
                    <a:rPr lang="zh-TW" altLang="en-US" u="sng" dirty="0" smtClean="0">
                      <a:solidFill>
                        <a:srgbClr val="FF0000"/>
                      </a:solidFill>
                      <a:latin typeface="標楷體" pitchFamily="65" charset="-120"/>
                      <a:ea typeface="標楷體" pitchFamily="65" charset="-120"/>
                    </a:rPr>
                    <a:t>總檢討期限為</a:t>
                  </a:r>
                  <a:r>
                    <a:rPr lang="en-US" altLang="zh-TW" u="sng" dirty="0" smtClean="0">
                      <a:solidFill>
                        <a:srgbClr val="FF0000"/>
                      </a:solidFill>
                      <a:latin typeface="標楷體" pitchFamily="65" charset="-120"/>
                      <a:ea typeface="標楷體" pitchFamily="65" charset="-120"/>
                    </a:rPr>
                    <a:t>2013/6/30</a:t>
                  </a:r>
                  <a:r>
                    <a:rPr lang="zh-TW" altLang="en-US" dirty="0" smtClean="0">
                      <a:latin typeface="標楷體" pitchFamily="65" charset="-120"/>
                      <a:ea typeface="標楷體" pitchFamily="65" charset="-120"/>
                    </a:rPr>
                    <a:t>，</a:t>
                  </a:r>
                  <a:r>
                    <a:rPr lang="zh-TW" altLang="en-US" u="sng" dirty="0" smtClean="0">
                      <a:solidFill>
                        <a:srgbClr val="FF0000"/>
                      </a:solidFill>
                      <a:latin typeface="標楷體" pitchFamily="65" charset="-120"/>
                      <a:ea typeface="標楷體" pitchFamily="65" charset="-120"/>
                    </a:rPr>
                    <a:t>電腦</a:t>
                  </a:r>
                  <a:r>
                    <a:rPr lang="zh-TW" altLang="en-US" dirty="0" smtClean="0">
                      <a:latin typeface="標楷體" pitchFamily="65" charset="-120"/>
                      <a:ea typeface="標楷體" pitchFamily="65" charset="-120"/>
                    </a:rPr>
                    <a:t>會每月傳送</a:t>
                  </a:r>
                  <a:r>
                    <a:rPr lang="en-US" altLang="zh-TW" dirty="0" smtClean="0">
                      <a:latin typeface="標楷體" pitchFamily="65" charset="-120"/>
                      <a:ea typeface="標楷體" pitchFamily="65" charset="-120"/>
                    </a:rPr>
                    <a:t>OA</a:t>
                  </a:r>
                  <a:r>
                    <a:rPr lang="zh-TW" altLang="en-US" dirty="0" smtClean="0">
                      <a:latin typeface="標楷體" pitchFamily="65" charset="-120"/>
                      <a:ea typeface="標楷體" pitchFamily="65" charset="-120"/>
                    </a:rPr>
                    <a:t>「規章制度定期總檢討提示表」予部門主管，但</a:t>
                  </a:r>
                  <a:r>
                    <a:rPr lang="zh-TW" altLang="en-US" u="sng" dirty="0" smtClean="0">
                      <a:solidFill>
                        <a:srgbClr val="FF0000"/>
                      </a:solidFill>
                      <a:latin typeface="標楷體" pitchFamily="65" charset="-120"/>
                      <a:ea typeface="標楷體" pitchFamily="65" charset="-120"/>
                    </a:rPr>
                    <a:t>不會自轉「交辦單」跟催總檢討</a:t>
                  </a:r>
                  <a:r>
                    <a:rPr lang="zh-TW" altLang="en-US" u="sng" dirty="0">
                      <a:solidFill>
                        <a:srgbClr val="FF0000"/>
                      </a:solidFill>
                      <a:latin typeface="標楷體" pitchFamily="65" charset="-120"/>
                      <a:ea typeface="標楷體" pitchFamily="65" charset="-120"/>
                    </a:rPr>
                    <a:t>進度</a:t>
                  </a:r>
                  <a:r>
                    <a:rPr lang="zh-TW" altLang="en-US" dirty="0" smtClean="0">
                      <a:latin typeface="標楷體" pitchFamily="65" charset="-120"/>
                      <a:ea typeface="標楷體" pitchFamily="65" charset="-120"/>
                    </a:rPr>
                    <a:t>。</a:t>
                  </a:r>
                  <a:r>
                    <a:rPr lang="en-US" altLang="zh-TW" dirty="0" smtClean="0">
                      <a:latin typeface="標楷體" pitchFamily="65" charset="-120"/>
                      <a:ea typeface="標楷體" pitchFamily="65" charset="-120"/>
                    </a:rPr>
                    <a:t>(</a:t>
                  </a:r>
                  <a:r>
                    <a:rPr lang="zh-TW" altLang="en-US" u="sng" dirty="0" smtClean="0">
                      <a:solidFill>
                        <a:srgbClr val="0000CC"/>
                      </a:solidFill>
                      <a:latin typeface="標楷體" pitchFamily="65" charset="-120"/>
                      <a:ea typeface="標楷體" pitchFamily="65" charset="-120"/>
                    </a:rPr>
                    <a:t>應即立案檢討</a:t>
                  </a:r>
                  <a:r>
                    <a:rPr lang="en-US" altLang="zh-TW" dirty="0" smtClean="0">
                      <a:latin typeface="標楷體" pitchFamily="65" charset="-120"/>
                      <a:ea typeface="標楷體" pitchFamily="65" charset="-120"/>
                    </a:rPr>
                    <a:t>)</a:t>
                  </a:r>
                  <a:endParaRPr lang="zh-TW" altLang="en-US" u="sng" dirty="0">
                    <a:solidFill>
                      <a:srgbClr val="FF0000"/>
                    </a:solidFill>
                    <a:latin typeface="標楷體" pitchFamily="65" charset="-120"/>
                    <a:ea typeface="標楷體" pitchFamily="65" charset="-120"/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 bwMode="auto">
                <a:xfrm>
                  <a:off x="7458072" y="5948803"/>
                  <a:ext cx="1514479" cy="619122"/>
                </a:xfrm>
                <a:prstGeom prst="rect">
                  <a:avLst/>
                </a:prstGeom>
                <a:noFill/>
                <a:ln w="5715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zh-TW" altLang="en-US" sz="2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新細明體" charset="-120"/>
                  </a:endParaRPr>
                </a:p>
              </p:txBody>
            </p:sp>
          </p:grpSp>
          <p:sp>
            <p:nvSpPr>
              <p:cNvPr id="14" name="向右箭號 13"/>
              <p:cNvSpPr/>
              <p:nvPr/>
            </p:nvSpPr>
            <p:spPr bwMode="auto">
              <a:xfrm rot="18807726">
                <a:off x="5138896" y="5486400"/>
                <a:ext cx="442913" cy="428625"/>
              </a:xfrm>
              <a:prstGeom prst="rightArrow">
                <a:avLst/>
              </a:prstGeom>
              <a:solidFill>
                <a:srgbClr val="FFFF00"/>
              </a:solidFill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TW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新細明體" charset="-120"/>
                </a:endParaRPr>
              </a:p>
            </p:txBody>
          </p:sp>
          <p:sp>
            <p:nvSpPr>
              <p:cNvPr id="15" name="向右箭號 14"/>
              <p:cNvSpPr/>
              <p:nvPr/>
            </p:nvSpPr>
            <p:spPr bwMode="auto">
              <a:xfrm rot="13470518">
                <a:off x="7636860" y="5486321"/>
                <a:ext cx="442913" cy="428625"/>
              </a:xfrm>
              <a:prstGeom prst="rightArrow">
                <a:avLst/>
              </a:prstGeom>
              <a:solidFill>
                <a:srgbClr val="FFFF00"/>
              </a:solidFill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TW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新細明體" charset="-120"/>
                </a:endParaRPr>
              </a:p>
            </p:txBody>
          </p:sp>
        </p:grpSp>
      </p:grpSp>
      <p:sp>
        <p:nvSpPr>
          <p:cNvPr id="21" name="Rectangle 23"/>
          <p:cNvSpPr>
            <a:spLocks noChangeArrowheads="1"/>
          </p:cNvSpPr>
          <p:nvPr/>
        </p:nvSpPr>
        <p:spPr bwMode="auto">
          <a:xfrm>
            <a:off x="-2348" y="724727"/>
            <a:ext cx="91440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zh-TW" sz="3200" dirty="0" smtClean="0"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 dirty="0" smtClean="0">
                <a:latin typeface="標楷體" pitchFamily="65" charset="-120"/>
                <a:ea typeface="標楷體" pitchFamily="65" charset="-120"/>
              </a:rPr>
              <a:t>補上傳制度文件</a:t>
            </a:r>
            <a:r>
              <a:rPr lang="en-US" altLang="zh-TW" sz="3200" dirty="0" smtClean="0">
                <a:latin typeface="標楷體" pitchFamily="65" charset="-120"/>
                <a:ea typeface="標楷體" pitchFamily="65" charset="-120"/>
              </a:rPr>
              <a:t>】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4171950" y="1307669"/>
          <a:ext cx="4900622" cy="609600"/>
        </p:xfrm>
        <a:graphic>
          <a:graphicData uri="http://schemas.openxmlformats.org/drawingml/2006/table">
            <a:tbl>
              <a:tblPr/>
              <a:tblGrid>
                <a:gridCol w="1071563"/>
                <a:gridCol w="3829059"/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制度編號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制度名稱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</a:tr>
              <a:tr h="282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R00BH6</a:t>
                      </a:r>
                      <a:endParaRPr kumimoji="0" lang="zh-TW" altLang="en-US" sz="2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採購及標售作業</a:t>
                      </a:r>
                      <a:r>
                        <a:rPr kumimoji="0" lang="en-US" altLang="zh-TW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OA</a:t>
                      </a:r>
                      <a:r>
                        <a:rPr kumimoji="0" lang="zh-TW" altLang="en-US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表單未處理專區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0" name="五邊形 16"/>
          <p:cNvSpPr>
            <a:spLocks noChangeArrowheads="1"/>
          </p:cNvSpPr>
          <p:nvPr/>
        </p:nvSpPr>
        <p:spPr bwMode="auto">
          <a:xfrm>
            <a:off x="147493" y="1304152"/>
            <a:ext cx="3938731" cy="430887"/>
          </a:xfrm>
          <a:prstGeom prst="homePlate">
            <a:avLst>
              <a:gd name="adj" fmla="val 46543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網路知識庫資料上傳申請單</a:t>
            </a:r>
            <a:endParaRPr lang="en-US" altLang="zh-TW" sz="2200" dirty="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2" name="五邊形 21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61002" y="3415412"/>
            <a:ext cx="1390212" cy="461665"/>
          </a:xfrm>
          <a:prstGeom prst="homePlate">
            <a:avLst>
              <a:gd name="adj" fmla="val 46543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說明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9" name="圓角矩形 18"/>
          <p:cNvSpPr>
            <a:spLocks noChangeArrowheads="1"/>
          </p:cNvSpPr>
          <p:nvPr/>
        </p:nvSpPr>
        <p:spPr bwMode="auto">
          <a:xfrm>
            <a:off x="8285870" y="829994"/>
            <a:ext cx="829993" cy="407964"/>
          </a:xfrm>
          <a:prstGeom prst="roundRect">
            <a:avLst>
              <a:gd name="adj" fmla="val 7097"/>
            </a:avLst>
          </a:prstGeom>
          <a:solidFill>
            <a:srgbClr val="FFFF99"/>
          </a:solidFill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 eaLnBrk="1" hangingPunct="1"/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案例二</a:t>
            </a:r>
            <a:endParaRPr lang="zh-TW" altLang="en-US" sz="20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lang="zh-TW" altLang="en-US" sz="3600" dirty="0" smtClean="0">
                <a:latin typeface="標楷體" pitchFamily="65" charset="-120"/>
                <a:ea typeface="標楷體" pitchFamily="65" charset="-120"/>
              </a:rPr>
              <a:t>規章制度定期總檢討執行狀況</a:t>
            </a:r>
            <a:endParaRPr lang="zh-TW" altLang="en-US" sz="3600" dirty="0"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五邊形 3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124263" y="1770627"/>
            <a:ext cx="1898501" cy="461665"/>
          </a:xfrm>
          <a:prstGeom prst="homePlate">
            <a:avLst>
              <a:gd name="adj" fmla="val 46543"/>
            </a:avLst>
          </a:prstGeom>
          <a:solidFill>
            <a:srgbClr val="FFCCFF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統計數據</a:t>
            </a:r>
            <a:endParaRPr lang="zh-TW" altLang="en-US" dirty="0">
              <a:solidFill>
                <a:srgbClr val="0000CC"/>
              </a:solidFill>
              <a:latin typeface="標楷體" pitchFamily="65" charset="-120"/>
              <a:ea typeface="標楷體" pitchFamily="65" charset="-120"/>
            </a:endParaRPr>
          </a:p>
        </p:txBody>
      </p:sp>
      <p:graphicFrame>
        <p:nvGraphicFramePr>
          <p:cNvPr id="5" name="Group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079560771"/>
              </p:ext>
            </p:extLst>
          </p:nvPr>
        </p:nvGraphicFramePr>
        <p:xfrm>
          <a:off x="249382" y="2259316"/>
          <a:ext cx="8672944" cy="4335242"/>
        </p:xfrm>
        <a:graphic>
          <a:graphicData uri="http://schemas.openxmlformats.org/drawingml/2006/table">
            <a:tbl>
              <a:tblPr/>
              <a:tblGrid>
                <a:gridCol w="221744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695588"/>
                <a:gridCol w="1266583"/>
                <a:gridCol w="1266583"/>
                <a:gridCol w="1113371"/>
                <a:gridCol w="1113371"/>
              </a:tblGrid>
              <a:tr h="33348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機能組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制度筆數</a:t>
                      </a:r>
                      <a:endParaRPr kumimoji="0" lang="en-US" altLang="zh-TW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200" b="1" dirty="0" smtClean="0">
                          <a:solidFill>
                            <a:schemeClr val="tx1"/>
                          </a:solidFill>
                          <a:latin typeface="標楷體" pitchFamily="65" charset="-120"/>
                          <a:ea typeface="標楷體" pitchFamily="65" charset="-120"/>
                        </a:rPr>
                        <a:t>「新訂日期」</a:t>
                      </a:r>
                      <a:r>
                        <a:rPr lang="zh-TW" altLang="en-US" sz="2200" b="1" dirty="0" smtClean="0">
                          <a:solidFill>
                            <a:srgbClr val="FF0000"/>
                          </a:solidFill>
                          <a:latin typeface="標楷體" pitchFamily="65" charset="-120"/>
                          <a:ea typeface="標楷體" pitchFamily="65" charset="-120"/>
                        </a:rPr>
                        <a:t>不合理</a:t>
                      </a:r>
                      <a:r>
                        <a:rPr lang="en-US" altLang="zh-TW" sz="2200" b="1" dirty="0" smtClean="0">
                          <a:solidFill>
                            <a:srgbClr val="FF0000"/>
                          </a:solidFill>
                          <a:latin typeface="標楷體" pitchFamily="65" charset="-120"/>
                          <a:ea typeface="標楷體" pitchFamily="65" charset="-120"/>
                        </a:rPr>
                        <a:t>(</a:t>
                      </a:r>
                      <a:r>
                        <a:rPr lang="zh-TW" altLang="en-US" sz="2200" b="1" dirty="0" smtClean="0">
                          <a:solidFill>
                            <a:srgbClr val="FF0000"/>
                          </a:solidFill>
                          <a:latin typeface="標楷體" pitchFamily="65" charset="-120"/>
                          <a:ea typeface="標楷體" pitchFamily="65" charset="-120"/>
                        </a:rPr>
                        <a:t>未來式</a:t>
                      </a:r>
                      <a:r>
                        <a:rPr lang="en-US" altLang="zh-TW" sz="2200" b="1" dirty="0" smtClean="0">
                          <a:solidFill>
                            <a:srgbClr val="FF0000"/>
                          </a:solidFill>
                          <a:latin typeface="標楷體" pitchFamily="65" charset="-120"/>
                          <a:ea typeface="標楷體" pitchFamily="65" charset="-120"/>
                        </a:rPr>
                        <a:t>)</a:t>
                      </a:r>
                      <a:r>
                        <a:rPr lang="zh-TW" altLang="en-US" sz="2200" b="1" dirty="0" smtClean="0">
                          <a:solidFill>
                            <a:srgbClr val="FF0000"/>
                          </a:solidFill>
                          <a:latin typeface="標楷體" pitchFamily="65" charset="-120"/>
                          <a:ea typeface="標楷體" pitchFamily="65" charset="-120"/>
                        </a:rPr>
                        <a:t>筆數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33481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2019</a:t>
                      </a: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年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2021</a:t>
                      </a: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年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小計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佔比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</a:tr>
              <a:tr h="3668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人事組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684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16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16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2.3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8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財務組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318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25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25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7.9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8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資材管理組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908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0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0.0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8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工程管理組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326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0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0.0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8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保養管理組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145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0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0.0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8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產銷一組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318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0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0.0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8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產銷二組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410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59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59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14.4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8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產銷三組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183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1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1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0.5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8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安衛環中心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276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0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0.0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8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合計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3,568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100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1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101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2.8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7495483" y="1888436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單位：筆</a:t>
            </a:r>
            <a:r>
              <a:rPr lang="en-US" altLang="zh-TW" sz="2000" dirty="0" smtClean="0">
                <a:latin typeface="標楷體" pitchFamily="65" charset="-120"/>
                <a:ea typeface="標楷體" pitchFamily="65" charset="-120"/>
              </a:rPr>
              <a:t>,%</a:t>
            </a:r>
            <a:endParaRPr lang="zh-TW" altLang="en-US" sz="20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9" name="Rectangle 23"/>
          <p:cNvSpPr>
            <a:spLocks noChangeArrowheads="1"/>
          </p:cNvSpPr>
          <p:nvPr/>
        </p:nvSpPr>
        <p:spPr bwMode="auto">
          <a:xfrm>
            <a:off x="-2348" y="724727"/>
            <a:ext cx="91440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zh-TW" sz="3200" dirty="0" smtClean="0"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 dirty="0" smtClean="0">
                <a:latin typeface="標楷體" pitchFamily="65" charset="-120"/>
                <a:ea typeface="標楷體" pitchFamily="65" charset="-120"/>
              </a:rPr>
              <a:t>「新訂日期」大於</a:t>
            </a:r>
            <a:r>
              <a:rPr lang="en-US" altLang="zh-TW" sz="3200" dirty="0" smtClean="0">
                <a:latin typeface="標楷體" pitchFamily="65" charset="-120"/>
                <a:ea typeface="標楷體" pitchFamily="65" charset="-120"/>
              </a:rPr>
              <a:t>2018</a:t>
            </a:r>
            <a:r>
              <a:rPr lang="zh-TW" altLang="en-US" sz="3200" dirty="0" smtClean="0">
                <a:latin typeface="標楷體" pitchFamily="65" charset="-120"/>
                <a:ea typeface="標楷體" pitchFamily="65" charset="-120"/>
              </a:rPr>
              <a:t>年</a:t>
            </a:r>
            <a:r>
              <a:rPr lang="en-US" altLang="zh-TW" sz="3200" dirty="0" smtClean="0">
                <a:latin typeface="標楷體" pitchFamily="65" charset="-120"/>
                <a:ea typeface="標楷體" pitchFamily="65" charset="-120"/>
              </a:rPr>
              <a:t>】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2046573" y="1846447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資料日期：</a:t>
            </a:r>
            <a:r>
              <a:rPr lang="en-US" altLang="zh-TW" sz="2000" dirty="0" smtClean="0">
                <a:latin typeface="標楷體" pitchFamily="65" charset="-120"/>
                <a:ea typeface="標楷體" pitchFamily="65" charset="-120"/>
              </a:rPr>
              <a:t>2018/7/4</a:t>
            </a:r>
            <a:endParaRPr lang="zh-TW" altLang="en-US" sz="20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0" name="圓角矩形 14"/>
          <p:cNvSpPr>
            <a:spLocks noChangeArrowheads="1"/>
          </p:cNvSpPr>
          <p:nvPr/>
        </p:nvSpPr>
        <p:spPr bwMode="auto">
          <a:xfrm>
            <a:off x="140681" y="1266091"/>
            <a:ext cx="8834508" cy="464234"/>
          </a:xfrm>
          <a:prstGeom prst="roundRect">
            <a:avLst>
              <a:gd name="adj" fmla="val 7097"/>
            </a:avLst>
          </a:prstGeom>
          <a:solidFill>
            <a:srgbClr val="FFFF99"/>
          </a:solidFill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 eaLnBrk="1" hangingPunct="1"/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合理的「新訂日期」應介於</a:t>
            </a:r>
            <a:r>
              <a:rPr lang="en-US" altLang="zh-TW" sz="2200" dirty="0" smtClean="0">
                <a:latin typeface="標楷體" pitchFamily="65" charset="-120"/>
                <a:ea typeface="標楷體" pitchFamily="65" charset="-120"/>
              </a:rPr>
              <a:t>2016~2018</a:t>
            </a: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年之間。</a:t>
            </a:r>
            <a:endParaRPr lang="zh-TW" altLang="en-US" sz="2200" dirty="0">
              <a:solidFill>
                <a:srgbClr val="FF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1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lang="zh-TW" altLang="en-US" sz="3600" dirty="0" smtClean="0">
                <a:latin typeface="標楷體" pitchFamily="65" charset="-120"/>
                <a:ea typeface="標楷體" pitchFamily="65" charset="-120"/>
              </a:rPr>
              <a:t>規章制度定期總檢討執行狀況</a:t>
            </a:r>
            <a:endParaRPr lang="zh-TW" altLang="en-US" sz="3600" dirty="0"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961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703" y="2419642"/>
            <a:ext cx="6638196" cy="4170559"/>
          </a:xfrm>
          <a:prstGeom prst="rect">
            <a:avLst/>
          </a:prstGeom>
          <a:noFill/>
          <a:ln w="19050">
            <a:solidFill>
              <a:srgbClr val="0000CC"/>
            </a:solidFill>
            <a:miter lim="800000"/>
            <a:headEnd/>
            <a:tailEnd/>
          </a:ln>
        </p:spPr>
      </p:pic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196948" y="1307669"/>
          <a:ext cx="8778240" cy="640080"/>
        </p:xfrm>
        <a:graphic>
          <a:graphicData uri="http://schemas.openxmlformats.org/drawingml/2006/table">
            <a:tbl>
              <a:tblPr/>
              <a:tblGrid>
                <a:gridCol w="1322363"/>
                <a:gridCol w="4389120"/>
                <a:gridCol w="1674055"/>
                <a:gridCol w="1392702"/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制度編號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制度名稱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新訂日期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檢討週期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</a:tr>
              <a:tr h="282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S29005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南亞輪具受訂交運倉儲電腦作業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2016/1/7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</a:t>
                      </a: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年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8" name="圓角矩形 17"/>
          <p:cNvSpPr>
            <a:spLocks noChangeArrowheads="1"/>
          </p:cNvSpPr>
          <p:nvPr/>
        </p:nvSpPr>
        <p:spPr bwMode="auto">
          <a:xfrm>
            <a:off x="8285870" y="829994"/>
            <a:ext cx="829993" cy="407964"/>
          </a:xfrm>
          <a:prstGeom prst="roundRect">
            <a:avLst>
              <a:gd name="adj" fmla="val 7097"/>
            </a:avLst>
          </a:prstGeom>
          <a:solidFill>
            <a:srgbClr val="FFFF99"/>
          </a:solidFill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 eaLnBrk="1" hangingPunct="1"/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案例三</a:t>
            </a:r>
            <a:endParaRPr lang="zh-TW" altLang="en-US" sz="20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3" name="Rectangle 23"/>
          <p:cNvSpPr>
            <a:spLocks noChangeArrowheads="1"/>
          </p:cNvSpPr>
          <p:nvPr/>
        </p:nvSpPr>
        <p:spPr bwMode="auto">
          <a:xfrm>
            <a:off x="-2348" y="724727"/>
            <a:ext cx="91440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zh-TW" sz="3200" dirty="0" smtClean="0"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 dirty="0" smtClean="0">
                <a:latin typeface="標楷體" pitchFamily="65" charset="-120"/>
                <a:ea typeface="標楷體" pitchFamily="65" charset="-120"/>
              </a:rPr>
              <a:t>「新訂日期」輸入錯誤</a:t>
            </a:r>
            <a:r>
              <a:rPr lang="en-US" altLang="zh-TW" sz="3200" dirty="0" smtClean="0">
                <a:latin typeface="標楷體" pitchFamily="65" charset="-120"/>
                <a:ea typeface="標楷體" pitchFamily="65" charset="-120"/>
              </a:rPr>
              <a:t>】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</p:txBody>
      </p:sp>
      <p:sp>
        <p:nvSpPr>
          <p:cNvPr id="11" name="五邊形 16"/>
          <p:cNvSpPr>
            <a:spLocks noChangeArrowheads="1"/>
          </p:cNvSpPr>
          <p:nvPr/>
        </p:nvSpPr>
        <p:spPr bwMode="auto">
          <a:xfrm>
            <a:off x="42191" y="1993484"/>
            <a:ext cx="3362191" cy="430887"/>
          </a:xfrm>
          <a:prstGeom prst="homePlate">
            <a:avLst>
              <a:gd name="adj" fmla="val 46543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便簽</a:t>
            </a:r>
            <a:r>
              <a:rPr lang="en-US" altLang="zh-TW" sz="2200" dirty="0" smtClean="0">
                <a:latin typeface="標楷體" pitchFamily="65" charset="-120"/>
                <a:ea typeface="標楷體" pitchFamily="65" charset="-120"/>
              </a:rPr>
              <a:t>(2017/12/25</a:t>
            </a: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呈准</a:t>
            </a:r>
            <a:r>
              <a:rPr lang="en-US" altLang="zh-TW" sz="2200" dirty="0" smtClean="0">
                <a:latin typeface="標楷體" pitchFamily="65" charset="-120"/>
                <a:ea typeface="標楷體" pitchFamily="65" charset="-120"/>
              </a:rPr>
              <a:t>)</a:t>
            </a:r>
          </a:p>
        </p:txBody>
      </p:sp>
      <p:sp>
        <p:nvSpPr>
          <p:cNvPr id="14" name="圓角矩形 14"/>
          <p:cNvSpPr>
            <a:spLocks noChangeArrowheads="1"/>
          </p:cNvSpPr>
          <p:nvPr/>
        </p:nvSpPr>
        <p:spPr bwMode="auto">
          <a:xfrm>
            <a:off x="6905911" y="3113443"/>
            <a:ext cx="2172796" cy="1786362"/>
          </a:xfrm>
          <a:prstGeom prst="roundRect">
            <a:avLst>
              <a:gd name="adj" fmla="val 7097"/>
            </a:avLst>
          </a:prstGeom>
          <a:solidFill>
            <a:schemeClr val="bg1"/>
          </a:solidFill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eaLnBrk="1" hangingPunct="1"/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制度內容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會同使用部門檢討後，認已完備，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毋需修改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。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5" name="五邊形 14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6723285" y="2807494"/>
            <a:ext cx="1390212" cy="461665"/>
          </a:xfrm>
          <a:prstGeom prst="homePlate">
            <a:avLst>
              <a:gd name="adj" fmla="val 46543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說明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6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lang="zh-TW" altLang="en-US" sz="3600" dirty="0" smtClean="0">
                <a:latin typeface="標楷體" pitchFamily="65" charset="-120"/>
                <a:ea typeface="標楷體" pitchFamily="65" charset="-120"/>
              </a:rPr>
              <a:t>規章制度定期總檢討執行狀況</a:t>
            </a:r>
            <a:endParaRPr lang="zh-TW" altLang="en-US" sz="3600" dirty="0"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955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436" y="1388234"/>
            <a:ext cx="4899001" cy="4590535"/>
          </a:xfrm>
          <a:prstGeom prst="rect">
            <a:avLst/>
          </a:prstGeom>
          <a:noFill/>
          <a:ln w="19050">
            <a:solidFill>
              <a:srgbClr val="0000CC"/>
            </a:solidFill>
            <a:miter lim="800000"/>
            <a:headEnd/>
            <a:tailEnd/>
          </a:ln>
        </p:spPr>
      </p:pic>
      <p:pic>
        <p:nvPicPr>
          <p:cNvPr id="219955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41679" y="2649769"/>
            <a:ext cx="6240268" cy="3726685"/>
          </a:xfrm>
          <a:prstGeom prst="rect">
            <a:avLst/>
          </a:prstGeom>
          <a:noFill/>
          <a:ln w="19050">
            <a:solidFill>
              <a:srgbClr val="0000CC"/>
            </a:solidFill>
            <a:miter lim="800000"/>
            <a:headEnd/>
            <a:tailEnd/>
          </a:ln>
        </p:spPr>
      </p:pic>
      <p:sp>
        <p:nvSpPr>
          <p:cNvPr id="7" name="圓角矩形 14"/>
          <p:cNvSpPr>
            <a:spLocks noChangeArrowheads="1"/>
          </p:cNvSpPr>
          <p:nvPr/>
        </p:nvSpPr>
        <p:spPr bwMode="auto">
          <a:xfrm>
            <a:off x="95122" y="4591331"/>
            <a:ext cx="2690277" cy="2133031"/>
          </a:xfrm>
          <a:prstGeom prst="roundRect">
            <a:avLst>
              <a:gd name="adj" fmla="val 7097"/>
            </a:avLst>
          </a:prstGeom>
          <a:solidFill>
            <a:schemeClr val="bg1"/>
          </a:solidFill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eaLnBrk="1" hangingPunct="1"/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2017/12/26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配合總檢討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作業上傳制度時，將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「新訂日期」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由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2016/1/7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改為</a:t>
            </a:r>
            <a:r>
              <a:rPr lang="en-US" altLang="zh-TW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2018/1/7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。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4220308" y="1307669"/>
          <a:ext cx="4852263" cy="609600"/>
        </p:xfrm>
        <a:graphic>
          <a:graphicData uri="http://schemas.openxmlformats.org/drawingml/2006/table">
            <a:tbl>
              <a:tblPr/>
              <a:tblGrid>
                <a:gridCol w="1167618"/>
                <a:gridCol w="3684645"/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制度編號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制度名稱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</a:tr>
              <a:tr h="282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S29005</a:t>
                      </a:r>
                      <a:endParaRPr kumimoji="0" lang="zh-TW" altLang="en-US" sz="2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南亞輪具受訂交運倉儲電腦作業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0" name="五邊形 16"/>
          <p:cNvSpPr>
            <a:spLocks noChangeArrowheads="1"/>
          </p:cNvSpPr>
          <p:nvPr/>
        </p:nvSpPr>
        <p:spPr bwMode="auto">
          <a:xfrm>
            <a:off x="147493" y="1304152"/>
            <a:ext cx="3938731" cy="430887"/>
          </a:xfrm>
          <a:prstGeom prst="homePlate">
            <a:avLst>
              <a:gd name="adj" fmla="val 46543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網路知識庫資料上傳申請單</a:t>
            </a:r>
            <a:endParaRPr lang="en-US" altLang="zh-TW" sz="2200" dirty="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2" name="五邊形 21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21212" y="4285384"/>
            <a:ext cx="1390212" cy="461665"/>
          </a:xfrm>
          <a:prstGeom prst="homePlate">
            <a:avLst>
              <a:gd name="adj" fmla="val 46543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說明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3" name="Rectangle 23"/>
          <p:cNvSpPr>
            <a:spLocks noChangeArrowheads="1"/>
          </p:cNvSpPr>
          <p:nvPr/>
        </p:nvSpPr>
        <p:spPr bwMode="auto">
          <a:xfrm>
            <a:off x="-2348" y="724727"/>
            <a:ext cx="91440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zh-TW" sz="3200" dirty="0" smtClean="0"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 dirty="0" smtClean="0">
                <a:latin typeface="標楷體" pitchFamily="65" charset="-120"/>
                <a:ea typeface="標楷體" pitchFamily="65" charset="-120"/>
              </a:rPr>
              <a:t>「新訂日期」輸入錯誤</a:t>
            </a:r>
            <a:r>
              <a:rPr lang="en-US" altLang="zh-TW" sz="3200" dirty="0" smtClean="0">
                <a:latin typeface="標楷體" pitchFamily="65" charset="-120"/>
                <a:ea typeface="標楷體" pitchFamily="65" charset="-120"/>
              </a:rPr>
              <a:t>】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</p:txBody>
      </p:sp>
      <p:sp>
        <p:nvSpPr>
          <p:cNvPr id="21" name="圓角矩形 20"/>
          <p:cNvSpPr>
            <a:spLocks noChangeArrowheads="1"/>
          </p:cNvSpPr>
          <p:nvPr/>
        </p:nvSpPr>
        <p:spPr bwMode="auto">
          <a:xfrm>
            <a:off x="8285870" y="829994"/>
            <a:ext cx="829993" cy="407964"/>
          </a:xfrm>
          <a:prstGeom prst="roundRect">
            <a:avLst>
              <a:gd name="adj" fmla="val 7097"/>
            </a:avLst>
          </a:prstGeom>
          <a:solidFill>
            <a:srgbClr val="FFFF99"/>
          </a:solidFill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 eaLnBrk="1" hangingPunct="1"/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案例三</a:t>
            </a:r>
            <a:endParaRPr lang="zh-TW" altLang="en-US" sz="20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5" name="矩形 24"/>
          <p:cNvSpPr/>
          <p:nvPr/>
        </p:nvSpPr>
        <p:spPr bwMode="auto">
          <a:xfrm>
            <a:off x="4059573" y="5762095"/>
            <a:ext cx="1209662" cy="619122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charset="-120"/>
            </a:endParaRPr>
          </a:p>
        </p:txBody>
      </p:sp>
      <p:grpSp>
        <p:nvGrpSpPr>
          <p:cNvPr id="27" name="群組 12"/>
          <p:cNvGrpSpPr/>
          <p:nvPr/>
        </p:nvGrpSpPr>
        <p:grpSpPr>
          <a:xfrm>
            <a:off x="4886914" y="4328950"/>
            <a:ext cx="4199721" cy="2047505"/>
            <a:chOff x="4958574" y="4520420"/>
            <a:chExt cx="4199721" cy="2047505"/>
          </a:xfrm>
        </p:grpSpPr>
        <p:sp>
          <p:nvSpPr>
            <p:cNvPr id="30" name="圓角矩形 14"/>
            <p:cNvSpPr>
              <a:spLocks noChangeArrowheads="1"/>
            </p:cNvSpPr>
            <p:nvPr/>
          </p:nvSpPr>
          <p:spPr bwMode="auto">
            <a:xfrm>
              <a:off x="4958574" y="4520420"/>
              <a:ext cx="2980965" cy="921036"/>
            </a:xfrm>
            <a:prstGeom prst="roundRect">
              <a:avLst>
                <a:gd name="adj" fmla="val 7097"/>
              </a:avLst>
            </a:prstGeom>
            <a:solidFill>
              <a:srgbClr val="FFFF99"/>
            </a:solidFill>
            <a:ln w="38100" cmpd="dbl" algn="ctr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 lIns="0" tIns="0" rIns="0" bIns="0" anchor="ctr"/>
            <a:lstStyle/>
            <a:p>
              <a:pPr algn="ctr" eaLnBrk="1" hangingPunct="1"/>
              <a:r>
                <a:rPr lang="zh-TW" altLang="en-US" dirty="0" smtClean="0">
                  <a:latin typeface="標楷體" pitchFamily="65" charset="-120"/>
                  <a:ea typeface="標楷體" pitchFamily="65" charset="-120"/>
                </a:rPr>
                <a:t>電腦計算</a:t>
              </a:r>
              <a:r>
                <a:rPr lang="zh-TW" altLang="en-US" u="sng" dirty="0" smtClean="0">
                  <a:solidFill>
                    <a:srgbClr val="0000CC"/>
                  </a:solidFill>
                  <a:latin typeface="標楷體" pitchFamily="65" charset="-120"/>
                  <a:ea typeface="標楷體" pitchFamily="65" charset="-120"/>
                </a:rPr>
                <a:t>下次總檢討期限</a:t>
              </a:r>
              <a:r>
                <a:rPr lang="zh-TW" altLang="en-US" dirty="0" smtClean="0">
                  <a:latin typeface="標楷體" pitchFamily="65" charset="-120"/>
                  <a:ea typeface="標楷體" pitchFamily="65" charset="-120"/>
                </a:rPr>
                <a:t>為</a:t>
              </a:r>
              <a:r>
                <a:rPr lang="en-US" altLang="zh-TW" u="sng" dirty="0" smtClean="0">
                  <a:solidFill>
                    <a:srgbClr val="0000CC"/>
                  </a:solidFill>
                  <a:latin typeface="標楷體" pitchFamily="65" charset="-120"/>
                  <a:ea typeface="標楷體" pitchFamily="65" charset="-120"/>
                </a:rPr>
                <a:t>2020</a:t>
              </a:r>
              <a:r>
                <a:rPr lang="zh-TW" altLang="en-US" u="sng" dirty="0" smtClean="0">
                  <a:solidFill>
                    <a:srgbClr val="0000CC"/>
                  </a:solidFill>
                  <a:latin typeface="標楷體" pitchFamily="65" charset="-120"/>
                  <a:ea typeface="標楷體" pitchFamily="65" charset="-120"/>
                </a:rPr>
                <a:t>年</a:t>
              </a:r>
              <a:r>
                <a:rPr lang="en-US" altLang="zh-TW" u="sng" dirty="0" smtClean="0">
                  <a:solidFill>
                    <a:srgbClr val="0000CC"/>
                  </a:solidFill>
                  <a:latin typeface="標楷體" pitchFamily="65" charset="-120"/>
                  <a:ea typeface="標楷體" pitchFamily="65" charset="-120"/>
                </a:rPr>
                <a:t>1</a:t>
              </a:r>
              <a:r>
                <a:rPr lang="zh-TW" altLang="en-US" u="sng" dirty="0" smtClean="0">
                  <a:solidFill>
                    <a:srgbClr val="0000CC"/>
                  </a:solidFill>
                  <a:latin typeface="標楷體" pitchFamily="65" charset="-120"/>
                  <a:ea typeface="標楷體" pitchFamily="65" charset="-120"/>
                </a:rPr>
                <a:t>月</a:t>
              </a:r>
              <a:endParaRPr lang="zh-TW" altLang="en-US" dirty="0">
                <a:latin typeface="標楷體" pitchFamily="65" charset="-120"/>
                <a:ea typeface="標楷體" pitchFamily="65" charset="-120"/>
              </a:endParaRPr>
            </a:p>
          </p:txBody>
        </p:sp>
        <p:sp>
          <p:nvSpPr>
            <p:cNvPr id="31" name="矩形 30"/>
            <p:cNvSpPr/>
            <p:nvPr/>
          </p:nvSpPr>
          <p:spPr bwMode="auto">
            <a:xfrm>
              <a:off x="7643816" y="5948803"/>
              <a:ext cx="1514479" cy="619122"/>
            </a:xfrm>
            <a:prstGeom prst="rect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charset="-120"/>
              </a:endParaRPr>
            </a:p>
          </p:txBody>
        </p:sp>
      </p:grpSp>
      <p:sp>
        <p:nvSpPr>
          <p:cNvPr id="28" name="向右箭號 27"/>
          <p:cNvSpPr/>
          <p:nvPr/>
        </p:nvSpPr>
        <p:spPr bwMode="auto">
          <a:xfrm rot="18807726">
            <a:off x="4771808" y="5294930"/>
            <a:ext cx="442913" cy="428625"/>
          </a:xfrm>
          <a:prstGeom prst="rightArrow">
            <a:avLst/>
          </a:prstGeom>
          <a:solidFill>
            <a:srgbClr val="FFFF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charset="-120"/>
            </a:endParaRPr>
          </a:p>
        </p:txBody>
      </p:sp>
      <p:sp>
        <p:nvSpPr>
          <p:cNvPr id="29" name="向右箭號 28"/>
          <p:cNvSpPr/>
          <p:nvPr/>
        </p:nvSpPr>
        <p:spPr bwMode="auto">
          <a:xfrm rot="13470518">
            <a:off x="7424520" y="5294851"/>
            <a:ext cx="442913" cy="428625"/>
          </a:xfrm>
          <a:prstGeom prst="rightArrow">
            <a:avLst/>
          </a:prstGeom>
          <a:solidFill>
            <a:srgbClr val="FFFF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charset="-120"/>
            </a:endParaRPr>
          </a:p>
        </p:txBody>
      </p:sp>
      <p:sp>
        <p:nvSpPr>
          <p:cNvPr id="32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lang="zh-TW" altLang="en-US" sz="3600" dirty="0" smtClean="0">
                <a:latin typeface="標楷體" pitchFamily="65" charset="-120"/>
                <a:ea typeface="標楷體" pitchFamily="65" charset="-120"/>
              </a:rPr>
              <a:t>規章制度定期總檢討執行狀況</a:t>
            </a:r>
            <a:endParaRPr lang="zh-TW" altLang="en-US" sz="36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9" name="矩形 18"/>
          <p:cNvSpPr/>
          <p:nvPr/>
        </p:nvSpPr>
        <p:spPr bwMode="auto">
          <a:xfrm>
            <a:off x="2833339" y="2608586"/>
            <a:ext cx="5354058" cy="317493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323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1799" y="1334800"/>
            <a:ext cx="4934383" cy="4691927"/>
          </a:xfrm>
          <a:prstGeom prst="rect">
            <a:avLst/>
          </a:prstGeom>
          <a:noFill/>
          <a:ln w="19050">
            <a:solidFill>
              <a:srgbClr val="0000CC"/>
            </a:solidFill>
            <a:miter lim="800000"/>
            <a:headEnd/>
            <a:tailEnd/>
          </a:ln>
        </p:spPr>
      </p:pic>
      <p:pic>
        <p:nvPicPr>
          <p:cNvPr id="150323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60723" y="2730585"/>
            <a:ext cx="6399934" cy="3833814"/>
          </a:xfrm>
          <a:prstGeom prst="rect">
            <a:avLst/>
          </a:prstGeom>
          <a:noFill/>
          <a:ln w="19050">
            <a:solidFill>
              <a:srgbClr val="0000CC"/>
            </a:solidFill>
            <a:miter lim="800000"/>
            <a:headEnd/>
            <a:tailEnd/>
          </a:ln>
        </p:spPr>
      </p:pic>
      <p:sp>
        <p:nvSpPr>
          <p:cNvPr id="7" name="圓角矩形 14"/>
          <p:cNvSpPr>
            <a:spLocks noChangeArrowheads="1"/>
          </p:cNvSpPr>
          <p:nvPr/>
        </p:nvSpPr>
        <p:spPr bwMode="auto">
          <a:xfrm>
            <a:off x="95123" y="4487594"/>
            <a:ext cx="2437062" cy="2236765"/>
          </a:xfrm>
          <a:prstGeom prst="roundRect">
            <a:avLst>
              <a:gd name="adj" fmla="val 7097"/>
            </a:avLst>
          </a:prstGeom>
          <a:solidFill>
            <a:schemeClr val="bg1"/>
          </a:solidFill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eaLnBrk="1" hangingPunct="1"/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2018/1/2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再次以總檢討為由，</a:t>
            </a:r>
            <a:r>
              <a:rPr lang="zh-TW" altLang="en-US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將「新訂日期」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由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2018/1/7</a:t>
            </a:r>
            <a:r>
              <a:rPr lang="zh-TW" altLang="en-US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改為</a:t>
            </a:r>
            <a:r>
              <a:rPr lang="en-US" altLang="zh-TW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2021/1/7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。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3862621" y="5979485"/>
            <a:ext cx="1209662" cy="619122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charset="-120"/>
            </a:endParaRPr>
          </a:p>
        </p:txBody>
      </p:sp>
      <p:grpSp>
        <p:nvGrpSpPr>
          <p:cNvPr id="3" name="群組 15"/>
          <p:cNvGrpSpPr/>
          <p:nvPr/>
        </p:nvGrpSpPr>
        <p:grpSpPr>
          <a:xfrm>
            <a:off x="4750816" y="5505176"/>
            <a:ext cx="4307683" cy="1088669"/>
            <a:chOff x="4850612" y="5479256"/>
            <a:chExt cx="4307683" cy="1088669"/>
          </a:xfrm>
        </p:grpSpPr>
        <p:sp>
          <p:nvSpPr>
            <p:cNvPr id="12" name="矩形 11"/>
            <p:cNvSpPr/>
            <p:nvPr/>
          </p:nvSpPr>
          <p:spPr bwMode="auto">
            <a:xfrm>
              <a:off x="7643816" y="5948803"/>
              <a:ext cx="1514479" cy="619122"/>
            </a:xfrm>
            <a:prstGeom prst="rect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charset="-120"/>
              </a:endParaRPr>
            </a:p>
          </p:txBody>
        </p:sp>
        <p:sp>
          <p:nvSpPr>
            <p:cNvPr id="14" name="向右箭號 13"/>
            <p:cNvSpPr/>
            <p:nvPr/>
          </p:nvSpPr>
          <p:spPr bwMode="auto">
            <a:xfrm rot="18807726">
              <a:off x="4843468" y="5486400"/>
              <a:ext cx="442913" cy="428625"/>
            </a:xfrm>
            <a:prstGeom prst="rightArrow">
              <a:avLst/>
            </a:prstGeom>
            <a:solidFill>
              <a:srgbClr val="FFFF00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charset="-120"/>
              </a:endParaRPr>
            </a:p>
          </p:txBody>
        </p:sp>
        <p:sp>
          <p:nvSpPr>
            <p:cNvPr id="15" name="向右箭號 14"/>
            <p:cNvSpPr/>
            <p:nvPr/>
          </p:nvSpPr>
          <p:spPr bwMode="auto">
            <a:xfrm rot="13470518">
              <a:off x="7496180" y="5486321"/>
              <a:ext cx="442913" cy="428625"/>
            </a:xfrm>
            <a:prstGeom prst="rightArrow">
              <a:avLst/>
            </a:prstGeom>
            <a:solidFill>
              <a:srgbClr val="FFFF00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charset="-120"/>
              </a:endParaRPr>
            </a:p>
          </p:txBody>
        </p:sp>
      </p:grp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4220308" y="1307669"/>
          <a:ext cx="4852263" cy="609600"/>
        </p:xfrm>
        <a:graphic>
          <a:graphicData uri="http://schemas.openxmlformats.org/drawingml/2006/table">
            <a:tbl>
              <a:tblPr/>
              <a:tblGrid>
                <a:gridCol w="1167618"/>
                <a:gridCol w="3684645"/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制度編號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制度名稱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</a:tr>
              <a:tr h="282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S29005</a:t>
                      </a:r>
                      <a:endParaRPr kumimoji="0" lang="zh-TW" altLang="en-US" sz="2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南亞輪具受訂交運倉儲電腦作業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0" name="五邊形 16"/>
          <p:cNvSpPr>
            <a:spLocks noChangeArrowheads="1"/>
          </p:cNvSpPr>
          <p:nvPr/>
        </p:nvSpPr>
        <p:spPr bwMode="auto">
          <a:xfrm>
            <a:off x="147493" y="1304152"/>
            <a:ext cx="3938731" cy="430887"/>
          </a:xfrm>
          <a:prstGeom prst="homePlate">
            <a:avLst>
              <a:gd name="adj" fmla="val 46543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網路知識庫資料上傳申請單</a:t>
            </a:r>
            <a:endParaRPr lang="en-US" altLang="zh-TW" sz="2200" dirty="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2" name="五邊形 21">
            <a:hlinkClick r:id="" action="ppaction://customshow?id=15&amp;return=true"/>
          </p:cNvPr>
          <p:cNvSpPr>
            <a:spLocks noChangeArrowheads="1"/>
          </p:cNvSpPr>
          <p:nvPr/>
        </p:nvSpPr>
        <p:spPr bwMode="auto">
          <a:xfrm>
            <a:off x="21212" y="4243180"/>
            <a:ext cx="1390212" cy="461665"/>
          </a:xfrm>
          <a:prstGeom prst="homePlate">
            <a:avLst>
              <a:gd name="adj" fmla="val 46543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說明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3" name="Rectangle 23"/>
          <p:cNvSpPr>
            <a:spLocks noChangeArrowheads="1"/>
          </p:cNvSpPr>
          <p:nvPr/>
        </p:nvSpPr>
        <p:spPr bwMode="auto">
          <a:xfrm>
            <a:off x="-2348" y="724727"/>
            <a:ext cx="91440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zh-TW" sz="3200" dirty="0" smtClean="0"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 dirty="0" smtClean="0">
                <a:latin typeface="標楷體" pitchFamily="65" charset="-120"/>
                <a:ea typeface="標楷體" pitchFamily="65" charset="-120"/>
              </a:rPr>
              <a:t>「新訂日期」輸入錯誤</a:t>
            </a:r>
            <a:r>
              <a:rPr lang="en-US" altLang="zh-TW" sz="3200" dirty="0" smtClean="0">
                <a:latin typeface="標楷體" pitchFamily="65" charset="-120"/>
                <a:ea typeface="標楷體" pitchFamily="65" charset="-120"/>
              </a:rPr>
              <a:t>】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</p:txBody>
      </p:sp>
      <p:sp>
        <p:nvSpPr>
          <p:cNvPr id="21" name="圓角矩形 20"/>
          <p:cNvSpPr>
            <a:spLocks noChangeArrowheads="1"/>
          </p:cNvSpPr>
          <p:nvPr/>
        </p:nvSpPr>
        <p:spPr bwMode="auto">
          <a:xfrm>
            <a:off x="8285870" y="829994"/>
            <a:ext cx="829993" cy="407964"/>
          </a:xfrm>
          <a:prstGeom prst="roundRect">
            <a:avLst>
              <a:gd name="adj" fmla="val 7097"/>
            </a:avLst>
          </a:prstGeom>
          <a:solidFill>
            <a:srgbClr val="FFFF99"/>
          </a:solidFill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 eaLnBrk="1" hangingPunct="1"/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案例三</a:t>
            </a:r>
            <a:endParaRPr lang="zh-TW" altLang="en-US" sz="20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lang="zh-TW" altLang="en-US" sz="3600" dirty="0" smtClean="0">
                <a:latin typeface="標楷體" pitchFamily="65" charset="-120"/>
                <a:ea typeface="標楷體" pitchFamily="65" charset="-120"/>
              </a:rPr>
              <a:t>規章制度定期總檢討執行狀況</a:t>
            </a:r>
            <a:endParaRPr lang="zh-TW" altLang="en-US" sz="36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6" name="矩形 25"/>
          <p:cNvSpPr/>
          <p:nvPr/>
        </p:nvSpPr>
        <p:spPr bwMode="auto">
          <a:xfrm>
            <a:off x="2664523" y="2692995"/>
            <a:ext cx="3187636" cy="317492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charset="-120"/>
            </a:endParaRPr>
          </a:p>
        </p:txBody>
      </p:sp>
      <p:sp>
        <p:nvSpPr>
          <p:cNvPr id="25" name="圓角矩形 14"/>
          <p:cNvSpPr>
            <a:spLocks noChangeArrowheads="1"/>
          </p:cNvSpPr>
          <p:nvPr/>
        </p:nvSpPr>
        <p:spPr bwMode="auto">
          <a:xfrm>
            <a:off x="4835155" y="4570492"/>
            <a:ext cx="2980965" cy="921036"/>
          </a:xfrm>
          <a:prstGeom prst="roundRect">
            <a:avLst>
              <a:gd name="adj" fmla="val 7097"/>
            </a:avLst>
          </a:prstGeom>
          <a:solidFill>
            <a:srgbClr val="FFFF99"/>
          </a:solidFill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 eaLnBrk="1" hangingPunct="1"/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電腦計算</a:t>
            </a:r>
            <a:r>
              <a:rPr lang="zh-TW" altLang="en-US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下次總檢討期限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為</a:t>
            </a:r>
            <a:r>
              <a:rPr lang="en-US" altLang="zh-TW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2024</a:t>
            </a:r>
            <a:r>
              <a:rPr lang="zh-TW" altLang="en-US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年</a:t>
            </a:r>
            <a:r>
              <a:rPr lang="en-US" altLang="zh-TW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1</a:t>
            </a:r>
            <a:r>
              <a:rPr lang="zh-TW" altLang="en-US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月</a:t>
            </a:r>
            <a:endParaRPr lang="zh-TW" altLang="en-US" dirty="0">
              <a:solidFill>
                <a:srgbClr val="FF0000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五邊形 12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124263" y="1288460"/>
            <a:ext cx="2818962" cy="461665"/>
          </a:xfrm>
          <a:prstGeom prst="homePlate">
            <a:avLst>
              <a:gd name="adj" fmla="val 46543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問題點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暨</a:t>
            </a:r>
            <a:r>
              <a:rPr lang="zh-TW" altLang="en-US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改善對策</a:t>
            </a:r>
            <a:endParaRPr lang="zh-TW" altLang="en-US" dirty="0">
              <a:solidFill>
                <a:srgbClr val="0000CC"/>
              </a:solidFill>
              <a:latin typeface="標楷體" pitchFamily="65" charset="-120"/>
              <a:ea typeface="標楷體" pitchFamily="65" charset="-120"/>
            </a:endParaRPr>
          </a:p>
        </p:txBody>
      </p:sp>
      <p:graphicFrame>
        <p:nvGraphicFramePr>
          <p:cNvPr id="24" name="Group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311726654"/>
              </p:ext>
            </p:extLst>
          </p:nvPr>
        </p:nvGraphicFramePr>
        <p:xfrm>
          <a:off x="69330" y="1784866"/>
          <a:ext cx="8850383" cy="4812882"/>
        </p:xfrm>
        <a:graphic>
          <a:graphicData uri="http://schemas.openxmlformats.org/drawingml/2006/table">
            <a:tbl>
              <a:tblPr/>
              <a:tblGrid>
                <a:gridCol w="36199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157932"/>
                <a:gridCol w="4330460"/>
              </a:tblGrid>
              <a:tr h="3734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問題點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改善對策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054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1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OA</a:t>
                      </a:r>
                      <a:r>
                        <a:rPr kumimoji="0" lang="zh-TW" altLang="en-US" sz="22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「交辦單」已銷案，但未</a:t>
                      </a: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透過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OA</a:t>
                      </a: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「網路知識庫資料上傳申請單」</a:t>
                      </a:r>
                      <a:r>
                        <a:rPr kumimoji="0" lang="zh-TW" altLang="en-US" sz="22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更新</a:t>
                      </a:r>
                      <a:r>
                        <a:rPr kumimoji="0" lang="en-US" altLang="zh-TW" sz="22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『</a:t>
                      </a:r>
                      <a:r>
                        <a:rPr kumimoji="0" lang="zh-TW" altLang="en-US" sz="22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新訂日期</a:t>
                      </a:r>
                      <a:r>
                        <a:rPr kumimoji="0" lang="en-US" altLang="zh-TW" sz="22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』</a:t>
                      </a: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。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269875" marR="0" lvl="0" indent="-269875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1.(</a:t>
                      </a:r>
                      <a:r>
                        <a:rPr kumimoji="0" lang="zh-TW" altLang="en-US" sz="22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避免使用三張</a:t>
                      </a:r>
                      <a:r>
                        <a:rPr kumimoji="0" lang="en-US" altLang="zh-TW" sz="22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OA</a:t>
                      </a:r>
                      <a:r>
                        <a:rPr kumimoji="0" lang="zh-TW" altLang="en-US" sz="22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表單分段管理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)</a:t>
                      </a: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人事組將</a:t>
                      </a:r>
                      <a:r>
                        <a:rPr kumimoji="0" lang="zh-TW" altLang="en-US" sz="22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簡化為一張</a:t>
                      </a:r>
                      <a:r>
                        <a:rPr kumimoji="0" lang="en-US" altLang="zh-TW" sz="22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OA</a:t>
                      </a:r>
                      <a:r>
                        <a:rPr kumimoji="0" lang="zh-TW" altLang="en-US" sz="22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表單</a:t>
                      </a: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，如「規章制度定期總檢討處理單」</a:t>
                      </a:r>
                      <a:r>
                        <a:rPr kumimoji="0" lang="zh-TW" altLang="en-US" sz="22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統一管理</a:t>
                      </a: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總檢討</a:t>
                      </a:r>
                      <a:r>
                        <a:rPr kumimoji="0" lang="zh-TW" altLang="en-US" sz="22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立案</a:t>
                      </a: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、上傳制度及</a:t>
                      </a:r>
                      <a:r>
                        <a:rPr kumimoji="0" lang="zh-TW" altLang="en-US" sz="22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呈准依據</a:t>
                      </a: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、</a:t>
                      </a:r>
                      <a:r>
                        <a:rPr kumimoji="0" lang="zh-TW" altLang="en-US" sz="22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更新「新訂日期」</a:t>
                      </a: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修訂「檢討週期」、</a:t>
                      </a:r>
                      <a:r>
                        <a:rPr kumimoji="0" lang="zh-TW" altLang="en-US" sz="22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進度管理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(</a:t>
                      </a: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含提示、跟催及展延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)</a:t>
                      </a: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、</a:t>
                      </a:r>
                      <a:r>
                        <a:rPr kumimoji="0" lang="zh-TW" altLang="en-US" sz="22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銷案</a:t>
                      </a: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。</a:t>
                      </a:r>
                      <a:endParaRPr kumimoji="0" lang="en-US" altLang="zh-TW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  <a:p>
                      <a:pPr marL="269875" marR="0" lvl="0" indent="-269875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2.</a:t>
                      </a: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電腦查核</a:t>
                      </a:r>
                      <a:r>
                        <a:rPr kumimoji="0" lang="zh-TW" altLang="en-US" sz="22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已逾期且尚未立案</a:t>
                      </a: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者，即</a:t>
                      </a:r>
                      <a:r>
                        <a:rPr kumimoji="0" lang="zh-TW" altLang="en-US" sz="22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自動立案跟催</a:t>
                      </a: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總檢討進度。</a:t>
                      </a:r>
                      <a:endParaRPr kumimoji="0" lang="en-US" altLang="zh-TW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  <a:p>
                      <a:pPr marL="269875" marR="0" lvl="0" indent="-269875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3.</a:t>
                      </a:r>
                      <a:r>
                        <a:rPr kumimoji="0" lang="zh-TW" altLang="en-US" sz="22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電腦管制「新訂日期」合理性</a:t>
                      </a: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，並全面</a:t>
                      </a:r>
                      <a:r>
                        <a:rPr kumimoji="0" lang="zh-TW" altLang="en-US" sz="22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修正錯誤的「新訂日期」</a:t>
                      </a: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。</a:t>
                      </a:r>
                      <a:endParaRPr kumimoji="0" lang="en-US" altLang="zh-TW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254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電腦雖持續</a:t>
                      </a: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透過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OA</a:t>
                      </a: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「規章制度定期總檢討提示表」</a:t>
                      </a:r>
                      <a:r>
                        <a:rPr kumimoji="0" lang="zh-TW" altLang="en-US" sz="22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反應</a:t>
                      </a: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部門主管</a:t>
                      </a:r>
                      <a:r>
                        <a:rPr kumimoji="0" lang="en-US" altLang="zh-TW" sz="22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『</a:t>
                      </a:r>
                      <a:r>
                        <a:rPr kumimoji="0" lang="zh-TW" altLang="en-US" sz="22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新訂日期</a:t>
                      </a:r>
                      <a:r>
                        <a:rPr kumimoji="0" lang="en-US" altLang="zh-TW" sz="22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』</a:t>
                      </a:r>
                      <a:r>
                        <a:rPr kumimoji="0" lang="zh-TW" altLang="en-US" sz="22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未更新，但未處理</a:t>
                      </a: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。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269875" marR="0" lvl="0" indent="-269875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15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3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補上傳制度已</a:t>
                      </a:r>
                      <a:r>
                        <a:rPr kumimoji="0" lang="zh-TW" altLang="en-US" sz="22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逾檢討期限</a:t>
                      </a: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，</a:t>
                      </a:r>
                      <a:r>
                        <a:rPr kumimoji="0" lang="zh-TW" altLang="en-US" sz="22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尚無「交辦單」跟催</a:t>
                      </a: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檢討進度的機制。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681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4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OA</a:t>
                      </a: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「網路知識庫資料上傳申請單」輸入</a:t>
                      </a:r>
                      <a:r>
                        <a:rPr kumimoji="0" lang="en-US" altLang="zh-TW" sz="22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『</a:t>
                      </a:r>
                      <a:r>
                        <a:rPr kumimoji="0" lang="zh-TW" altLang="en-US" sz="22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新訂日期</a:t>
                      </a:r>
                      <a:r>
                        <a:rPr kumimoji="0" lang="en-US" altLang="zh-TW" sz="22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』</a:t>
                      </a:r>
                      <a:r>
                        <a:rPr kumimoji="0" lang="zh-TW" altLang="en-US" sz="22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不合理</a:t>
                      </a: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。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6189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5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尚無制度總檢討歷程的查詢功能。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ERP</a:t>
                      </a:r>
                      <a:r>
                        <a:rPr kumimoji="0" lang="zh-TW" altLang="en-US" sz="22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增設制度總檢討歷程查詢</a:t>
                      </a: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功能。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6" name="圓角矩形 35"/>
          <p:cNvSpPr>
            <a:spLocks noChangeArrowheads="1"/>
          </p:cNvSpPr>
          <p:nvPr/>
        </p:nvSpPr>
        <p:spPr bwMode="auto">
          <a:xfrm>
            <a:off x="3884314" y="1288459"/>
            <a:ext cx="5035399" cy="452975"/>
          </a:xfrm>
          <a:prstGeom prst="roundRect">
            <a:avLst>
              <a:gd name="adj" fmla="val 7097"/>
            </a:avLst>
          </a:prstGeom>
          <a:solidFill>
            <a:srgbClr val="FFFF99"/>
          </a:solidFill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 eaLnBrk="1" hangingPunct="1"/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預</a:t>
            </a:r>
            <a:r>
              <a:rPr lang="zh-TW" altLang="en-US" sz="2200" dirty="0">
                <a:latin typeface="標楷體" pitchFamily="65" charset="-120"/>
                <a:ea typeface="標楷體" pitchFamily="65" charset="-120"/>
              </a:rPr>
              <a:t>完日：資料</a:t>
            </a: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修正</a:t>
            </a:r>
            <a:r>
              <a:rPr lang="en-US" altLang="zh-TW" sz="2200" dirty="0" smtClean="0">
                <a:latin typeface="標楷體" pitchFamily="65" charset="-120"/>
                <a:ea typeface="標楷體" pitchFamily="65" charset="-120"/>
              </a:rPr>
              <a:t>8/E</a:t>
            </a: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、制度改善</a:t>
            </a:r>
            <a:r>
              <a:rPr lang="en-US" altLang="zh-TW" sz="2200" dirty="0" smtClean="0">
                <a:latin typeface="標楷體" pitchFamily="65" charset="-120"/>
                <a:ea typeface="標楷體" pitchFamily="65" charset="-120"/>
              </a:rPr>
              <a:t>10/E</a:t>
            </a:r>
          </a:p>
        </p:txBody>
      </p:sp>
      <p:sp>
        <p:nvSpPr>
          <p:cNvPr id="7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lang="zh-TW" altLang="en-US" sz="3600" dirty="0" smtClean="0">
                <a:latin typeface="標楷體" pitchFamily="65" charset="-120"/>
                <a:ea typeface="標楷體" pitchFamily="65" charset="-120"/>
              </a:rPr>
              <a:t>規章制度定期總檢討作業改善</a:t>
            </a:r>
            <a:endParaRPr lang="zh-TW" altLang="en-US" sz="3600" dirty="0"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816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7148" y="2000470"/>
            <a:ext cx="4410075" cy="4583209"/>
          </a:xfrm>
          <a:prstGeom prst="rect">
            <a:avLst/>
          </a:prstGeom>
          <a:noFill/>
          <a:ln w="19050">
            <a:solidFill>
              <a:srgbClr val="0000CC"/>
            </a:solidFill>
            <a:miter lim="800000"/>
            <a:headEnd/>
            <a:tailEnd/>
          </a:ln>
        </p:spPr>
      </p:pic>
      <p:sp>
        <p:nvSpPr>
          <p:cNvPr id="33" name="五邊形 16"/>
          <p:cNvSpPr>
            <a:spLocks noChangeArrowheads="1"/>
          </p:cNvSpPr>
          <p:nvPr/>
        </p:nvSpPr>
        <p:spPr bwMode="auto">
          <a:xfrm>
            <a:off x="147494" y="1993484"/>
            <a:ext cx="1538432" cy="430887"/>
          </a:xfrm>
          <a:prstGeom prst="homePlate">
            <a:avLst>
              <a:gd name="adj" fmla="val 46543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交辦單</a:t>
            </a:r>
            <a:endParaRPr lang="en-US" altLang="zh-TW" sz="2200" dirty="0" smtClean="0">
              <a:latin typeface="標楷體" pitchFamily="65" charset="-120"/>
              <a:ea typeface="標楷體" pitchFamily="65" charset="-12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196948" y="1307669"/>
          <a:ext cx="8778240" cy="640080"/>
        </p:xfrm>
        <a:graphic>
          <a:graphicData uri="http://schemas.openxmlformats.org/drawingml/2006/table">
            <a:tbl>
              <a:tblPr/>
              <a:tblGrid>
                <a:gridCol w="1322363"/>
                <a:gridCol w="4389120"/>
                <a:gridCol w="1674055"/>
                <a:gridCol w="1392702"/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制度編號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制度名稱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新訂日期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檢討週期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</a:tr>
              <a:tr h="282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P00458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運動設施與器材管理電腦作業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2016/6/1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</a:t>
                      </a: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年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4" name="矩形 13"/>
          <p:cNvSpPr/>
          <p:nvPr/>
        </p:nvSpPr>
        <p:spPr bwMode="auto">
          <a:xfrm>
            <a:off x="858129" y="6239750"/>
            <a:ext cx="3910818" cy="350082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charset="-120"/>
            </a:endParaRPr>
          </a:p>
        </p:txBody>
      </p:sp>
      <p:sp>
        <p:nvSpPr>
          <p:cNvPr id="11" name="圓角矩形 14"/>
          <p:cNvSpPr>
            <a:spLocks noChangeArrowheads="1"/>
          </p:cNvSpPr>
          <p:nvPr/>
        </p:nvSpPr>
        <p:spPr bwMode="auto">
          <a:xfrm>
            <a:off x="4824154" y="2283917"/>
            <a:ext cx="4233580" cy="2355418"/>
          </a:xfrm>
          <a:prstGeom prst="roundRect">
            <a:avLst>
              <a:gd name="adj" fmla="val 7097"/>
            </a:avLst>
          </a:prstGeom>
          <a:solidFill>
            <a:schemeClr val="bg1"/>
          </a:solidFill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eaLnBrk="1" hangingPunct="1"/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2018/4/1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電腦自轉「交辦單」，</a:t>
            </a:r>
            <a:r>
              <a:rPr lang="en-US" altLang="zh-TW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2018/4/17</a:t>
            </a:r>
            <a:r>
              <a:rPr lang="zh-TW" altLang="en-US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呈</a:t>
            </a:r>
            <a:r>
              <a:rPr lang="zh-TW" altLang="en-US" u="sng" dirty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核銷案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，因近年來查無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使用記錄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，故洽經辦瞭解其檢討內容時，發現</a:t>
            </a:r>
            <a:r>
              <a:rPr lang="zh-TW" altLang="en-US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實際並未與使用部門檢討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。</a:t>
            </a:r>
            <a:endParaRPr lang="en-US" altLang="zh-TW" u="sng" dirty="0" smtClean="0">
              <a:solidFill>
                <a:srgbClr val="FF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3" name="五邊形 12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4671688" y="2035351"/>
            <a:ext cx="1390212" cy="461665"/>
          </a:xfrm>
          <a:prstGeom prst="homePlate">
            <a:avLst>
              <a:gd name="adj" fmla="val 46543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說明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5" name="Rectangle 23"/>
          <p:cNvSpPr>
            <a:spLocks noChangeArrowheads="1"/>
          </p:cNvSpPr>
          <p:nvPr/>
        </p:nvSpPr>
        <p:spPr bwMode="auto">
          <a:xfrm>
            <a:off x="-2348" y="724727"/>
            <a:ext cx="91440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zh-TW" sz="3200" dirty="0" smtClean="0"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 dirty="0" smtClean="0">
                <a:latin typeface="標楷體" pitchFamily="65" charset="-120"/>
                <a:ea typeface="標楷體" pitchFamily="65" charset="-120"/>
              </a:rPr>
              <a:t>未完成總檢討，但交辦單已銷案</a:t>
            </a:r>
            <a:r>
              <a:rPr kumimoji="1" lang="en-US" altLang="zh-TW" sz="32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】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</p:txBody>
      </p:sp>
      <p:pic>
        <p:nvPicPr>
          <p:cNvPr id="162816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4408" y="4870847"/>
            <a:ext cx="8890780" cy="1206403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</p:pic>
      <p:sp>
        <p:nvSpPr>
          <p:cNvPr id="18" name="圓角矩形 17"/>
          <p:cNvSpPr>
            <a:spLocks noChangeArrowheads="1"/>
          </p:cNvSpPr>
          <p:nvPr/>
        </p:nvSpPr>
        <p:spPr bwMode="auto">
          <a:xfrm>
            <a:off x="8285870" y="829994"/>
            <a:ext cx="829993" cy="407964"/>
          </a:xfrm>
          <a:prstGeom prst="roundRect">
            <a:avLst>
              <a:gd name="adj" fmla="val 7097"/>
            </a:avLst>
          </a:prstGeom>
          <a:solidFill>
            <a:srgbClr val="FFFF99"/>
          </a:solidFill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 eaLnBrk="1" hangingPunct="1"/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案例四</a:t>
            </a:r>
            <a:endParaRPr lang="zh-TW" altLang="en-US" sz="20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9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lang="zh-TW" altLang="en-US" sz="3600" dirty="0" smtClean="0">
                <a:latin typeface="標楷體" pitchFamily="65" charset="-120"/>
                <a:ea typeface="標楷體" pitchFamily="65" charset="-120"/>
              </a:rPr>
              <a:t>規章制度定期總檢討執行狀況</a:t>
            </a:r>
            <a:endParaRPr lang="zh-TW" altLang="en-US" sz="3600" dirty="0"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648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2334" y="1321118"/>
            <a:ext cx="5147457" cy="4581525"/>
          </a:xfrm>
          <a:prstGeom prst="rect">
            <a:avLst/>
          </a:prstGeom>
          <a:noFill/>
          <a:ln w="19050">
            <a:solidFill>
              <a:srgbClr val="0000CC"/>
            </a:solidFill>
            <a:miter lim="800000"/>
            <a:headEnd/>
            <a:tailEnd/>
          </a:ln>
        </p:spPr>
      </p:pic>
      <p:sp>
        <p:nvSpPr>
          <p:cNvPr id="18" name="五邊形 16"/>
          <p:cNvSpPr>
            <a:spLocks noChangeArrowheads="1"/>
          </p:cNvSpPr>
          <p:nvPr/>
        </p:nvSpPr>
        <p:spPr bwMode="auto">
          <a:xfrm>
            <a:off x="147493" y="1304152"/>
            <a:ext cx="3938731" cy="430887"/>
          </a:xfrm>
          <a:prstGeom prst="homePlate">
            <a:avLst>
              <a:gd name="adj" fmla="val 46543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網路知識庫資料上傳申請單</a:t>
            </a:r>
            <a:endParaRPr lang="en-US" altLang="zh-TW" sz="2200" dirty="0" smtClean="0"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103834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27606" y="2862113"/>
            <a:ext cx="6241760" cy="3716746"/>
          </a:xfrm>
          <a:prstGeom prst="rect">
            <a:avLst/>
          </a:prstGeom>
          <a:noFill/>
          <a:ln w="19050">
            <a:solidFill>
              <a:srgbClr val="0000CC"/>
            </a:solidFill>
            <a:miter lim="800000"/>
            <a:headEnd/>
            <a:tailEnd/>
          </a:ln>
        </p:spPr>
      </p:pic>
      <p:sp>
        <p:nvSpPr>
          <p:cNvPr id="16" name="Rectangle 23"/>
          <p:cNvSpPr>
            <a:spLocks noChangeArrowheads="1"/>
          </p:cNvSpPr>
          <p:nvPr/>
        </p:nvSpPr>
        <p:spPr bwMode="auto">
          <a:xfrm>
            <a:off x="-2348" y="724727"/>
            <a:ext cx="91440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zh-TW" sz="3200" dirty="0" smtClean="0"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 dirty="0" smtClean="0">
                <a:latin typeface="標楷體" pitchFamily="65" charset="-120"/>
                <a:ea typeface="標楷體" pitchFamily="65" charset="-120"/>
              </a:rPr>
              <a:t>未完成總檢討，</a:t>
            </a:r>
            <a:r>
              <a:rPr lang="zh-TW" altLang="en-US" sz="3200" dirty="0">
                <a:latin typeface="標楷體" pitchFamily="65" charset="-120"/>
                <a:ea typeface="標楷體" pitchFamily="65" charset="-120"/>
              </a:rPr>
              <a:t>但已更新「</a:t>
            </a:r>
            <a:r>
              <a:rPr lang="zh-TW" altLang="en-US" sz="3200" dirty="0" smtClean="0">
                <a:latin typeface="標楷體" pitchFamily="65" charset="-120"/>
                <a:ea typeface="標楷體" pitchFamily="65" charset="-120"/>
              </a:rPr>
              <a:t>新訂日期」</a:t>
            </a:r>
            <a:r>
              <a:rPr kumimoji="1" lang="en-US" altLang="zh-TW" sz="32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】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3957165" y="6077310"/>
            <a:ext cx="1219751" cy="512741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charset="-120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4417255" y="1307669"/>
          <a:ext cx="4655315" cy="609600"/>
        </p:xfrm>
        <a:graphic>
          <a:graphicData uri="http://schemas.openxmlformats.org/drawingml/2006/table">
            <a:tbl>
              <a:tblPr/>
              <a:tblGrid>
                <a:gridCol w="1252025"/>
                <a:gridCol w="3403290"/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制度編號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制度名稱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</a:tr>
              <a:tr h="282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P00458</a:t>
                      </a:r>
                      <a:endParaRPr kumimoji="0" lang="zh-TW" altLang="en-US" sz="2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運動設施與器材管理電腦作業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1" name="圓角矩形 10"/>
          <p:cNvSpPr>
            <a:spLocks noChangeArrowheads="1"/>
          </p:cNvSpPr>
          <p:nvPr/>
        </p:nvSpPr>
        <p:spPr bwMode="auto">
          <a:xfrm>
            <a:off x="8285870" y="829994"/>
            <a:ext cx="829993" cy="407964"/>
          </a:xfrm>
          <a:prstGeom prst="roundRect">
            <a:avLst>
              <a:gd name="adj" fmla="val 7097"/>
            </a:avLst>
          </a:prstGeom>
          <a:solidFill>
            <a:srgbClr val="FFFF99"/>
          </a:solidFill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 eaLnBrk="1" hangingPunct="1"/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案例四</a:t>
            </a:r>
            <a:endParaRPr lang="zh-TW" altLang="en-US" sz="20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7" name="圓角矩形 14"/>
          <p:cNvSpPr>
            <a:spLocks noChangeArrowheads="1"/>
          </p:cNvSpPr>
          <p:nvPr/>
        </p:nvSpPr>
        <p:spPr bwMode="auto">
          <a:xfrm>
            <a:off x="168810" y="5124086"/>
            <a:ext cx="2798678" cy="1586042"/>
          </a:xfrm>
          <a:prstGeom prst="roundRect">
            <a:avLst>
              <a:gd name="adj" fmla="val 7097"/>
            </a:avLst>
          </a:prstGeom>
          <a:solidFill>
            <a:schemeClr val="bg1"/>
          </a:solidFill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eaLnBrk="1" hangingPunct="1"/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2018/4/12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將</a:t>
            </a:r>
            <a:r>
              <a:rPr lang="zh-TW" altLang="en-US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「新訂日期」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由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2016/6/1</a:t>
            </a:r>
            <a:r>
              <a:rPr lang="zh-TW" altLang="en-US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更新為</a:t>
            </a:r>
            <a:r>
              <a:rPr lang="en-US" altLang="zh-TW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2018/6/1</a:t>
            </a:r>
            <a:r>
              <a:rPr kumimoji="0" lang="zh-TW" altLang="en-US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。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0" name="五邊形 19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105617" y="4829510"/>
            <a:ext cx="1390212" cy="461665"/>
          </a:xfrm>
          <a:prstGeom prst="homePlate">
            <a:avLst>
              <a:gd name="adj" fmla="val 46543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說明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1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lang="zh-TW" altLang="en-US" sz="3600" dirty="0" smtClean="0">
                <a:latin typeface="標楷體" pitchFamily="65" charset="-120"/>
                <a:ea typeface="標楷體" pitchFamily="65" charset="-120"/>
              </a:rPr>
              <a:t>規章制度定期總檢討執行狀況</a:t>
            </a:r>
            <a:endParaRPr lang="zh-TW" altLang="en-US" sz="36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9" name="圓角矩形 14"/>
          <p:cNvSpPr>
            <a:spLocks noChangeArrowheads="1"/>
          </p:cNvSpPr>
          <p:nvPr/>
        </p:nvSpPr>
        <p:spPr bwMode="auto">
          <a:xfrm>
            <a:off x="5303520" y="2233321"/>
            <a:ext cx="3615397" cy="1607341"/>
          </a:xfrm>
          <a:prstGeom prst="roundRect">
            <a:avLst>
              <a:gd name="adj" fmla="val 7097"/>
            </a:avLst>
          </a:prstGeom>
          <a:solidFill>
            <a:schemeClr val="bg1"/>
          </a:solidFill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eaLnBrk="1" hangingPunct="1"/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該經辦人因身體健康因素，經常請假，導致本案未檢討卻提報完成銷案。</a:t>
            </a:r>
            <a:r>
              <a:rPr lang="en-US" altLang="zh-TW" sz="2200" dirty="0" smtClean="0">
                <a:latin typeface="標楷體" pitchFamily="65" charset="-120"/>
                <a:ea typeface="標楷體" pitchFamily="65" charset="-120"/>
              </a:rPr>
              <a:t>(</a:t>
            </a: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現已降調南亞公司擔任基層警衛</a:t>
            </a:r>
            <a:r>
              <a:rPr lang="en-US" altLang="zh-TW" sz="2200" dirty="0" smtClean="0">
                <a:latin typeface="標楷體" pitchFamily="65" charset="-120"/>
                <a:ea typeface="標楷體" pitchFamily="65" charset="-120"/>
              </a:rPr>
              <a:t>)</a:t>
            </a:r>
          </a:p>
        </p:txBody>
      </p:sp>
      <p:sp>
        <p:nvSpPr>
          <p:cNvPr id="22" name="五邊形 21"/>
          <p:cNvSpPr>
            <a:spLocks noChangeArrowheads="1"/>
          </p:cNvSpPr>
          <p:nvPr/>
        </p:nvSpPr>
        <p:spPr bwMode="auto">
          <a:xfrm>
            <a:off x="5063806" y="1972299"/>
            <a:ext cx="2583983" cy="430887"/>
          </a:xfrm>
          <a:prstGeom prst="homePlate">
            <a:avLst>
              <a:gd name="adj" fmla="val 46543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人事組補充說明</a:t>
            </a:r>
            <a:endParaRPr lang="en-US" altLang="zh-TW" sz="2200" dirty="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4" name="圓角矩形 14"/>
          <p:cNvSpPr>
            <a:spLocks noChangeArrowheads="1"/>
          </p:cNvSpPr>
          <p:nvPr/>
        </p:nvSpPr>
        <p:spPr bwMode="auto">
          <a:xfrm>
            <a:off x="5739617" y="4971192"/>
            <a:ext cx="3271667" cy="1767234"/>
          </a:xfrm>
          <a:prstGeom prst="roundRect">
            <a:avLst>
              <a:gd name="adj" fmla="val 7097"/>
            </a:avLst>
          </a:prstGeom>
          <a:solidFill>
            <a:schemeClr val="bg1"/>
          </a:solidFill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r>
              <a:rPr kumimoji="0" lang="zh-TW" altLang="en-US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於新增「規章制度定期總檢討處理單」將</a:t>
            </a:r>
            <a:r>
              <a:rPr kumimoji="0"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管制須檢附呈准依據</a:t>
            </a:r>
            <a:r>
              <a:rPr kumimoji="0" lang="zh-TW" altLang="en-US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，俾利主管審核</a:t>
            </a:r>
            <a:r>
              <a:rPr kumimoji="0" lang="en-US" altLang="zh-TW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(</a:t>
            </a:r>
            <a:r>
              <a:rPr kumimoji="0" lang="zh-TW" altLang="en-US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預完日</a:t>
            </a:r>
            <a:r>
              <a:rPr kumimoji="0" lang="en-US" altLang="zh-TW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10/E)</a:t>
            </a:r>
            <a:endParaRPr lang="zh-TW" altLang="en-US" dirty="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5" name="五邊形 14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5519123" y="4652614"/>
            <a:ext cx="1789525" cy="461665"/>
          </a:xfrm>
          <a:prstGeom prst="homePlate">
            <a:avLst>
              <a:gd name="adj" fmla="val 46543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改善對策</a:t>
            </a:r>
            <a:endParaRPr lang="en-US" altLang="zh-TW" dirty="0" smtClean="0">
              <a:solidFill>
                <a:srgbClr val="0000CC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86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4428" y="2152357"/>
            <a:ext cx="4362891" cy="4427219"/>
          </a:xfrm>
          <a:prstGeom prst="rect">
            <a:avLst/>
          </a:prstGeom>
          <a:noFill/>
          <a:ln w="19050">
            <a:solidFill>
              <a:srgbClr val="0000CC"/>
            </a:solidFill>
            <a:miter lim="800000"/>
            <a:headEnd/>
            <a:tailEnd/>
          </a:ln>
        </p:spPr>
      </p:pic>
      <p:sp>
        <p:nvSpPr>
          <p:cNvPr id="33" name="五邊形 16"/>
          <p:cNvSpPr>
            <a:spLocks noChangeArrowheads="1"/>
          </p:cNvSpPr>
          <p:nvPr/>
        </p:nvSpPr>
        <p:spPr bwMode="auto">
          <a:xfrm>
            <a:off x="147494" y="1993484"/>
            <a:ext cx="1538432" cy="430887"/>
          </a:xfrm>
          <a:prstGeom prst="homePlate">
            <a:avLst>
              <a:gd name="adj" fmla="val 46543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交辦單</a:t>
            </a:r>
            <a:endParaRPr lang="en-US" altLang="zh-TW" sz="2200" dirty="0" smtClean="0">
              <a:latin typeface="標楷體" pitchFamily="65" charset="-120"/>
              <a:ea typeface="標楷體" pitchFamily="65" charset="-12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196948" y="1307669"/>
          <a:ext cx="8778240" cy="640080"/>
        </p:xfrm>
        <a:graphic>
          <a:graphicData uri="http://schemas.openxmlformats.org/drawingml/2006/table">
            <a:tbl>
              <a:tblPr/>
              <a:tblGrid>
                <a:gridCol w="1322363"/>
                <a:gridCol w="4389120"/>
                <a:gridCol w="1674055"/>
                <a:gridCol w="1392702"/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制度編號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制度名稱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新訂日期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檢討週期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</a:tr>
              <a:tr h="282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S40011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台化公司庫位規劃管理電腦作業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2016/3/1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</a:t>
                      </a: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年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4" name="矩形 13"/>
          <p:cNvSpPr/>
          <p:nvPr/>
        </p:nvSpPr>
        <p:spPr bwMode="auto">
          <a:xfrm>
            <a:off x="787790" y="6414867"/>
            <a:ext cx="2335237" cy="196949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charset="-120"/>
            </a:endParaRPr>
          </a:p>
        </p:txBody>
      </p:sp>
      <p:sp>
        <p:nvSpPr>
          <p:cNvPr id="11" name="圓角矩形 14"/>
          <p:cNvSpPr>
            <a:spLocks noChangeArrowheads="1"/>
          </p:cNvSpPr>
          <p:nvPr/>
        </p:nvSpPr>
        <p:spPr bwMode="auto">
          <a:xfrm>
            <a:off x="5007039" y="2493609"/>
            <a:ext cx="3883746" cy="1135856"/>
          </a:xfrm>
          <a:prstGeom prst="roundRect">
            <a:avLst>
              <a:gd name="adj" fmla="val 7097"/>
            </a:avLst>
          </a:prstGeom>
          <a:solidFill>
            <a:schemeClr val="bg1"/>
          </a:solidFill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eaLnBrk="1" hangingPunct="1"/>
            <a:r>
              <a:rPr lang="en-US" altLang="zh-TW" sz="2200" dirty="0" smtClean="0">
                <a:latin typeface="標楷體" pitchFamily="65" charset="-120"/>
                <a:ea typeface="標楷體" pitchFamily="65" charset="-120"/>
              </a:rPr>
              <a:t>2018/1/2</a:t>
            </a: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電腦自轉「交辦單」，經檢討後，</a:t>
            </a:r>
            <a:r>
              <a:rPr lang="en-US" altLang="zh-TW" sz="2200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2018/3/2</a:t>
            </a:r>
            <a:r>
              <a:rPr lang="zh-TW" altLang="en-US" sz="2200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呈</a:t>
            </a:r>
            <a:r>
              <a:rPr lang="zh-TW" altLang="en-US" sz="2200" u="sng" dirty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核銷</a:t>
            </a:r>
            <a:r>
              <a:rPr lang="zh-TW" altLang="en-US" sz="2200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案</a:t>
            </a: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。</a:t>
            </a:r>
            <a:endParaRPr lang="en-US" altLang="zh-TW" sz="2200" u="sng" dirty="0" smtClean="0">
              <a:solidFill>
                <a:srgbClr val="FF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3" name="五邊形 12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4854572" y="2176031"/>
            <a:ext cx="1390212" cy="461665"/>
          </a:xfrm>
          <a:prstGeom prst="homePlate">
            <a:avLst>
              <a:gd name="adj" fmla="val 46543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說明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5" name="Rectangle 23"/>
          <p:cNvSpPr>
            <a:spLocks noChangeArrowheads="1"/>
          </p:cNvSpPr>
          <p:nvPr/>
        </p:nvSpPr>
        <p:spPr bwMode="auto">
          <a:xfrm>
            <a:off x="-2348" y="724727"/>
            <a:ext cx="91440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zh-TW" sz="3200" dirty="0" smtClean="0"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 dirty="0" smtClean="0">
                <a:latin typeface="標楷體" pitchFamily="65" charset="-120"/>
                <a:ea typeface="標楷體" pitchFamily="65" charset="-120"/>
              </a:rPr>
              <a:t>作業程序檢討</a:t>
            </a:r>
            <a:r>
              <a:rPr kumimoji="1" lang="en-US" altLang="zh-TW" sz="32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】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</p:txBody>
      </p:sp>
      <p:sp>
        <p:nvSpPr>
          <p:cNvPr id="18" name="圓角矩形 17"/>
          <p:cNvSpPr>
            <a:spLocks noChangeArrowheads="1"/>
          </p:cNvSpPr>
          <p:nvPr/>
        </p:nvSpPr>
        <p:spPr bwMode="auto">
          <a:xfrm>
            <a:off x="8285870" y="829994"/>
            <a:ext cx="829993" cy="407964"/>
          </a:xfrm>
          <a:prstGeom prst="roundRect">
            <a:avLst>
              <a:gd name="adj" fmla="val 7097"/>
            </a:avLst>
          </a:prstGeom>
          <a:solidFill>
            <a:srgbClr val="FFFF99"/>
          </a:solidFill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 eaLnBrk="1" hangingPunct="1"/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案例五</a:t>
            </a:r>
            <a:endParaRPr lang="zh-TW" altLang="en-US" sz="20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9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lang="zh-TW" altLang="en-US" sz="3600" dirty="0" smtClean="0">
                <a:latin typeface="標楷體" pitchFamily="65" charset="-120"/>
                <a:ea typeface="標楷體" pitchFamily="65" charset="-120"/>
              </a:rPr>
              <a:t>規章制度定期總檢討執行狀況</a:t>
            </a:r>
            <a:endParaRPr lang="zh-TW" altLang="en-US" sz="3600" dirty="0"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228864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6700" y="5711482"/>
            <a:ext cx="8666285" cy="559487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880" y="2447778"/>
            <a:ext cx="4712677" cy="4149970"/>
          </a:xfrm>
          <a:prstGeom prst="rect">
            <a:avLst/>
          </a:prstGeom>
          <a:noFill/>
          <a:ln w="19050">
            <a:solidFill>
              <a:srgbClr val="0000CC"/>
            </a:solidFill>
            <a:miter lim="800000"/>
            <a:headEnd/>
            <a:tailEnd/>
          </a:ln>
        </p:spPr>
      </p:pic>
      <p:sp>
        <p:nvSpPr>
          <p:cNvPr id="17" name="Rectangle 23"/>
          <p:cNvSpPr>
            <a:spLocks noChangeArrowheads="1"/>
          </p:cNvSpPr>
          <p:nvPr/>
        </p:nvSpPr>
        <p:spPr bwMode="auto">
          <a:xfrm>
            <a:off x="-2348" y="724727"/>
            <a:ext cx="91440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zh-TW" sz="3200" dirty="0" smtClean="0"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 dirty="0" smtClean="0">
                <a:latin typeface="標楷體" pitchFamily="65" charset="-120"/>
                <a:ea typeface="標楷體" pitchFamily="65" charset="-120"/>
              </a:rPr>
              <a:t>作業程序檢討</a:t>
            </a:r>
            <a:r>
              <a:rPr kumimoji="1" lang="en-US" altLang="zh-TW" sz="32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】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</p:txBody>
      </p:sp>
      <p:sp>
        <p:nvSpPr>
          <p:cNvPr id="21" name="五邊形 16"/>
          <p:cNvSpPr>
            <a:spLocks noChangeArrowheads="1"/>
          </p:cNvSpPr>
          <p:nvPr/>
        </p:nvSpPr>
        <p:spPr bwMode="auto">
          <a:xfrm>
            <a:off x="42191" y="1993484"/>
            <a:ext cx="3805190" cy="430887"/>
          </a:xfrm>
          <a:prstGeom prst="homePlate">
            <a:avLst>
              <a:gd name="adj" fmla="val 46543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機能組業洽函</a:t>
            </a:r>
            <a:r>
              <a:rPr lang="en-US" altLang="zh-TW" sz="2200" dirty="0" smtClean="0">
                <a:latin typeface="標楷體" pitchFamily="65" charset="-120"/>
                <a:ea typeface="標楷體" pitchFamily="65" charset="-120"/>
              </a:rPr>
              <a:t>(2017/12/28)</a:t>
            </a:r>
          </a:p>
        </p:txBody>
      </p:sp>
      <p:sp>
        <p:nvSpPr>
          <p:cNvPr id="18" name="圓角矩形 17"/>
          <p:cNvSpPr>
            <a:spLocks noChangeArrowheads="1"/>
          </p:cNvSpPr>
          <p:nvPr/>
        </p:nvSpPr>
        <p:spPr bwMode="auto">
          <a:xfrm>
            <a:off x="8285870" y="829994"/>
            <a:ext cx="829993" cy="407964"/>
          </a:xfrm>
          <a:prstGeom prst="roundRect">
            <a:avLst>
              <a:gd name="adj" fmla="val 7097"/>
            </a:avLst>
          </a:prstGeom>
          <a:solidFill>
            <a:srgbClr val="FFFF99"/>
          </a:solidFill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 eaLnBrk="1" hangingPunct="1"/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案例五</a:t>
            </a:r>
            <a:endParaRPr lang="zh-TW" altLang="en-US" sz="20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5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lang="zh-TW" altLang="en-US" sz="3600" dirty="0" smtClean="0">
                <a:latin typeface="標楷體" pitchFamily="65" charset="-120"/>
                <a:ea typeface="標楷體" pitchFamily="65" charset="-120"/>
              </a:rPr>
              <a:t>規章制度定期總檢討執行狀況</a:t>
            </a:r>
            <a:endParaRPr lang="zh-TW" altLang="en-US" sz="3600" dirty="0">
              <a:latin typeface="標楷體" pitchFamily="65" charset="-120"/>
              <a:ea typeface="標楷體" pitchFamily="65" charset="-120"/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/>
        </p:nvGraphicFramePr>
        <p:xfrm>
          <a:off x="196948" y="1307669"/>
          <a:ext cx="8778240" cy="640080"/>
        </p:xfrm>
        <a:graphic>
          <a:graphicData uri="http://schemas.openxmlformats.org/drawingml/2006/table">
            <a:tbl>
              <a:tblPr/>
              <a:tblGrid>
                <a:gridCol w="1322363"/>
                <a:gridCol w="4389120"/>
                <a:gridCol w="1674055"/>
                <a:gridCol w="1392702"/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制度編號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制度名稱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新訂日期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檢討週期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</a:tr>
              <a:tr h="282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S40011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台化公司庫位規劃管理電腦作業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2016/3/1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</a:t>
                      </a: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年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4" name="矩形 13"/>
          <p:cNvSpPr/>
          <p:nvPr/>
        </p:nvSpPr>
        <p:spPr bwMode="auto">
          <a:xfrm>
            <a:off x="787790" y="5434639"/>
            <a:ext cx="4107767" cy="935635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charset="-120"/>
            </a:endParaRPr>
          </a:p>
        </p:txBody>
      </p:sp>
      <p:sp>
        <p:nvSpPr>
          <p:cNvPr id="19" name="圓角矩形 14"/>
          <p:cNvSpPr>
            <a:spLocks noChangeArrowheads="1"/>
          </p:cNvSpPr>
          <p:nvPr/>
        </p:nvSpPr>
        <p:spPr bwMode="auto">
          <a:xfrm>
            <a:off x="4967219" y="5320693"/>
            <a:ext cx="4079632" cy="1209809"/>
          </a:xfrm>
          <a:prstGeom prst="roundRect">
            <a:avLst>
              <a:gd name="adj" fmla="val 7097"/>
            </a:avLst>
          </a:prstGeom>
          <a:solidFill>
            <a:srgbClr val="FFFF99"/>
          </a:solidFill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lvl="0" eaLnBrk="1" hangingPunct="1"/>
            <a:r>
              <a:rPr kumimoji="0" lang="zh-TW" altLang="en-US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為確保規章制度符合使用部門實務</a:t>
            </a:r>
            <a:r>
              <a:rPr kumimoji="0" lang="zh-TW" altLang="en-US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作業需求</a:t>
            </a:r>
            <a:r>
              <a:rPr kumimoji="0" lang="zh-TW" altLang="en-US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，</a:t>
            </a:r>
            <a:r>
              <a:rPr kumimoji="0"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請各公司提供增修訂建議事項</a:t>
            </a:r>
            <a:r>
              <a:rPr kumimoji="0" lang="zh-TW" altLang="en-US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。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2513921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5975" y="3277771"/>
            <a:ext cx="8819550" cy="1917739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</p:pic>
    </p:spTree>
    <p:extLst>
      <p:ext uri="{BB962C8B-B14F-4D97-AF65-F5344CB8AC3E}">
        <p14:creationId xmlns:p14="http://schemas.microsoft.com/office/powerpoint/2010/main" xmlns="" val="23831280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76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880" y="2447778"/>
            <a:ext cx="4712677" cy="4149970"/>
          </a:xfrm>
          <a:prstGeom prst="rect">
            <a:avLst/>
          </a:prstGeom>
          <a:noFill/>
          <a:ln w="19050">
            <a:solidFill>
              <a:srgbClr val="0000CC"/>
            </a:solidFill>
            <a:miter lim="800000"/>
            <a:headEnd/>
            <a:tailEnd/>
          </a:ln>
        </p:spPr>
      </p:pic>
      <p:sp>
        <p:nvSpPr>
          <p:cNvPr id="17" name="Rectangle 23"/>
          <p:cNvSpPr>
            <a:spLocks noChangeArrowheads="1"/>
          </p:cNvSpPr>
          <p:nvPr/>
        </p:nvSpPr>
        <p:spPr bwMode="auto">
          <a:xfrm>
            <a:off x="-2348" y="724727"/>
            <a:ext cx="91440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zh-TW" sz="3200" dirty="0" smtClean="0"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 dirty="0" smtClean="0">
                <a:latin typeface="標楷體" pitchFamily="65" charset="-120"/>
                <a:ea typeface="標楷體" pitchFamily="65" charset="-120"/>
              </a:rPr>
              <a:t>作業程序檢討</a:t>
            </a:r>
            <a:r>
              <a:rPr kumimoji="1" lang="en-US" altLang="zh-TW" sz="32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】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</p:txBody>
      </p:sp>
      <p:sp>
        <p:nvSpPr>
          <p:cNvPr id="21" name="五邊形 16"/>
          <p:cNvSpPr>
            <a:spLocks noChangeArrowheads="1"/>
          </p:cNvSpPr>
          <p:nvPr/>
        </p:nvSpPr>
        <p:spPr bwMode="auto">
          <a:xfrm>
            <a:off x="42190" y="1993484"/>
            <a:ext cx="2883889" cy="430887"/>
          </a:xfrm>
          <a:prstGeom prst="homePlate">
            <a:avLst>
              <a:gd name="adj" fmla="val 46543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業洽函</a:t>
            </a:r>
            <a:r>
              <a:rPr lang="en-US" altLang="zh-TW" sz="2200" dirty="0" smtClean="0">
                <a:latin typeface="標楷體" pitchFamily="65" charset="-120"/>
                <a:ea typeface="標楷體" pitchFamily="65" charset="-120"/>
              </a:rPr>
              <a:t>(2017/12/28)</a:t>
            </a:r>
          </a:p>
        </p:txBody>
      </p:sp>
      <p:sp>
        <p:nvSpPr>
          <p:cNvPr id="18" name="圓角矩形 17"/>
          <p:cNvSpPr>
            <a:spLocks noChangeArrowheads="1"/>
          </p:cNvSpPr>
          <p:nvPr/>
        </p:nvSpPr>
        <p:spPr bwMode="auto">
          <a:xfrm>
            <a:off x="8285870" y="829994"/>
            <a:ext cx="829993" cy="407964"/>
          </a:xfrm>
          <a:prstGeom prst="roundRect">
            <a:avLst>
              <a:gd name="adj" fmla="val 7097"/>
            </a:avLst>
          </a:prstGeom>
          <a:solidFill>
            <a:srgbClr val="FFFF99"/>
          </a:solidFill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 eaLnBrk="1" hangingPunct="1"/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案例五</a:t>
            </a:r>
            <a:endParaRPr lang="zh-TW" altLang="en-US" sz="20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5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lang="zh-TW" altLang="en-US" sz="3600" dirty="0" smtClean="0">
                <a:latin typeface="標楷體" pitchFamily="65" charset="-120"/>
                <a:ea typeface="標楷體" pitchFamily="65" charset="-120"/>
              </a:rPr>
              <a:t>規章制度定期總檢討執行狀況</a:t>
            </a:r>
            <a:endParaRPr lang="zh-TW" altLang="en-US" sz="3600" dirty="0">
              <a:latin typeface="標楷體" pitchFamily="65" charset="-120"/>
              <a:ea typeface="標楷體" pitchFamily="65" charset="-120"/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/>
        </p:nvGraphicFramePr>
        <p:xfrm>
          <a:off x="196948" y="1307669"/>
          <a:ext cx="8778240" cy="640080"/>
        </p:xfrm>
        <a:graphic>
          <a:graphicData uri="http://schemas.openxmlformats.org/drawingml/2006/table">
            <a:tbl>
              <a:tblPr/>
              <a:tblGrid>
                <a:gridCol w="1322363"/>
                <a:gridCol w="4389120"/>
                <a:gridCol w="1674055"/>
                <a:gridCol w="1392702"/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制度編號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制度名稱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新訂日期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檢討週期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</a:tr>
              <a:tr h="282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S40011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台化公司庫位規劃管理電腦作業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2016/3/1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</a:t>
                      </a: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年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228762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06738" y="2908262"/>
            <a:ext cx="6753225" cy="2465597"/>
          </a:xfrm>
          <a:prstGeom prst="rect">
            <a:avLst/>
          </a:prstGeom>
          <a:noFill/>
          <a:ln w="19050">
            <a:solidFill>
              <a:srgbClr val="0000CC"/>
            </a:solidFill>
            <a:miter lim="800000"/>
            <a:headEnd/>
            <a:tailEnd/>
          </a:ln>
        </p:spPr>
      </p:pic>
      <p:sp>
        <p:nvSpPr>
          <p:cNvPr id="16" name="五邊形 15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2184978" y="2482463"/>
            <a:ext cx="5544290" cy="430887"/>
          </a:xfrm>
          <a:prstGeom prst="homePlate">
            <a:avLst>
              <a:gd name="adj" fmla="val 46543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台化總經理室</a:t>
            </a:r>
            <a:r>
              <a:rPr lang="en-US" altLang="zh-TW" sz="2200" dirty="0" smtClean="0">
                <a:latin typeface="標楷體" pitchFamily="65" charset="-120"/>
                <a:ea typeface="標楷體" pitchFamily="65" charset="-120"/>
              </a:rPr>
              <a:t>2018/1/17</a:t>
            </a: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回覆</a:t>
            </a:r>
            <a:r>
              <a:rPr lang="en-US" altLang="zh-TW" sz="2200" dirty="0" smtClean="0">
                <a:latin typeface="標楷體" pitchFamily="65" charset="-120"/>
                <a:ea typeface="標楷體" pitchFamily="65" charset="-120"/>
              </a:rPr>
              <a:t>(</a:t>
            </a: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呈協理核准</a:t>
            </a:r>
            <a:r>
              <a:rPr lang="en-US" altLang="zh-TW" sz="2200" dirty="0" smtClean="0">
                <a:latin typeface="標楷體" pitchFamily="65" charset="-120"/>
                <a:ea typeface="標楷體" pitchFamily="65" charset="-120"/>
              </a:rPr>
              <a:t>)</a:t>
            </a:r>
          </a:p>
        </p:txBody>
      </p:sp>
      <p:sp>
        <p:nvSpPr>
          <p:cNvPr id="26" name="圓角矩形 14"/>
          <p:cNvSpPr>
            <a:spLocks noChangeArrowheads="1"/>
          </p:cNvSpPr>
          <p:nvPr/>
        </p:nvSpPr>
        <p:spPr bwMode="auto">
          <a:xfrm>
            <a:off x="5141344" y="5325831"/>
            <a:ext cx="3833846" cy="1209809"/>
          </a:xfrm>
          <a:prstGeom prst="roundRect">
            <a:avLst>
              <a:gd name="adj" fmla="val 7097"/>
            </a:avLst>
          </a:prstGeom>
          <a:solidFill>
            <a:srgbClr val="FFFF99"/>
          </a:solidFill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lvl="0" eaLnBrk="1" hangingPunct="1"/>
            <a:r>
              <a:rPr kumimoji="0" lang="zh-TW" altLang="en-US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針對制度「</a:t>
            </a:r>
            <a:r>
              <a:rPr kumimoji="0" lang="en-US" altLang="en-US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S40011</a:t>
            </a:r>
            <a:r>
              <a:rPr kumimoji="0" lang="zh-TW" altLang="en-US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台化公司庫位規劃管理電腦作業」，</a:t>
            </a:r>
            <a:r>
              <a:rPr kumimoji="0"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無修訂建議</a:t>
            </a:r>
            <a:r>
              <a:rPr kumimoji="0" lang="zh-TW" altLang="en-US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。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869223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953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915" y="2405574"/>
            <a:ext cx="4382748" cy="4396153"/>
          </a:xfrm>
          <a:prstGeom prst="rect">
            <a:avLst/>
          </a:prstGeom>
          <a:noFill/>
          <a:ln w="19050">
            <a:solidFill>
              <a:srgbClr val="0000CC"/>
            </a:solidFill>
            <a:miter lim="800000"/>
            <a:headEnd/>
            <a:tailEnd/>
          </a:ln>
        </p:spPr>
      </p:pic>
      <p:sp>
        <p:nvSpPr>
          <p:cNvPr id="17" name="Rectangle 23"/>
          <p:cNvSpPr>
            <a:spLocks noChangeArrowheads="1"/>
          </p:cNvSpPr>
          <p:nvPr/>
        </p:nvSpPr>
        <p:spPr bwMode="auto">
          <a:xfrm>
            <a:off x="-2348" y="724727"/>
            <a:ext cx="91440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zh-TW" sz="3200" dirty="0" smtClean="0"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 dirty="0" smtClean="0">
                <a:latin typeface="標楷體" pitchFamily="65" charset="-120"/>
                <a:ea typeface="標楷體" pitchFamily="65" charset="-120"/>
              </a:rPr>
              <a:t>作業程序檢討</a:t>
            </a:r>
            <a:r>
              <a:rPr kumimoji="1" lang="en-US" altLang="zh-TW" sz="32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】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</p:txBody>
      </p:sp>
      <p:sp>
        <p:nvSpPr>
          <p:cNvPr id="14" name="圓角矩形 14"/>
          <p:cNvSpPr>
            <a:spLocks noChangeArrowheads="1"/>
          </p:cNvSpPr>
          <p:nvPr/>
        </p:nvSpPr>
        <p:spPr bwMode="auto">
          <a:xfrm>
            <a:off x="4726749" y="2984866"/>
            <a:ext cx="4318775" cy="813411"/>
          </a:xfrm>
          <a:prstGeom prst="roundRect">
            <a:avLst>
              <a:gd name="adj" fmla="val 7097"/>
            </a:avLst>
          </a:prstGeom>
          <a:solidFill>
            <a:schemeClr val="bg1"/>
          </a:solidFill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eaLnBrk="1" hangingPunct="1"/>
            <a:r>
              <a:rPr kumimoji="0" lang="zh-TW" altLang="en-US" sz="2200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已符合實務需求</a:t>
            </a:r>
            <a:r>
              <a:rPr kumimoji="0" lang="zh-TW" altLang="en-US" sz="2200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，毋須再進行修訂</a:t>
            </a:r>
            <a:endParaRPr lang="zh-TW" altLang="en-US" sz="22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6" name="五邊形 15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4576486" y="2566883"/>
            <a:ext cx="2848074" cy="461665"/>
          </a:xfrm>
          <a:prstGeom prst="homePlate">
            <a:avLst>
              <a:gd name="adj" fmla="val 46543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說明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(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總檢討結果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)</a:t>
            </a:r>
          </a:p>
        </p:txBody>
      </p:sp>
      <p:sp>
        <p:nvSpPr>
          <p:cNvPr id="19" name="矩形 18"/>
          <p:cNvSpPr/>
          <p:nvPr/>
        </p:nvSpPr>
        <p:spPr bwMode="auto">
          <a:xfrm>
            <a:off x="84408" y="5922498"/>
            <a:ext cx="4304714" cy="182882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charset="-120"/>
            </a:endParaRPr>
          </a:p>
        </p:txBody>
      </p:sp>
      <p:sp>
        <p:nvSpPr>
          <p:cNvPr id="21" name="五邊形 16"/>
          <p:cNvSpPr>
            <a:spLocks noChangeArrowheads="1"/>
          </p:cNvSpPr>
          <p:nvPr/>
        </p:nvSpPr>
        <p:spPr bwMode="auto">
          <a:xfrm>
            <a:off x="42192" y="1993484"/>
            <a:ext cx="3221514" cy="430887"/>
          </a:xfrm>
          <a:prstGeom prst="homePlate">
            <a:avLst>
              <a:gd name="adj" fmla="val 46543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便簽</a:t>
            </a:r>
            <a:r>
              <a:rPr lang="en-US" altLang="zh-TW" sz="2200" dirty="0" smtClean="0">
                <a:latin typeface="標楷體" pitchFamily="65" charset="-120"/>
                <a:ea typeface="標楷體" pitchFamily="65" charset="-120"/>
              </a:rPr>
              <a:t>(2018/2/23</a:t>
            </a: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呈准</a:t>
            </a:r>
            <a:r>
              <a:rPr lang="en-US" altLang="zh-TW" sz="2200" dirty="0" smtClean="0">
                <a:latin typeface="標楷體" pitchFamily="65" charset="-120"/>
                <a:ea typeface="標楷體" pitchFamily="65" charset="-120"/>
              </a:rPr>
              <a:t>)</a:t>
            </a:r>
          </a:p>
        </p:txBody>
      </p:sp>
      <p:sp>
        <p:nvSpPr>
          <p:cNvPr id="18" name="圓角矩形 17"/>
          <p:cNvSpPr>
            <a:spLocks noChangeArrowheads="1"/>
          </p:cNvSpPr>
          <p:nvPr/>
        </p:nvSpPr>
        <p:spPr bwMode="auto">
          <a:xfrm>
            <a:off x="8285870" y="829994"/>
            <a:ext cx="829993" cy="407964"/>
          </a:xfrm>
          <a:prstGeom prst="roundRect">
            <a:avLst>
              <a:gd name="adj" fmla="val 7097"/>
            </a:avLst>
          </a:prstGeom>
          <a:solidFill>
            <a:srgbClr val="FFFF99"/>
          </a:solidFill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 eaLnBrk="1" hangingPunct="1"/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案例五</a:t>
            </a:r>
            <a:endParaRPr lang="zh-TW" altLang="en-US" sz="20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5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lang="zh-TW" altLang="en-US" sz="3600" dirty="0" smtClean="0">
                <a:latin typeface="標楷體" pitchFamily="65" charset="-120"/>
                <a:ea typeface="標楷體" pitchFamily="65" charset="-120"/>
              </a:rPr>
              <a:t>規章制度定期總檢討執行狀況</a:t>
            </a:r>
            <a:endParaRPr lang="zh-TW" altLang="en-US" sz="3600" dirty="0">
              <a:latin typeface="標楷體" pitchFamily="65" charset="-120"/>
              <a:ea typeface="標楷體" pitchFamily="65" charset="-120"/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/>
        </p:nvGraphicFramePr>
        <p:xfrm>
          <a:off x="196948" y="1307669"/>
          <a:ext cx="8778240" cy="640080"/>
        </p:xfrm>
        <a:graphic>
          <a:graphicData uri="http://schemas.openxmlformats.org/drawingml/2006/table">
            <a:tbl>
              <a:tblPr/>
              <a:tblGrid>
                <a:gridCol w="1322363"/>
                <a:gridCol w="4389120"/>
                <a:gridCol w="1674055"/>
                <a:gridCol w="1392702"/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制度編號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制度名稱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新訂日期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檢討週期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</a:tr>
              <a:tr h="282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S40011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台化公司庫位規劃管理電腦作業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2016/3/1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</a:t>
                      </a: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年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2509825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7288" y="5064369"/>
            <a:ext cx="8595358" cy="689348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</p:pic>
    </p:spTree>
    <p:extLst>
      <p:ext uri="{BB962C8B-B14F-4D97-AF65-F5344CB8AC3E}">
        <p14:creationId xmlns:p14="http://schemas.microsoft.com/office/powerpoint/2010/main" xmlns="" val="23831280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96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266" y="1452268"/>
            <a:ext cx="4837968" cy="4600575"/>
          </a:xfrm>
          <a:prstGeom prst="rect">
            <a:avLst/>
          </a:prstGeom>
          <a:noFill/>
          <a:ln w="19050">
            <a:solidFill>
              <a:srgbClr val="0000CC"/>
            </a:solidFill>
            <a:miter lim="800000"/>
            <a:headEnd/>
            <a:tailEnd/>
          </a:ln>
        </p:spPr>
      </p:pic>
      <p:sp>
        <p:nvSpPr>
          <p:cNvPr id="18" name="五邊形 16"/>
          <p:cNvSpPr>
            <a:spLocks noChangeArrowheads="1"/>
          </p:cNvSpPr>
          <p:nvPr/>
        </p:nvSpPr>
        <p:spPr bwMode="auto">
          <a:xfrm>
            <a:off x="147493" y="1304152"/>
            <a:ext cx="3938731" cy="430887"/>
          </a:xfrm>
          <a:prstGeom prst="homePlate">
            <a:avLst>
              <a:gd name="adj" fmla="val 46543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網路知識庫資料上傳申請單</a:t>
            </a:r>
            <a:endParaRPr lang="en-US" altLang="zh-TW" sz="2200" dirty="0" smtClean="0">
              <a:latin typeface="標楷體" pitchFamily="65" charset="-120"/>
              <a:ea typeface="標楷體" pitchFamily="65" charset="-120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4178105" y="1307669"/>
          <a:ext cx="4894465" cy="609600"/>
        </p:xfrm>
        <a:graphic>
          <a:graphicData uri="http://schemas.openxmlformats.org/drawingml/2006/table">
            <a:tbl>
              <a:tblPr/>
              <a:tblGrid>
                <a:gridCol w="1181686"/>
                <a:gridCol w="3712779"/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制度編號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制度名稱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</a:tr>
              <a:tr h="282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S40011</a:t>
                      </a:r>
                      <a:endParaRPr kumimoji="0" lang="zh-TW" altLang="en-US" sz="2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台化公司庫位規劃管理電腦作業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7" name="圓角矩形 14"/>
          <p:cNvSpPr>
            <a:spLocks noChangeArrowheads="1"/>
          </p:cNvSpPr>
          <p:nvPr/>
        </p:nvSpPr>
        <p:spPr bwMode="auto">
          <a:xfrm>
            <a:off x="168810" y="5157814"/>
            <a:ext cx="2798678" cy="1510287"/>
          </a:xfrm>
          <a:prstGeom prst="roundRect">
            <a:avLst>
              <a:gd name="adj" fmla="val 7097"/>
            </a:avLst>
          </a:prstGeom>
          <a:solidFill>
            <a:schemeClr val="bg1"/>
          </a:solidFill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eaLnBrk="1" hangingPunct="1"/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2018/2/23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將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「新訂日期」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由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2016/3/1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更新為</a:t>
            </a:r>
            <a:r>
              <a:rPr lang="en-US" altLang="zh-TW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2018/3/1</a:t>
            </a:r>
            <a:r>
              <a:rPr kumimoji="0" lang="zh-TW" altLang="en-US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。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0" name="五邊形 19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105617" y="4863239"/>
            <a:ext cx="1390212" cy="461665"/>
          </a:xfrm>
          <a:prstGeom prst="homePlate">
            <a:avLst>
              <a:gd name="adj" fmla="val 46543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說明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9" name="Rectangle 23"/>
          <p:cNvSpPr>
            <a:spLocks noChangeArrowheads="1"/>
          </p:cNvSpPr>
          <p:nvPr/>
        </p:nvSpPr>
        <p:spPr bwMode="auto">
          <a:xfrm>
            <a:off x="-2348" y="724727"/>
            <a:ext cx="91440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zh-TW" sz="3200" dirty="0" smtClean="0"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 dirty="0" smtClean="0">
                <a:latin typeface="標楷體" pitchFamily="65" charset="-120"/>
                <a:ea typeface="標楷體" pitchFamily="65" charset="-120"/>
              </a:rPr>
              <a:t>作業程序檢討</a:t>
            </a:r>
            <a:r>
              <a:rPr kumimoji="1" lang="en-US" altLang="zh-TW" sz="32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】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</p:txBody>
      </p:sp>
      <p:sp>
        <p:nvSpPr>
          <p:cNvPr id="22" name="圓角矩形 21"/>
          <p:cNvSpPr>
            <a:spLocks noChangeArrowheads="1"/>
          </p:cNvSpPr>
          <p:nvPr/>
        </p:nvSpPr>
        <p:spPr bwMode="auto">
          <a:xfrm>
            <a:off x="8285870" y="829994"/>
            <a:ext cx="829993" cy="407964"/>
          </a:xfrm>
          <a:prstGeom prst="roundRect">
            <a:avLst>
              <a:gd name="adj" fmla="val 7097"/>
            </a:avLst>
          </a:prstGeom>
          <a:solidFill>
            <a:srgbClr val="FFFF99"/>
          </a:solidFill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 eaLnBrk="1" hangingPunct="1"/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案例五</a:t>
            </a:r>
            <a:endParaRPr lang="zh-TW" altLang="en-US" sz="20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3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lang="zh-TW" altLang="en-US" sz="3600" dirty="0" smtClean="0">
                <a:latin typeface="標楷體" pitchFamily="65" charset="-120"/>
                <a:ea typeface="標楷體" pitchFamily="65" charset="-120"/>
              </a:rPr>
              <a:t>規章制度定期總檢討執行狀況</a:t>
            </a:r>
            <a:endParaRPr lang="zh-TW" altLang="en-US" sz="3600" dirty="0"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228966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54299" y="2956117"/>
            <a:ext cx="5991225" cy="3562350"/>
          </a:xfrm>
          <a:prstGeom prst="rect">
            <a:avLst/>
          </a:prstGeom>
          <a:noFill/>
          <a:ln w="19050">
            <a:solidFill>
              <a:srgbClr val="0000CC"/>
            </a:solidFill>
            <a:miter lim="800000"/>
            <a:headEnd/>
            <a:tailEnd/>
          </a:ln>
        </p:spPr>
      </p:pic>
      <p:sp>
        <p:nvSpPr>
          <p:cNvPr id="12" name="矩形 11"/>
          <p:cNvSpPr/>
          <p:nvPr/>
        </p:nvSpPr>
        <p:spPr bwMode="auto">
          <a:xfrm>
            <a:off x="4111913" y="6042804"/>
            <a:ext cx="1219751" cy="512741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圓角矩形 14">
            <a:hlinkClick r:id="" action="ppaction://customshow?id=10&amp;return=true"/>
          </p:cNvPr>
          <p:cNvSpPr>
            <a:spLocks noChangeArrowheads="1"/>
          </p:cNvSpPr>
          <p:nvPr/>
        </p:nvSpPr>
        <p:spPr bwMode="auto">
          <a:xfrm>
            <a:off x="213181" y="2025032"/>
            <a:ext cx="8746080" cy="812931"/>
          </a:xfrm>
          <a:prstGeom prst="roundRect">
            <a:avLst>
              <a:gd name="adj" fmla="val 7097"/>
            </a:avLst>
          </a:prstGeom>
          <a:solidFill>
            <a:schemeClr val="bg1"/>
          </a:solidFill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marL="266700" lvl="0" indent="-266700" eaLnBrk="1" hangingPunct="1"/>
            <a:r>
              <a:rPr lang="en-US" altLang="zh-TW" sz="2200" dirty="0" smtClean="0"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資訊部</a:t>
            </a:r>
            <a:r>
              <a:rPr lang="en-US" altLang="zh-TW" sz="2200" dirty="0" smtClean="0">
                <a:latin typeface="標楷體" pitchFamily="65" charset="-120"/>
                <a:ea typeface="標楷體" pitchFamily="65" charset="-120"/>
              </a:rPr>
              <a:t>2018/5/2</a:t>
            </a: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主動反應機能組該制度</a:t>
            </a:r>
            <a:r>
              <a:rPr lang="zh-TW" altLang="en-US" sz="2200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近年來無使用記錄</a:t>
            </a: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。</a:t>
            </a:r>
            <a:endParaRPr lang="en-US" altLang="zh-TW" sz="2200" dirty="0" smtClean="0">
              <a:latin typeface="標楷體" pitchFamily="65" charset="-120"/>
              <a:ea typeface="標楷體" pitchFamily="65" charset="-120"/>
            </a:endParaRPr>
          </a:p>
          <a:p>
            <a:pPr marL="266700" lvl="0" indent="-266700" eaLnBrk="1" hangingPunct="1"/>
            <a:r>
              <a:rPr lang="en-US" altLang="zh-TW" sz="2200" dirty="0" smtClean="0"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產銷組以</a:t>
            </a:r>
            <a:r>
              <a:rPr lang="en-US" altLang="zh-TW" sz="2200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NOTES</a:t>
            </a:r>
            <a:r>
              <a:rPr lang="zh-TW" altLang="en-US" sz="2200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郵件詢問台化總經理室組長同意取消</a:t>
            </a: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該制度</a:t>
            </a:r>
            <a:r>
              <a:rPr kumimoji="0" lang="zh-TW" altLang="en-US" sz="2200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。</a:t>
            </a:r>
            <a:endParaRPr lang="zh-TW" altLang="en-US" sz="22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5" name="Rectangle 23"/>
          <p:cNvSpPr>
            <a:spLocks noChangeArrowheads="1"/>
          </p:cNvSpPr>
          <p:nvPr/>
        </p:nvSpPr>
        <p:spPr bwMode="auto">
          <a:xfrm>
            <a:off x="-2348" y="724727"/>
            <a:ext cx="91440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zh-TW" sz="3200" dirty="0" smtClean="0"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 dirty="0" smtClean="0">
                <a:latin typeface="標楷體" pitchFamily="65" charset="-120"/>
                <a:ea typeface="標楷體" pitchFamily="65" charset="-120"/>
              </a:rPr>
              <a:t>作業程序檢討</a:t>
            </a:r>
            <a:r>
              <a:rPr kumimoji="1" lang="en-US" altLang="zh-TW" sz="32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】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</p:txBody>
      </p:sp>
      <p:sp>
        <p:nvSpPr>
          <p:cNvPr id="18" name="圓角矩形 17"/>
          <p:cNvSpPr>
            <a:spLocks noChangeArrowheads="1"/>
          </p:cNvSpPr>
          <p:nvPr/>
        </p:nvSpPr>
        <p:spPr bwMode="auto">
          <a:xfrm>
            <a:off x="8285870" y="829994"/>
            <a:ext cx="829993" cy="407964"/>
          </a:xfrm>
          <a:prstGeom prst="roundRect">
            <a:avLst>
              <a:gd name="adj" fmla="val 7097"/>
            </a:avLst>
          </a:prstGeom>
          <a:solidFill>
            <a:srgbClr val="FFFF99"/>
          </a:solidFill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 eaLnBrk="1" hangingPunct="1"/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案例五</a:t>
            </a:r>
            <a:endParaRPr lang="zh-TW" altLang="en-US" sz="20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9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lang="zh-TW" altLang="en-US" sz="3600" dirty="0" smtClean="0">
                <a:latin typeface="標楷體" pitchFamily="65" charset="-120"/>
                <a:ea typeface="標楷體" pitchFamily="65" charset="-120"/>
              </a:rPr>
              <a:t>規章制度定期總檢討執行狀況</a:t>
            </a:r>
            <a:endParaRPr lang="zh-TW" altLang="en-US" sz="3600" dirty="0">
              <a:latin typeface="標楷體" pitchFamily="65" charset="-120"/>
              <a:ea typeface="標楷體" pitchFamily="65" charset="-120"/>
            </a:endParaRPr>
          </a:p>
        </p:txBody>
      </p:sp>
      <p:graphicFrame>
        <p:nvGraphicFramePr>
          <p:cNvPr id="24" name="表格 23"/>
          <p:cNvGraphicFramePr>
            <a:graphicFrameLocks noGrp="1"/>
          </p:cNvGraphicFramePr>
          <p:nvPr/>
        </p:nvGraphicFramePr>
        <p:xfrm>
          <a:off x="196948" y="1307669"/>
          <a:ext cx="8778240" cy="640080"/>
        </p:xfrm>
        <a:graphic>
          <a:graphicData uri="http://schemas.openxmlformats.org/drawingml/2006/table">
            <a:tbl>
              <a:tblPr/>
              <a:tblGrid>
                <a:gridCol w="1322363"/>
                <a:gridCol w="4389120"/>
                <a:gridCol w="1674055"/>
                <a:gridCol w="1392702"/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制度編號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制度名稱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新訂日期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檢討週期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</a:tr>
              <a:tr h="282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S40011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台化公司庫位規劃管理電腦作業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2018/3/1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3</a:t>
                      </a: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年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2193" y="2915246"/>
            <a:ext cx="8603015" cy="3692588"/>
          </a:xfrm>
          <a:prstGeom prst="rect">
            <a:avLst/>
          </a:prstGeom>
          <a:noFill/>
          <a:ln w="19050">
            <a:solidFill>
              <a:srgbClr val="0000CC"/>
            </a:solidFill>
            <a:miter lim="800000"/>
            <a:headEnd/>
            <a:tailEnd/>
          </a:ln>
        </p:spPr>
      </p:pic>
      <p:sp>
        <p:nvSpPr>
          <p:cNvPr id="25" name="圓角矩形 14"/>
          <p:cNvSpPr>
            <a:spLocks noChangeArrowheads="1"/>
          </p:cNvSpPr>
          <p:nvPr/>
        </p:nvSpPr>
        <p:spPr bwMode="auto">
          <a:xfrm>
            <a:off x="3348586" y="5050488"/>
            <a:ext cx="3172984" cy="769441"/>
          </a:xfrm>
          <a:prstGeom prst="roundRect">
            <a:avLst>
              <a:gd name="adj" fmla="val 7097"/>
            </a:avLst>
          </a:prstGeom>
          <a:solidFill>
            <a:schemeClr val="bg1"/>
          </a:solidFill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lvl="0" eaLnBrk="1" hangingPunct="1"/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該作業已有</a:t>
            </a:r>
            <a:r>
              <a:rPr lang="en-US" altLang="zh-TW" sz="2200" dirty="0" smtClean="0">
                <a:latin typeface="標楷體" pitchFamily="65" charset="-120"/>
                <a:ea typeface="標楷體" pitchFamily="65" charset="-120"/>
              </a:rPr>
              <a:t>2</a:t>
            </a: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年未使用，請確認是否保留或取消</a:t>
            </a:r>
            <a:r>
              <a:rPr kumimoji="0" lang="zh-TW" altLang="en-US" sz="2000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。</a:t>
            </a:r>
            <a:endParaRPr lang="zh-TW" altLang="en-US" sz="22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0" name="五邊形 16"/>
          <p:cNvSpPr>
            <a:spLocks noChangeArrowheads="1"/>
          </p:cNvSpPr>
          <p:nvPr/>
        </p:nvSpPr>
        <p:spPr bwMode="auto">
          <a:xfrm>
            <a:off x="352741" y="5050488"/>
            <a:ext cx="2925297" cy="769441"/>
          </a:xfrm>
          <a:prstGeom prst="homePlate">
            <a:avLst>
              <a:gd name="adj" fmla="val 46543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機能組經辦</a:t>
            </a:r>
            <a:r>
              <a:rPr lang="en-US" altLang="zh-TW" sz="2200" dirty="0" smtClean="0">
                <a:latin typeface="標楷體" pitchFamily="65" charset="-120"/>
                <a:ea typeface="標楷體" pitchFamily="65" charset="-120"/>
              </a:rPr>
              <a:t>5/2</a:t>
            </a: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詢問</a:t>
            </a:r>
            <a:endParaRPr lang="en-US" altLang="zh-TW" sz="2200" dirty="0" smtClean="0">
              <a:latin typeface="標楷體" pitchFamily="65" charset="-120"/>
              <a:ea typeface="標楷體" pitchFamily="65" charset="-120"/>
            </a:endParaRPr>
          </a:p>
          <a:p>
            <a:pPr algn="ctr">
              <a:defRPr/>
            </a:pP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台化總經理室組長</a:t>
            </a:r>
            <a:endParaRPr lang="en-US" altLang="zh-TW" sz="2200" dirty="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7" name="圓角矩形 14"/>
          <p:cNvSpPr>
            <a:spLocks noChangeArrowheads="1"/>
          </p:cNvSpPr>
          <p:nvPr/>
        </p:nvSpPr>
        <p:spPr bwMode="auto">
          <a:xfrm>
            <a:off x="3348586" y="3294898"/>
            <a:ext cx="1344184" cy="767593"/>
          </a:xfrm>
          <a:prstGeom prst="roundRect">
            <a:avLst>
              <a:gd name="adj" fmla="val 7097"/>
            </a:avLst>
          </a:prstGeom>
          <a:solidFill>
            <a:schemeClr val="bg1"/>
          </a:solidFill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lvl="0" eaLnBrk="1" hangingPunct="1"/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請取消</a:t>
            </a:r>
            <a:r>
              <a:rPr kumimoji="0" lang="zh-TW" altLang="en-US" sz="2000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。</a:t>
            </a:r>
            <a:endParaRPr lang="zh-TW" altLang="en-US" sz="22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8" name="五邊形 16"/>
          <p:cNvSpPr>
            <a:spLocks noChangeArrowheads="1"/>
          </p:cNvSpPr>
          <p:nvPr/>
        </p:nvSpPr>
        <p:spPr bwMode="auto">
          <a:xfrm>
            <a:off x="352742" y="3293051"/>
            <a:ext cx="2925296" cy="769441"/>
          </a:xfrm>
          <a:prstGeom prst="homePlate">
            <a:avLst>
              <a:gd name="adj" fmla="val 46543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zh-TW" altLang="en-US" sz="2200" dirty="0">
                <a:latin typeface="標楷體" pitchFamily="65" charset="-120"/>
                <a:ea typeface="標楷體" pitchFamily="65" charset="-120"/>
              </a:rPr>
              <a:t>台化總經理</a:t>
            </a: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室組長</a:t>
            </a:r>
            <a:r>
              <a:rPr lang="en-US" altLang="zh-TW" sz="2200" dirty="0" smtClean="0">
                <a:latin typeface="標楷體" pitchFamily="65" charset="-120"/>
                <a:ea typeface="標楷體" pitchFamily="65" charset="-120"/>
              </a:rPr>
              <a:t>5/4</a:t>
            </a: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回覆機能組經辦</a:t>
            </a:r>
            <a:endParaRPr lang="en-US" altLang="zh-TW" sz="2200" dirty="0" smtClean="0"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297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180" y="2480030"/>
            <a:ext cx="4525774" cy="4098826"/>
          </a:xfrm>
          <a:prstGeom prst="rect">
            <a:avLst/>
          </a:prstGeom>
          <a:noFill/>
          <a:ln w="19050">
            <a:solidFill>
              <a:srgbClr val="0000CC"/>
            </a:solidFill>
            <a:miter lim="800000"/>
            <a:headEnd/>
            <a:tailEnd/>
          </a:ln>
        </p:spPr>
      </p:pic>
      <p:sp>
        <p:nvSpPr>
          <p:cNvPr id="17" name="矩形 16"/>
          <p:cNvSpPr/>
          <p:nvPr/>
        </p:nvSpPr>
        <p:spPr bwMode="auto">
          <a:xfrm>
            <a:off x="154306" y="4054416"/>
            <a:ext cx="4626851" cy="448574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charset="-120"/>
            </a:endParaRPr>
          </a:p>
        </p:txBody>
      </p:sp>
      <p:pic>
        <p:nvPicPr>
          <p:cNvPr id="230297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2785" y="4662329"/>
            <a:ext cx="8833195" cy="1556262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</p:pic>
      <p:sp>
        <p:nvSpPr>
          <p:cNvPr id="22" name="五邊形 16">
            <a:hlinkClick r:id="" action="ppaction://customshow?id=4&amp;return=true"/>
          </p:cNvPr>
          <p:cNvSpPr>
            <a:spLocks noChangeArrowheads="1"/>
          </p:cNvSpPr>
          <p:nvPr/>
        </p:nvSpPr>
        <p:spPr bwMode="auto">
          <a:xfrm>
            <a:off x="42192" y="1993485"/>
            <a:ext cx="3221513" cy="430887"/>
          </a:xfrm>
          <a:prstGeom prst="homePlate">
            <a:avLst>
              <a:gd name="adj" fmla="val 46543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便簽</a:t>
            </a:r>
            <a:r>
              <a:rPr lang="en-US" altLang="zh-TW" sz="2200" dirty="0" smtClean="0">
                <a:latin typeface="標楷體" pitchFamily="65" charset="-120"/>
                <a:ea typeface="標楷體" pitchFamily="65" charset="-120"/>
              </a:rPr>
              <a:t>(2018/5/10</a:t>
            </a: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呈准</a:t>
            </a:r>
            <a:r>
              <a:rPr lang="en-US" altLang="zh-TW" sz="2200" dirty="0" smtClean="0">
                <a:latin typeface="標楷體" pitchFamily="65" charset="-120"/>
                <a:ea typeface="標楷體" pitchFamily="65" charset="-120"/>
              </a:rPr>
              <a:t>)</a:t>
            </a:r>
          </a:p>
        </p:txBody>
      </p:sp>
      <p:sp>
        <p:nvSpPr>
          <p:cNvPr id="15" name="Rectangle 23"/>
          <p:cNvSpPr>
            <a:spLocks noChangeArrowheads="1"/>
          </p:cNvSpPr>
          <p:nvPr/>
        </p:nvSpPr>
        <p:spPr bwMode="auto">
          <a:xfrm>
            <a:off x="-2348" y="724727"/>
            <a:ext cx="91440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zh-TW" sz="3200" dirty="0" smtClean="0"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 dirty="0" smtClean="0">
                <a:latin typeface="標楷體" pitchFamily="65" charset="-120"/>
                <a:ea typeface="標楷體" pitchFamily="65" charset="-120"/>
              </a:rPr>
              <a:t>作業程序檢討</a:t>
            </a:r>
            <a:r>
              <a:rPr kumimoji="1" lang="en-US" altLang="zh-TW" sz="32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】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</p:txBody>
      </p:sp>
      <p:sp>
        <p:nvSpPr>
          <p:cNvPr id="18" name="圓角矩形 17"/>
          <p:cNvSpPr>
            <a:spLocks noChangeArrowheads="1"/>
          </p:cNvSpPr>
          <p:nvPr/>
        </p:nvSpPr>
        <p:spPr bwMode="auto">
          <a:xfrm>
            <a:off x="8285870" y="829994"/>
            <a:ext cx="829993" cy="407964"/>
          </a:xfrm>
          <a:prstGeom prst="roundRect">
            <a:avLst>
              <a:gd name="adj" fmla="val 7097"/>
            </a:avLst>
          </a:prstGeom>
          <a:solidFill>
            <a:srgbClr val="FFFF99"/>
          </a:solidFill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 eaLnBrk="1" hangingPunct="1"/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案例五</a:t>
            </a:r>
            <a:endParaRPr lang="zh-TW" altLang="en-US" sz="20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9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lang="zh-TW" altLang="en-US" sz="3600" dirty="0" smtClean="0">
                <a:latin typeface="標楷體" pitchFamily="65" charset="-120"/>
                <a:ea typeface="標楷體" pitchFamily="65" charset="-120"/>
              </a:rPr>
              <a:t>規章制度定期總檢討執行狀況</a:t>
            </a:r>
            <a:endParaRPr lang="zh-TW" altLang="en-US" sz="3600" dirty="0">
              <a:latin typeface="標楷體" pitchFamily="65" charset="-120"/>
              <a:ea typeface="標楷體" pitchFamily="65" charset="-120"/>
            </a:endParaRPr>
          </a:p>
        </p:txBody>
      </p:sp>
      <p:graphicFrame>
        <p:nvGraphicFramePr>
          <p:cNvPr id="24" name="表格 23"/>
          <p:cNvGraphicFramePr>
            <a:graphicFrameLocks noGrp="1"/>
          </p:cNvGraphicFramePr>
          <p:nvPr/>
        </p:nvGraphicFramePr>
        <p:xfrm>
          <a:off x="196948" y="1307669"/>
          <a:ext cx="8778240" cy="640080"/>
        </p:xfrm>
        <a:graphic>
          <a:graphicData uri="http://schemas.openxmlformats.org/drawingml/2006/table">
            <a:tbl>
              <a:tblPr/>
              <a:tblGrid>
                <a:gridCol w="1322363"/>
                <a:gridCol w="4389120"/>
                <a:gridCol w="1674055"/>
                <a:gridCol w="1392702"/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制度編號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制度名稱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新訂日期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檢討週期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</a:tr>
              <a:tr h="282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S40011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台化公司庫位規劃管理電腦作業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2018/3/1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3</a:t>
                      </a: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年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4" name="圓角矩形 14"/>
          <p:cNvSpPr>
            <a:spLocks noChangeArrowheads="1"/>
          </p:cNvSpPr>
          <p:nvPr/>
        </p:nvSpPr>
        <p:spPr bwMode="auto">
          <a:xfrm>
            <a:off x="4872562" y="2825093"/>
            <a:ext cx="4167919" cy="1704704"/>
          </a:xfrm>
          <a:prstGeom prst="roundRect">
            <a:avLst>
              <a:gd name="adj" fmla="val 7097"/>
            </a:avLst>
          </a:prstGeom>
          <a:solidFill>
            <a:schemeClr val="bg1"/>
          </a:solidFill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eaLnBrk="1" hangingPunct="1"/>
            <a:r>
              <a:rPr kumimoji="0" lang="zh-TW" altLang="en-US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作業係供彰化廠傳統倉庫管理使用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，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因</a:t>
            </a:r>
            <a:r>
              <a:rPr lang="zh-TW" altLang="en-US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近年來無</a:t>
            </a:r>
            <a:r>
              <a:rPr lang="zh-TW" altLang="en-US" u="sng" dirty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使用記錄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，配合</a:t>
            </a:r>
            <a:r>
              <a:rPr lang="zh-TW" altLang="en-US" u="sng" dirty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彰化廠</a:t>
            </a:r>
            <a:r>
              <a:rPr lang="zh-TW" altLang="en-US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停產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，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故取消</a:t>
            </a:r>
            <a:r>
              <a:rPr kumimoji="0" lang="zh-TW" altLang="en-US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。</a:t>
            </a:r>
            <a:endParaRPr kumimoji="0" lang="en-US" altLang="zh-TW" dirty="0" smtClean="0">
              <a:latin typeface="標楷體" pitchFamily="65" charset="-120"/>
              <a:ea typeface="標楷體" pitchFamily="65" charset="-120"/>
              <a:cs typeface="Times New Roman" pitchFamily="18" charset="0"/>
            </a:endParaRPr>
          </a:p>
          <a:p>
            <a:pPr eaLnBrk="1" hangingPunct="1"/>
            <a:r>
              <a:rPr kumimoji="0" lang="en-US" altLang="zh-TW" sz="2200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(</a:t>
            </a:r>
            <a:r>
              <a:rPr kumimoji="0" lang="zh-TW" altLang="en-US" sz="2200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便簽呈准後通知台化總經理室</a:t>
            </a:r>
            <a:r>
              <a:rPr kumimoji="0" lang="en-US" altLang="zh-TW" sz="2200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)</a:t>
            </a:r>
            <a:endParaRPr lang="zh-TW" altLang="en-US" sz="22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6" name="五邊形 15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4816928" y="2472318"/>
            <a:ext cx="1756399" cy="461665"/>
          </a:xfrm>
          <a:prstGeom prst="homePlate">
            <a:avLst>
              <a:gd name="adj" fmla="val 46543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取消原因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29862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1489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6402" y="2186650"/>
            <a:ext cx="7143750" cy="4229100"/>
          </a:xfrm>
          <a:prstGeom prst="rect">
            <a:avLst/>
          </a:prstGeom>
          <a:noFill/>
          <a:ln w="19050">
            <a:solidFill>
              <a:srgbClr val="0000CC"/>
            </a:solidFill>
            <a:miter lim="800000"/>
            <a:headEnd/>
            <a:tailEnd/>
          </a:ln>
        </p:spPr>
      </p:pic>
      <p:pic>
        <p:nvPicPr>
          <p:cNvPr id="211149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06061" y="3207204"/>
            <a:ext cx="6739462" cy="3383504"/>
          </a:xfrm>
          <a:prstGeom prst="rect">
            <a:avLst/>
          </a:prstGeom>
          <a:noFill/>
          <a:ln w="19050">
            <a:solidFill>
              <a:srgbClr val="0000CC"/>
            </a:solidFill>
            <a:miter lim="800000"/>
            <a:headEnd/>
            <a:tailEnd/>
          </a:ln>
        </p:spPr>
      </p:pic>
      <p:sp>
        <p:nvSpPr>
          <p:cNvPr id="18" name="五邊形 16"/>
          <p:cNvSpPr>
            <a:spLocks noChangeArrowheads="1"/>
          </p:cNvSpPr>
          <p:nvPr/>
        </p:nvSpPr>
        <p:spPr bwMode="auto">
          <a:xfrm>
            <a:off x="147493" y="1993484"/>
            <a:ext cx="3938731" cy="430887"/>
          </a:xfrm>
          <a:prstGeom prst="homePlate">
            <a:avLst>
              <a:gd name="adj" fmla="val 46543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網路知識庫資料上傳申請單</a:t>
            </a:r>
            <a:endParaRPr lang="en-US" altLang="zh-TW" sz="2200" dirty="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7" name="Rectangle 23"/>
          <p:cNvSpPr>
            <a:spLocks noChangeArrowheads="1"/>
          </p:cNvSpPr>
          <p:nvPr/>
        </p:nvSpPr>
        <p:spPr bwMode="auto">
          <a:xfrm>
            <a:off x="-2348" y="724727"/>
            <a:ext cx="91440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zh-TW" sz="3200" dirty="0" smtClean="0"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 dirty="0" smtClean="0">
                <a:latin typeface="標楷體" pitchFamily="65" charset="-120"/>
                <a:ea typeface="標楷體" pitchFamily="65" charset="-120"/>
              </a:rPr>
              <a:t>作業程序檢討</a:t>
            </a:r>
            <a:r>
              <a:rPr kumimoji="1" lang="en-US" altLang="zh-TW" sz="32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】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2813535" y="2773551"/>
            <a:ext cx="815930" cy="363543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charset="-120"/>
            </a:endParaRPr>
          </a:p>
        </p:txBody>
      </p:sp>
      <p:sp>
        <p:nvSpPr>
          <p:cNvPr id="14" name="圓角矩形 14"/>
          <p:cNvSpPr>
            <a:spLocks noChangeArrowheads="1"/>
          </p:cNvSpPr>
          <p:nvPr/>
        </p:nvSpPr>
        <p:spPr bwMode="auto">
          <a:xfrm>
            <a:off x="105397" y="5040126"/>
            <a:ext cx="2145433" cy="1642055"/>
          </a:xfrm>
          <a:prstGeom prst="roundRect">
            <a:avLst>
              <a:gd name="adj" fmla="val 7097"/>
            </a:avLst>
          </a:prstGeom>
          <a:solidFill>
            <a:schemeClr val="bg1"/>
          </a:solidFill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eaLnBrk="1" hangingPunct="1"/>
            <a:r>
              <a:rPr kumimoji="0" lang="en-US" altLang="zh-TW" sz="2200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2018/6/7</a:t>
            </a:r>
            <a:r>
              <a:rPr kumimoji="0" lang="zh-TW" altLang="en-US" sz="2200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透過</a:t>
            </a:r>
            <a:r>
              <a:rPr kumimoji="0" lang="en-US" altLang="zh-TW" sz="2200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OA</a:t>
            </a:r>
            <a:r>
              <a:rPr kumimoji="0" lang="zh-TW" altLang="en-US" sz="2200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「</a:t>
            </a:r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網路知識庫資料上傳申請單」註銷該制度</a:t>
            </a:r>
            <a:r>
              <a:rPr kumimoji="0" lang="zh-TW" altLang="en-US" sz="2200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。</a:t>
            </a:r>
            <a:endParaRPr lang="zh-TW" altLang="en-US" sz="22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1" name="五邊形 20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42204" y="4664726"/>
            <a:ext cx="1669568" cy="461665"/>
          </a:xfrm>
          <a:prstGeom prst="homePlate">
            <a:avLst>
              <a:gd name="adj" fmla="val 46543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註銷說明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6" name="圓角矩形 15"/>
          <p:cNvSpPr>
            <a:spLocks noChangeArrowheads="1"/>
          </p:cNvSpPr>
          <p:nvPr/>
        </p:nvSpPr>
        <p:spPr bwMode="auto">
          <a:xfrm>
            <a:off x="8285870" y="829994"/>
            <a:ext cx="829993" cy="407964"/>
          </a:xfrm>
          <a:prstGeom prst="roundRect">
            <a:avLst>
              <a:gd name="adj" fmla="val 7097"/>
            </a:avLst>
          </a:prstGeom>
          <a:solidFill>
            <a:srgbClr val="FFFF99"/>
          </a:solidFill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 eaLnBrk="1" hangingPunct="1"/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案例五</a:t>
            </a:r>
            <a:endParaRPr lang="zh-TW" altLang="en-US" sz="20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5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lang="zh-TW" altLang="en-US" sz="3600" dirty="0" smtClean="0">
                <a:latin typeface="標楷體" pitchFamily="65" charset="-120"/>
                <a:ea typeface="標楷體" pitchFamily="65" charset="-120"/>
              </a:rPr>
              <a:t>規章制度定期總檢討執行狀況</a:t>
            </a:r>
            <a:endParaRPr lang="zh-TW" altLang="en-US" sz="3600" dirty="0">
              <a:latin typeface="標楷體" pitchFamily="65" charset="-120"/>
              <a:ea typeface="標楷體" pitchFamily="65" charset="-120"/>
            </a:endParaRPr>
          </a:p>
        </p:txBody>
      </p:sp>
      <p:graphicFrame>
        <p:nvGraphicFramePr>
          <p:cNvPr id="22" name="表格 21"/>
          <p:cNvGraphicFramePr>
            <a:graphicFrameLocks noGrp="1"/>
          </p:cNvGraphicFramePr>
          <p:nvPr/>
        </p:nvGraphicFramePr>
        <p:xfrm>
          <a:off x="196948" y="1307669"/>
          <a:ext cx="8778240" cy="640080"/>
        </p:xfrm>
        <a:graphic>
          <a:graphicData uri="http://schemas.openxmlformats.org/drawingml/2006/table">
            <a:tbl>
              <a:tblPr/>
              <a:tblGrid>
                <a:gridCol w="1322363"/>
                <a:gridCol w="4389120"/>
                <a:gridCol w="1674055"/>
                <a:gridCol w="1392702"/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制度編號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制度名稱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新訂日期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檢討週期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</a:tr>
              <a:tr h="282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S40011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台化公司庫位規劃管理電腦作業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2018/3/1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3</a:t>
                      </a: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年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6" name="圓角矩形 14"/>
          <p:cNvSpPr>
            <a:spLocks noChangeArrowheads="1"/>
          </p:cNvSpPr>
          <p:nvPr/>
        </p:nvSpPr>
        <p:spPr bwMode="auto">
          <a:xfrm>
            <a:off x="4895557" y="5078438"/>
            <a:ext cx="4164036" cy="1674056"/>
          </a:xfrm>
          <a:prstGeom prst="roundRect">
            <a:avLst>
              <a:gd name="adj" fmla="val 7097"/>
            </a:avLst>
          </a:prstGeom>
          <a:solidFill>
            <a:schemeClr val="bg1"/>
          </a:solidFill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eaLnBrk="1" hangingPunct="1"/>
            <a:r>
              <a:rPr kumimoji="0" lang="zh-TW" altLang="en-US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人事組將</a:t>
            </a:r>
            <a:r>
              <a:rPr kumimoji="0"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管制須先正式會簽各公司</a:t>
            </a:r>
            <a:r>
              <a:rPr kumimoji="0" lang="zh-TW" altLang="en-US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確認，並</a:t>
            </a:r>
            <a:r>
              <a:rPr kumimoji="0"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檢附依規定權限呈准依據</a:t>
            </a:r>
            <a:r>
              <a:rPr kumimoji="0" lang="zh-TW" altLang="en-US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，始可申請註銷制度 </a:t>
            </a:r>
            <a:r>
              <a:rPr kumimoji="0" lang="en-US" altLang="zh-TW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(</a:t>
            </a:r>
            <a:r>
              <a:rPr kumimoji="0" lang="zh-TW" altLang="en-US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預完日</a:t>
            </a:r>
            <a:r>
              <a:rPr kumimoji="0" lang="en-US" altLang="zh-TW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10/E)</a:t>
            </a:r>
            <a:r>
              <a:rPr kumimoji="0" lang="zh-TW" altLang="en-US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。</a:t>
            </a:r>
            <a:endParaRPr kumimoji="0" lang="en-US" altLang="zh-TW" dirty="0" smtClean="0">
              <a:latin typeface="標楷體" pitchFamily="65" charset="-12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7" name="五邊形 26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4681643" y="4734087"/>
            <a:ext cx="1789525" cy="461665"/>
          </a:xfrm>
          <a:prstGeom prst="homePlate">
            <a:avLst>
              <a:gd name="adj" fmla="val 46543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改善對策</a:t>
            </a:r>
            <a:endParaRPr lang="en-US" altLang="zh-TW" dirty="0" smtClean="0">
              <a:solidFill>
                <a:srgbClr val="0000CC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831280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lang="zh-TW" altLang="en-US" sz="3600" dirty="0" smtClean="0">
                <a:latin typeface="標楷體" pitchFamily="65" charset="-120"/>
                <a:ea typeface="標楷體" pitchFamily="65" charset="-120"/>
              </a:rPr>
              <a:t>     制度未實施</a:t>
            </a:r>
            <a:r>
              <a:rPr lang="en-US" altLang="zh-TW" sz="3600" dirty="0" smtClean="0">
                <a:latin typeface="標楷體" pitchFamily="65" charset="-120"/>
                <a:ea typeface="標楷體" pitchFamily="65" charset="-120"/>
              </a:rPr>
              <a:t>(</a:t>
            </a:r>
            <a:r>
              <a:rPr lang="zh-TW" altLang="en-US" sz="3600" dirty="0" smtClean="0">
                <a:latin typeface="標楷體" pitchFamily="65" charset="-120"/>
                <a:ea typeface="標楷體" pitchFamily="65" charset="-120"/>
              </a:rPr>
              <a:t>執行</a:t>
            </a:r>
            <a:r>
              <a:rPr lang="en-US" altLang="zh-TW" sz="3600" dirty="0" smtClean="0">
                <a:latin typeface="標楷體" pitchFamily="65" charset="-120"/>
                <a:ea typeface="標楷體" pitchFamily="65" charset="-120"/>
              </a:rPr>
              <a:t>)</a:t>
            </a:r>
            <a:r>
              <a:rPr lang="zh-TW" altLang="en-US" sz="3600" dirty="0" smtClean="0">
                <a:latin typeface="標楷體" pitchFamily="65" charset="-120"/>
                <a:ea typeface="標楷體" pitchFamily="65" charset="-120"/>
              </a:rPr>
              <a:t>狀況自動化查核檢討</a:t>
            </a:r>
            <a:endParaRPr lang="zh-TW" altLang="en-US" sz="36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6" name="圓角矩形 14"/>
          <p:cNvSpPr>
            <a:spLocks noChangeArrowheads="1"/>
          </p:cNvSpPr>
          <p:nvPr/>
        </p:nvSpPr>
        <p:spPr bwMode="auto">
          <a:xfrm>
            <a:off x="2028825" y="1300153"/>
            <a:ext cx="6960429" cy="1628785"/>
          </a:xfrm>
          <a:prstGeom prst="roundRect">
            <a:avLst>
              <a:gd name="adj" fmla="val 7097"/>
            </a:avLst>
          </a:prstGeom>
          <a:noFill/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eaLnBrk="1" hangingPunct="1"/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落實且適時檢討電腦作業的上線範圍及使用情形，研擬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由電腦自動查核未實施、未執行等狀況，主動反應機能組、資訊部及使用部門三方共同檢討原因及擬定改善對策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。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8" name="五邊形 7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124264" y="1295280"/>
            <a:ext cx="1721004" cy="461665"/>
          </a:xfrm>
          <a:prstGeom prst="homePlate">
            <a:avLst>
              <a:gd name="adj" fmla="val 46543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改善目標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9" name="五邊形 8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124259" y="2977358"/>
            <a:ext cx="1721004" cy="461665"/>
          </a:xfrm>
          <a:prstGeom prst="homePlate">
            <a:avLst>
              <a:gd name="adj" fmla="val 46543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管理制度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208121" y="3528986"/>
            <a:ext cx="1322894" cy="724080"/>
          </a:xfrm>
          <a:prstGeom prst="rect">
            <a:avLst/>
          </a:prstGeom>
          <a:noFill/>
          <a:ln w="57150" cmpd="dbl" algn="ctr">
            <a:solidFill>
              <a:srgbClr val="0000FF"/>
            </a:solidFill>
            <a:round/>
            <a:headEnd/>
            <a:tailEnd type="triangle" w="med" len="med"/>
          </a:ln>
          <a:extLst/>
        </p:spPr>
        <p:txBody>
          <a:bodyPr lIns="0" tIns="0" rIns="0" bIns="0" anchor="ctr"/>
          <a:lstStyle/>
          <a:p>
            <a:pPr algn="ctr" eaLnBrk="1" hangingPunct="1"/>
            <a:r>
              <a:rPr lang="zh-TW" altLang="en-US" sz="2200" dirty="0" smtClean="0">
                <a:latin typeface="標楷體" pitchFamily="65" charset="-120"/>
                <a:ea typeface="標楷體" pitchFamily="65" charset="-120"/>
              </a:rPr>
              <a:t>管理規則作業辦法</a:t>
            </a:r>
            <a:endParaRPr lang="zh-TW" altLang="en-US" sz="2200" dirty="0">
              <a:latin typeface="標楷體" pitchFamily="65" charset="-120"/>
              <a:ea typeface="標楷體" pitchFamily="65" charset="-120"/>
            </a:endParaRPr>
          </a:p>
        </p:txBody>
      </p:sp>
      <p:grpSp>
        <p:nvGrpSpPr>
          <p:cNvPr id="2" name="群組 119"/>
          <p:cNvGrpSpPr/>
          <p:nvPr/>
        </p:nvGrpSpPr>
        <p:grpSpPr>
          <a:xfrm>
            <a:off x="204056" y="4253066"/>
            <a:ext cx="3227515" cy="1201724"/>
            <a:chOff x="204056" y="4253066"/>
            <a:chExt cx="3227515" cy="1201724"/>
          </a:xfrm>
        </p:grpSpPr>
        <p:cxnSp>
          <p:nvCxnSpPr>
            <p:cNvPr id="24" name="肘形接點 21"/>
            <p:cNvCxnSpPr>
              <a:stCxn id="23" idx="2"/>
              <a:endCxn id="28" idx="0"/>
            </p:cNvCxnSpPr>
            <p:nvPr/>
          </p:nvCxnSpPr>
          <p:spPr bwMode="auto">
            <a:xfrm rot="5400000">
              <a:off x="630192" y="4491334"/>
              <a:ext cx="477644" cy="1108"/>
            </a:xfrm>
            <a:prstGeom prst="bentConnector3">
              <a:avLst>
                <a:gd name="adj1" fmla="val 50000"/>
              </a:avLst>
            </a:prstGeom>
            <a:solidFill>
              <a:srgbClr val="CCFFCC"/>
            </a:solidFill>
            <a:ln w="76200" cap="flat" cmpd="sng" algn="ctr">
              <a:solidFill>
                <a:srgbClr val="0000CC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" name="矩形 27"/>
            <p:cNvSpPr/>
            <p:nvPr/>
          </p:nvSpPr>
          <p:spPr bwMode="auto">
            <a:xfrm>
              <a:off x="204056" y="4730710"/>
              <a:ext cx="1328809" cy="724080"/>
            </a:xfrm>
            <a:prstGeom prst="rect">
              <a:avLst/>
            </a:prstGeom>
            <a:noFill/>
            <a:ln w="57150" cmpd="dbl" algn="ctr">
              <a:solidFill>
                <a:srgbClr val="0000FF"/>
              </a:solidFill>
              <a:round/>
              <a:headEnd/>
              <a:tailEnd type="triangle" w="med" len="med"/>
            </a:ln>
            <a:extLst/>
          </p:spPr>
          <p:txBody>
            <a:bodyPr lIns="0" tIns="0" rIns="0" bIns="0" anchor="ctr"/>
            <a:lstStyle/>
            <a:p>
              <a:pPr algn="ctr" eaLnBrk="1" hangingPunct="1"/>
              <a:r>
                <a:rPr lang="en-US" altLang="zh-TW" sz="2200" dirty="0" smtClean="0">
                  <a:latin typeface="標楷體" pitchFamily="65" charset="-120"/>
                  <a:ea typeface="標楷體" pitchFamily="65" charset="-120"/>
                </a:rPr>
                <a:t>ERP</a:t>
              </a:r>
              <a:r>
                <a:rPr lang="zh-TW" altLang="en-US" sz="2200" dirty="0" smtClean="0">
                  <a:latin typeface="標楷體" pitchFamily="65" charset="-120"/>
                  <a:ea typeface="標楷體" pitchFamily="65" charset="-120"/>
                </a:rPr>
                <a:t>電腦</a:t>
              </a:r>
              <a:endParaRPr lang="en-US" altLang="zh-TW" sz="2200" dirty="0" smtClean="0">
                <a:latin typeface="標楷體" pitchFamily="65" charset="-120"/>
                <a:ea typeface="標楷體" pitchFamily="65" charset="-120"/>
              </a:endParaRPr>
            </a:p>
            <a:p>
              <a:pPr algn="ctr" eaLnBrk="1" hangingPunct="1"/>
              <a:r>
                <a:rPr lang="zh-TW" altLang="en-US" sz="2200" dirty="0" smtClean="0">
                  <a:latin typeface="標楷體" pitchFamily="65" charset="-120"/>
                  <a:ea typeface="標楷體" pitchFamily="65" charset="-120"/>
                </a:rPr>
                <a:t>作業說明</a:t>
              </a:r>
              <a:endParaRPr lang="zh-TW" altLang="en-US" sz="2200" dirty="0">
                <a:latin typeface="標楷體" pitchFamily="65" charset="-120"/>
                <a:ea typeface="標楷體" pitchFamily="65" charset="-120"/>
              </a:endParaRPr>
            </a:p>
          </p:txBody>
        </p:sp>
        <p:sp>
          <p:nvSpPr>
            <p:cNvPr id="39" name="矩形 38"/>
            <p:cNvSpPr/>
            <p:nvPr/>
          </p:nvSpPr>
          <p:spPr bwMode="auto">
            <a:xfrm>
              <a:off x="1651595" y="4726429"/>
              <a:ext cx="1328809" cy="724080"/>
            </a:xfrm>
            <a:prstGeom prst="rect">
              <a:avLst/>
            </a:prstGeom>
            <a:noFill/>
            <a:ln w="57150" cmpd="dbl" algn="ctr">
              <a:solidFill>
                <a:srgbClr val="0000FF"/>
              </a:solidFill>
              <a:round/>
              <a:headEnd/>
              <a:tailEnd type="triangle" w="med" len="med"/>
            </a:ln>
            <a:extLst/>
          </p:spPr>
          <p:txBody>
            <a:bodyPr lIns="0" tIns="0" rIns="0" bIns="0" anchor="ctr"/>
            <a:lstStyle/>
            <a:p>
              <a:pPr algn="ctr" eaLnBrk="1" hangingPunct="1"/>
              <a:r>
                <a:rPr lang="en-US" altLang="zh-TW" sz="2200" dirty="0" smtClean="0">
                  <a:latin typeface="標楷體" pitchFamily="65" charset="-120"/>
                  <a:ea typeface="標楷體" pitchFamily="65" charset="-120"/>
                </a:rPr>
                <a:t>ERP</a:t>
              </a:r>
              <a:r>
                <a:rPr lang="zh-TW" altLang="en-US" sz="2200" dirty="0" smtClean="0">
                  <a:latin typeface="標楷體" pitchFamily="65" charset="-120"/>
                  <a:ea typeface="標楷體" pitchFamily="65" charset="-120"/>
                </a:rPr>
                <a:t>電腦</a:t>
              </a:r>
              <a:endParaRPr lang="en-US" altLang="zh-TW" sz="2200" dirty="0" smtClean="0">
                <a:latin typeface="標楷體" pitchFamily="65" charset="-120"/>
                <a:ea typeface="標楷體" pitchFamily="65" charset="-120"/>
              </a:endParaRPr>
            </a:p>
            <a:p>
              <a:pPr algn="ctr" eaLnBrk="1" hangingPunct="1"/>
              <a:r>
                <a:rPr lang="zh-TW" altLang="en-US" sz="2200" dirty="0" smtClean="0">
                  <a:latin typeface="標楷體" pitchFamily="65" charset="-120"/>
                  <a:ea typeface="標楷體" pitchFamily="65" charset="-120"/>
                </a:rPr>
                <a:t>作業說明</a:t>
              </a:r>
              <a:endParaRPr lang="zh-TW" altLang="en-US" sz="2200" dirty="0">
                <a:latin typeface="標楷體" pitchFamily="65" charset="-120"/>
                <a:ea typeface="標楷體" pitchFamily="65" charset="-120"/>
              </a:endParaRPr>
            </a:p>
          </p:txBody>
        </p:sp>
        <p:cxnSp>
          <p:nvCxnSpPr>
            <p:cNvPr id="42" name="肘形接點 21"/>
            <p:cNvCxnSpPr>
              <a:stCxn id="23" idx="2"/>
              <a:endCxn id="39" idx="0"/>
            </p:cNvCxnSpPr>
            <p:nvPr/>
          </p:nvCxnSpPr>
          <p:spPr bwMode="auto">
            <a:xfrm rot="16200000" flipH="1">
              <a:off x="1356103" y="3766532"/>
              <a:ext cx="473363" cy="1446432"/>
            </a:xfrm>
            <a:prstGeom prst="bentConnector3">
              <a:avLst>
                <a:gd name="adj1" fmla="val 28318"/>
              </a:avLst>
            </a:prstGeom>
            <a:solidFill>
              <a:srgbClr val="CCFFCC"/>
            </a:solidFill>
            <a:ln w="76200" cap="flat" cmpd="sng" algn="ctr">
              <a:solidFill>
                <a:srgbClr val="0000CC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0" name="文字方塊 49"/>
            <p:cNvSpPr txBox="1"/>
            <p:nvPr/>
          </p:nvSpPr>
          <p:spPr>
            <a:xfrm>
              <a:off x="3008808" y="4732090"/>
              <a:ext cx="42276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200" dirty="0" smtClean="0">
                  <a:solidFill>
                    <a:srgbClr val="0000CC"/>
                  </a:solidFill>
                  <a:latin typeface="標楷體" pitchFamily="65" charset="-120"/>
                  <a:ea typeface="標楷體" pitchFamily="65" charset="-120"/>
                </a:rPr>
                <a:t>…</a:t>
              </a:r>
              <a:endParaRPr lang="zh-TW" altLang="en-US" sz="2200" dirty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endParaRPr>
            </a:p>
          </p:txBody>
        </p:sp>
      </p:grpSp>
      <p:grpSp>
        <p:nvGrpSpPr>
          <p:cNvPr id="3" name="群組 120"/>
          <p:cNvGrpSpPr/>
          <p:nvPr/>
        </p:nvGrpSpPr>
        <p:grpSpPr>
          <a:xfrm>
            <a:off x="199985" y="5454789"/>
            <a:ext cx="4586328" cy="1188891"/>
            <a:chOff x="199985" y="5454789"/>
            <a:chExt cx="4586328" cy="1188891"/>
          </a:xfrm>
        </p:grpSpPr>
        <p:sp>
          <p:nvSpPr>
            <p:cNvPr id="31" name="矩形 30"/>
            <p:cNvSpPr/>
            <p:nvPr/>
          </p:nvSpPr>
          <p:spPr bwMode="auto">
            <a:xfrm>
              <a:off x="199985" y="5919600"/>
              <a:ext cx="1328809" cy="724080"/>
            </a:xfrm>
            <a:prstGeom prst="rect">
              <a:avLst/>
            </a:prstGeom>
            <a:noFill/>
            <a:ln w="57150" cmpd="dbl" algn="ctr">
              <a:solidFill>
                <a:srgbClr val="0000FF"/>
              </a:solidFill>
              <a:round/>
              <a:headEnd/>
              <a:tailEnd type="triangle" w="med" len="med"/>
            </a:ln>
            <a:extLst/>
          </p:spPr>
          <p:txBody>
            <a:bodyPr lIns="0" tIns="0" rIns="0" bIns="0" anchor="ctr"/>
            <a:lstStyle/>
            <a:p>
              <a:pPr algn="ctr" eaLnBrk="1" hangingPunct="1"/>
              <a:r>
                <a:rPr lang="en-US" altLang="zh-TW" sz="2200" dirty="0" smtClean="0">
                  <a:latin typeface="標楷體" pitchFamily="65" charset="-120"/>
                  <a:ea typeface="標楷體" pitchFamily="65" charset="-120"/>
                </a:rPr>
                <a:t>OA</a:t>
              </a:r>
              <a:r>
                <a:rPr lang="zh-TW" altLang="en-US" sz="2200" dirty="0" smtClean="0">
                  <a:latin typeface="標楷體" pitchFamily="65" charset="-120"/>
                  <a:ea typeface="標楷體" pitchFamily="65" charset="-120"/>
                </a:rPr>
                <a:t>電腦</a:t>
              </a:r>
              <a:endParaRPr lang="en-US" altLang="zh-TW" sz="2200" dirty="0" smtClean="0">
                <a:latin typeface="標楷體" pitchFamily="65" charset="-120"/>
                <a:ea typeface="標楷體" pitchFamily="65" charset="-120"/>
              </a:endParaRPr>
            </a:p>
            <a:p>
              <a:pPr algn="ctr" eaLnBrk="1" hangingPunct="1"/>
              <a:r>
                <a:rPr lang="zh-TW" altLang="en-US" sz="2200" dirty="0" smtClean="0">
                  <a:latin typeface="標楷體" pitchFamily="65" charset="-120"/>
                  <a:ea typeface="標楷體" pitchFamily="65" charset="-120"/>
                </a:rPr>
                <a:t>作業說明</a:t>
              </a:r>
              <a:endParaRPr lang="zh-TW" altLang="en-US" sz="2200" dirty="0">
                <a:latin typeface="標楷體" pitchFamily="65" charset="-120"/>
                <a:ea typeface="標楷體" pitchFamily="65" charset="-120"/>
              </a:endParaRPr>
            </a:p>
          </p:txBody>
        </p:sp>
        <p:cxnSp>
          <p:nvCxnSpPr>
            <p:cNvPr id="36" name="肘形接點 21"/>
            <p:cNvCxnSpPr>
              <a:stCxn id="28" idx="2"/>
              <a:endCxn id="31" idx="0"/>
            </p:cNvCxnSpPr>
            <p:nvPr/>
          </p:nvCxnSpPr>
          <p:spPr bwMode="auto">
            <a:xfrm rot="5400000">
              <a:off x="634020" y="5685159"/>
              <a:ext cx="464810" cy="4071"/>
            </a:xfrm>
            <a:prstGeom prst="bentConnector3">
              <a:avLst>
                <a:gd name="adj1" fmla="val 50000"/>
              </a:avLst>
            </a:prstGeom>
            <a:solidFill>
              <a:srgbClr val="CCFFCC"/>
            </a:solidFill>
            <a:ln w="76200" cap="flat" cmpd="sng" algn="ctr">
              <a:solidFill>
                <a:srgbClr val="0000CC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0" name="矩形 39"/>
            <p:cNvSpPr/>
            <p:nvPr/>
          </p:nvSpPr>
          <p:spPr bwMode="auto">
            <a:xfrm>
              <a:off x="1647525" y="5915319"/>
              <a:ext cx="1328809" cy="724080"/>
            </a:xfrm>
            <a:prstGeom prst="rect">
              <a:avLst/>
            </a:prstGeom>
            <a:noFill/>
            <a:ln w="57150" cmpd="dbl" algn="ctr">
              <a:solidFill>
                <a:srgbClr val="0000FF"/>
              </a:solidFill>
              <a:round/>
              <a:headEnd/>
              <a:tailEnd type="triangle" w="med" len="med"/>
            </a:ln>
            <a:extLst/>
          </p:spPr>
          <p:txBody>
            <a:bodyPr lIns="0" tIns="0" rIns="0" bIns="0" anchor="ctr"/>
            <a:lstStyle/>
            <a:p>
              <a:pPr algn="ctr" eaLnBrk="1" hangingPunct="1"/>
              <a:r>
                <a:rPr lang="en-US" altLang="zh-TW" sz="2200" dirty="0" smtClean="0">
                  <a:latin typeface="標楷體" pitchFamily="65" charset="-120"/>
                  <a:ea typeface="標楷體" pitchFamily="65" charset="-120"/>
                </a:rPr>
                <a:t>OA</a:t>
              </a:r>
              <a:r>
                <a:rPr lang="zh-TW" altLang="en-US" sz="2200" dirty="0" smtClean="0">
                  <a:latin typeface="標楷體" pitchFamily="65" charset="-120"/>
                  <a:ea typeface="標楷體" pitchFamily="65" charset="-120"/>
                </a:rPr>
                <a:t>電腦</a:t>
              </a:r>
              <a:endParaRPr lang="en-US" altLang="zh-TW" sz="2200" dirty="0" smtClean="0">
                <a:latin typeface="標楷體" pitchFamily="65" charset="-120"/>
                <a:ea typeface="標楷體" pitchFamily="65" charset="-120"/>
              </a:endParaRPr>
            </a:p>
            <a:p>
              <a:pPr algn="ctr" eaLnBrk="1" hangingPunct="1"/>
              <a:r>
                <a:rPr lang="zh-TW" altLang="en-US" sz="2200" dirty="0" smtClean="0">
                  <a:latin typeface="標楷體" pitchFamily="65" charset="-120"/>
                  <a:ea typeface="標楷體" pitchFamily="65" charset="-120"/>
                </a:rPr>
                <a:t>作業說明</a:t>
              </a:r>
              <a:endParaRPr lang="zh-TW" altLang="en-US" sz="2200" dirty="0">
                <a:latin typeface="標楷體" pitchFamily="65" charset="-120"/>
                <a:ea typeface="標楷體" pitchFamily="65" charset="-120"/>
              </a:endParaRPr>
            </a:p>
          </p:txBody>
        </p:sp>
        <p:cxnSp>
          <p:nvCxnSpPr>
            <p:cNvPr id="46" name="肘形接點 21"/>
            <p:cNvCxnSpPr>
              <a:stCxn id="28" idx="2"/>
              <a:endCxn id="40" idx="0"/>
            </p:cNvCxnSpPr>
            <p:nvPr/>
          </p:nvCxnSpPr>
          <p:spPr bwMode="auto">
            <a:xfrm rot="16200000" flipH="1">
              <a:off x="1359931" y="4963319"/>
              <a:ext cx="460529" cy="1443469"/>
            </a:xfrm>
            <a:prstGeom prst="bentConnector3">
              <a:avLst>
                <a:gd name="adj1" fmla="val 33285"/>
              </a:avLst>
            </a:prstGeom>
            <a:solidFill>
              <a:srgbClr val="CCFFCC"/>
            </a:solidFill>
            <a:ln w="76200" cap="flat" cmpd="sng" algn="ctr">
              <a:solidFill>
                <a:srgbClr val="0000CC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1" name="文字方塊 50"/>
            <p:cNvSpPr txBox="1"/>
            <p:nvPr/>
          </p:nvSpPr>
          <p:spPr>
            <a:xfrm>
              <a:off x="4363550" y="5933773"/>
              <a:ext cx="42276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200" dirty="0" smtClean="0">
                  <a:solidFill>
                    <a:srgbClr val="0000CC"/>
                  </a:solidFill>
                  <a:latin typeface="標楷體" pitchFamily="65" charset="-120"/>
                  <a:ea typeface="標楷體" pitchFamily="65" charset="-120"/>
                </a:rPr>
                <a:t>…</a:t>
              </a:r>
              <a:endParaRPr lang="zh-TW" altLang="en-US" sz="2200" dirty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endParaRPr>
            </a:p>
          </p:txBody>
        </p:sp>
        <p:sp>
          <p:nvSpPr>
            <p:cNvPr id="52" name="矩形 51"/>
            <p:cNvSpPr/>
            <p:nvPr/>
          </p:nvSpPr>
          <p:spPr bwMode="auto">
            <a:xfrm>
              <a:off x="3082818" y="5911043"/>
              <a:ext cx="1328809" cy="724080"/>
            </a:xfrm>
            <a:prstGeom prst="rect">
              <a:avLst/>
            </a:prstGeom>
            <a:noFill/>
            <a:ln w="57150" cmpd="dbl" algn="ctr">
              <a:solidFill>
                <a:srgbClr val="0000FF"/>
              </a:solidFill>
              <a:round/>
              <a:headEnd/>
              <a:tailEnd type="triangle" w="med" len="med"/>
            </a:ln>
            <a:extLst/>
          </p:spPr>
          <p:txBody>
            <a:bodyPr lIns="0" tIns="0" rIns="0" bIns="0" anchor="ctr"/>
            <a:lstStyle/>
            <a:p>
              <a:pPr algn="ctr" eaLnBrk="1" hangingPunct="1"/>
              <a:r>
                <a:rPr lang="en-US" altLang="zh-TW" sz="2200" dirty="0" smtClean="0">
                  <a:latin typeface="標楷體" pitchFamily="65" charset="-120"/>
                  <a:ea typeface="標楷體" pitchFamily="65" charset="-120"/>
                </a:rPr>
                <a:t>OA</a:t>
              </a:r>
              <a:r>
                <a:rPr lang="zh-TW" altLang="en-US" sz="2200" dirty="0" smtClean="0">
                  <a:latin typeface="標楷體" pitchFamily="65" charset="-120"/>
                  <a:ea typeface="標楷體" pitchFamily="65" charset="-120"/>
                </a:rPr>
                <a:t>電腦</a:t>
              </a:r>
              <a:endParaRPr lang="en-US" altLang="zh-TW" sz="2200" dirty="0" smtClean="0">
                <a:latin typeface="標楷體" pitchFamily="65" charset="-120"/>
                <a:ea typeface="標楷體" pitchFamily="65" charset="-120"/>
              </a:endParaRPr>
            </a:p>
            <a:p>
              <a:pPr algn="ctr" eaLnBrk="1" hangingPunct="1"/>
              <a:r>
                <a:rPr lang="zh-TW" altLang="en-US" sz="2200" dirty="0" smtClean="0">
                  <a:latin typeface="標楷體" pitchFamily="65" charset="-120"/>
                  <a:ea typeface="標楷體" pitchFamily="65" charset="-120"/>
                </a:rPr>
                <a:t>作業說明</a:t>
              </a:r>
              <a:endParaRPr lang="zh-TW" altLang="en-US" sz="2200" dirty="0">
                <a:latin typeface="標楷體" pitchFamily="65" charset="-120"/>
                <a:ea typeface="標楷體" pitchFamily="65" charset="-120"/>
              </a:endParaRPr>
            </a:p>
          </p:txBody>
        </p:sp>
        <p:cxnSp>
          <p:nvCxnSpPr>
            <p:cNvPr id="53" name="肘形接點 21"/>
            <p:cNvCxnSpPr>
              <a:stCxn id="28" idx="2"/>
              <a:endCxn id="52" idx="0"/>
            </p:cNvCxnSpPr>
            <p:nvPr/>
          </p:nvCxnSpPr>
          <p:spPr bwMode="auto">
            <a:xfrm rot="16200000" flipH="1">
              <a:off x="2079715" y="4243535"/>
              <a:ext cx="456253" cy="2878763"/>
            </a:xfrm>
            <a:prstGeom prst="bentConnector3">
              <a:avLst>
                <a:gd name="adj1" fmla="val 33129"/>
              </a:avLst>
            </a:prstGeom>
            <a:solidFill>
              <a:srgbClr val="CCFFCC"/>
            </a:solidFill>
            <a:ln w="76200" cap="flat" cmpd="sng" algn="ctr">
              <a:solidFill>
                <a:srgbClr val="0000CC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0" name="五邊形 59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5963222" y="2977358"/>
            <a:ext cx="1721004" cy="461665"/>
          </a:xfrm>
          <a:prstGeom prst="homePlate">
            <a:avLst>
              <a:gd name="adj" fmla="val 46543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上線範圍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grpSp>
        <p:nvGrpSpPr>
          <p:cNvPr id="5" name="群組 121"/>
          <p:cNvGrpSpPr/>
          <p:nvPr/>
        </p:nvGrpSpPr>
        <p:grpSpPr>
          <a:xfrm>
            <a:off x="6143625" y="3524222"/>
            <a:ext cx="2674823" cy="590577"/>
            <a:chOff x="6143625" y="3524222"/>
            <a:chExt cx="2674823" cy="590577"/>
          </a:xfrm>
        </p:grpSpPr>
        <p:sp>
          <p:nvSpPr>
            <p:cNvPr id="62" name="矩形 61"/>
            <p:cNvSpPr/>
            <p:nvPr/>
          </p:nvSpPr>
          <p:spPr bwMode="auto">
            <a:xfrm>
              <a:off x="6143625" y="3524222"/>
              <a:ext cx="883772" cy="590577"/>
            </a:xfrm>
            <a:prstGeom prst="rect">
              <a:avLst/>
            </a:prstGeom>
            <a:noFill/>
            <a:ln w="57150" cmpd="dbl" algn="ctr">
              <a:solidFill>
                <a:schemeClr val="accent5">
                  <a:lumMod val="50000"/>
                </a:schemeClr>
              </a:solidFill>
              <a:round/>
              <a:headEnd/>
              <a:tailEnd type="triangle" w="med" len="med"/>
            </a:ln>
            <a:extLst/>
          </p:spPr>
          <p:txBody>
            <a:bodyPr lIns="0" tIns="0" rIns="0" bIns="0" anchor="ctr"/>
            <a:lstStyle/>
            <a:p>
              <a:pPr algn="ctr" eaLnBrk="1" hangingPunct="1"/>
              <a:r>
                <a:rPr lang="zh-TW" altLang="en-US" sz="2200" dirty="0" smtClean="0">
                  <a:latin typeface="標楷體" pitchFamily="65" charset="-120"/>
                  <a:ea typeface="標楷體" pitchFamily="65" charset="-120"/>
                </a:rPr>
                <a:t>台灣</a:t>
              </a:r>
              <a:endParaRPr lang="zh-TW" altLang="en-US" sz="2200" dirty="0">
                <a:latin typeface="標楷體" pitchFamily="65" charset="-120"/>
                <a:ea typeface="標楷體" pitchFamily="65" charset="-120"/>
              </a:endParaRPr>
            </a:p>
          </p:txBody>
        </p:sp>
        <p:sp>
          <p:nvSpPr>
            <p:cNvPr id="75" name="矩形 74"/>
            <p:cNvSpPr/>
            <p:nvPr/>
          </p:nvSpPr>
          <p:spPr bwMode="auto">
            <a:xfrm>
              <a:off x="7117025" y="3524222"/>
              <a:ext cx="805887" cy="590577"/>
            </a:xfrm>
            <a:prstGeom prst="rect">
              <a:avLst/>
            </a:prstGeom>
            <a:noFill/>
            <a:ln w="57150" cmpd="dbl" algn="ctr">
              <a:solidFill>
                <a:schemeClr val="accent5">
                  <a:lumMod val="50000"/>
                </a:schemeClr>
              </a:solidFill>
              <a:round/>
              <a:headEnd/>
              <a:tailEnd type="triangle" w="med" len="med"/>
            </a:ln>
            <a:extLst/>
          </p:spPr>
          <p:txBody>
            <a:bodyPr lIns="0" tIns="0" rIns="0" bIns="0" anchor="ctr"/>
            <a:lstStyle/>
            <a:p>
              <a:pPr algn="ctr" eaLnBrk="1" hangingPunct="1"/>
              <a:r>
                <a:rPr lang="zh-TW" altLang="en-US" sz="2200" dirty="0" smtClean="0">
                  <a:latin typeface="標楷體" pitchFamily="65" charset="-120"/>
                  <a:ea typeface="標楷體" pitchFamily="65" charset="-120"/>
                </a:rPr>
                <a:t>大陸</a:t>
              </a:r>
              <a:endParaRPr lang="zh-TW" altLang="en-US" sz="2200" dirty="0">
                <a:latin typeface="標楷體" pitchFamily="65" charset="-120"/>
                <a:ea typeface="標楷體" pitchFamily="65" charset="-120"/>
              </a:endParaRPr>
            </a:p>
          </p:txBody>
        </p:sp>
        <p:sp>
          <p:nvSpPr>
            <p:cNvPr id="76" name="矩形 75"/>
            <p:cNvSpPr/>
            <p:nvPr/>
          </p:nvSpPr>
          <p:spPr bwMode="auto">
            <a:xfrm>
              <a:off x="8039721" y="3524222"/>
              <a:ext cx="778727" cy="590577"/>
            </a:xfrm>
            <a:prstGeom prst="rect">
              <a:avLst/>
            </a:prstGeom>
            <a:noFill/>
            <a:ln w="57150" cmpd="dbl" algn="ctr">
              <a:solidFill>
                <a:schemeClr val="accent5">
                  <a:lumMod val="50000"/>
                </a:schemeClr>
              </a:solidFill>
              <a:round/>
              <a:headEnd/>
              <a:tailEnd type="triangle" w="med" len="med"/>
            </a:ln>
            <a:extLst/>
          </p:spPr>
          <p:txBody>
            <a:bodyPr lIns="0" tIns="0" rIns="0" bIns="0" anchor="ctr"/>
            <a:lstStyle/>
            <a:p>
              <a:pPr algn="ctr" eaLnBrk="1" hangingPunct="1"/>
              <a:r>
                <a:rPr lang="zh-TW" altLang="en-US" sz="2200" dirty="0" smtClean="0">
                  <a:latin typeface="標楷體" pitchFamily="65" charset="-120"/>
                  <a:ea typeface="標楷體" pitchFamily="65" charset="-120"/>
                </a:rPr>
                <a:t>越南</a:t>
              </a:r>
              <a:endParaRPr lang="zh-TW" altLang="en-US" sz="2200" dirty="0">
                <a:latin typeface="標楷體" pitchFamily="65" charset="-120"/>
                <a:ea typeface="標楷體" pitchFamily="65" charset="-120"/>
              </a:endParaRPr>
            </a:p>
          </p:txBody>
        </p:sp>
      </p:grpSp>
      <p:grpSp>
        <p:nvGrpSpPr>
          <p:cNvPr id="7" name="群組 122"/>
          <p:cNvGrpSpPr/>
          <p:nvPr/>
        </p:nvGrpSpPr>
        <p:grpSpPr>
          <a:xfrm>
            <a:off x="6165253" y="4114799"/>
            <a:ext cx="2683549" cy="2500313"/>
            <a:chOff x="6165253" y="4114799"/>
            <a:chExt cx="2683549" cy="2500313"/>
          </a:xfrm>
        </p:grpSpPr>
        <p:cxnSp>
          <p:nvCxnSpPr>
            <p:cNvPr id="69" name="肘形接點 21"/>
            <p:cNvCxnSpPr>
              <a:stCxn id="62" idx="2"/>
              <a:endCxn id="91" idx="0"/>
            </p:cNvCxnSpPr>
            <p:nvPr/>
          </p:nvCxnSpPr>
          <p:spPr bwMode="auto">
            <a:xfrm rot="5400000">
              <a:off x="6324869" y="4373274"/>
              <a:ext cx="519118" cy="2168"/>
            </a:xfrm>
            <a:prstGeom prst="bentConnector3">
              <a:avLst>
                <a:gd name="adj1" fmla="val 50000"/>
              </a:avLst>
            </a:prstGeom>
            <a:solidFill>
              <a:srgbClr val="CCFFCC"/>
            </a:solidFill>
            <a:ln w="76200" cap="flat" cmpd="sng" algn="ctr">
              <a:solidFill>
                <a:schemeClr val="accent5">
                  <a:lumMod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1" name="矩形 90"/>
            <p:cNvSpPr/>
            <p:nvPr/>
          </p:nvSpPr>
          <p:spPr bwMode="auto">
            <a:xfrm>
              <a:off x="6165253" y="4633917"/>
              <a:ext cx="836180" cy="1981195"/>
            </a:xfrm>
            <a:prstGeom prst="rect">
              <a:avLst/>
            </a:prstGeom>
            <a:noFill/>
            <a:ln w="57150" cmpd="dbl" algn="ctr">
              <a:solidFill>
                <a:schemeClr val="accent5">
                  <a:lumMod val="50000"/>
                </a:schemeClr>
              </a:solidFill>
              <a:round/>
              <a:headEnd/>
              <a:tailEnd type="triangle" w="med" len="med"/>
            </a:ln>
            <a:extLst/>
          </p:spPr>
          <p:txBody>
            <a:bodyPr lIns="0" tIns="0" rIns="0" bIns="0" anchor="ctr"/>
            <a:lstStyle/>
            <a:p>
              <a:pPr algn="ctr" eaLnBrk="1" hangingPunct="1"/>
              <a:r>
                <a:rPr lang="zh-TW" altLang="en-US" sz="2200" dirty="0" smtClean="0">
                  <a:latin typeface="標楷體" pitchFamily="65" charset="-120"/>
                  <a:ea typeface="標楷體" pitchFamily="65" charset="-120"/>
                </a:rPr>
                <a:t>台塑</a:t>
              </a:r>
              <a:endParaRPr lang="en-US" altLang="zh-TW" sz="2200" dirty="0" smtClean="0">
                <a:latin typeface="標楷體" pitchFamily="65" charset="-120"/>
                <a:ea typeface="標楷體" pitchFamily="65" charset="-120"/>
              </a:endParaRPr>
            </a:p>
            <a:p>
              <a:pPr algn="ctr" eaLnBrk="1" hangingPunct="1"/>
              <a:r>
                <a:rPr lang="zh-TW" altLang="en-US" sz="2200" dirty="0" smtClean="0">
                  <a:latin typeface="標楷體" pitchFamily="65" charset="-120"/>
                  <a:ea typeface="標楷體" pitchFamily="65" charset="-120"/>
                </a:rPr>
                <a:t>南亞</a:t>
              </a:r>
              <a:endParaRPr lang="en-US" altLang="zh-TW" sz="2200" dirty="0" smtClean="0">
                <a:latin typeface="標楷體" pitchFamily="65" charset="-120"/>
                <a:ea typeface="標楷體" pitchFamily="65" charset="-120"/>
              </a:endParaRPr>
            </a:p>
            <a:p>
              <a:pPr algn="ctr" eaLnBrk="1" hangingPunct="1"/>
              <a:r>
                <a:rPr lang="zh-TW" altLang="en-US" sz="2200" dirty="0" smtClean="0">
                  <a:latin typeface="標楷體" pitchFamily="65" charset="-120"/>
                  <a:ea typeface="標楷體" pitchFamily="65" charset="-120"/>
                </a:rPr>
                <a:t>台化</a:t>
              </a:r>
              <a:endParaRPr lang="en-US" altLang="zh-TW" sz="2200" dirty="0" smtClean="0">
                <a:latin typeface="標楷體" pitchFamily="65" charset="-120"/>
                <a:ea typeface="標楷體" pitchFamily="65" charset="-120"/>
              </a:endParaRPr>
            </a:p>
            <a:p>
              <a:pPr algn="ctr" eaLnBrk="1" hangingPunct="1"/>
              <a:r>
                <a:rPr lang="zh-TW" altLang="en-US" sz="2200" dirty="0" smtClean="0">
                  <a:latin typeface="標楷體" pitchFamily="65" charset="-120"/>
                  <a:ea typeface="標楷體" pitchFamily="65" charset="-120"/>
                </a:rPr>
                <a:t>塑化</a:t>
              </a:r>
              <a:endParaRPr lang="en-US" altLang="zh-TW" sz="2200" dirty="0" smtClean="0">
                <a:latin typeface="標楷體" pitchFamily="65" charset="-120"/>
                <a:ea typeface="標楷體" pitchFamily="65" charset="-120"/>
              </a:endParaRPr>
            </a:p>
            <a:p>
              <a:pPr algn="ctr" eaLnBrk="1" hangingPunct="1"/>
              <a:r>
                <a:rPr lang="en-US" altLang="zh-TW" sz="2200" dirty="0" smtClean="0">
                  <a:latin typeface="標楷體" pitchFamily="65" charset="-120"/>
                  <a:ea typeface="標楷體" pitchFamily="65" charset="-120"/>
                </a:rPr>
                <a:t>…</a:t>
              </a:r>
              <a:endParaRPr lang="zh-TW" altLang="en-US" sz="2200" dirty="0">
                <a:latin typeface="標楷體" pitchFamily="65" charset="-120"/>
                <a:ea typeface="標楷體" pitchFamily="65" charset="-120"/>
              </a:endParaRPr>
            </a:p>
          </p:txBody>
        </p:sp>
        <p:cxnSp>
          <p:nvCxnSpPr>
            <p:cNvPr id="106" name="肘形接點 21"/>
            <p:cNvCxnSpPr>
              <a:stCxn id="75" idx="2"/>
              <a:endCxn id="107" idx="0"/>
            </p:cNvCxnSpPr>
            <p:nvPr/>
          </p:nvCxnSpPr>
          <p:spPr bwMode="auto">
            <a:xfrm rot="5400000">
              <a:off x="7259568" y="4368748"/>
              <a:ext cx="514350" cy="6451"/>
            </a:xfrm>
            <a:prstGeom prst="bentConnector3">
              <a:avLst>
                <a:gd name="adj1" fmla="val 50000"/>
              </a:avLst>
            </a:prstGeom>
            <a:solidFill>
              <a:srgbClr val="CCFFCC"/>
            </a:solidFill>
            <a:ln w="76200" cap="flat" cmpd="sng" algn="ctr">
              <a:solidFill>
                <a:schemeClr val="accent5">
                  <a:lumMod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7" name="矩形 106"/>
            <p:cNvSpPr/>
            <p:nvPr/>
          </p:nvSpPr>
          <p:spPr bwMode="auto">
            <a:xfrm>
              <a:off x="7095427" y="4629149"/>
              <a:ext cx="836180" cy="1981195"/>
            </a:xfrm>
            <a:prstGeom prst="rect">
              <a:avLst/>
            </a:prstGeom>
            <a:noFill/>
            <a:ln w="57150" cmpd="dbl" algn="ctr">
              <a:solidFill>
                <a:schemeClr val="accent5">
                  <a:lumMod val="50000"/>
                </a:schemeClr>
              </a:solidFill>
              <a:round/>
              <a:headEnd/>
              <a:tailEnd type="triangle" w="med" len="med"/>
            </a:ln>
            <a:extLst/>
          </p:spPr>
          <p:txBody>
            <a:bodyPr lIns="0" tIns="0" rIns="0" bIns="0" anchor="ctr"/>
            <a:lstStyle/>
            <a:p>
              <a:pPr algn="ctr" eaLnBrk="1" hangingPunct="1"/>
              <a:r>
                <a:rPr lang="zh-TW" altLang="en-US" sz="2200" dirty="0" smtClean="0">
                  <a:latin typeface="標楷體" pitchFamily="65" charset="-120"/>
                  <a:ea typeface="標楷體" pitchFamily="65" charset="-120"/>
                </a:rPr>
                <a:t>寧波</a:t>
              </a:r>
              <a:endParaRPr lang="en-US" altLang="zh-TW" sz="2200" dirty="0" smtClean="0">
                <a:latin typeface="標楷體" pitchFamily="65" charset="-120"/>
                <a:ea typeface="標楷體" pitchFamily="65" charset="-120"/>
              </a:endParaRPr>
            </a:p>
            <a:p>
              <a:pPr algn="ctr" eaLnBrk="1" hangingPunct="1"/>
              <a:r>
                <a:rPr lang="zh-TW" altLang="en-US" sz="2200" dirty="0" smtClean="0">
                  <a:latin typeface="標楷體" pitchFamily="65" charset="-120"/>
                  <a:ea typeface="標楷體" pitchFamily="65" charset="-120"/>
                </a:rPr>
                <a:t>昆山</a:t>
              </a:r>
              <a:endParaRPr lang="en-US" altLang="zh-TW" sz="2200" dirty="0" smtClean="0">
                <a:latin typeface="標楷體" pitchFamily="65" charset="-120"/>
                <a:ea typeface="標楷體" pitchFamily="65" charset="-120"/>
              </a:endParaRPr>
            </a:p>
            <a:p>
              <a:pPr algn="ctr" eaLnBrk="1" hangingPunct="1"/>
              <a:r>
                <a:rPr lang="zh-TW" altLang="en-US" sz="2200" dirty="0" smtClean="0">
                  <a:latin typeface="標楷體" pitchFamily="65" charset="-120"/>
                  <a:ea typeface="標楷體" pitchFamily="65" charset="-120"/>
                </a:rPr>
                <a:t>南通</a:t>
              </a:r>
              <a:endParaRPr lang="en-US" altLang="zh-TW" sz="2200" dirty="0" smtClean="0">
                <a:latin typeface="標楷體" pitchFamily="65" charset="-120"/>
                <a:ea typeface="標楷體" pitchFamily="65" charset="-120"/>
              </a:endParaRPr>
            </a:p>
            <a:p>
              <a:pPr algn="ctr" eaLnBrk="1" hangingPunct="1"/>
              <a:r>
                <a:rPr lang="zh-TW" altLang="en-US" sz="2200" dirty="0" smtClean="0">
                  <a:latin typeface="標楷體" pitchFamily="65" charset="-120"/>
                  <a:ea typeface="標楷體" pitchFamily="65" charset="-120"/>
                </a:rPr>
                <a:t>惠州</a:t>
              </a:r>
              <a:endParaRPr lang="en-US" altLang="zh-TW" sz="2200" dirty="0" smtClean="0">
                <a:latin typeface="標楷體" pitchFamily="65" charset="-120"/>
                <a:ea typeface="標楷體" pitchFamily="65" charset="-120"/>
              </a:endParaRPr>
            </a:p>
            <a:p>
              <a:pPr algn="ctr" eaLnBrk="1" hangingPunct="1"/>
              <a:r>
                <a:rPr lang="en-US" altLang="zh-TW" sz="2200" dirty="0" smtClean="0">
                  <a:latin typeface="標楷體" pitchFamily="65" charset="-120"/>
                  <a:ea typeface="標楷體" pitchFamily="65" charset="-120"/>
                </a:rPr>
                <a:t>…</a:t>
              </a:r>
              <a:endParaRPr lang="zh-TW" altLang="en-US" sz="2200" dirty="0">
                <a:latin typeface="標楷體" pitchFamily="65" charset="-120"/>
                <a:ea typeface="標楷體" pitchFamily="65" charset="-120"/>
              </a:endParaRPr>
            </a:p>
          </p:txBody>
        </p:sp>
        <p:cxnSp>
          <p:nvCxnSpPr>
            <p:cNvPr id="109" name="肘形接點 21"/>
            <p:cNvCxnSpPr>
              <a:stCxn id="76" idx="2"/>
              <a:endCxn id="110" idx="0"/>
            </p:cNvCxnSpPr>
            <p:nvPr/>
          </p:nvCxnSpPr>
          <p:spPr bwMode="auto">
            <a:xfrm rot="16200000" flipH="1">
              <a:off x="8175107" y="4368776"/>
              <a:ext cx="509582" cy="1627"/>
            </a:xfrm>
            <a:prstGeom prst="bentConnector3">
              <a:avLst>
                <a:gd name="adj1" fmla="val 50000"/>
              </a:avLst>
            </a:prstGeom>
            <a:solidFill>
              <a:srgbClr val="CCFFCC"/>
            </a:solidFill>
            <a:ln w="76200" cap="flat" cmpd="sng" algn="ctr">
              <a:solidFill>
                <a:schemeClr val="accent5">
                  <a:lumMod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0" name="矩形 109"/>
            <p:cNvSpPr/>
            <p:nvPr/>
          </p:nvSpPr>
          <p:spPr bwMode="auto">
            <a:xfrm>
              <a:off x="8012622" y="4624381"/>
              <a:ext cx="836180" cy="1981195"/>
            </a:xfrm>
            <a:prstGeom prst="rect">
              <a:avLst/>
            </a:prstGeom>
            <a:noFill/>
            <a:ln w="57150" cmpd="dbl" algn="ctr">
              <a:solidFill>
                <a:schemeClr val="accent5">
                  <a:lumMod val="50000"/>
                </a:schemeClr>
              </a:solidFill>
              <a:round/>
              <a:headEnd/>
              <a:tailEnd type="triangle" w="med" len="med"/>
            </a:ln>
            <a:extLst/>
          </p:spPr>
          <p:txBody>
            <a:bodyPr lIns="0" tIns="0" rIns="0" bIns="0" anchor="ctr"/>
            <a:lstStyle/>
            <a:p>
              <a:pPr algn="ctr" eaLnBrk="1" hangingPunct="1"/>
              <a:r>
                <a:rPr lang="zh-TW" altLang="en-US" sz="2200" dirty="0" smtClean="0">
                  <a:latin typeface="標楷體" pitchFamily="65" charset="-120"/>
                  <a:ea typeface="標楷體" pitchFamily="65" charset="-120"/>
                </a:rPr>
                <a:t>河靜</a:t>
              </a:r>
              <a:endParaRPr lang="en-US" altLang="zh-TW" sz="2200" dirty="0" smtClean="0">
                <a:latin typeface="標楷體" pitchFamily="65" charset="-120"/>
                <a:ea typeface="標楷體" pitchFamily="65" charset="-120"/>
              </a:endParaRPr>
            </a:p>
            <a:p>
              <a:pPr algn="ctr" eaLnBrk="1" hangingPunct="1"/>
              <a:r>
                <a:rPr lang="zh-TW" altLang="en-US" sz="2200" dirty="0" smtClean="0">
                  <a:latin typeface="標楷體" pitchFamily="65" charset="-120"/>
                  <a:ea typeface="標楷體" pitchFamily="65" charset="-120"/>
                </a:rPr>
                <a:t>同奈</a:t>
              </a:r>
              <a:endParaRPr lang="en-US" altLang="zh-TW" sz="2200" dirty="0" smtClean="0">
                <a:latin typeface="標楷體" pitchFamily="65" charset="-120"/>
                <a:ea typeface="標楷體" pitchFamily="65" charset="-120"/>
              </a:endParaRPr>
            </a:p>
          </p:txBody>
        </p:sp>
      </p:grpSp>
      <p:sp>
        <p:nvSpPr>
          <p:cNvPr id="116" name="圓角矩形圖說文字 115"/>
          <p:cNvSpPr/>
          <p:nvPr/>
        </p:nvSpPr>
        <p:spPr bwMode="auto">
          <a:xfrm>
            <a:off x="4300537" y="5014907"/>
            <a:ext cx="1785937" cy="1157294"/>
          </a:xfrm>
          <a:prstGeom prst="wedgeRoundRectCallout">
            <a:avLst>
              <a:gd name="adj1" fmla="val -64268"/>
              <a:gd name="adj2" fmla="val 33626"/>
              <a:gd name="adj3" fmla="val 16667"/>
            </a:avLst>
          </a:prstGeom>
          <a:solidFill>
            <a:srgbClr val="FFFF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進度及異常管理是否</a:t>
            </a:r>
            <a:endParaRPr lang="en-US" altLang="zh-TW" dirty="0" smtClean="0">
              <a:solidFill>
                <a:srgbClr val="0000CC"/>
              </a:solidFill>
              <a:latin typeface="標楷體" pitchFamily="65" charset="-120"/>
              <a:ea typeface="標楷體" pitchFamily="65" charset="-12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已納入</a:t>
            </a:r>
            <a:r>
              <a:rPr lang="en-US" altLang="zh-TW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OA</a:t>
            </a:r>
            <a:r>
              <a:rPr lang="zh-TW" altLang="en-US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？</a:t>
            </a:r>
            <a:endParaRPr kumimoji="1" lang="zh-TW" altLang="en-US" b="1" i="0" u="none" strike="noStrike" cap="none" normalizeH="0" baseline="0" dirty="0" smtClean="0">
              <a:ln>
                <a:noFill/>
              </a:ln>
              <a:solidFill>
                <a:srgbClr val="0000CC"/>
              </a:solidFill>
              <a:effectLst/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17" name="圓角矩形圖說文字 116"/>
          <p:cNvSpPr/>
          <p:nvPr/>
        </p:nvSpPr>
        <p:spPr bwMode="auto">
          <a:xfrm>
            <a:off x="3328991" y="3057519"/>
            <a:ext cx="2414590" cy="914406"/>
          </a:xfrm>
          <a:prstGeom prst="wedgeRoundRectCallout">
            <a:avLst>
              <a:gd name="adj1" fmla="val 66842"/>
              <a:gd name="adj2" fmla="val 38099"/>
              <a:gd name="adj3" fmla="val 16667"/>
            </a:avLst>
          </a:prstGeom>
          <a:solidFill>
            <a:srgbClr val="FFFF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b="1" i="0" u="none" strike="noStrike" cap="none" normalizeH="0" baseline="0" dirty="0" smtClean="0">
                <a:ln>
                  <a:noFill/>
                </a:ln>
                <a:solidFill>
                  <a:srgbClr val="0000CC"/>
                </a:solidFill>
                <a:effectLst/>
                <a:latin typeface="標楷體" pitchFamily="65" charset="-120"/>
                <a:ea typeface="標楷體" pitchFamily="65" charset="-120"/>
              </a:rPr>
              <a:t>各制度推動範圍是否完整？</a:t>
            </a:r>
          </a:p>
        </p:txBody>
      </p:sp>
      <p:sp>
        <p:nvSpPr>
          <p:cNvPr id="118" name="圓角矩形圖說文字 117"/>
          <p:cNvSpPr/>
          <p:nvPr/>
        </p:nvSpPr>
        <p:spPr bwMode="auto">
          <a:xfrm>
            <a:off x="3514725" y="4043397"/>
            <a:ext cx="2243138" cy="900113"/>
          </a:xfrm>
          <a:prstGeom prst="wedgeRoundRectCallout">
            <a:avLst>
              <a:gd name="adj1" fmla="val 38305"/>
              <a:gd name="adj2" fmla="val 31004"/>
              <a:gd name="adj3" fmla="val 16667"/>
            </a:avLst>
          </a:prstGeom>
          <a:solidFill>
            <a:srgbClr val="FFFF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b="1" i="0" u="none" strike="noStrike" cap="none" normalizeH="0" baseline="0" dirty="0" smtClean="0">
                <a:ln>
                  <a:noFill/>
                </a:ln>
                <a:solidFill>
                  <a:srgbClr val="0000CC"/>
                </a:solidFill>
                <a:effectLst/>
                <a:latin typeface="標楷體" pitchFamily="65" charset="-120"/>
                <a:ea typeface="標楷體" pitchFamily="65" charset="-120"/>
              </a:rPr>
              <a:t>各制度是否</a:t>
            </a:r>
            <a:endParaRPr kumimoji="1" lang="en-US" altLang="zh-TW" b="1" i="0" u="none" strike="noStrike" cap="none" normalizeH="0" baseline="0" dirty="0" smtClean="0">
              <a:ln>
                <a:noFill/>
              </a:ln>
              <a:solidFill>
                <a:srgbClr val="0000CC"/>
              </a:solidFill>
              <a:effectLst/>
              <a:latin typeface="標楷體" pitchFamily="65" charset="-120"/>
              <a:ea typeface="標楷體" pitchFamily="65" charset="-12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b="1" i="0" u="none" strike="noStrike" cap="none" normalizeH="0" baseline="0" dirty="0" smtClean="0">
                <a:ln>
                  <a:noFill/>
                </a:ln>
                <a:solidFill>
                  <a:srgbClr val="0000CC"/>
                </a:solidFill>
                <a:effectLst/>
                <a:latin typeface="標楷體" pitchFamily="65" charset="-120"/>
                <a:ea typeface="標楷體" pitchFamily="65" charset="-120"/>
              </a:rPr>
              <a:t>有落實執行？</a:t>
            </a:r>
          </a:p>
        </p:txBody>
      </p:sp>
      <p:sp>
        <p:nvSpPr>
          <p:cNvPr id="37" name="Rectangle 23"/>
          <p:cNvSpPr>
            <a:spLocks noChangeArrowheads="1"/>
          </p:cNvSpPr>
          <p:nvPr/>
        </p:nvSpPr>
        <p:spPr bwMode="auto">
          <a:xfrm>
            <a:off x="-2348" y="724727"/>
            <a:ext cx="91440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zh-TW" sz="3200" dirty="0" smtClean="0"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 dirty="0" smtClean="0">
                <a:latin typeface="標楷體" pitchFamily="65" charset="-120"/>
                <a:ea typeface="標楷體" pitchFamily="65" charset="-120"/>
              </a:rPr>
              <a:t>強化「規章制度檢討作業」</a:t>
            </a:r>
            <a:r>
              <a:rPr kumimoji="1" lang="en-US" altLang="zh-TW" sz="32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】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376090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 animBg="1"/>
      <p:bldP spid="117" grpId="0" animBg="1"/>
      <p:bldP spid="118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五邊形 10">
            <a:hlinkClick r:id="" action="ppaction://customshow?id=9&amp;return=true"/>
          </p:cNvPr>
          <p:cNvSpPr>
            <a:spLocks noChangeArrowheads="1"/>
          </p:cNvSpPr>
          <p:nvPr/>
        </p:nvSpPr>
        <p:spPr bwMode="auto">
          <a:xfrm>
            <a:off x="124264" y="1295280"/>
            <a:ext cx="1790261" cy="461665"/>
          </a:xfrm>
          <a:prstGeom prst="homePlate">
            <a:avLst>
              <a:gd name="adj" fmla="val 46543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改善對策</a:t>
            </a:r>
            <a:endParaRPr lang="en-US" altLang="zh-TW" dirty="0" smtClean="0">
              <a:solidFill>
                <a:srgbClr val="0000CC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4" name="圓角矩形 14"/>
          <p:cNvSpPr>
            <a:spLocks noChangeArrowheads="1"/>
          </p:cNvSpPr>
          <p:nvPr/>
        </p:nvSpPr>
        <p:spPr bwMode="auto">
          <a:xfrm>
            <a:off x="280583" y="2293036"/>
            <a:ext cx="5529374" cy="3108965"/>
          </a:xfrm>
          <a:prstGeom prst="roundRect">
            <a:avLst>
              <a:gd name="adj" fmla="val 7097"/>
            </a:avLst>
          </a:prstGeom>
          <a:noFill/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eaLnBrk="1" hangingPunct="1"/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人事組將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建立「企業規章增</a:t>
            </a:r>
            <a:r>
              <a:rPr lang="en-US" altLang="zh-TW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(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修</a:t>
            </a:r>
            <a:r>
              <a:rPr lang="en-US" altLang="zh-TW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)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訂管制電腦作業」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pPr marL="271463" indent="-271463" eaLnBrk="1" hangingPunct="1"/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「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制度編號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」對應「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制度名稱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」。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pPr marL="271463" indent="-271463" eaLnBrk="1" hangingPunct="1"/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制度「</a:t>
            </a:r>
            <a:r>
              <a:rPr lang="en-US" altLang="zh-TW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(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預定</a:t>
            </a:r>
            <a:r>
              <a:rPr lang="en-US" altLang="zh-TW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)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實施範圍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(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地區、廠區、公司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)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」及「</a:t>
            </a:r>
            <a:r>
              <a:rPr lang="en-US" altLang="zh-TW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(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預定</a:t>
            </a:r>
            <a:r>
              <a:rPr lang="en-US" altLang="zh-TW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)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實施日期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」。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pPr marL="271463" indent="-271463" eaLnBrk="1" hangingPunct="1"/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3.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制度對應「</a:t>
            </a:r>
            <a:r>
              <a:rPr lang="en-US" altLang="zh-TW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ERP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螢幕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」、「</a:t>
            </a:r>
            <a:r>
              <a:rPr lang="en-US" altLang="zh-TW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ERP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表單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」、「</a:t>
            </a:r>
            <a:r>
              <a:rPr lang="en-US" altLang="zh-TW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OA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表單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」。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pPr marL="271463" indent="-271463" algn="r" eaLnBrk="1" hangingPunct="1"/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(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預完日：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2018/12/E)</a:t>
            </a:r>
          </a:p>
        </p:txBody>
      </p:sp>
      <p:sp>
        <p:nvSpPr>
          <p:cNvPr id="7" name="五邊形 6">
            <a:hlinkClick r:id="" action="ppaction://customshow?id=6&amp;return=true"/>
          </p:cNvPr>
          <p:cNvSpPr>
            <a:spLocks noChangeArrowheads="1"/>
          </p:cNvSpPr>
          <p:nvPr/>
        </p:nvSpPr>
        <p:spPr bwMode="auto">
          <a:xfrm>
            <a:off x="150540" y="1957013"/>
            <a:ext cx="1690245" cy="461665"/>
          </a:xfrm>
          <a:prstGeom prst="homePlate">
            <a:avLst>
              <a:gd name="adj" fmla="val 46543"/>
            </a:avLst>
          </a:prstGeom>
          <a:solidFill>
            <a:srgbClr val="FFFF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algn="ctr" eaLnBrk="1" hangingPunct="1">
              <a:defRPr/>
            </a:pPr>
            <a:r>
              <a:rPr kumimoji="0" lang="zh-TW" altLang="en-US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機能組</a:t>
            </a:r>
            <a:endParaRPr kumimoji="0" lang="en-US" altLang="zh-TW" dirty="0" smtClean="0">
              <a:solidFill>
                <a:srgbClr val="0000CC"/>
              </a:solidFill>
              <a:latin typeface="標楷體" pitchFamily="65" charset="-12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9" name="圓角矩形 14"/>
          <p:cNvSpPr>
            <a:spLocks noChangeArrowheads="1"/>
          </p:cNvSpPr>
          <p:nvPr/>
        </p:nvSpPr>
        <p:spPr bwMode="auto">
          <a:xfrm>
            <a:off x="2045894" y="1291082"/>
            <a:ext cx="6802684" cy="895350"/>
          </a:xfrm>
          <a:prstGeom prst="roundRect">
            <a:avLst>
              <a:gd name="adj" fmla="val 7097"/>
            </a:avLst>
          </a:prstGeom>
          <a:solidFill>
            <a:srgbClr val="FFFF99"/>
          </a:solidFill>
          <a:ln w="38100" cmpd="dbl" algn="ctr">
            <a:solidFill>
              <a:srgbClr val="0000CC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eaLnBrk="1" hangingPunct="1"/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建立</a:t>
            </a:r>
            <a:r>
              <a:rPr lang="zh-TW" altLang="en-US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系統化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且更為</a:t>
            </a:r>
            <a:r>
              <a:rPr lang="zh-TW" altLang="en-US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嚴謹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的管理方式，並由</a:t>
            </a:r>
            <a:r>
              <a:rPr lang="zh-TW" altLang="en-US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電腦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自動</a:t>
            </a:r>
            <a:r>
              <a:rPr lang="zh-TW" altLang="en-US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勾稽反應問題點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。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0" name="Rectangle 23"/>
          <p:cNvSpPr>
            <a:spLocks noChangeArrowheads="1"/>
          </p:cNvSpPr>
          <p:nvPr/>
        </p:nvSpPr>
        <p:spPr bwMode="auto">
          <a:xfrm>
            <a:off x="-2348" y="724727"/>
            <a:ext cx="91440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zh-TW" sz="3200" dirty="0" smtClean="0"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 dirty="0" smtClean="0">
                <a:latin typeface="標楷體" pitchFamily="65" charset="-120"/>
                <a:ea typeface="標楷體" pitchFamily="65" charset="-120"/>
              </a:rPr>
              <a:t>強化「規章制度檢討作業」</a:t>
            </a:r>
            <a:r>
              <a:rPr kumimoji="1" lang="en-US" altLang="zh-TW" sz="32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】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</p:txBody>
      </p:sp>
      <p:sp>
        <p:nvSpPr>
          <p:cNvPr id="13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lang="zh-TW" altLang="en-US" sz="3600" dirty="0" smtClean="0">
                <a:latin typeface="標楷體" pitchFamily="65" charset="-120"/>
                <a:ea typeface="標楷體" pitchFamily="65" charset="-120"/>
              </a:rPr>
              <a:t>     制度未實施</a:t>
            </a:r>
            <a:r>
              <a:rPr lang="en-US" altLang="zh-TW" sz="3600" dirty="0" smtClean="0">
                <a:latin typeface="標楷體" pitchFamily="65" charset="-120"/>
                <a:ea typeface="標楷體" pitchFamily="65" charset="-120"/>
              </a:rPr>
              <a:t>(</a:t>
            </a:r>
            <a:r>
              <a:rPr lang="zh-TW" altLang="en-US" sz="3600" dirty="0" smtClean="0">
                <a:latin typeface="標楷體" pitchFamily="65" charset="-120"/>
                <a:ea typeface="標楷體" pitchFamily="65" charset="-120"/>
              </a:rPr>
              <a:t>執行</a:t>
            </a:r>
            <a:r>
              <a:rPr lang="en-US" altLang="zh-TW" sz="3600" dirty="0" smtClean="0">
                <a:latin typeface="標楷體" pitchFamily="65" charset="-120"/>
                <a:ea typeface="標楷體" pitchFamily="65" charset="-120"/>
              </a:rPr>
              <a:t>)</a:t>
            </a:r>
            <a:r>
              <a:rPr lang="zh-TW" altLang="en-US" sz="3600" dirty="0" smtClean="0">
                <a:latin typeface="標楷體" pitchFamily="65" charset="-120"/>
                <a:ea typeface="標楷體" pitchFamily="65" charset="-120"/>
              </a:rPr>
              <a:t>狀況自動化查核檢討</a:t>
            </a:r>
            <a:endParaRPr lang="zh-TW" altLang="en-US" sz="36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4" name="圓角矩形 14"/>
          <p:cNvSpPr>
            <a:spLocks noChangeArrowheads="1"/>
          </p:cNvSpPr>
          <p:nvPr/>
        </p:nvSpPr>
        <p:spPr bwMode="auto">
          <a:xfrm>
            <a:off x="285946" y="5500469"/>
            <a:ext cx="8661105" cy="1069146"/>
          </a:xfrm>
          <a:prstGeom prst="roundRect">
            <a:avLst>
              <a:gd name="adj" fmla="val 7097"/>
            </a:avLst>
          </a:prstGeom>
          <a:noFill/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eaLnBrk="1" hangingPunct="1"/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為簡化各機能組建檔事務，程式完成後，初期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資訊部協助轉檔已完成確認的資料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，爾後則由機能組執行維護作業。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7" name="圓角矩形 14"/>
          <p:cNvSpPr>
            <a:spLocks noChangeArrowheads="1"/>
          </p:cNvSpPr>
          <p:nvPr/>
        </p:nvSpPr>
        <p:spPr bwMode="auto">
          <a:xfrm>
            <a:off x="6116107" y="2654298"/>
            <a:ext cx="2845013" cy="1286979"/>
          </a:xfrm>
          <a:prstGeom prst="roundRect">
            <a:avLst>
              <a:gd name="adj" fmla="val 7097"/>
            </a:avLst>
          </a:prstGeom>
          <a:noFill/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eaLnBrk="1" hangingPunct="1"/>
            <a:r>
              <a:rPr lang="zh-TW" altLang="en-US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電腦自動提示跟催各地區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(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或廠區、公司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)</a:t>
            </a:r>
            <a:r>
              <a:rPr lang="zh-TW" altLang="en-US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推動進度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。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8" name="圓角矩形 14"/>
          <p:cNvSpPr>
            <a:spLocks noChangeArrowheads="1"/>
          </p:cNvSpPr>
          <p:nvPr/>
        </p:nvSpPr>
        <p:spPr bwMode="auto">
          <a:xfrm>
            <a:off x="6113759" y="4100954"/>
            <a:ext cx="2845013" cy="1286979"/>
          </a:xfrm>
          <a:prstGeom prst="roundRect">
            <a:avLst>
              <a:gd name="adj" fmla="val 7097"/>
            </a:avLst>
          </a:prstGeom>
          <a:noFill/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TW" altLang="en-US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查核各制度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針對進度及異常管理納入</a:t>
            </a:r>
            <a:r>
              <a:rPr lang="en-US" altLang="zh-TW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OA</a:t>
            </a:r>
            <a:r>
              <a:rPr lang="zh-TW" altLang="en-US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電腦管制的推動狀況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。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5" name="向右箭號 14"/>
          <p:cNvSpPr/>
          <p:nvPr/>
        </p:nvSpPr>
        <p:spPr bwMode="auto">
          <a:xfrm>
            <a:off x="5669279" y="3432519"/>
            <a:ext cx="450167" cy="506437"/>
          </a:xfrm>
          <a:prstGeom prst="rightArrow">
            <a:avLst/>
          </a:prstGeom>
          <a:solidFill>
            <a:srgbClr val="CCFFCC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charset="-120"/>
            </a:endParaRPr>
          </a:p>
        </p:txBody>
      </p:sp>
      <p:sp>
        <p:nvSpPr>
          <p:cNvPr id="16" name="向右箭號 15"/>
          <p:cNvSpPr/>
          <p:nvPr/>
        </p:nvSpPr>
        <p:spPr bwMode="auto">
          <a:xfrm>
            <a:off x="5666931" y="4161707"/>
            <a:ext cx="450167" cy="506437"/>
          </a:xfrm>
          <a:prstGeom prst="rightArrow">
            <a:avLst/>
          </a:prstGeom>
          <a:solidFill>
            <a:srgbClr val="CCFFCC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955916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lang="zh-TW" altLang="en-US" sz="3600" dirty="0" smtClean="0">
                <a:latin typeface="標楷體" pitchFamily="65" charset="-120"/>
                <a:ea typeface="標楷體" pitchFamily="65" charset="-120"/>
              </a:rPr>
              <a:t>     制度未實施</a:t>
            </a:r>
            <a:r>
              <a:rPr lang="en-US" altLang="zh-TW" sz="3600" dirty="0" smtClean="0">
                <a:latin typeface="標楷體" pitchFamily="65" charset="-120"/>
                <a:ea typeface="標楷體" pitchFamily="65" charset="-120"/>
              </a:rPr>
              <a:t>(</a:t>
            </a:r>
            <a:r>
              <a:rPr lang="zh-TW" altLang="en-US" sz="3600" dirty="0" smtClean="0">
                <a:latin typeface="標楷體" pitchFamily="65" charset="-120"/>
                <a:ea typeface="標楷體" pitchFamily="65" charset="-120"/>
              </a:rPr>
              <a:t>執行</a:t>
            </a:r>
            <a:r>
              <a:rPr lang="en-US" altLang="zh-TW" sz="3600" dirty="0" smtClean="0">
                <a:latin typeface="標楷體" pitchFamily="65" charset="-120"/>
                <a:ea typeface="標楷體" pitchFamily="65" charset="-120"/>
              </a:rPr>
              <a:t>)</a:t>
            </a:r>
            <a:r>
              <a:rPr lang="zh-TW" altLang="en-US" sz="3600" dirty="0" smtClean="0">
                <a:latin typeface="標楷體" pitchFamily="65" charset="-120"/>
                <a:ea typeface="標楷體" pitchFamily="65" charset="-120"/>
              </a:rPr>
              <a:t>狀況自動化查核檢討</a:t>
            </a:r>
            <a:endParaRPr lang="zh-TW" altLang="en-US" sz="36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0" name="Rectangle 23"/>
          <p:cNvSpPr>
            <a:spLocks noChangeArrowheads="1"/>
          </p:cNvSpPr>
          <p:nvPr/>
        </p:nvSpPr>
        <p:spPr bwMode="auto">
          <a:xfrm>
            <a:off x="-2348" y="724727"/>
            <a:ext cx="91440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zh-TW" sz="3200" dirty="0" smtClean="0">
                <a:latin typeface="標楷體" pitchFamily="65" charset="-120"/>
                <a:ea typeface="標楷體" pitchFamily="65" charset="-120"/>
              </a:rPr>
              <a:t>【</a:t>
            </a:r>
            <a:r>
              <a:rPr lang="zh-TW" altLang="en-US" sz="3200" dirty="0" smtClean="0">
                <a:latin typeface="標楷體" pitchFamily="65" charset="-120"/>
                <a:ea typeface="標楷體" pitchFamily="65" charset="-120"/>
              </a:rPr>
              <a:t>強化「規章制度檢討作業」</a:t>
            </a:r>
            <a:r>
              <a:rPr kumimoji="1" lang="en-US" altLang="zh-TW" sz="32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】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</p:txBody>
      </p:sp>
      <p:graphicFrame>
        <p:nvGraphicFramePr>
          <p:cNvPr id="71" name="Group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2602499"/>
              </p:ext>
            </p:extLst>
          </p:nvPr>
        </p:nvGraphicFramePr>
        <p:xfrm>
          <a:off x="196374" y="1702187"/>
          <a:ext cx="5667734" cy="4910425"/>
        </p:xfrm>
        <a:graphic>
          <a:graphicData uri="http://schemas.openxmlformats.org/drawingml/2006/table">
            <a:tbl>
              <a:tblPr/>
              <a:tblGrid>
                <a:gridCol w="1268262"/>
                <a:gridCol w="1880559"/>
                <a:gridCol w="2518913"/>
              </a:tblGrid>
              <a:tr h="4220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建檔部門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建檔內容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資料關聯說明</a:t>
                      </a:r>
                      <a:endParaRPr kumimoji="0" lang="en-US" altLang="zh-TW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996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機能組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4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制度</a:t>
                      </a:r>
                      <a:r>
                        <a:rPr kumimoji="0" lang="zh-TW" alt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對照</a:t>
                      </a:r>
                      <a:endParaRPr kumimoji="0" lang="en-US" altLang="zh-TW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4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螢幕表單</a:t>
                      </a:r>
                      <a:r>
                        <a:rPr kumimoji="0" lang="zh-TW" alt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建檔</a:t>
                      </a:r>
                      <a:endParaRPr kumimoji="0" lang="en-US" altLang="zh-TW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(</a:t>
                      </a:r>
                      <a:r>
                        <a:rPr kumimoji="0" lang="zh-TW" altLang="en-US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主螢幕及查核週期設定</a:t>
                      </a:r>
                      <a:r>
                        <a:rPr kumimoji="0" lang="en-US" altLang="zh-TW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)</a:t>
                      </a:r>
                      <a:endParaRPr kumimoji="0" lang="zh-TW" altLang="en-US" sz="2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b="1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9964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資訊部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4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螢幕表單</a:t>
                      </a:r>
                      <a:r>
                        <a:rPr kumimoji="0" lang="zh-TW" alt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對照</a:t>
                      </a:r>
                      <a:endParaRPr kumimoji="0" lang="en-US" altLang="zh-TW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4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程式代號</a:t>
                      </a:r>
                      <a:r>
                        <a:rPr kumimoji="0" lang="zh-TW" alt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建檔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2400" b="1" i="0" u="sng" strike="noStrike" kern="1200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47627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4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程式代號</a:t>
                      </a:r>
                      <a:endParaRPr kumimoji="0" lang="en-US" altLang="zh-TW" sz="2400" b="1" i="0" u="sng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(</a:t>
                      </a:r>
                      <a:r>
                        <a:rPr kumimoji="0" lang="zh-TW" altLang="en-US" sz="24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主螢幕</a:t>
                      </a:r>
                      <a:r>
                        <a:rPr kumimoji="0" lang="en-US" altLang="zh-TW" sz="24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)</a:t>
                      </a:r>
                      <a:r>
                        <a:rPr kumimoji="0" lang="zh-TW" alt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對照</a:t>
                      </a:r>
                      <a:endParaRPr kumimoji="0" lang="en-US" altLang="zh-TW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4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檔案編號</a:t>
                      </a:r>
                      <a:r>
                        <a:rPr kumimoji="0" lang="zh-TW" alt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建檔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2400" b="1" i="0" u="sng" strike="noStrike" kern="1200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8" name="圓角矩形 14"/>
          <p:cNvSpPr>
            <a:spLocks noChangeArrowheads="1"/>
          </p:cNvSpPr>
          <p:nvPr/>
        </p:nvSpPr>
        <p:spPr bwMode="auto">
          <a:xfrm>
            <a:off x="3808149" y="2285910"/>
            <a:ext cx="1597826" cy="449796"/>
          </a:xfrm>
          <a:prstGeom prst="roundRect">
            <a:avLst>
              <a:gd name="adj" fmla="val 7097"/>
            </a:avLst>
          </a:prstGeom>
          <a:solidFill>
            <a:srgbClr val="FFFF00"/>
          </a:solidFill>
          <a:ln w="38100" cmpd="dbl" algn="ctr">
            <a:solidFill>
              <a:srgbClr val="FF0000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/>
            <a:r>
              <a:rPr kumimoji="0" lang="zh-TW" altLang="en-US" sz="2000" dirty="0">
                <a:solidFill>
                  <a:srgbClr val="0000CC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制度編號</a:t>
            </a:r>
            <a:endParaRPr kumimoji="0" lang="en-US" altLang="zh-TW" sz="2000" dirty="0">
              <a:solidFill>
                <a:srgbClr val="0000CC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9" name="圓角矩形 14"/>
          <p:cNvSpPr>
            <a:spLocks noChangeArrowheads="1"/>
          </p:cNvSpPr>
          <p:nvPr/>
        </p:nvSpPr>
        <p:spPr bwMode="auto">
          <a:xfrm>
            <a:off x="3808149" y="2868996"/>
            <a:ext cx="1597826" cy="449796"/>
          </a:xfrm>
          <a:prstGeom prst="roundRect">
            <a:avLst>
              <a:gd name="adj" fmla="val 7097"/>
            </a:avLst>
          </a:prstGeom>
          <a:solidFill>
            <a:srgbClr val="FFFF99"/>
          </a:solidFill>
          <a:ln w="38100" cmpd="dbl" algn="ctr">
            <a:solidFill>
              <a:srgbClr val="FF0000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lvl="0" algn="ctr">
              <a:defRPr/>
            </a:pPr>
            <a:r>
              <a:rPr kumimoji="0" lang="zh-TW" altLang="en-US" sz="2000" dirty="0" smtClean="0">
                <a:solidFill>
                  <a:srgbClr val="0000CC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螢幕表單編號</a:t>
            </a:r>
            <a:endParaRPr kumimoji="0" lang="en-US" altLang="zh-TW" sz="2000" dirty="0" smtClean="0">
              <a:solidFill>
                <a:srgbClr val="0000CC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82" name="肘形接點 21"/>
          <p:cNvCxnSpPr>
            <a:stCxn id="79" idx="3"/>
            <a:endCxn id="121" idx="3"/>
          </p:cNvCxnSpPr>
          <p:nvPr/>
        </p:nvCxnSpPr>
        <p:spPr bwMode="auto">
          <a:xfrm flipH="1">
            <a:off x="5391112" y="3093894"/>
            <a:ext cx="14863" cy="669777"/>
          </a:xfrm>
          <a:prstGeom prst="bentConnector3">
            <a:avLst>
              <a:gd name="adj1" fmla="val -2011297"/>
            </a:avLst>
          </a:prstGeom>
          <a:solidFill>
            <a:srgbClr val="CCFFCC"/>
          </a:solidFill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" name="肘形接點 21"/>
          <p:cNvCxnSpPr>
            <a:stCxn id="78" idx="1"/>
            <a:endCxn id="79" idx="1"/>
          </p:cNvCxnSpPr>
          <p:nvPr/>
        </p:nvCxnSpPr>
        <p:spPr bwMode="auto">
          <a:xfrm rot="10800000" flipV="1">
            <a:off x="3808149" y="2510808"/>
            <a:ext cx="12044" cy="583086"/>
          </a:xfrm>
          <a:prstGeom prst="bentConnector3">
            <a:avLst>
              <a:gd name="adj1" fmla="val 2475001"/>
            </a:avLst>
          </a:prstGeom>
          <a:solidFill>
            <a:srgbClr val="CCFFCC"/>
          </a:solidFill>
          <a:ln w="76200" cap="flat" cmpd="sng" algn="ctr">
            <a:solidFill>
              <a:srgbClr val="0000CC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1" name="圓角矩形 14"/>
          <p:cNvSpPr>
            <a:spLocks noChangeArrowheads="1"/>
          </p:cNvSpPr>
          <p:nvPr/>
        </p:nvSpPr>
        <p:spPr bwMode="auto">
          <a:xfrm>
            <a:off x="3793286" y="3538773"/>
            <a:ext cx="1597826" cy="449796"/>
          </a:xfrm>
          <a:prstGeom prst="roundRect">
            <a:avLst>
              <a:gd name="adj" fmla="val 7097"/>
            </a:avLst>
          </a:prstGeom>
          <a:solidFill>
            <a:srgbClr val="FFFF99"/>
          </a:solidFill>
          <a:ln w="38100" cmpd="dbl" algn="ctr">
            <a:solidFill>
              <a:srgbClr val="FF0000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lvl="0" algn="ctr">
              <a:defRPr/>
            </a:pPr>
            <a:r>
              <a:rPr kumimoji="0" lang="zh-TW" altLang="en-US" sz="2000" dirty="0">
                <a:solidFill>
                  <a:srgbClr val="0000CC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螢幕表單編號</a:t>
            </a:r>
            <a:endParaRPr kumimoji="0" lang="en-US" altLang="zh-TW" sz="2000" dirty="0">
              <a:solidFill>
                <a:srgbClr val="0000CC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2" name="圓角矩形 14"/>
          <p:cNvSpPr>
            <a:spLocks noChangeArrowheads="1"/>
          </p:cNvSpPr>
          <p:nvPr/>
        </p:nvSpPr>
        <p:spPr bwMode="auto">
          <a:xfrm>
            <a:off x="3793286" y="4121859"/>
            <a:ext cx="1597826" cy="449796"/>
          </a:xfrm>
          <a:prstGeom prst="roundRect">
            <a:avLst>
              <a:gd name="adj" fmla="val 7097"/>
            </a:avLst>
          </a:prstGeom>
          <a:solidFill>
            <a:srgbClr val="FFFF99"/>
          </a:solidFill>
          <a:ln w="38100" cmpd="dbl" algn="ctr">
            <a:solidFill>
              <a:srgbClr val="FF0000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lvl="0" algn="ctr">
              <a:defRPr/>
            </a:pPr>
            <a:r>
              <a:rPr kumimoji="0" lang="zh-TW" altLang="en-US" sz="2000" dirty="0" smtClean="0">
                <a:solidFill>
                  <a:srgbClr val="0000CC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程式代號</a:t>
            </a:r>
            <a:endParaRPr kumimoji="0" lang="en-US" altLang="zh-TW" sz="2000" dirty="0" smtClean="0">
              <a:solidFill>
                <a:srgbClr val="0000CC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23" name="肘形接點 21"/>
          <p:cNvCxnSpPr>
            <a:stCxn id="121" idx="1"/>
            <a:endCxn id="122" idx="1"/>
          </p:cNvCxnSpPr>
          <p:nvPr/>
        </p:nvCxnSpPr>
        <p:spPr bwMode="auto">
          <a:xfrm rot="10800000" flipV="1">
            <a:off x="3793286" y="3763671"/>
            <a:ext cx="12044" cy="583086"/>
          </a:xfrm>
          <a:prstGeom prst="bentConnector3">
            <a:avLst>
              <a:gd name="adj1" fmla="val 2475001"/>
            </a:avLst>
          </a:prstGeom>
          <a:solidFill>
            <a:srgbClr val="CCFFCC"/>
          </a:solidFill>
          <a:ln w="76200" cap="flat" cmpd="sng" algn="ctr">
            <a:solidFill>
              <a:srgbClr val="0000CC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7" name="圓角矩形 14"/>
          <p:cNvSpPr>
            <a:spLocks noChangeArrowheads="1"/>
          </p:cNvSpPr>
          <p:nvPr/>
        </p:nvSpPr>
        <p:spPr bwMode="auto">
          <a:xfrm>
            <a:off x="3790409" y="4762703"/>
            <a:ext cx="1597826" cy="449796"/>
          </a:xfrm>
          <a:prstGeom prst="roundRect">
            <a:avLst>
              <a:gd name="adj" fmla="val 7097"/>
            </a:avLst>
          </a:prstGeom>
          <a:solidFill>
            <a:srgbClr val="FFFF99"/>
          </a:solidFill>
          <a:ln w="38100" cmpd="dbl" algn="ctr">
            <a:solidFill>
              <a:srgbClr val="FF0000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lvl="0" algn="ctr">
              <a:defRPr/>
            </a:pPr>
            <a:r>
              <a:rPr kumimoji="0" lang="zh-TW" altLang="en-US" sz="2000" dirty="0">
                <a:solidFill>
                  <a:srgbClr val="0000CC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程式代號</a:t>
            </a:r>
            <a:endParaRPr kumimoji="0" lang="en-US" altLang="zh-TW" sz="2000" dirty="0">
              <a:solidFill>
                <a:srgbClr val="0000CC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8" name="圓角矩形 14"/>
          <p:cNvSpPr>
            <a:spLocks noChangeArrowheads="1"/>
          </p:cNvSpPr>
          <p:nvPr/>
        </p:nvSpPr>
        <p:spPr bwMode="auto">
          <a:xfrm>
            <a:off x="3790409" y="5359857"/>
            <a:ext cx="1597826" cy="449796"/>
          </a:xfrm>
          <a:prstGeom prst="roundRect">
            <a:avLst>
              <a:gd name="adj" fmla="val 7097"/>
            </a:avLst>
          </a:prstGeom>
          <a:solidFill>
            <a:srgbClr val="FFFF99"/>
          </a:solidFill>
          <a:ln w="38100" cmpd="dbl" algn="ctr">
            <a:solidFill>
              <a:srgbClr val="FF0000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zh-TW" altLang="en-US" sz="2000" dirty="0">
                <a:solidFill>
                  <a:srgbClr val="0000CC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檔案編號</a:t>
            </a:r>
            <a:endParaRPr kumimoji="0" lang="en-US" altLang="zh-TW" sz="2000" dirty="0">
              <a:solidFill>
                <a:srgbClr val="0000CC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29" name="肘形接點 21"/>
          <p:cNvCxnSpPr>
            <a:stCxn id="127" idx="1"/>
            <a:endCxn id="128" idx="1"/>
          </p:cNvCxnSpPr>
          <p:nvPr/>
        </p:nvCxnSpPr>
        <p:spPr bwMode="auto">
          <a:xfrm rot="10800000" flipV="1">
            <a:off x="3790409" y="4987601"/>
            <a:ext cx="12700" cy="597154"/>
          </a:xfrm>
          <a:prstGeom prst="bentConnector3">
            <a:avLst>
              <a:gd name="adj1" fmla="val 2353851"/>
            </a:avLst>
          </a:prstGeom>
          <a:solidFill>
            <a:srgbClr val="CCFFCC"/>
          </a:solidFill>
          <a:ln w="76200" cap="flat" cmpd="sng" algn="ctr">
            <a:solidFill>
              <a:srgbClr val="0000CC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0" name="肘形接點 21"/>
          <p:cNvCxnSpPr>
            <a:stCxn id="122" idx="3"/>
            <a:endCxn id="127" idx="3"/>
          </p:cNvCxnSpPr>
          <p:nvPr/>
        </p:nvCxnSpPr>
        <p:spPr bwMode="auto">
          <a:xfrm flipH="1">
            <a:off x="5388235" y="4346757"/>
            <a:ext cx="2877" cy="640844"/>
          </a:xfrm>
          <a:prstGeom prst="bentConnector3">
            <a:avLst>
              <a:gd name="adj1" fmla="val -10390618"/>
            </a:avLst>
          </a:prstGeom>
          <a:solidFill>
            <a:srgbClr val="CCFFCC"/>
          </a:solidFill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圓角矩形圖說文字 15"/>
          <p:cNvSpPr/>
          <p:nvPr/>
        </p:nvSpPr>
        <p:spPr bwMode="auto">
          <a:xfrm>
            <a:off x="9556988" y="3693373"/>
            <a:ext cx="2243138" cy="1258301"/>
          </a:xfrm>
          <a:prstGeom prst="wedgeRoundRectCallout">
            <a:avLst>
              <a:gd name="adj1" fmla="val -62452"/>
              <a:gd name="adj2" fmla="val 24149"/>
              <a:gd name="adj3" fmla="val 16667"/>
            </a:avLst>
          </a:prstGeom>
          <a:solidFill>
            <a:srgbClr val="FFFF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b="1" i="0" u="none" strike="noStrike" cap="none" normalizeH="0" baseline="0" dirty="0" smtClean="0">
                <a:ln>
                  <a:noFill/>
                </a:ln>
                <a:solidFill>
                  <a:srgbClr val="0000CC"/>
                </a:solidFill>
                <a:effectLst/>
                <a:latin typeface="標楷體" pitchFamily="65" charset="-120"/>
                <a:ea typeface="標楷體" pitchFamily="65" charset="-120"/>
              </a:rPr>
              <a:t>電腦勾稽</a:t>
            </a:r>
            <a:endParaRPr kumimoji="1" lang="en-US" altLang="zh-TW" b="1" i="0" u="none" strike="noStrike" cap="none" normalizeH="0" baseline="0" dirty="0" smtClean="0">
              <a:ln>
                <a:noFill/>
              </a:ln>
              <a:solidFill>
                <a:srgbClr val="0000CC"/>
              </a:solidFill>
              <a:effectLst/>
              <a:latin typeface="標楷體" pitchFamily="65" charset="-120"/>
              <a:ea typeface="標楷體" pitchFamily="65" charset="-12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有制度沒程式</a:t>
            </a:r>
            <a:endParaRPr lang="en-US" altLang="zh-TW" dirty="0" smtClean="0">
              <a:solidFill>
                <a:srgbClr val="0000CC"/>
              </a:solidFill>
              <a:latin typeface="標楷體" pitchFamily="65" charset="-120"/>
              <a:ea typeface="標楷體" pitchFamily="65" charset="-12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有程式沒制度</a:t>
            </a:r>
            <a:endParaRPr lang="en-US" altLang="zh-TW" dirty="0">
              <a:solidFill>
                <a:srgbClr val="0000CC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7" name="五邊形 16">
            <a:hlinkClick r:id="" action="ppaction://customshow?id=16&amp;return=true"/>
          </p:cNvPr>
          <p:cNvSpPr>
            <a:spLocks noChangeArrowheads="1"/>
          </p:cNvSpPr>
          <p:nvPr/>
        </p:nvSpPr>
        <p:spPr bwMode="auto">
          <a:xfrm>
            <a:off x="150540" y="1295817"/>
            <a:ext cx="1690245" cy="461665"/>
          </a:xfrm>
          <a:prstGeom prst="homePlate">
            <a:avLst>
              <a:gd name="adj" fmla="val 46543"/>
            </a:avLst>
          </a:prstGeom>
          <a:solidFill>
            <a:srgbClr val="FFFF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algn="ctr" eaLnBrk="1" hangingPunct="1">
              <a:defRPr/>
            </a:pPr>
            <a:r>
              <a:rPr kumimoji="0" lang="zh-TW" altLang="en-US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資訊部</a:t>
            </a:r>
            <a:endParaRPr kumimoji="0" lang="en-US" altLang="zh-TW" dirty="0" smtClean="0">
              <a:solidFill>
                <a:srgbClr val="0000CC"/>
              </a:solidFill>
              <a:latin typeface="標楷體" pitchFamily="65" charset="-12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0" name="圓角矩形 14"/>
          <p:cNvSpPr>
            <a:spLocks noChangeArrowheads="1"/>
          </p:cNvSpPr>
          <p:nvPr/>
        </p:nvSpPr>
        <p:spPr bwMode="auto">
          <a:xfrm>
            <a:off x="3788061" y="6060909"/>
            <a:ext cx="1597826" cy="449796"/>
          </a:xfrm>
          <a:prstGeom prst="roundRect">
            <a:avLst>
              <a:gd name="adj" fmla="val 7097"/>
            </a:avLst>
          </a:prstGeom>
          <a:solidFill>
            <a:srgbClr val="FFFF00"/>
          </a:solidFill>
          <a:ln w="38100" cmpd="dbl" algn="ctr">
            <a:solidFill>
              <a:srgbClr val="FF0000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/>
            <a:r>
              <a:rPr kumimoji="0" lang="zh-TW" altLang="en-US" sz="2000" dirty="0" smtClean="0">
                <a:solidFill>
                  <a:srgbClr val="0000CC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異動資料</a:t>
            </a:r>
            <a:endParaRPr kumimoji="0" lang="en-US" altLang="zh-TW" sz="2000" dirty="0">
              <a:solidFill>
                <a:srgbClr val="0000CC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23" name="肘形接點 21"/>
          <p:cNvCxnSpPr>
            <a:stCxn id="128" idx="2"/>
            <a:endCxn id="20" idx="0"/>
          </p:cNvCxnSpPr>
          <p:nvPr/>
        </p:nvCxnSpPr>
        <p:spPr bwMode="auto">
          <a:xfrm rot="5400000">
            <a:off x="4462520" y="5934107"/>
            <a:ext cx="251256" cy="2348"/>
          </a:xfrm>
          <a:prstGeom prst="bentConnector3">
            <a:avLst>
              <a:gd name="adj1" fmla="val 50000"/>
            </a:avLst>
          </a:prstGeom>
          <a:solidFill>
            <a:srgbClr val="CCFFCC"/>
          </a:solidFill>
          <a:ln w="76200" cap="flat" cmpd="sng" algn="ctr">
            <a:solidFill>
              <a:srgbClr val="0000CC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圓角矩形 14"/>
          <p:cNvSpPr>
            <a:spLocks noChangeArrowheads="1"/>
          </p:cNvSpPr>
          <p:nvPr/>
        </p:nvSpPr>
        <p:spPr bwMode="auto">
          <a:xfrm>
            <a:off x="6049104" y="1547445"/>
            <a:ext cx="2968283" cy="5116131"/>
          </a:xfrm>
          <a:prstGeom prst="roundRect">
            <a:avLst>
              <a:gd name="adj" fmla="val 7097"/>
            </a:avLst>
          </a:prstGeom>
          <a:noFill/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marL="266700" lvl="0" indent="-266700" eaLnBrk="1" hangingPunct="1"/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en-US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電腦查核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各制度實際使用情形，倘逾查核週期均</a:t>
            </a:r>
            <a:r>
              <a:rPr lang="zh-TW" altLang="en-US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無使用記錄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，則</a:t>
            </a:r>
            <a:r>
              <a:rPr lang="zh-TW" altLang="en-US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主動反應各機能組檢討改善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。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pPr marL="266700" lvl="0" indent="-266700" eaLnBrk="1" hangingPunct="1"/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提供各機能組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查詢功能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。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pPr marL="266700" lvl="0" indent="-266700" eaLnBrk="1" hangingPunct="1"/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3.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電腦將制度的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使用記錄自動帶入</a:t>
            </a:r>
            <a:r>
              <a:rPr kumimoji="0" lang="zh-TW" altLang="en-US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新增</a:t>
            </a:r>
            <a:r>
              <a:rPr kumimoji="0" lang="zh-TW" altLang="en-US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「規章制度定期</a:t>
            </a:r>
            <a:r>
              <a:rPr kumimoji="0" lang="zh-TW" altLang="en-US" u="sng" dirty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總檢討處理單</a:t>
            </a:r>
            <a:r>
              <a:rPr kumimoji="0" lang="zh-TW" altLang="en-US" dirty="0" smtClean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」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，供機能組參考。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pPr marL="266700" lvl="0" indent="-266700" eaLnBrk="1" hangingPunct="1"/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(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預完日：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2019/6/E)</a:t>
            </a:r>
          </a:p>
        </p:txBody>
      </p:sp>
      <p:sp>
        <p:nvSpPr>
          <p:cNvPr id="28" name="向右箭號 27"/>
          <p:cNvSpPr/>
          <p:nvPr/>
        </p:nvSpPr>
        <p:spPr bwMode="auto">
          <a:xfrm>
            <a:off x="5723199" y="5287120"/>
            <a:ext cx="450167" cy="506437"/>
          </a:xfrm>
          <a:prstGeom prst="rightArrow">
            <a:avLst/>
          </a:prstGeom>
          <a:solidFill>
            <a:srgbClr val="CCFFCC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17204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五邊形 3">
            <a:hlinkClick r:id="" action="ppaction://customshow?id=5&amp;return=true"/>
          </p:cNvPr>
          <p:cNvSpPr>
            <a:spLocks noChangeArrowheads="1"/>
          </p:cNvSpPr>
          <p:nvPr/>
        </p:nvSpPr>
        <p:spPr bwMode="auto">
          <a:xfrm>
            <a:off x="124263" y="1987409"/>
            <a:ext cx="1898501" cy="461665"/>
          </a:xfrm>
          <a:prstGeom prst="homePlate">
            <a:avLst>
              <a:gd name="adj" fmla="val 46543"/>
            </a:avLst>
          </a:prstGeom>
          <a:solidFill>
            <a:srgbClr val="FFCCFF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統計數據</a:t>
            </a:r>
            <a:endParaRPr lang="zh-TW" altLang="en-US" dirty="0">
              <a:solidFill>
                <a:srgbClr val="0000CC"/>
              </a:solidFill>
              <a:latin typeface="標楷體" pitchFamily="65" charset="-120"/>
              <a:ea typeface="標楷體" pitchFamily="65" charset="-120"/>
            </a:endParaRPr>
          </a:p>
        </p:txBody>
      </p:sp>
      <p:graphicFrame>
        <p:nvGraphicFramePr>
          <p:cNvPr id="5" name="Group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911075125"/>
              </p:ext>
            </p:extLst>
          </p:nvPr>
        </p:nvGraphicFramePr>
        <p:xfrm>
          <a:off x="249380" y="2477834"/>
          <a:ext cx="8629149" cy="3657600"/>
        </p:xfrm>
        <a:graphic>
          <a:graphicData uri="http://schemas.openxmlformats.org/drawingml/2006/table">
            <a:tbl>
              <a:tblPr/>
              <a:tblGrid>
                <a:gridCol w="224309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596513"/>
                <a:gridCol w="1596513"/>
                <a:gridCol w="1596513"/>
                <a:gridCol w="1596513"/>
              </a:tblGrid>
              <a:tr h="2718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機能組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2016</a:t>
                      </a: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年</a:t>
                      </a:r>
                      <a:endParaRPr kumimoji="0" lang="en-US" altLang="zh-TW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2017</a:t>
                      </a: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年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2018</a:t>
                      </a: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年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小計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</a:tr>
              <a:tr h="2989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人事組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4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4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8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89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財務組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3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20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7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30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89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資材管理組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1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12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26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39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89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工程管理組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7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6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1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14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89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保養管理組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1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4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7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89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產銷一組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11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28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39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89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產銷二組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25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23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50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89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產銷三組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22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10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32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89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安衛環中心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1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-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1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89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合計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18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104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102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224</a:t>
                      </a:r>
                      <a:endParaRPr kumimoji="0" lang="zh-TW" altLang="en-US" sz="2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7772215" y="2120646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單位：筆</a:t>
            </a:r>
            <a:endParaRPr lang="zh-TW" altLang="en-US" sz="20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0" name="圓角矩形 14"/>
          <p:cNvSpPr>
            <a:spLocks noChangeArrowheads="1"/>
          </p:cNvSpPr>
          <p:nvPr/>
        </p:nvSpPr>
        <p:spPr bwMode="auto">
          <a:xfrm>
            <a:off x="124263" y="1156467"/>
            <a:ext cx="8931248" cy="784871"/>
          </a:xfrm>
          <a:prstGeom prst="roundRect">
            <a:avLst>
              <a:gd name="adj" fmla="val 7097"/>
            </a:avLst>
          </a:prstGeom>
          <a:noFill/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eaLnBrk="1" hangingPunct="1"/>
            <a:r>
              <a:rPr lang="zh-TW" altLang="en-US" u="sng" dirty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近來註銷制度的筆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數大幅增加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，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2017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年迄今平均每月註銷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10.8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本的制度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(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合計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206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本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)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，是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2016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年月平均值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(1.5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本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)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的</a:t>
            </a:r>
            <a:r>
              <a:rPr lang="en-US" altLang="zh-TW" sz="2800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7.2</a:t>
            </a:r>
            <a:r>
              <a:rPr lang="zh-TW" altLang="en-US" sz="2800" u="sng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倍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。</a:t>
            </a:r>
            <a:endParaRPr lang="en-US" altLang="zh-TW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921878" y="2120222"/>
            <a:ext cx="26212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資料日期：</a:t>
            </a:r>
            <a:r>
              <a:rPr lang="en-US" altLang="zh-TW" sz="2000" dirty="0" smtClean="0">
                <a:latin typeface="標楷體" pitchFamily="65" charset="-120"/>
                <a:ea typeface="標楷體" pitchFamily="65" charset="-120"/>
              </a:rPr>
              <a:t>2018/7/24</a:t>
            </a:r>
            <a:endParaRPr lang="zh-TW" altLang="en-US" sz="20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4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lang="zh-TW" altLang="en-US" sz="3600" dirty="0" smtClean="0">
                <a:latin typeface="標楷體" pitchFamily="65" charset="-120"/>
                <a:ea typeface="標楷體" pitchFamily="65" charset="-120"/>
              </a:rPr>
              <a:t>規章制度註銷數量統計</a:t>
            </a:r>
            <a:endParaRPr lang="zh-TW" altLang="en-US" sz="36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9" name="圓角矩形 14"/>
          <p:cNvSpPr>
            <a:spLocks noChangeArrowheads="1"/>
          </p:cNvSpPr>
          <p:nvPr/>
        </p:nvSpPr>
        <p:spPr bwMode="auto">
          <a:xfrm>
            <a:off x="2855698" y="6161650"/>
            <a:ext cx="4726788" cy="442254"/>
          </a:xfrm>
          <a:prstGeom prst="roundRect">
            <a:avLst>
              <a:gd name="adj" fmla="val 7097"/>
            </a:avLst>
          </a:prstGeom>
          <a:noFill/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algn="ctr" eaLnBrk="1" hangingPunct="1"/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查核各機能組註銷制度合理性。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1" name="五邊形 10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123736" y="6156306"/>
            <a:ext cx="2620793" cy="461665"/>
          </a:xfrm>
          <a:prstGeom prst="homePlate">
            <a:avLst>
              <a:gd name="adj" fmla="val 46543"/>
            </a:avLst>
          </a:prstGeom>
          <a:solidFill>
            <a:srgbClr val="FFFF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稽查組後續工作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3"/>
          <p:cNvSpPr>
            <a:spLocks noChangeArrowheads="1"/>
          </p:cNvSpPr>
          <p:nvPr/>
        </p:nvSpPr>
        <p:spPr bwMode="auto">
          <a:xfrm>
            <a:off x="0" y="727075"/>
            <a:ext cx="91440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</p:txBody>
      </p:sp>
      <p:graphicFrame>
        <p:nvGraphicFramePr>
          <p:cNvPr id="11" name="Group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130635151"/>
              </p:ext>
            </p:extLst>
          </p:nvPr>
        </p:nvGraphicFramePr>
        <p:xfrm>
          <a:off x="77298" y="1315934"/>
          <a:ext cx="9000001" cy="5225543"/>
        </p:xfrm>
        <a:graphic>
          <a:graphicData uri="http://schemas.openxmlformats.org/drawingml/2006/table">
            <a:tbl>
              <a:tblPr/>
              <a:tblGrid>
                <a:gridCol w="59912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87792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52294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768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項次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作業項目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預完日</a:t>
                      </a:r>
                    </a:p>
                  </a:txBody>
                  <a:tcPr marL="15212" marR="1521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38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1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人事組針對</a:t>
                      </a:r>
                      <a:r>
                        <a:rPr kumimoji="0" lang="zh-TW" altLang="en-US" sz="2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「定期總檢討作業」簡化為一張</a:t>
                      </a:r>
                      <a:r>
                        <a:rPr kumimoji="0" lang="en-US" altLang="zh-TW" sz="2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OA</a:t>
                      </a:r>
                      <a:r>
                        <a:rPr kumimoji="0" lang="zh-TW" altLang="en-US" sz="2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表單統一管理</a:t>
                      </a:r>
                      <a:r>
                        <a:rPr kumimoji="0" lang="en-US" altLang="zh-TW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(</a:t>
                      </a: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含</a:t>
                      </a:r>
                      <a:r>
                        <a:rPr kumimoji="0" lang="zh-TW" altLang="en-US" sz="2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立案、制度上傳、更新「新訂日期」、檢附呈准依據、進度管制、銷案</a:t>
                      </a:r>
                      <a:r>
                        <a:rPr kumimoji="0" lang="en-US" altLang="zh-TW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)</a:t>
                      </a: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，</a:t>
                      </a:r>
                      <a:r>
                        <a:rPr kumimoji="0" lang="zh-TW" altLang="en-US" sz="2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並提供</a:t>
                      </a:r>
                      <a:r>
                        <a:rPr kumimoji="0" lang="en-US" altLang="zh-TW" sz="2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ERP</a:t>
                      </a:r>
                      <a:r>
                        <a:rPr kumimoji="0" lang="zh-TW" altLang="en-US" sz="2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查詢功能</a:t>
                      </a: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。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2018/10/E</a:t>
                      </a: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0490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200" b="1" u="none" dirty="0" smtClean="0">
                          <a:solidFill>
                            <a:schemeClr val="tx1"/>
                          </a:solidFill>
                          <a:latin typeface="標楷體" pitchFamily="65" charset="-120"/>
                          <a:ea typeface="標楷體" pitchFamily="65" charset="-120"/>
                        </a:rPr>
                        <a:t>人事組於</a:t>
                      </a:r>
                      <a:r>
                        <a:rPr lang="en-US" altLang="zh-TW" sz="2200" b="1" u="none" dirty="0" smtClean="0">
                          <a:solidFill>
                            <a:schemeClr val="tx1"/>
                          </a:solidFill>
                          <a:latin typeface="標楷體" pitchFamily="65" charset="-120"/>
                          <a:ea typeface="標楷體" pitchFamily="65" charset="-120"/>
                        </a:rPr>
                        <a:t>OA</a:t>
                      </a:r>
                      <a:r>
                        <a:rPr lang="zh-TW" altLang="en-US" sz="2200" b="1" u="none" dirty="0" smtClean="0">
                          <a:solidFill>
                            <a:schemeClr val="tx1"/>
                          </a:solidFill>
                          <a:latin typeface="標楷體" pitchFamily="65" charset="-120"/>
                          <a:ea typeface="標楷體" pitchFamily="65" charset="-120"/>
                        </a:rPr>
                        <a:t>網路知識庫資料上傳申請單，</a:t>
                      </a:r>
                      <a:r>
                        <a:rPr lang="zh-TW" altLang="en-US" sz="2200" b="1" u="sng" dirty="0" smtClean="0">
                          <a:solidFill>
                            <a:srgbClr val="0000CC"/>
                          </a:solidFill>
                          <a:latin typeface="標楷體" pitchFamily="65" charset="-120"/>
                          <a:ea typeface="標楷體" pitchFamily="65" charset="-120"/>
                        </a:rPr>
                        <a:t>增設電腦管制</a:t>
                      </a:r>
                      <a:r>
                        <a:rPr lang="zh-TW" altLang="en-US" sz="2200" b="1" u="none" dirty="0" smtClean="0">
                          <a:solidFill>
                            <a:schemeClr val="tx1"/>
                          </a:solidFill>
                          <a:latin typeface="標楷體" pitchFamily="65" charset="-120"/>
                          <a:ea typeface="標楷體" pitchFamily="65" charset="-120"/>
                        </a:rPr>
                        <a:t>確實</a:t>
                      </a:r>
                      <a:r>
                        <a:rPr lang="zh-TW" altLang="en-US" sz="2200" b="1" u="sng" dirty="0" smtClean="0">
                          <a:solidFill>
                            <a:srgbClr val="0000CC"/>
                          </a:solidFill>
                          <a:latin typeface="標楷體" pitchFamily="65" charset="-120"/>
                          <a:ea typeface="標楷體" pitchFamily="65" charset="-120"/>
                        </a:rPr>
                        <a:t>會簽</a:t>
                      </a:r>
                      <a:r>
                        <a:rPr lang="zh-TW" altLang="en-US" sz="2200" b="1" u="none" dirty="0" smtClean="0">
                          <a:solidFill>
                            <a:schemeClr val="tx1"/>
                          </a:solidFill>
                          <a:latin typeface="標楷體" pitchFamily="65" charset="-120"/>
                          <a:ea typeface="標楷體" pitchFamily="65" charset="-120"/>
                        </a:rPr>
                        <a:t>各公司，並</a:t>
                      </a:r>
                      <a:r>
                        <a:rPr lang="zh-TW" altLang="en-US" sz="2200" b="1" u="sng" dirty="0" smtClean="0">
                          <a:solidFill>
                            <a:srgbClr val="0000CC"/>
                          </a:solidFill>
                          <a:latin typeface="標楷體" pitchFamily="65" charset="-120"/>
                          <a:ea typeface="標楷體" pitchFamily="65" charset="-120"/>
                        </a:rPr>
                        <a:t>檢附呈准依據後始可註銷制度</a:t>
                      </a:r>
                      <a:r>
                        <a:rPr lang="zh-TW" altLang="en-US" sz="2200" b="1" u="none" dirty="0" smtClean="0">
                          <a:solidFill>
                            <a:schemeClr val="tx1"/>
                          </a:solidFill>
                          <a:latin typeface="標楷體" pitchFamily="65" charset="-120"/>
                          <a:ea typeface="標楷體" pitchFamily="65" charset="-120"/>
                        </a:rPr>
                        <a:t>。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2018/10/E</a:t>
                      </a: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0490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3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人事組</a:t>
                      </a:r>
                      <a:r>
                        <a:rPr kumimoji="0" lang="zh-TW" altLang="en-US" sz="2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建立「企業規章增</a:t>
                      </a:r>
                      <a:r>
                        <a:rPr kumimoji="0" lang="en-US" altLang="zh-TW" sz="2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(</a:t>
                      </a:r>
                      <a:r>
                        <a:rPr kumimoji="0" lang="zh-TW" altLang="en-US" sz="2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修</a:t>
                      </a:r>
                      <a:r>
                        <a:rPr kumimoji="0" lang="en-US" altLang="zh-TW" sz="2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)</a:t>
                      </a:r>
                      <a:r>
                        <a:rPr kumimoji="0" lang="zh-TW" altLang="en-US" sz="2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訂管制電腦作業」</a:t>
                      </a:r>
                      <a:r>
                        <a:rPr kumimoji="0" lang="en-US" altLang="zh-TW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(</a:t>
                      </a: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含制度對應</a:t>
                      </a:r>
                      <a:r>
                        <a:rPr kumimoji="0" lang="en-US" altLang="zh-TW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ERP</a:t>
                      </a: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螢幕表單、</a:t>
                      </a:r>
                      <a:r>
                        <a:rPr kumimoji="0" lang="en-US" altLang="zh-TW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OA</a:t>
                      </a: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表單、預定實施範圍及實施日期</a:t>
                      </a:r>
                      <a:r>
                        <a:rPr kumimoji="0" lang="en-US" altLang="zh-TW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)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2018/12/E</a:t>
                      </a: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451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4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資訊部建立</a:t>
                      </a:r>
                      <a:r>
                        <a:rPr kumimoji="0" lang="zh-TW" altLang="en-US" sz="2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電腦查核並主動反應各制度未使用情形</a:t>
                      </a: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。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2019/6/E</a:t>
                      </a: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189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5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/>
                      <a:r>
                        <a:rPr lang="zh-TW" altLang="en-US" sz="2200" b="1" u="none" dirty="0" smtClean="0">
                          <a:solidFill>
                            <a:schemeClr val="tx1"/>
                          </a:solidFill>
                          <a:latin typeface="標楷體" pitchFamily="65" charset="-120"/>
                          <a:ea typeface="標楷體" pitchFamily="65" charset="-120"/>
                        </a:rPr>
                        <a:t>稽查組</a:t>
                      </a:r>
                      <a:r>
                        <a:rPr lang="zh-TW" altLang="en-US" sz="2200" b="1" u="sng" dirty="0" smtClean="0">
                          <a:solidFill>
                            <a:srgbClr val="0000CC"/>
                          </a:solidFill>
                          <a:latin typeface="標楷體" pitchFamily="65" charset="-120"/>
                          <a:ea typeface="標楷體" pitchFamily="65" charset="-120"/>
                        </a:rPr>
                        <a:t>查核各機能組註銷制度的合理性</a:t>
                      </a:r>
                      <a:r>
                        <a:rPr lang="zh-TW" altLang="en-US" sz="2200" b="1" u="none" dirty="0" smtClean="0">
                          <a:solidFill>
                            <a:schemeClr val="tx1"/>
                          </a:solidFill>
                          <a:latin typeface="標楷體" pitchFamily="65" charset="-120"/>
                          <a:ea typeface="標楷體" pitchFamily="65" charset="-120"/>
                        </a:rPr>
                        <a:t>。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2018/12/E</a:t>
                      </a:r>
                    </a:p>
                  </a:txBody>
                  <a:tcPr marL="17757" marR="17757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23"/>
          <p:cNvSpPr>
            <a:spLocks noChangeArrowheads="1"/>
          </p:cNvSpPr>
          <p:nvPr/>
        </p:nvSpPr>
        <p:spPr bwMode="auto">
          <a:xfrm>
            <a:off x="-2348" y="724727"/>
            <a:ext cx="91440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【</a:t>
            </a:r>
            <a:r>
              <a:rPr kumimoji="1" lang="zh-TW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後續作業事項</a:t>
            </a:r>
            <a:r>
              <a:rPr kumimoji="1" lang="en-US" altLang="zh-TW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】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</p:txBody>
      </p:sp>
      <p:sp>
        <p:nvSpPr>
          <p:cNvPr id="13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lvl="0" algn="ctr" eaLnBrk="1" hangingPunct="1">
              <a:defRPr/>
            </a:pPr>
            <a:r>
              <a:rPr kumimoji="0" lang="zh-TW" altLang="en-US" sz="3600" dirty="0" smtClean="0">
                <a:solidFill>
                  <a:srgbClr val="000000"/>
                </a:solidFill>
                <a:latin typeface="標楷體"/>
                <a:ea typeface="標楷體" pitchFamily="65" charset="-120"/>
              </a:rPr>
              <a:t>資訊部電腦管理作業改善報告</a:t>
            </a:r>
            <a:endParaRPr kumimoji="1" lang="zh-TW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851564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3"/>
          <p:cNvSpPr>
            <a:spLocks noChangeArrowheads="1"/>
          </p:cNvSpPr>
          <p:nvPr/>
        </p:nvSpPr>
        <p:spPr bwMode="auto">
          <a:xfrm>
            <a:off x="0" y="727075"/>
            <a:ext cx="91440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</p:txBody>
      </p:sp>
      <p:sp>
        <p:nvSpPr>
          <p:cNvPr id="13" name="Rectangle 23"/>
          <p:cNvSpPr>
            <a:spLocks noChangeArrowheads="1"/>
          </p:cNvSpPr>
          <p:nvPr/>
        </p:nvSpPr>
        <p:spPr bwMode="auto">
          <a:xfrm>
            <a:off x="0" y="265113"/>
            <a:ext cx="91440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lvl="0" algn="ctr" eaLnBrk="1" hangingPunct="1">
              <a:defRPr/>
            </a:pPr>
            <a:r>
              <a:rPr kumimoji="1" lang="zh-TW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稽查專案組持續工作重點</a:t>
            </a:r>
            <a:endParaRPr kumimoji="1" lang="zh-TW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</p:txBody>
      </p:sp>
      <p:sp>
        <p:nvSpPr>
          <p:cNvPr id="6" name="圓角矩形 14"/>
          <p:cNvSpPr>
            <a:spLocks noChangeArrowheads="1"/>
          </p:cNvSpPr>
          <p:nvPr/>
        </p:nvSpPr>
        <p:spPr bwMode="auto">
          <a:xfrm>
            <a:off x="309473" y="1671578"/>
            <a:ext cx="8553173" cy="2126699"/>
          </a:xfrm>
          <a:prstGeom prst="roundRect">
            <a:avLst>
              <a:gd name="adj" fmla="val 7097"/>
            </a:avLst>
          </a:prstGeom>
          <a:noFill/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marL="271463" indent="-271463" eaLnBrk="1" hangingPunct="1"/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抽查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各機能規章制度定期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總檢討作業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的執行情形。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pPr marL="271463" indent="-271463" eaLnBrk="1" hangingPunct="1"/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抽查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各機能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電腦作業驗收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(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含執行追蹤管理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)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執行情形。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pPr marL="271463" indent="-271463" eaLnBrk="1" hangingPunct="1"/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3.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查核註銷規章制度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的合理性。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pPr marL="271463" indent="-271463" eaLnBrk="1" hangingPunct="1"/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4.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資訊部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各項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管理作業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執行情形查核。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pPr marL="271463" indent="-271463" eaLnBrk="1" hangingPunct="1"/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5.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資訊部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各項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改善成效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追蹤。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7" name="五邊形 6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133783" y="1304836"/>
            <a:ext cx="3003312" cy="461665"/>
          </a:xfrm>
          <a:prstGeom prst="homePlate">
            <a:avLst>
              <a:gd name="adj" fmla="val 46543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資訊部暨制度管理</a:t>
            </a:r>
            <a:endParaRPr lang="zh-TW" altLang="en-US" dirty="0">
              <a:solidFill>
                <a:srgbClr val="0000CC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9" name="圓角矩形 14"/>
          <p:cNvSpPr>
            <a:spLocks noChangeArrowheads="1"/>
          </p:cNvSpPr>
          <p:nvPr/>
        </p:nvSpPr>
        <p:spPr bwMode="auto">
          <a:xfrm>
            <a:off x="307125" y="4229605"/>
            <a:ext cx="8553173" cy="1031713"/>
          </a:xfrm>
          <a:prstGeom prst="roundRect">
            <a:avLst>
              <a:gd name="adj" fmla="val 7097"/>
            </a:avLst>
          </a:prstGeom>
          <a:noFill/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marL="271463" indent="-271463" eaLnBrk="1" hangingPunct="1"/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營業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機能的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授信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、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售價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、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受訂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、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交運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等管理作業。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pPr marL="271463" indent="-271463" eaLnBrk="1" hangingPunct="1"/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財務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機能的</a:t>
            </a:r>
            <a:r>
              <a:rPr lang="zh-TW" altLang="en-US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一般費用報銷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管理作業。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1" name="五邊形 10">
            <a:hlinkClick r:id="" action="ppaction://customshow?id=13&amp;return=true"/>
          </p:cNvPr>
          <p:cNvSpPr>
            <a:spLocks noChangeArrowheads="1"/>
          </p:cNvSpPr>
          <p:nvPr/>
        </p:nvSpPr>
        <p:spPr bwMode="auto">
          <a:xfrm>
            <a:off x="131435" y="3862864"/>
            <a:ext cx="3003312" cy="461665"/>
          </a:xfrm>
          <a:prstGeom prst="homePlate">
            <a:avLst>
              <a:gd name="adj" fmla="val 46543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重點制度執行情形</a:t>
            </a:r>
            <a:endParaRPr lang="zh-TW" altLang="en-US" dirty="0">
              <a:solidFill>
                <a:srgbClr val="0000CC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2" name="圓角矩形 14"/>
          <p:cNvSpPr>
            <a:spLocks noChangeArrowheads="1"/>
          </p:cNvSpPr>
          <p:nvPr/>
        </p:nvSpPr>
        <p:spPr bwMode="auto">
          <a:xfrm>
            <a:off x="304777" y="5704398"/>
            <a:ext cx="8553173" cy="682333"/>
          </a:xfrm>
          <a:prstGeom prst="roundRect">
            <a:avLst>
              <a:gd name="adj" fmla="val 7097"/>
            </a:avLst>
          </a:prstGeom>
          <a:noFill/>
          <a:ln w="38100" cmpd="dbl" algn="ctr">
            <a:solidFill>
              <a:srgbClr val="0000FF"/>
            </a:solidFill>
            <a:round/>
            <a:headEnd/>
            <a:tailEnd type="triangle" w="med" len="med"/>
          </a:ln>
        </p:spPr>
        <p:txBody>
          <a:bodyPr lIns="0" tIns="0" rIns="0" bIns="0" anchor="ctr"/>
          <a:lstStyle/>
          <a:p>
            <a:pPr marL="271463" indent="-271463" eaLnBrk="1" hangingPunct="1"/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瞭解並協助各機能組檢討大數據分析專案的規劃作業重點。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4" name="五邊形 13">
            <a:hlinkClick r:id="" action="ppaction://customshow?id=14&amp;return=true"/>
          </p:cNvPr>
          <p:cNvSpPr>
            <a:spLocks noChangeArrowheads="1"/>
          </p:cNvSpPr>
          <p:nvPr/>
        </p:nvSpPr>
        <p:spPr bwMode="auto">
          <a:xfrm>
            <a:off x="129087" y="5337656"/>
            <a:ext cx="3003312" cy="461665"/>
          </a:xfrm>
          <a:prstGeom prst="homePlate">
            <a:avLst>
              <a:gd name="adj" fmla="val 46543"/>
            </a:avLst>
          </a:prstGeom>
          <a:solidFill>
            <a:srgbClr val="FFCC99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各機能大數據專案</a:t>
            </a:r>
            <a:endParaRPr lang="zh-TW" altLang="en-US" dirty="0">
              <a:solidFill>
                <a:srgbClr val="0000CC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851564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23"/>
          <p:cNvSpPr>
            <a:spLocks noChangeArrowheads="1"/>
          </p:cNvSpPr>
          <p:nvPr/>
        </p:nvSpPr>
        <p:spPr bwMode="auto">
          <a:xfrm>
            <a:off x="0" y="2959100"/>
            <a:ext cx="914400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zh-TW" altLang="en-US" sz="7200">
                <a:latin typeface="標楷體" panose="03000509000000000000" pitchFamily="65" charset="-120"/>
                <a:ea typeface="標楷體" panose="03000509000000000000" pitchFamily="65" charset="-120"/>
              </a:rPr>
              <a:t>以上報告</a:t>
            </a:r>
            <a:endParaRPr lang="en-US" altLang="zh-TW" sz="72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5876070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預設簡報設計">
  <a:themeElements>
    <a:clrScheme name="預設簡報設計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預設簡報設計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CFFCC"/>
        </a:solidFill>
        <a:ln w="28575" cap="flat" cmpd="sng" algn="ctr">
          <a:solidFill>
            <a:srgbClr val="FF0000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CFFCC"/>
        </a:solidFill>
        <a:ln w="28575" cap="flat" cmpd="sng" algn="ctr">
          <a:solidFill>
            <a:srgbClr val="FF0000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charset="-120"/>
          </a:defRPr>
        </a:defPPr>
      </a:lstStyle>
    </a:ln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141109</TotalTime>
  <Words>6075</Words>
  <Application>Microsoft Office PowerPoint</Application>
  <PresentationFormat>如螢幕大小 (4:3)</PresentationFormat>
  <Paragraphs>1154</Paragraphs>
  <Slides>66</Slides>
  <Notes>64</Notes>
  <HiddenSlides>0</HiddenSlides>
  <MMClips>0</MMClips>
  <ScaleCrop>false</ScaleCrop>
  <HeadingPairs>
    <vt:vector size="8" baseType="variant">
      <vt:variant>
        <vt:lpstr>佈景主題</vt:lpstr>
      </vt:variant>
      <vt:variant>
        <vt:i4>1</vt:i4>
      </vt:variant>
      <vt:variant>
        <vt:lpstr>內嵌 OLE 伺服程式</vt:lpstr>
      </vt:variant>
      <vt:variant>
        <vt:i4>2</vt:i4>
      </vt:variant>
      <vt:variant>
        <vt:lpstr>投影片標題</vt:lpstr>
      </vt:variant>
      <vt:variant>
        <vt:i4>66</vt:i4>
      </vt:variant>
      <vt:variant>
        <vt:lpstr>自訂放映</vt:lpstr>
      </vt:variant>
      <vt:variant>
        <vt:i4>21</vt:i4>
      </vt:variant>
    </vt:vector>
  </HeadingPairs>
  <TitlesOfParts>
    <vt:vector size="90" baseType="lpstr">
      <vt:lpstr>預設簡報設計</vt:lpstr>
      <vt:lpstr>Clip</vt:lpstr>
      <vt:lpstr>Visio</vt:lpstr>
      <vt:lpstr>投影片 1</vt:lpstr>
      <vt:lpstr>投影片 2</vt:lpstr>
      <vt:lpstr>投影片 3</vt:lpstr>
      <vt:lpstr>投影片 4</vt:lpstr>
      <vt:lpstr>投影片 5</vt:lpstr>
      <vt:lpstr>投影片 6</vt:lpstr>
      <vt:lpstr>投影片 7</vt:lpstr>
      <vt:lpstr>投影片 8</vt:lpstr>
      <vt:lpstr>投影片 9</vt:lpstr>
      <vt:lpstr>投影片 10</vt:lpstr>
      <vt:lpstr>投影片 11</vt:lpstr>
      <vt:lpstr>投影片 12</vt:lpstr>
      <vt:lpstr>投影片 13</vt:lpstr>
      <vt:lpstr>投影片 14</vt:lpstr>
      <vt:lpstr>投影片 15</vt:lpstr>
      <vt:lpstr>投影片 16</vt:lpstr>
      <vt:lpstr>投影片 17</vt:lpstr>
      <vt:lpstr>投影片 18</vt:lpstr>
      <vt:lpstr>投影片 19</vt:lpstr>
      <vt:lpstr>投影片 20</vt:lpstr>
      <vt:lpstr>投影片 21</vt:lpstr>
      <vt:lpstr>投影片 22</vt:lpstr>
      <vt:lpstr>投影片 23</vt:lpstr>
      <vt:lpstr>投影片 24</vt:lpstr>
      <vt:lpstr>投影片 25</vt:lpstr>
      <vt:lpstr>投影片 26</vt:lpstr>
      <vt:lpstr>投影片 27</vt:lpstr>
      <vt:lpstr>投影片 28</vt:lpstr>
      <vt:lpstr>投影片 29</vt:lpstr>
      <vt:lpstr>投影片 30</vt:lpstr>
      <vt:lpstr>投影片 31</vt:lpstr>
      <vt:lpstr>投影片 32</vt:lpstr>
      <vt:lpstr>投影片 33</vt:lpstr>
      <vt:lpstr>投影片 34</vt:lpstr>
      <vt:lpstr>投影片 35</vt:lpstr>
      <vt:lpstr>投影片 36</vt:lpstr>
      <vt:lpstr>投影片 37</vt:lpstr>
      <vt:lpstr>投影片 38</vt:lpstr>
      <vt:lpstr>投影片 39</vt:lpstr>
      <vt:lpstr>投影片 40</vt:lpstr>
      <vt:lpstr>投影片 41</vt:lpstr>
      <vt:lpstr>投影片 42</vt:lpstr>
      <vt:lpstr>投影片 43</vt:lpstr>
      <vt:lpstr>投影片 44</vt:lpstr>
      <vt:lpstr>投影片 45</vt:lpstr>
      <vt:lpstr>投影片 46</vt:lpstr>
      <vt:lpstr>投影片 47</vt:lpstr>
      <vt:lpstr>投影片 48</vt:lpstr>
      <vt:lpstr>投影片 49</vt:lpstr>
      <vt:lpstr>投影片 50</vt:lpstr>
      <vt:lpstr>投影片 51</vt:lpstr>
      <vt:lpstr>投影片 52</vt:lpstr>
      <vt:lpstr>投影片 53</vt:lpstr>
      <vt:lpstr>投影片 54</vt:lpstr>
      <vt:lpstr>投影片 55</vt:lpstr>
      <vt:lpstr>投影片 56</vt:lpstr>
      <vt:lpstr>投影片 57</vt:lpstr>
      <vt:lpstr>投影片 58</vt:lpstr>
      <vt:lpstr>投影片 59</vt:lpstr>
      <vt:lpstr>投影片 60</vt:lpstr>
      <vt:lpstr>投影片 61</vt:lpstr>
      <vt:lpstr>投影片 62</vt:lpstr>
      <vt:lpstr>投影片 63</vt:lpstr>
      <vt:lpstr>投影片 64</vt:lpstr>
      <vt:lpstr>投影片 65</vt:lpstr>
      <vt:lpstr>投影片 66</vt:lpstr>
      <vt:lpstr>2年改3年</vt:lpstr>
      <vt:lpstr>規章表單管理辦法</vt:lpstr>
      <vt:lpstr>案例二</vt:lpstr>
      <vt:lpstr>總檢討辦事細則</vt:lpstr>
      <vt:lpstr>取消11本暫停1本</vt:lpstr>
      <vt:lpstr>註銷制度</vt:lpstr>
      <vt:lpstr>直接利用程式數據可行性</vt:lpstr>
      <vt:lpstr>驗收後再改程式</vt:lpstr>
      <vt:lpstr>核定權限</vt:lpstr>
      <vt:lpstr>總檢討SOP</vt:lpstr>
      <vt:lpstr>資訊部反應</vt:lpstr>
      <vt:lpstr>安衛環</vt:lpstr>
      <vt:lpstr>OA未出表複查</vt:lpstr>
      <vt:lpstr>持續工作</vt:lpstr>
      <vt:lpstr>大數據</vt:lpstr>
      <vt:lpstr>管制新訂日期改善</vt:lpstr>
      <vt:lpstr>點擊率</vt:lpstr>
      <vt:lpstr>OA未出表例一</vt:lpstr>
      <vt:lpstr>OA未出表例二</vt:lpstr>
      <vt:lpstr>週期內無資料明細</vt:lpstr>
      <vt:lpstr>程式錯誤明細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00RA11/李毅宏</dc:creator>
  <cp:lastModifiedBy>N000056555</cp:lastModifiedBy>
  <cp:revision>11327</cp:revision>
  <dcterms:created xsi:type="dcterms:W3CDTF">2005-01-14T06:17:53Z</dcterms:created>
  <dcterms:modified xsi:type="dcterms:W3CDTF">2018-08-03T02:11:59Z</dcterms:modified>
</cp:coreProperties>
</file>