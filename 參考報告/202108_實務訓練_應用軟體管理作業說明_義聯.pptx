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4" r:id="rId1"/>
  </p:sldMasterIdLst>
  <p:notesMasterIdLst>
    <p:notesMasterId r:id="rId60"/>
  </p:notesMasterIdLst>
  <p:handoutMasterIdLst>
    <p:handoutMasterId r:id="rId61"/>
  </p:handoutMasterIdLst>
  <p:sldIdLst>
    <p:sldId id="256" r:id="rId2"/>
    <p:sldId id="522" r:id="rId3"/>
    <p:sldId id="523" r:id="rId4"/>
    <p:sldId id="323" r:id="rId5"/>
    <p:sldId id="503" r:id="rId6"/>
    <p:sldId id="518" r:id="rId7"/>
    <p:sldId id="324" r:id="rId8"/>
    <p:sldId id="514" r:id="rId9"/>
    <p:sldId id="398" r:id="rId10"/>
    <p:sldId id="384" r:id="rId11"/>
    <p:sldId id="396" r:id="rId12"/>
    <p:sldId id="399" r:id="rId13"/>
    <p:sldId id="397" r:id="rId14"/>
    <p:sldId id="515" r:id="rId15"/>
    <p:sldId id="401" r:id="rId16"/>
    <p:sldId id="402" r:id="rId17"/>
    <p:sldId id="403" r:id="rId18"/>
    <p:sldId id="516" r:id="rId19"/>
    <p:sldId id="405" r:id="rId20"/>
    <p:sldId id="412" r:id="rId21"/>
    <p:sldId id="417" r:id="rId22"/>
    <p:sldId id="421" r:id="rId23"/>
    <p:sldId id="422" r:id="rId24"/>
    <p:sldId id="435" r:id="rId25"/>
    <p:sldId id="437" r:id="rId26"/>
    <p:sldId id="444" r:id="rId27"/>
    <p:sldId id="519" r:id="rId28"/>
    <p:sldId id="520" r:id="rId29"/>
    <p:sldId id="445" r:id="rId30"/>
    <p:sldId id="446" r:id="rId31"/>
    <p:sldId id="448" r:id="rId32"/>
    <p:sldId id="452" r:id="rId33"/>
    <p:sldId id="513" r:id="rId34"/>
    <p:sldId id="453" r:id="rId35"/>
    <p:sldId id="517" r:id="rId36"/>
    <p:sldId id="456" r:id="rId37"/>
    <p:sldId id="458" r:id="rId38"/>
    <p:sldId id="459" r:id="rId39"/>
    <p:sldId id="461" r:id="rId40"/>
    <p:sldId id="460" r:id="rId41"/>
    <p:sldId id="462" r:id="rId42"/>
    <p:sldId id="463" r:id="rId43"/>
    <p:sldId id="467" r:id="rId44"/>
    <p:sldId id="466" r:id="rId45"/>
    <p:sldId id="485" r:id="rId46"/>
    <p:sldId id="489" r:id="rId47"/>
    <p:sldId id="488" r:id="rId48"/>
    <p:sldId id="487" r:id="rId49"/>
    <p:sldId id="504" r:id="rId50"/>
    <p:sldId id="505" r:id="rId51"/>
    <p:sldId id="506" r:id="rId52"/>
    <p:sldId id="507" r:id="rId53"/>
    <p:sldId id="508" r:id="rId54"/>
    <p:sldId id="512" r:id="rId55"/>
    <p:sldId id="510" r:id="rId56"/>
    <p:sldId id="511" r:id="rId57"/>
    <p:sldId id="521" r:id="rId58"/>
    <p:sldId id="371" r:id="rId59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2110" autoAdjust="0"/>
  </p:normalViewPr>
  <p:slideViewPr>
    <p:cSldViewPr>
      <p:cViewPr varScale="1">
        <p:scale>
          <a:sx n="74" d="100"/>
          <a:sy n="74" d="100"/>
        </p:scale>
        <p:origin x="16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"/>
    </p:cViewPr>
  </p:sorterViewPr>
  <p:notesViewPr>
    <p:cSldViewPr>
      <p:cViewPr varScale="1">
        <p:scale>
          <a:sx n="66" d="100"/>
          <a:sy n="66" d="100"/>
        </p:scale>
        <p:origin x="3149" y="43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D8601DE-4A8D-44C8-8CE4-404FFE66CE13}" type="datetimeFigureOut"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pPr>
                <a:defRPr/>
              </a:pPr>
              <a:t>2021/8/11</a:t>
            </a:fld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88FAA4C-E949-4DCB-9C4F-CC2F1DA8D2AD}" type="slidenum"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1743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 algn="r"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4875"/>
            <a:ext cx="543560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dirty="0" smtClean="0"/>
              <a:t>按一下以編輯母片</a:t>
            </a:r>
          </a:p>
          <a:p>
            <a:pPr lvl="1"/>
            <a:r>
              <a:rPr lang="zh-TW" altLang="en-US" noProof="0" dirty="0" smtClean="0"/>
              <a:t>第二層</a:t>
            </a:r>
          </a:p>
          <a:p>
            <a:pPr lvl="2"/>
            <a:r>
              <a:rPr lang="zh-TW" altLang="en-US" noProof="0" dirty="0" smtClean="0"/>
              <a:t>第三層</a:t>
            </a:r>
          </a:p>
          <a:p>
            <a:pPr lvl="3"/>
            <a:r>
              <a:rPr lang="zh-TW" altLang="en-US" noProof="0" dirty="0" smtClean="0"/>
              <a:t>第四層</a:t>
            </a:r>
          </a:p>
          <a:p>
            <a:pPr lvl="4"/>
            <a:r>
              <a:rPr lang="zh-TW" altLang="en-US" noProof="0" dirty="0" smtClean="0"/>
              <a:t>第五層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9396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各套制度制定後，如何有效管理這麼多的電腦作業，確保電腦作業皆修改完成、上線並能有效統計作業數量程式員負荷等等</a:t>
            </a:r>
            <a:r>
              <a:rPr lang="en-US" altLang="zh-TW" dirty="0" smtClean="0"/>
              <a:t>...</a:t>
            </a:r>
            <a:r>
              <a:rPr lang="en-US" altLang="zh-TW" dirty="0" err="1" smtClean="0"/>
              <a:t>便有此套作業</a:t>
            </a:r>
            <a:r>
              <a:rPr lang="en-US" altLang="zh-TW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70527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資訊部接案後，由組長分案、小組長立案，程式員便開始撰寫程式，完成銷案後送出驗收文件並派送程式由反應</a:t>
            </a:r>
            <a:r>
              <a:rPr lang="zh-TW" altLang="en-US" dirty="0" smtClean="0"/>
              <a:t>部門確認是否</a:t>
            </a:r>
            <a:r>
              <a:rPr lang="zh-TW" altLang="en-US" dirty="0" smtClean="0"/>
              <a:t>符合需求</a:t>
            </a:r>
            <a:r>
              <a:rPr lang="zh-TW" altLang="en-US" dirty="0" smtClean="0"/>
              <a:t>，驗收</a:t>
            </a:r>
            <a:r>
              <a:rPr lang="zh-TW" altLang="en-US" dirty="0" smtClean="0"/>
              <a:t>後即安排上線，為確保程式修改品質，上線後三個月程式員仍需追蹤執行情形。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1296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058"/>
          <p:cNvSpPr>
            <a:spLocks noChangeArrowheads="1"/>
          </p:cNvSpPr>
          <p:nvPr/>
        </p:nvSpPr>
        <p:spPr bwMode="auto">
          <a:xfrm>
            <a:off x="233363" y="404813"/>
            <a:ext cx="8910637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3" name="Rectangle 2059"/>
          <p:cNvSpPr>
            <a:spLocks noChangeArrowheads="1"/>
          </p:cNvSpPr>
          <p:nvPr/>
        </p:nvSpPr>
        <p:spPr bwMode="auto">
          <a:xfrm>
            <a:off x="4763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4" name="Line 2060"/>
          <p:cNvSpPr>
            <a:spLocks noChangeShapeType="1"/>
          </p:cNvSpPr>
          <p:nvPr/>
        </p:nvSpPr>
        <p:spPr bwMode="auto">
          <a:xfrm>
            <a:off x="476250" y="990600"/>
            <a:ext cx="86725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Line 2061"/>
          <p:cNvSpPr>
            <a:spLocks noChangeShapeType="1"/>
          </p:cNvSpPr>
          <p:nvPr/>
        </p:nvSpPr>
        <p:spPr bwMode="auto">
          <a:xfrm>
            <a:off x="4763" y="1066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Rectangle 2062"/>
          <p:cNvSpPr>
            <a:spLocks noChangeArrowheads="1"/>
          </p:cNvSpPr>
          <p:nvPr/>
        </p:nvSpPr>
        <p:spPr bwMode="auto">
          <a:xfrm>
            <a:off x="5414963" y="6781800"/>
            <a:ext cx="3729037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7" name="Line 2063"/>
          <p:cNvSpPr>
            <a:spLocks noChangeShapeType="1"/>
          </p:cNvSpPr>
          <p:nvPr/>
        </p:nvSpPr>
        <p:spPr bwMode="auto">
          <a:xfrm>
            <a:off x="9072563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Line 2064"/>
          <p:cNvSpPr>
            <a:spLocks noChangeShapeType="1"/>
          </p:cNvSpPr>
          <p:nvPr/>
        </p:nvSpPr>
        <p:spPr bwMode="auto">
          <a:xfrm>
            <a:off x="385763" y="6781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Line 2065"/>
          <p:cNvSpPr>
            <a:spLocks noChangeShapeType="1"/>
          </p:cNvSpPr>
          <p:nvPr/>
        </p:nvSpPr>
        <p:spPr bwMode="auto">
          <a:xfrm>
            <a:off x="4763" y="6858000"/>
            <a:ext cx="54689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Oval 2066"/>
          <p:cNvSpPr>
            <a:spLocks noChangeArrowheads="1"/>
          </p:cNvSpPr>
          <p:nvPr/>
        </p:nvSpPr>
        <p:spPr bwMode="auto">
          <a:xfrm>
            <a:off x="-1141413" y="0"/>
            <a:ext cx="1603376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smtClean="0">
              <a:solidFill>
                <a:srgbClr val="FFFFFF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1" name="Line 2067"/>
          <p:cNvSpPr>
            <a:spLocks noChangeShapeType="1"/>
          </p:cNvSpPr>
          <p:nvPr/>
        </p:nvSpPr>
        <p:spPr bwMode="auto">
          <a:xfrm>
            <a:off x="233363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3" y="130175"/>
            <a:ext cx="1452562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828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694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ea typeface="標楷體" panose="03000509000000000000" pitchFamily="65" charset="-12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312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標楷體" panose="03000509000000000000" pitchFamily="65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標楷體" panose="03000509000000000000" pitchFamily="65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137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844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42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標楷體" panose="03000509000000000000" pitchFamily="65" charset="-120"/>
              </a:defRPr>
            </a:lvl1pPr>
            <a:lvl2pPr>
              <a:defRPr sz="2800">
                <a:ea typeface="標楷體" panose="03000509000000000000" pitchFamily="65" charset="-120"/>
              </a:defRPr>
            </a:lvl2pPr>
            <a:lvl3pPr>
              <a:defRPr sz="2400">
                <a:ea typeface="標楷體" panose="03000509000000000000" pitchFamily="65" charset="-120"/>
              </a:defRPr>
            </a:lvl3pPr>
            <a:lvl4pPr>
              <a:defRPr sz="2000">
                <a:ea typeface="標楷體" panose="03000509000000000000" pitchFamily="65" charset="-120"/>
              </a:defRPr>
            </a:lvl4pPr>
            <a:lvl5pPr>
              <a:defRPr sz="2000">
                <a:ea typeface="標楷體" panose="03000509000000000000" pitchFamily="65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ea typeface="標楷體" panose="03000509000000000000" pitchFamily="65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6525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標楷體" panose="03000509000000000000" pitchFamily="65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dirty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ea typeface="標楷體" panose="03000509000000000000" pitchFamily="65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9267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961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9145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3126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</a:lstStyle>
          <a:p>
            <a:pPr lvl="0"/>
            <a:endParaRPr lang="zh-TW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686327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f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5805488"/>
            <a:ext cx="10795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1"/>
          <p:cNvSpPr txBox="1">
            <a:spLocks noChangeArrowheads="1"/>
          </p:cNvSpPr>
          <p:nvPr userDrawn="1"/>
        </p:nvSpPr>
        <p:spPr bwMode="gray">
          <a:xfrm>
            <a:off x="7019925" y="5873750"/>
            <a:ext cx="2089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itchFamily="65" charset="-120"/>
              </a:rPr>
              <a:t>台塑關係企業</a:t>
            </a:r>
            <a:br>
              <a:rPr kumimoji="0"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itchFamily="65" charset="-120"/>
              </a:rPr>
            </a:br>
            <a:r>
              <a:rPr kumimoji="0" lang="en-US" altLang="zh-TW" sz="1400" dirty="0">
                <a:solidFill>
                  <a:schemeClr val="bg1"/>
                </a:solidFill>
                <a:latin typeface="Times New Roman" pitchFamily="18" charset="0"/>
                <a:ea typeface="標楷體" panose="03000509000000000000" pitchFamily="65" charset="-120"/>
              </a:rPr>
              <a:t>Formosa Plastic Group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457200" y="3048000"/>
            <a:ext cx="5562600" cy="3810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400" b="0"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noProof="0" dirty="0" smtClean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sz="half" idx="10"/>
          </p:nvPr>
        </p:nvSpPr>
        <p:spPr bwMode="white">
          <a:xfrm>
            <a:off x="457200" y="64770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itchFamily="18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 bwMode="white">
          <a:xfrm>
            <a:off x="3124200" y="6477000"/>
            <a:ext cx="2895600" cy="168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bg1"/>
                </a:solidFill>
                <a:latin typeface="Times New Roman" pitchFamily="18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 bwMode="white">
          <a:xfrm>
            <a:off x="6553200" y="6477000"/>
            <a:ext cx="2133600" cy="1682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0A887053-E284-4743-BBB7-4D213B31F5D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8140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76"/>
            </a:gs>
            <a:gs pos="50000">
              <a:schemeClr val="bg1"/>
            </a:gs>
            <a:gs pos="100000">
              <a:srgbClr val="00007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10"/>
          <p:cNvSpPr>
            <a:spLocks noChangeArrowheads="1"/>
          </p:cNvSpPr>
          <p:nvPr/>
        </p:nvSpPr>
        <p:spPr bwMode="auto">
          <a:xfrm>
            <a:off x="233363" y="404813"/>
            <a:ext cx="8910637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7" name="Rectangle 11"/>
          <p:cNvSpPr>
            <a:spLocks noChangeArrowheads="1"/>
          </p:cNvSpPr>
          <p:nvPr/>
        </p:nvSpPr>
        <p:spPr bwMode="auto">
          <a:xfrm>
            <a:off x="4763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8" name="Line 12"/>
          <p:cNvSpPr>
            <a:spLocks noChangeShapeType="1"/>
          </p:cNvSpPr>
          <p:nvPr/>
        </p:nvSpPr>
        <p:spPr bwMode="auto">
          <a:xfrm>
            <a:off x="476250" y="990600"/>
            <a:ext cx="86725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29" name="Line 13"/>
          <p:cNvSpPr>
            <a:spLocks noChangeShapeType="1"/>
          </p:cNvSpPr>
          <p:nvPr/>
        </p:nvSpPr>
        <p:spPr bwMode="auto">
          <a:xfrm>
            <a:off x="4763" y="1066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0" name="Rectangle 14"/>
          <p:cNvSpPr>
            <a:spLocks noChangeArrowheads="1"/>
          </p:cNvSpPr>
          <p:nvPr/>
        </p:nvSpPr>
        <p:spPr bwMode="auto">
          <a:xfrm>
            <a:off x="5414963" y="6781800"/>
            <a:ext cx="3729037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31" name="Line 15"/>
          <p:cNvSpPr>
            <a:spLocks noChangeShapeType="1"/>
          </p:cNvSpPr>
          <p:nvPr/>
        </p:nvSpPr>
        <p:spPr bwMode="auto">
          <a:xfrm>
            <a:off x="9072563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2" name="Line 16"/>
          <p:cNvSpPr>
            <a:spLocks noChangeShapeType="1"/>
          </p:cNvSpPr>
          <p:nvPr/>
        </p:nvSpPr>
        <p:spPr bwMode="auto">
          <a:xfrm>
            <a:off x="385763" y="6781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3" name="Line 17"/>
          <p:cNvSpPr>
            <a:spLocks noChangeShapeType="1"/>
          </p:cNvSpPr>
          <p:nvPr/>
        </p:nvSpPr>
        <p:spPr bwMode="auto">
          <a:xfrm>
            <a:off x="4763" y="6858000"/>
            <a:ext cx="54689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4" name="Oval 18"/>
          <p:cNvSpPr>
            <a:spLocks noChangeArrowheads="1"/>
          </p:cNvSpPr>
          <p:nvPr/>
        </p:nvSpPr>
        <p:spPr bwMode="auto">
          <a:xfrm>
            <a:off x="-1141413" y="0"/>
            <a:ext cx="1603376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smtClean="0">
              <a:solidFill>
                <a:srgbClr val="FFFFFF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035" name="Line 19"/>
          <p:cNvSpPr>
            <a:spLocks noChangeShapeType="1"/>
          </p:cNvSpPr>
          <p:nvPr/>
        </p:nvSpPr>
        <p:spPr bwMode="auto">
          <a:xfrm>
            <a:off x="233363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36" name="圖片 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3" y="130175"/>
            <a:ext cx="1452562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637" r:id="rId1"/>
    <p:sldLayoutId id="2147484625" r:id="rId2"/>
    <p:sldLayoutId id="2147484626" r:id="rId3"/>
    <p:sldLayoutId id="2147484627" r:id="rId4"/>
    <p:sldLayoutId id="2147484628" r:id="rId5"/>
    <p:sldLayoutId id="2147484629" r:id="rId6"/>
    <p:sldLayoutId id="2147484630" r:id="rId7"/>
    <p:sldLayoutId id="2147484631" r:id="rId8"/>
    <p:sldLayoutId id="2147484632" r:id="rId9"/>
    <p:sldLayoutId id="2147484633" r:id="rId10"/>
    <p:sldLayoutId id="2147484634" r:id="rId11"/>
    <p:sldLayoutId id="2147484635" r:id="rId12"/>
    <p:sldLayoutId id="2147484636" r:id="rId13"/>
    <p:sldLayoutId id="2147484638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908175" y="4487863"/>
            <a:ext cx="684053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r" eaLnBrk="1" hangingPunct="1">
              <a:buFont typeface="Wingdings" panose="05000000000000000000" pitchFamily="2" charset="2"/>
              <a:buNone/>
            </a:pPr>
            <a:r>
              <a:rPr lang="zh-TW" altLang="en-US" sz="1800" b="1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資訊部應用一組</a:t>
            </a:r>
            <a:r>
              <a:rPr lang="en-US" altLang="zh-TW" sz="1800" b="1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</a:t>
            </a:r>
            <a:r>
              <a:rPr lang="zh-TW" altLang="en-US" sz="1800" b="1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楊舒婷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090738" y="3101975"/>
            <a:ext cx="511016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TW" altLang="en-US" sz="4800" dirty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應用軟體管理說明</a:t>
            </a:r>
            <a:endParaRPr lang="en-US" altLang="zh-TW" sz="4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報告內容</a:t>
            </a:r>
          </a:p>
        </p:txBody>
      </p:sp>
      <p:sp>
        <p:nvSpPr>
          <p:cNvPr id="7171" name="投影片編號版面配置區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34138"/>
            <a:ext cx="213360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728FCD2-588E-49E4-9579-6D11F19A1AED}" type="slidenum">
              <a:rPr lang="en-US" altLang="zh-TW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172" name="Picture 25" descr="OF0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5182435"/>
            <a:ext cx="1909861" cy="149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矩形 43"/>
          <p:cNvSpPr/>
          <p:nvPr/>
        </p:nvSpPr>
        <p:spPr>
          <a:xfrm>
            <a:off x="1187624" y="1844824"/>
            <a:ext cx="69127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一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en-US" altLang="zh-TW" sz="2800" dirty="0" err="1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作業目的範圍及架構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       3 – 7</a:t>
            </a:r>
          </a:p>
          <a:p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       </a:t>
            </a:r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二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建立</a:t>
            </a:r>
            <a:r>
              <a:rPr lang="zh-TW" altLang="en-US" sz="28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電腦作業基礎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   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8 - 17</a:t>
            </a:r>
          </a:p>
          <a:p>
            <a:endParaRPr lang="zh-TW" altLang="en-US" sz="2800" dirty="0"/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三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程式開發作業申請      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18 - 34</a:t>
            </a:r>
          </a:p>
          <a:p>
            <a:endParaRPr lang="en-US" altLang="zh-TW" sz="2800" dirty="0" smtClean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四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作業上線推動及品質控管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35 - 56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443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23728" y="3068960"/>
            <a:ext cx="4493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一</a:t>
            </a:r>
            <a:r>
              <a:rPr lang="en-US" altLang="zh-TW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en-US" altLang="zh-TW" sz="3200" dirty="0" err="1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作業目的範圍及架構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8911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15950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作業目的及範圍</a:t>
            </a:r>
          </a:p>
        </p:txBody>
      </p:sp>
      <p:sp>
        <p:nvSpPr>
          <p:cNvPr id="6147" name="內容版面配置區 2"/>
          <p:cNvSpPr>
            <a:spLocks noGrp="1"/>
          </p:cNvSpPr>
          <p:nvPr>
            <p:ph idx="1"/>
          </p:nvPr>
        </p:nvSpPr>
        <p:spPr>
          <a:xfrm>
            <a:off x="598488" y="1982788"/>
            <a:ext cx="7886700" cy="1733550"/>
          </a:xfrm>
        </p:spPr>
        <p:txBody>
          <a:bodyPr/>
          <a:lstStyle/>
          <a:p>
            <a:pPr marL="0" indent="0">
              <a:buClr>
                <a:srgbClr val="FFFF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TW" altLang="en-US" dirty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將電腦作業開發中，有關程式、檔案、作業區之申請資料，以及後續維護狀況，製作成履歷紀錄，方便管理追蹤</a:t>
            </a:r>
            <a:r>
              <a:rPr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。</a:t>
            </a:r>
            <a:endParaRPr lang="zh-TW" altLang="zh-TW" dirty="0" smtClean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>
              <a:defRPr/>
            </a:pPr>
            <a:endParaRPr lang="zh-TW" altLang="en-US" dirty="0" smtClean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34138"/>
            <a:ext cx="213360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9796BB72-523B-40A8-BA10-68BB738CE187}" type="slidenum">
              <a:rPr lang="en-US" altLang="zh-TW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圓角矩形 1"/>
          <p:cNvSpPr/>
          <p:nvPr/>
        </p:nvSpPr>
        <p:spPr bwMode="auto">
          <a:xfrm>
            <a:off x="333400" y="1237903"/>
            <a:ext cx="1800200" cy="534913"/>
          </a:xfrm>
          <a:prstGeom prst="roundRect">
            <a:avLst/>
          </a:prstGeom>
          <a:solidFill>
            <a:srgbClr val="CC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TW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rPr>
              <a:t>作業目的</a:t>
            </a:r>
          </a:p>
        </p:txBody>
      </p:sp>
      <p:sp>
        <p:nvSpPr>
          <p:cNvPr id="6" name="圓角矩形 5"/>
          <p:cNvSpPr/>
          <p:nvPr/>
        </p:nvSpPr>
        <p:spPr bwMode="auto">
          <a:xfrm>
            <a:off x="333400" y="3922947"/>
            <a:ext cx="1800200" cy="534913"/>
          </a:xfrm>
          <a:prstGeom prst="roundRect">
            <a:avLst/>
          </a:prstGeom>
          <a:solidFill>
            <a:srgbClr val="CC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TW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rPr>
              <a:t>作業範圍</a:t>
            </a: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598488" y="4581525"/>
            <a:ext cx="7886700" cy="17335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FF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基礎資料維護、</a:t>
            </a:r>
            <a:r>
              <a:rPr lang="en-US" altLang="zh-TW" dirty="0" err="1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OA表單欄位建檔、各項應用軟體資料查詢、管理需求應用</a:t>
            </a:r>
            <a:r>
              <a:rPr lang="en-US" altLang="zh-TW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…等。</a:t>
            </a:r>
            <a:endParaRPr lang="zh-TW" altLang="zh-TW" dirty="0" smtClean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>
              <a:defRPr/>
            </a:pPr>
            <a:endParaRPr lang="zh-TW" altLang="en-US" dirty="0" smtClean="0"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052736"/>
            <a:ext cx="8136904" cy="5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8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764704"/>
            <a:ext cx="8064896" cy="58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6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作業架構</a:t>
            </a:r>
          </a:p>
        </p:txBody>
      </p:sp>
      <p:pic>
        <p:nvPicPr>
          <p:cNvPr id="9223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98" y="1268760"/>
            <a:ext cx="7776864" cy="522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23728" y="3068960"/>
            <a:ext cx="4903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二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建立</a:t>
            </a:r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電腦作業基礎資料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595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31088" y="365962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制度基礎資料</a:t>
            </a:r>
          </a:p>
        </p:txBody>
      </p:sp>
      <p:sp>
        <p:nvSpPr>
          <p:cNvPr id="102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C048A0EC-D3D6-4450-BF9A-F50C0751D40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0247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11325"/>
            <a:ext cx="8123237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484813"/>
            <a:ext cx="58515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316984" y="1064994"/>
            <a:ext cx="5616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增修訂制度基礎資料時以便簽送管理組更新，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現制度名稱與人事規章制度基礎資料同步。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制度電腦作業維護資料</a:t>
            </a:r>
          </a:p>
        </p:txBody>
      </p:sp>
      <p:sp>
        <p:nvSpPr>
          <p:cNvPr id="1126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390C875-56F2-4476-873F-F37B5968C54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126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8" y="1772816"/>
            <a:ext cx="8821738" cy="406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085421"/>
            <a:ext cx="64447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新增時由小組長建檔，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倘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負責人或代理人變更透過交接作業申請修改設定。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制度作業程式資料</a:t>
            </a:r>
          </a:p>
        </p:txBody>
      </p:sp>
      <p:sp>
        <p:nvSpPr>
          <p:cNvPr id="1229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075E4CA-EB7B-4DFE-9642-9106968E601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2295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8812213" cy="407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179512" y="1074520"/>
            <a:ext cx="61926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程式員自行維護程式明細及程式名稱。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填寫派送單及列印修訂歷程明細表時將顯示建檔名稱。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制度作業安裝資料庫</a:t>
            </a:r>
          </a:p>
        </p:txBody>
      </p:sp>
      <p:sp>
        <p:nvSpPr>
          <p:cNvPr id="1331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465D802E-19BB-4FE5-AAE5-FD865AC6383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331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48" y="1556792"/>
            <a:ext cx="8712200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292676" y="1085096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程式員自行輸入制度安裝之資料庫，現供資料字典一致性比對用。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作業帳號資料</a:t>
            </a:r>
          </a:p>
        </p:txBody>
      </p:sp>
      <p:sp>
        <p:nvSpPr>
          <p:cNvPr id="143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B5D8850-BF4B-4688-9EB6-62E47CA9DEE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082366" cy="46805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作業帳號資料</a:t>
            </a:r>
          </a:p>
        </p:txBody>
      </p:sp>
      <p:sp>
        <p:nvSpPr>
          <p:cNvPr id="143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B5D8850-BF4B-4688-9EB6-62E47CA9DEE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434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640763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933825"/>
            <a:ext cx="86407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395536" y="1139166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Aix申請單核准後寫入，程式員需針對負責帳號進行定期密碼變更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35119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638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E47308A-6659-4391-828E-8E1D99610923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6391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723313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213684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程式員輸入表單對應制度及執行地區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OA表單維護資料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741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464B55E-1177-4E12-AD92-FE24E6A39543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741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8701088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764088"/>
            <a:ext cx="8682038" cy="176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251520" y="1177965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小組長輸入表單維護人員及表單安裝資料庫。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61560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OA表單交換檔資料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843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417D2C1-7752-425D-9D7A-851CC40B9E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843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800"/>
            <a:ext cx="87026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21" y="4311551"/>
            <a:ext cx="8702675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289248" y="1192317"/>
            <a:ext cx="61926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新增個別設計表單時須建檔，否則後續派送作業無法進行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11760" y="3068960"/>
            <a:ext cx="4083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三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程式開發作業申請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49717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7524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電腦批次管理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15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1026E16-CB55-4A8D-BD77-3F4B08427B7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151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88" y="1902683"/>
            <a:ext cx="8636000" cy="397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394028" y="1004113"/>
            <a:ext cx="734481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1.作業名稱需有公司+作業及週期別(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EX:月報、日報或時報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)。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若有關聯作業於週期時間中請再加強說明。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3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.台灣批次之異常通知方式管制為立即通知。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批次管理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25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3A7B8711-1913-430A-8D22-8EB9240942E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253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3"/>
            <a:ext cx="6840760" cy="5525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072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E39541D-DFD6-4000-8308-F1A072D4A98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30724" name="矩形 1"/>
          <p:cNvSpPr>
            <a:spLocks noChangeArrowheads="1"/>
          </p:cNvSpPr>
          <p:nvPr/>
        </p:nvSpPr>
        <p:spPr bwMode="auto">
          <a:xfrm>
            <a:off x="251520" y="1121644"/>
            <a:ext cx="4896544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1.AIX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字尾帳號管制不得執行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crontab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週期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&lt;30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分鐘方可申請。</a:t>
            </a:r>
          </a:p>
        </p:txBody>
      </p:sp>
      <p:pic>
        <p:nvPicPr>
          <p:cNvPr id="30728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4824"/>
            <a:ext cx="8494471" cy="456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174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9780E0A5-BF53-4587-AB7D-C1D6E44C932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1751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83507"/>
            <a:ext cx="8713788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Rectangle 4"/>
          <p:cNvSpPr>
            <a:spLocks noChangeArrowheads="1"/>
          </p:cNvSpPr>
          <p:nvPr/>
        </p:nvSpPr>
        <p:spPr bwMode="auto">
          <a:xfrm>
            <a:off x="552450" y="4075510"/>
            <a:ext cx="5029200" cy="9334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753" name="矩形 2"/>
          <p:cNvSpPr>
            <a:spLocks noChangeArrowheads="1"/>
          </p:cNvSpPr>
          <p:nvPr/>
        </p:nvSpPr>
        <p:spPr bwMode="auto">
          <a:xfrm>
            <a:off x="525810" y="5476225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最多可輸入三行週期指令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管制週期需小於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277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70C2B49-EA4D-456A-B546-455EBF1FBBD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2775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3518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71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1878AC5-E99B-4014-AC7B-86B2CB6833A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7111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4863"/>
            <a:ext cx="7543750" cy="503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84200" y="3524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81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BE3CCD3-96B3-42AD-A70E-FD02E50254D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8135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31" y="2276872"/>
            <a:ext cx="5818188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矩形 3"/>
          <p:cNvSpPr>
            <a:spLocks noChangeArrowheads="1"/>
          </p:cNvSpPr>
          <p:nvPr/>
        </p:nvSpPr>
        <p:spPr bwMode="auto">
          <a:xfrm>
            <a:off x="236489" y="1152793"/>
            <a:ext cx="88201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電腦檔案欄位異動需由上一級主管覆核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組員異動由小組長覆核，小組長異動由組長覆核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以下圖為例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「文件類別」欄位說明由「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進口證明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B: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退稅副報單」 修改為「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進口證明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 2: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退稅副報單」，修改後需經小組長覆核，螢幕新增「異動明細表」及「電腦檔案欄位說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明表」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原資料記錄說明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可列印查看修改內容。</a:t>
            </a:r>
          </a:p>
          <a:p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8137" name="圖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540" y="4267200"/>
            <a:ext cx="663733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915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563ED48-488B-4530-8A9C-0F3ACF4F08B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9159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6643688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圖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3565525"/>
            <a:ext cx="52562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27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778AAA9-002B-4FDD-A9A5-8DC2091565C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2708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34475"/>
            <a:ext cx="8640960" cy="399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3528" y="5329354"/>
            <a:ext cx="8047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免填單：</a:t>
            </a:r>
            <a:endParaRPr lang="en-US" altLang="zh-TW" kern="1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1.同作業授權：需求帳號與授權帳號前六位相同。</a:t>
            </a: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2.資料交換授權：需求帳號為資料交換帳號。</a:t>
            </a: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3.需求者為系統帳號(</a:t>
            </a:r>
            <a:r>
              <a:rPr lang="en-US" altLang="zh-TW" kern="100" dirty="0" err="1" smtClean="0">
                <a:latin typeface="Times New Roman" panose="02020603050405020304" pitchFamily="18" charset="0"/>
                <a:ea typeface="標楷體" panose="03000509000000000000" pitchFamily="65" charset="-120"/>
              </a:rPr>
              <a:t>帳號第四碼為”A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”)。</a:t>
            </a:r>
          </a:p>
        </p:txBody>
      </p:sp>
    </p:spTree>
    <p:extLst>
      <p:ext uri="{BB962C8B-B14F-4D97-AF65-F5344CB8AC3E}">
        <p14:creationId xmlns:p14="http://schemas.microsoft.com/office/powerpoint/2010/main" val="1998367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(5)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37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EDDB892-6D9F-4708-9CB4-D8CDB4D357F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373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611505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3143250"/>
            <a:ext cx="4764087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8071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7524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(6)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017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53B0231-30D3-48F9-BA52-4BA9B2FA406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0183" name="矩形 1"/>
          <p:cNvSpPr>
            <a:spLocks noChangeArrowheads="1"/>
          </p:cNvSpPr>
          <p:nvPr/>
        </p:nvSpPr>
        <p:spPr bwMode="auto">
          <a:xfrm>
            <a:off x="323528" y="1260624"/>
            <a:ext cx="864108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不接續通知時，當組長核准即結案；須接續通知時，組長核准後，依關聯作業部門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一組一單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轉出「電腦檔案欄位異動通知單」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(OA)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通知關聯作業程式員。</a:t>
            </a:r>
          </a:p>
        </p:txBody>
      </p:sp>
      <p:pic>
        <p:nvPicPr>
          <p:cNvPr id="50184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07120"/>
            <a:ext cx="712946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(7)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120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09D91B89-6897-4DBD-9E15-FA56A6CF587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1207" name="矩形 6"/>
          <p:cNvSpPr>
            <a:spLocks noChangeArrowheads="1"/>
          </p:cNvSpPr>
          <p:nvPr/>
        </p:nvSpPr>
        <p:spPr bwMode="auto">
          <a:xfrm>
            <a:off x="323528" y="1367522"/>
            <a:ext cx="82280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接獲通知單時可點選「電腦檔案欄位異動處理單」查看異動內容。輸入是否需配合修改程式後，呈組長核准結案。</a:t>
            </a:r>
          </a:p>
        </p:txBody>
      </p:sp>
      <p:pic>
        <p:nvPicPr>
          <p:cNvPr id="51208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36838"/>
            <a:ext cx="85439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632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542EFDB-9E3C-494B-AEB1-08DE7AEA20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56327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60575"/>
            <a:ext cx="8610600" cy="333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734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681226D0-0712-4C17-A713-AC01275A5554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57351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72009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88840"/>
            <a:ext cx="7704856" cy="433483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1284" y="1044357"/>
            <a:ext cx="86232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作業代號輸入後自動帶原始程式存放位置。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2.檢查依據是否立案，且需開立交辦單，並帶出交辦單摘要名稱。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3.呈核時顯示已派送次數。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49020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837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5325744-EC9E-4203-9BA9-E787FF2B015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58375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1436754"/>
            <a:ext cx="67500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3813242"/>
            <a:ext cx="679132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95736" y="3068960"/>
            <a:ext cx="53142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四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作業上線推動及品質控管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10417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246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2971EDE-CA30-4ED4-A532-90648F979EE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2471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472407"/>
            <a:ext cx="71628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349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8C61103-C27E-4C70-9559-B0459BD2544C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63495" name="矩形 6"/>
          <p:cNvSpPr>
            <a:spLocks noChangeArrowheads="1"/>
          </p:cNvSpPr>
          <p:nvPr/>
        </p:nvSpPr>
        <p:spPr bwMode="auto">
          <a:xfrm>
            <a:off x="467544" y="1027906"/>
            <a:ext cx="82089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為確保資訊部接續辦理案件於機能組驗收後，電腦作業確實安裝上線並追蹤執行情況，增設自主檢核機制，以提升程式品質</a:t>
            </a:r>
          </a:p>
        </p:txBody>
      </p:sp>
      <p:pic>
        <p:nvPicPr>
          <p:cNvPr id="63496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940" y="1700808"/>
            <a:ext cx="5610324" cy="49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451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1E3EC8B-DE4B-488B-8B4A-E3B1E661FC5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64519" name="矩形 6"/>
          <p:cNvSpPr>
            <a:spLocks noChangeArrowheads="1"/>
          </p:cNvSpPr>
          <p:nvPr/>
        </p:nvSpPr>
        <p:spPr bwMode="auto">
          <a:xfrm>
            <a:off x="395536" y="1198493"/>
            <a:ext cx="84969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為確保資訊部接續辦理案件於機能組驗收後，電腦作業確實安裝上線並追蹤執行情況，增設自主檢核機制，以提升程式品質</a:t>
            </a:r>
          </a:p>
        </p:txBody>
      </p:sp>
      <p:pic>
        <p:nvPicPr>
          <p:cNvPr id="64520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133600"/>
            <a:ext cx="87122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55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06C11BD6-3C4E-4CD4-A844-2F9E825234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5543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78" y="1301749"/>
            <a:ext cx="7669038" cy="524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5770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656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0A91E7F-3D3B-429B-A8D1-67F44372957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6567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058987"/>
            <a:ext cx="7086257" cy="44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77432" y="1268760"/>
            <a:ext cx="8280400" cy="60642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>
              <a:lnSpc>
                <a:spcPts val="2000"/>
              </a:lnSpc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每月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日轉出彙總確認表，供主管確認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是否為電腦作業及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自主檢查經辦人員是否正確。</a:t>
            </a: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758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F2255F0-0FDD-47D9-B1C3-F05F9D735E3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8206" y="1268760"/>
            <a:ext cx="8280400" cy="6064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/>
            </a:pP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以彙總表確認結果轉出自主檢查查核表，管制最長六個月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預設三個月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須完成自主檢查。</a:t>
            </a:r>
          </a:p>
        </p:txBody>
      </p:sp>
      <p:pic>
        <p:nvPicPr>
          <p:cNvPr id="67592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42" y="1982614"/>
            <a:ext cx="807402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DB帳號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861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6063DFA-1A66-460A-97BC-EE934B8A2B8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8615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93" y="1690688"/>
            <a:ext cx="869791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ODBC帳號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963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6AD4251D-B267-4167-AB24-0014CB54BA3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963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1989138"/>
            <a:ext cx="86836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AIX帳號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065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04B0B08-F991-457B-822F-4380C48DF67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0663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6" y="1844824"/>
            <a:ext cx="8637854" cy="403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7" y="1124744"/>
            <a:ext cx="4968552" cy="353061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4253124"/>
            <a:ext cx="5865635" cy="245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26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5770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資料交換帳號管理電腦作業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9" y="1373621"/>
            <a:ext cx="8658225" cy="4026281"/>
          </a:xfrm>
          <a:prstGeom prst="rect">
            <a:avLst/>
          </a:prstGeom>
        </p:spPr>
      </p:pic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51520" y="1034064"/>
            <a:ext cx="8485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Aix申請單簽准後寫入ERP可查詢及下載資料交換帳號明細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263535" y="5554515"/>
            <a:ext cx="8485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2020/10新增保管人專用查詢螢幕，可查詢保管人所屬部門之資料交換帳號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79701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96752"/>
            <a:ext cx="7653586" cy="518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7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60848"/>
            <a:ext cx="8035375" cy="3888432"/>
          </a:xfrm>
          <a:prstGeom prst="rect">
            <a:avLst/>
          </a:prstGeom>
        </p:spPr>
      </p:pic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25694" y="1330904"/>
            <a:ext cx="848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當保管人調離職或職務異動時，系統自動產生職務異動通知，由原保管人部門主管指定新保管人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  <p:sp>
        <p:nvSpPr>
          <p:cNvPr id="6" name="迴轉箭號 5">
            <a:hlinkClick r:id="rId3" action="ppaction://hlinksldjump"/>
          </p:cNvPr>
          <p:cNvSpPr/>
          <p:nvPr/>
        </p:nvSpPr>
        <p:spPr bwMode="auto">
          <a:xfrm>
            <a:off x="8515350" y="6248400"/>
            <a:ext cx="360040" cy="34895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5339"/>
              <a:gd name="adj5" fmla="val 75000"/>
            </a:avLst>
          </a:prstGeom>
          <a:solidFill>
            <a:srgbClr val="CCFF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6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8083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560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F7F92CE-9B0D-4FF2-B017-DAB5C7EEF45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5607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542173" cy="476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1414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662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1ED5069-5D60-4020-8CB7-8949374F2E5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6631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61853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115253"/>
            <a:ext cx="81937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作業交接與帳號交接無對應關係，屬作業交接時，於預定交接完成日前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7個工作天轉出交接確認單。</a:t>
            </a:r>
          </a:p>
        </p:txBody>
      </p:sp>
    </p:spTree>
    <p:extLst>
      <p:ext uri="{BB962C8B-B14F-4D97-AF65-F5344CB8AC3E}">
        <p14:creationId xmlns:p14="http://schemas.microsoft.com/office/powerpoint/2010/main" val="688373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765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8034187-48CB-40D3-8046-E7219E23C51A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7655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35113"/>
            <a:ext cx="6768752" cy="50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3820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867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29C7AC6-470C-468C-B63F-1A98CAEBF46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8679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22" y="2281290"/>
            <a:ext cx="753745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矩形 1"/>
          <p:cNvSpPr>
            <a:spLocks noChangeArrowheads="1"/>
          </p:cNvSpPr>
          <p:nvPr/>
        </p:nvSpPr>
        <p:spPr bwMode="auto">
          <a:xfrm>
            <a:off x="323528" y="1193801"/>
            <a:ext cx="7416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於「預定交接完成日」前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個工作天，新負責人將收到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作業交接確認單」，請填寫紅框內欄位後，呈核給主管。</a:t>
            </a:r>
          </a:p>
        </p:txBody>
      </p:sp>
    </p:spTree>
    <p:extLst>
      <p:ext uri="{BB962C8B-B14F-4D97-AF65-F5344CB8AC3E}">
        <p14:creationId xmlns:p14="http://schemas.microsoft.com/office/powerpoint/2010/main" val="4182375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(5)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969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62488C6-1396-404A-B427-E6302D3CFAC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29703" name="矩形 1"/>
          <p:cNvSpPr>
            <a:spLocks noChangeArrowheads="1"/>
          </p:cNvSpPr>
          <p:nvPr/>
        </p:nvSpPr>
        <p:spPr bwMode="auto">
          <a:xfrm>
            <a:off x="395288" y="1179513"/>
            <a:ext cx="79009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確認單結案後若有批次作業，電腦自動轉出「電腦批次作業維護人員變更通知單」，通知系統組、新舊負責人及新舊代理人。</a:t>
            </a:r>
          </a:p>
        </p:txBody>
      </p:sp>
      <p:pic>
        <p:nvPicPr>
          <p:cNvPr id="29704" name="圖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90310"/>
            <a:ext cx="6554787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圖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4511297"/>
            <a:ext cx="85217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矩形 2"/>
          <p:cNvSpPr>
            <a:spLocks noChangeArrowheads="1"/>
          </p:cNvSpPr>
          <p:nvPr/>
        </p:nvSpPr>
        <p:spPr bwMode="auto">
          <a:xfrm>
            <a:off x="406135" y="3989810"/>
            <a:ext cx="4570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交接歷程可由本螢幕查詢所有維護異動歷程</a:t>
            </a:r>
          </a:p>
        </p:txBody>
      </p:sp>
    </p:spTree>
    <p:extLst>
      <p:ext uri="{BB962C8B-B14F-4D97-AF65-F5344CB8AC3E}">
        <p14:creationId xmlns:p14="http://schemas.microsoft.com/office/powerpoint/2010/main" val="764781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批次異常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26594" y="1270501"/>
            <a:ext cx="2981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1.異常單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需有責任歸屬。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2.評核不扣減需輸入原因。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34" y="1252417"/>
            <a:ext cx="5587042" cy="53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3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6353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資料庫登入異常</a:t>
            </a:r>
          </a:p>
        </p:txBody>
      </p:sp>
      <p:sp>
        <p:nvSpPr>
          <p:cNvPr id="3481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5C911D5-1D9C-41BA-A500-DDF5201AA9E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4823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4105275"/>
            <a:ext cx="8569325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4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185988"/>
            <a:ext cx="8575675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5" name="向下箭號 3"/>
          <p:cNvSpPr>
            <a:spLocks noChangeArrowheads="1"/>
          </p:cNvSpPr>
          <p:nvPr/>
        </p:nvSpPr>
        <p:spPr bwMode="auto">
          <a:xfrm>
            <a:off x="3779838" y="3500438"/>
            <a:ext cx="504825" cy="5048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FF"/>
          </a:solidFill>
          <a:ln w="19050" algn="ctr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4826" name="矩形 4"/>
          <p:cNvSpPr>
            <a:spLocks noChangeArrowheads="1"/>
          </p:cNvSpPr>
          <p:nvPr/>
        </p:nvSpPr>
        <p:spPr bwMode="auto">
          <a:xfrm>
            <a:off x="327025" y="1248569"/>
            <a:ext cx="86121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輸入異常發生之資料庫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帳號及異常發生起迄日，點擊查詢，顯示所有登入異常記錄</a:t>
            </a:r>
          </a:p>
        </p:txBody>
      </p:sp>
    </p:spTree>
    <p:extLst>
      <p:ext uri="{BB962C8B-B14F-4D97-AF65-F5344CB8AC3E}">
        <p14:creationId xmlns:p14="http://schemas.microsoft.com/office/powerpoint/2010/main" val="1277875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-AIX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登入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異常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58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C4DE1DA-7E78-4950-81E6-7CBB2A89024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5847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916832"/>
            <a:ext cx="862965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圖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3588469"/>
            <a:ext cx="8624887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9" name="向下箭號 8"/>
          <p:cNvSpPr>
            <a:spLocks noChangeArrowheads="1"/>
          </p:cNvSpPr>
          <p:nvPr/>
        </p:nvSpPr>
        <p:spPr bwMode="auto">
          <a:xfrm>
            <a:off x="3851275" y="3012207"/>
            <a:ext cx="504825" cy="5048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FF"/>
          </a:solidFill>
          <a:ln w="19050" algn="ctr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5850" name="矩形 9"/>
          <p:cNvSpPr>
            <a:spLocks noChangeArrowheads="1"/>
          </p:cNvSpPr>
          <p:nvPr/>
        </p:nvSpPr>
        <p:spPr bwMode="auto">
          <a:xfrm>
            <a:off x="308756" y="1285360"/>
            <a:ext cx="881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輸入異常發生之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aix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帳號及異常發生起迄日，點擊查詢，顯示所有登入異常記錄</a:t>
            </a:r>
          </a:p>
        </p:txBody>
      </p:sp>
    </p:spTree>
    <p:extLst>
      <p:ext uri="{BB962C8B-B14F-4D97-AF65-F5344CB8AC3E}">
        <p14:creationId xmlns:p14="http://schemas.microsoft.com/office/powerpoint/2010/main" val="14834104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invGray">
          <a:xfrm>
            <a:off x="900113" y="2814638"/>
            <a:ext cx="7200900" cy="8302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r>
              <a:rPr kumimoji="0" lang="en-US" altLang="zh-TW" sz="4800" b="1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Q&amp;A</a:t>
            </a:r>
            <a:endParaRPr kumimoji="0" lang="zh-TW" altLang="en-US" sz="48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875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invGray">
          <a:xfrm>
            <a:off x="900113" y="2814638"/>
            <a:ext cx="7200900" cy="8302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r>
              <a:rPr kumimoji="0" lang="zh-TW" altLang="en-US" sz="4800" b="1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以上說明，謝謝各位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aring">
  <a:themeElements>
    <a:clrScheme name="Soaring 6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FF00"/>
      </a:hlink>
      <a:folHlink>
        <a:srgbClr val="FFFF00"/>
      </a:folHlink>
    </a:clrScheme>
    <a:fontScheme name="Soaring">
      <a:majorFont>
        <a:latin typeface="Arial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台塑體" panose="02010500000000000000" pitchFamily="2" charset="-120"/>
            <a:cs typeface="台塑體" panose="02010500000000000000" pitchFamily="2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台塑體" panose="02010500000000000000" pitchFamily="2" charset="-120"/>
            <a:cs typeface="台塑體" panose="02010500000000000000" pitchFamily="2" charset="-12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6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FF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10584</TotalTime>
  <Words>1377</Words>
  <Application>Microsoft Office PowerPoint</Application>
  <PresentationFormat>如螢幕大小 (4:3)</PresentationFormat>
  <Paragraphs>165</Paragraphs>
  <Slides>58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7" baseType="lpstr">
      <vt:lpstr>台塑體</vt:lpstr>
      <vt:lpstr>新細明體</vt:lpstr>
      <vt:lpstr>標楷體</vt:lpstr>
      <vt:lpstr>Arial</vt:lpstr>
      <vt:lpstr>Calibri</vt:lpstr>
      <vt:lpstr>Candara</vt:lpstr>
      <vt:lpstr>Times New Roman</vt:lpstr>
      <vt:lpstr>Wingdings</vt:lpstr>
      <vt:lpstr>Soaring</vt:lpstr>
      <vt:lpstr>PowerPoint 簡報</vt:lpstr>
      <vt:lpstr>報告內容</vt:lpstr>
      <vt:lpstr>PowerPoint 簡報</vt:lpstr>
      <vt:lpstr>作業目的及範圍</vt:lpstr>
      <vt:lpstr>PowerPoint 簡報</vt:lpstr>
      <vt:lpstr>PowerPoint 簡報</vt:lpstr>
      <vt:lpstr>作業架構</vt:lpstr>
      <vt:lpstr>PowerPoint 簡報</vt:lpstr>
      <vt:lpstr>制度基礎資料</vt:lpstr>
      <vt:lpstr>制度電腦作業維護資料</vt:lpstr>
      <vt:lpstr>制度作業程式資料</vt:lpstr>
      <vt:lpstr>制度作業安裝資料庫</vt:lpstr>
      <vt:lpstr>作業帳號資料</vt:lpstr>
      <vt:lpstr>作業帳號資料</vt:lpstr>
      <vt:lpstr>OA表單資料</vt:lpstr>
      <vt:lpstr>OA表單維護資料</vt:lpstr>
      <vt:lpstr>OA表單交換檔資料</vt:lpstr>
      <vt:lpstr>PowerPoint 簡報</vt:lpstr>
      <vt:lpstr>電腦批次管理(1)</vt:lpstr>
      <vt:lpstr>電腦批次管理(2)</vt:lpstr>
      <vt:lpstr>Crontab作業管理(1)</vt:lpstr>
      <vt:lpstr>Crontab作業管理(2)</vt:lpstr>
      <vt:lpstr>Crontab作業管理(3)</vt:lpstr>
      <vt:lpstr>電腦檔案欄位建檔及異動通知作業(1)</vt:lpstr>
      <vt:lpstr>電腦檔案欄位建檔及異動通知作業(2)</vt:lpstr>
      <vt:lpstr>電腦檔案欄位建檔及異動通知作業(3)</vt:lpstr>
      <vt:lpstr>電腦檔案欄位建檔及異動通知作業(4)</vt:lpstr>
      <vt:lpstr>電腦檔案欄位建檔及異動通知作業(5)</vt:lpstr>
      <vt:lpstr>電腦檔案欄位建檔及異動通知作業(6)</vt:lpstr>
      <vt:lpstr>電腦檔案欄位建檔及異動通知作業(7)</vt:lpstr>
      <vt:lpstr>派送完整性查核作業(1)</vt:lpstr>
      <vt:lpstr>派送完整性查核作業(2)</vt:lpstr>
      <vt:lpstr>派送完整性查核作業(3)</vt:lpstr>
      <vt:lpstr>派送完整性查核作業(4)</vt:lpstr>
      <vt:lpstr>PowerPoint 簡報</vt:lpstr>
      <vt:lpstr>電腦作業上線確認管理(1)</vt:lpstr>
      <vt:lpstr>電腦作業上線確認管理(2)</vt:lpstr>
      <vt:lpstr>電腦作業上線確認管理(3)</vt:lpstr>
      <vt:lpstr>電腦作業自主檢查(1)</vt:lpstr>
      <vt:lpstr>電腦作業自主檢查(2)</vt:lpstr>
      <vt:lpstr>電腦作業自主檢查(3)</vt:lpstr>
      <vt:lpstr>密碼自動修改程序(1)-DB帳號</vt:lpstr>
      <vt:lpstr>密碼自動修改程序(2)-ODBC帳號</vt:lpstr>
      <vt:lpstr>密碼自動修改程序(3)-AIX帳號</vt:lpstr>
      <vt:lpstr>資料交換帳號管理電腦作業(1)</vt:lpstr>
      <vt:lpstr>資料交換帳號管理電腦作業(2)</vt:lpstr>
      <vt:lpstr>資料交換帳號管理電腦作業(3)</vt:lpstr>
      <vt:lpstr>資料交換帳號管理電腦作業(4)</vt:lpstr>
      <vt:lpstr>作業維護人員交接管理(1)</vt:lpstr>
      <vt:lpstr>作業維護人員交接管理(2)</vt:lpstr>
      <vt:lpstr>作業維護人員交接管理(3)</vt:lpstr>
      <vt:lpstr>作業維護人員交接管理(4)</vt:lpstr>
      <vt:lpstr>作業維護人員交接管理(5)</vt:lpstr>
      <vt:lpstr>電腦作業異常管理-批次異常</vt:lpstr>
      <vt:lpstr>電腦作業異常管理-資料庫登入異常</vt:lpstr>
      <vt:lpstr>電腦作業異常管理-AIX登入異常</vt:lpstr>
      <vt:lpstr>PowerPoint 簡報</vt:lpstr>
      <vt:lpstr>PowerPoint 簡報</vt:lpstr>
    </vt:vector>
  </TitlesOfParts>
  <Company>twfpg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異常報告單電腦作業說明</dc:title>
  <dc:creator>王世宏</dc:creator>
  <cp:lastModifiedBy>00RK10/楊舒婷</cp:lastModifiedBy>
  <cp:revision>479</cp:revision>
  <cp:lastPrinted>2021-08-11T00:34:45Z</cp:lastPrinted>
  <dcterms:created xsi:type="dcterms:W3CDTF">2010-07-15T04:16:43Z</dcterms:created>
  <dcterms:modified xsi:type="dcterms:W3CDTF">2021-08-11T05:43:22Z</dcterms:modified>
</cp:coreProperties>
</file>